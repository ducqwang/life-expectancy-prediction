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2" r:id="rId5"/>
    <p:sldId id="263" r:id="rId6"/>
    <p:sldId id="264" r:id="rId7"/>
    <p:sldId id="265" r:id="rId8"/>
    <p:sldId id="266" r:id="rId9"/>
    <p:sldId id="268" r:id="rId10"/>
    <p:sldId id="259" r:id="rId11"/>
    <p:sldId id="258" r:id="rId12"/>
    <p:sldId id="261" r:id="rId13"/>
    <p:sldId id="271" r:id="rId14"/>
    <p:sldId id="272" r:id="rId15"/>
    <p:sldId id="273" r:id="rId16"/>
    <p:sldId id="270" r:id="rId17"/>
    <p:sldId id="274" r:id="rId18"/>
    <p:sldId id="275" r:id="rId19"/>
    <p:sldId id="299" r:id="rId20"/>
    <p:sldId id="276" r:id="rId21"/>
    <p:sldId id="277" r:id="rId22"/>
    <p:sldId id="287" r:id="rId23"/>
    <p:sldId id="278" r:id="rId24"/>
    <p:sldId id="279" r:id="rId25"/>
    <p:sldId id="280" r:id="rId26"/>
    <p:sldId id="281" r:id="rId27"/>
    <p:sldId id="282" r:id="rId28"/>
    <p:sldId id="283" r:id="rId29"/>
    <p:sldId id="285" r:id="rId30"/>
    <p:sldId id="288" r:id="rId31"/>
    <p:sldId id="295" r:id="rId32"/>
    <p:sldId id="296" r:id="rId33"/>
    <p:sldId id="289" r:id="rId34"/>
    <p:sldId id="290" r:id="rId35"/>
    <p:sldId id="291" r:id="rId36"/>
    <p:sldId id="297" r:id="rId37"/>
    <p:sldId id="293" r:id="rId38"/>
    <p:sldId id="294" r:id="rId39"/>
    <p:sldId id="298" r:id="rId40"/>
    <p:sldId id="301" r:id="rId41"/>
    <p:sldId id="302" r:id="rId42"/>
    <p:sldId id="313" r:id="rId43"/>
    <p:sldId id="314" r:id="rId44"/>
    <p:sldId id="315" r:id="rId45"/>
    <p:sldId id="316" r:id="rId46"/>
    <p:sldId id="317" r:id="rId47"/>
    <p:sldId id="318" r:id="rId48"/>
    <p:sldId id="319" r:id="rId49"/>
    <p:sldId id="320" r:id="rId50"/>
    <p:sldId id="321" r:id="rId51"/>
    <p:sldId id="322" r:id="rId52"/>
    <p:sldId id="323" r:id="rId53"/>
    <p:sldId id="324" r:id="rId54"/>
    <p:sldId id="325" r:id="rId55"/>
    <p:sldId id="303" r:id="rId56"/>
    <p:sldId id="309" r:id="rId57"/>
    <p:sldId id="312" r:id="rId58"/>
    <p:sldId id="306" r:id="rId59"/>
    <p:sldId id="310" r:id="rId60"/>
    <p:sldId id="326" r:id="rId61"/>
    <p:sldId id="327" r:id="rId62"/>
    <p:sldId id="328" r:id="rId63"/>
    <p:sldId id="329" r:id="rId64"/>
    <p:sldId id="345" r:id="rId65"/>
    <p:sldId id="343" r:id="rId66"/>
    <p:sldId id="307" r:id="rId67"/>
    <p:sldId id="330" r:id="rId68"/>
    <p:sldId id="331" r:id="rId69"/>
    <p:sldId id="332" r:id="rId70"/>
    <p:sldId id="333" r:id="rId71"/>
    <p:sldId id="334" r:id="rId72"/>
    <p:sldId id="335" r:id="rId73"/>
    <p:sldId id="336" r:id="rId74"/>
    <p:sldId id="337" r:id="rId75"/>
    <p:sldId id="344" r:id="rId76"/>
    <p:sldId id="339" r:id="rId77"/>
    <p:sldId id="340" r:id="rId78"/>
    <p:sldId id="341" r:id="rId79"/>
    <p:sldId id="342" r:id="rId80"/>
    <p:sldId id="300"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2FF"/>
    <a:srgbClr val="FFE57E"/>
    <a:srgbClr val="EFC23F"/>
    <a:srgbClr val="008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8" d="100"/>
          <a:sy n="108"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62779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1911470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1026879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62FE90-E6E6-42A4-B172-A910FE88B768}"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3906646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62FE90-E6E6-42A4-B172-A910FE88B768}" type="datetimeFigureOut">
              <a:rPr lang="en-US" smtClean="0"/>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347178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62FE90-E6E6-42A4-B172-A910FE88B768}" type="datetimeFigureOut">
              <a:rPr lang="en-US" smtClean="0"/>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3524030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62FE90-E6E6-42A4-B172-A910FE88B768}" type="datetimeFigureOut">
              <a:rPr lang="en-US" smtClean="0"/>
              <a:t>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2405640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62FE90-E6E6-42A4-B172-A910FE88B768}"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1023468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62FE90-E6E6-42A4-B172-A910FE88B768}"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2649541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602640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62FE90-E6E6-42A4-B172-A910FE88B768}"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1656A-04E1-47D8-8ECD-0711374D2E7F}" type="slidenum">
              <a:rPr lang="en-US" smtClean="0"/>
              <a:t>‹#›</a:t>
            </a:fld>
            <a:endParaRPr lang="en-US"/>
          </a:p>
        </p:txBody>
      </p:sp>
    </p:spTree>
    <p:extLst>
      <p:ext uri="{BB962C8B-B14F-4D97-AF65-F5344CB8AC3E}">
        <p14:creationId xmlns:p14="http://schemas.microsoft.com/office/powerpoint/2010/main" val="4278764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62FE90-E6E6-42A4-B172-A910FE88B768}" type="datetimeFigureOut">
              <a:rPr lang="en-US" smtClean="0"/>
              <a:t>1/10/2026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B1656A-04E1-47D8-8ECD-0711374D2E7F}" type="slidenum">
              <a:rPr lang="en-US" smtClean="0"/>
              <a:t>‹#›</a:t>
            </a:fld>
            <a:endParaRPr lang="en-US"/>
          </a:p>
        </p:txBody>
      </p:sp>
    </p:spTree>
    <p:extLst>
      <p:ext uri="{BB962C8B-B14F-4D97-AF65-F5344CB8AC3E}">
        <p14:creationId xmlns:p14="http://schemas.microsoft.com/office/powerpoint/2010/main" val="905870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56.jpe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7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70.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10"/>
          <p:cNvSpPr txBox="1"/>
          <p:nvPr/>
        </p:nvSpPr>
        <p:spPr>
          <a:xfrm>
            <a:off x="5495027" y="2644169"/>
            <a:ext cx="3153427"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Machine </a:t>
            </a:r>
          </a:p>
          <a:p>
            <a:r>
              <a:rPr lang="en-US" sz="4800" b="1" dirty="0">
                <a:solidFill>
                  <a:schemeClr val="bg1"/>
                </a:solidFill>
                <a:latin typeface="Montserrat ExtraBold" panose="00000900000000000000" pitchFamily="2" charset="0"/>
              </a:rPr>
              <a:t>Learning</a:t>
            </a:r>
          </a:p>
        </p:txBody>
      </p:sp>
    </p:spTree>
    <p:extLst>
      <p:ext uri="{BB962C8B-B14F-4D97-AF65-F5344CB8AC3E}">
        <p14:creationId xmlns:p14="http://schemas.microsoft.com/office/powerpoint/2010/main" val="2314479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201728" y="2424023"/>
            <a:ext cx="3153427"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Machine </a:t>
            </a:r>
          </a:p>
          <a:p>
            <a:r>
              <a:rPr lang="en-US" sz="4800" b="1" dirty="0">
                <a:solidFill>
                  <a:schemeClr val="bg1"/>
                </a:solidFill>
                <a:latin typeface="Montserrat ExtraBold" panose="00000900000000000000" pitchFamily="2" charset="0"/>
              </a:rPr>
              <a:t>Learning</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p:cNvSpPr txBox="1"/>
          <p:nvPr/>
        </p:nvSpPr>
        <p:spPr>
          <a:xfrm>
            <a:off x="4939694" y="2951946"/>
            <a:ext cx="7252306" cy="954107"/>
          </a:xfrm>
          <a:prstGeom prst="rect">
            <a:avLst/>
          </a:prstGeom>
          <a:noFill/>
        </p:spPr>
        <p:txBody>
          <a:bodyPr wrap="none" rtlCol="0">
            <a:spAutoFit/>
          </a:bodyPr>
          <a:lstStyle/>
          <a:p>
            <a:pPr algn="ctr"/>
            <a:r>
              <a:rPr lang="en-US" sz="2800" b="1" dirty="0">
                <a:solidFill>
                  <a:srgbClr val="008DF4"/>
                </a:solidFill>
                <a:latin typeface="Montserrat ExtraBold" panose="00000900000000000000" pitchFamily="2" charset="0"/>
              </a:rPr>
              <a:t>DỰ ĐOÁN TUỔI THỌ TRUNG BÌNH</a:t>
            </a:r>
          </a:p>
          <a:p>
            <a:pPr algn="ctr"/>
            <a:r>
              <a:rPr lang="en-US" sz="2800" b="1" dirty="0">
                <a:solidFill>
                  <a:srgbClr val="008DF4"/>
                </a:solidFill>
                <a:latin typeface="Montserrat ExtraBold" panose="00000900000000000000" pitchFamily="2" charset="0"/>
              </a:rPr>
              <a:t>DỰA TRÊN CÁC YẾU TỐ Y TẾ - XÃ HỘI</a:t>
            </a:r>
          </a:p>
        </p:txBody>
      </p:sp>
      <p:sp>
        <p:nvSpPr>
          <p:cNvPr id="5" name="TextBox 4"/>
          <p:cNvSpPr txBox="1"/>
          <p:nvPr/>
        </p:nvSpPr>
        <p:spPr>
          <a:xfrm>
            <a:off x="5201728" y="4433976"/>
            <a:ext cx="4606182" cy="1672894"/>
          </a:xfrm>
          <a:prstGeom prst="rect">
            <a:avLst/>
          </a:prstGeom>
          <a:noFill/>
        </p:spPr>
        <p:txBody>
          <a:bodyPr wrap="square" rtlCol="0">
            <a:spAutoFit/>
          </a:bodyPr>
          <a:lstStyle/>
          <a:p>
            <a:pPr>
              <a:lnSpc>
                <a:spcPct val="200000"/>
              </a:lnSpc>
            </a:pPr>
            <a:r>
              <a:rPr lang="en-US" b="1" dirty="0">
                <a:solidFill>
                  <a:srgbClr val="008DF4"/>
                </a:solidFill>
                <a:latin typeface="Montserrat ExtraBold" panose="00000900000000000000" pitchFamily="2" charset="0"/>
              </a:rPr>
              <a:t>Đinh Quang Tiến - 23001943</a:t>
            </a:r>
          </a:p>
          <a:p>
            <a:pPr>
              <a:lnSpc>
                <a:spcPct val="200000"/>
              </a:lnSpc>
            </a:pPr>
            <a:r>
              <a:rPr lang="en-US" b="1" dirty="0">
                <a:solidFill>
                  <a:srgbClr val="008DF4"/>
                </a:solidFill>
                <a:latin typeface="Montserrat ExtraBold" panose="00000900000000000000" pitchFamily="2" charset="0"/>
              </a:rPr>
              <a:t>Nguyễn Đức Quang - 23001918</a:t>
            </a:r>
          </a:p>
          <a:p>
            <a:pPr>
              <a:lnSpc>
                <a:spcPct val="200000"/>
              </a:lnSpc>
            </a:pPr>
            <a:r>
              <a:rPr lang="en-US" b="1" dirty="0">
                <a:solidFill>
                  <a:srgbClr val="008DF4"/>
                </a:solidFill>
                <a:latin typeface="Montserrat ExtraBold" panose="00000900000000000000" pitchFamily="2" charset="0"/>
              </a:rPr>
              <a:t>Hà Minh Quang - 23001916</a:t>
            </a:r>
          </a:p>
        </p:txBody>
      </p:sp>
    </p:spTree>
    <p:extLst>
      <p:ext uri="{BB962C8B-B14F-4D97-AF65-F5344CB8AC3E}">
        <p14:creationId xmlns:p14="http://schemas.microsoft.com/office/powerpoint/2010/main" val="2997667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Giới thiệu bài toán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5016758"/>
          </a:xfrm>
          <a:prstGeom prst="rect">
            <a:avLst/>
          </a:prstGeom>
          <a:noFill/>
        </p:spPr>
        <p:txBody>
          <a:bodyPr wrap="square" rtlCol="0">
            <a:spAutoFit/>
          </a:bodyPr>
          <a:lstStyle/>
          <a:p>
            <a:pPr>
              <a:lnSpc>
                <a:spcPct val="200000"/>
              </a:lnSpc>
            </a:pPr>
            <a:r>
              <a:rPr lang="en-US" sz="2000" dirty="0">
                <a:latin typeface="Arial" panose="020B0604020202020204" pitchFamily="34" charset="0"/>
                <a:ea typeface="Open Sans Regular" panose="020B0606030504020204" pitchFamily="34" charset="0"/>
                <a:cs typeface="Arial" panose="020B0604020202020204" pitchFamily="34" charset="0"/>
              </a:rPr>
              <a:t>Đề tài sử dụng dữ liệu </a:t>
            </a:r>
            <a:r>
              <a:rPr lang="vi-VN" sz="2000" dirty="0">
                <a:latin typeface="Arial" panose="020B0604020202020204" pitchFamily="34" charset="0"/>
                <a:ea typeface="Open Sans Regular" panose="020B0606030504020204" pitchFamily="34" charset="0"/>
                <a:cs typeface="Arial" panose="020B0604020202020204" pitchFamily="34" charset="0"/>
              </a:rPr>
              <a:t>Life Expectancy Data từ WHO</a:t>
            </a:r>
            <a:r>
              <a:rPr lang="en-US" sz="2000" dirty="0">
                <a:latin typeface="Arial" panose="020B0604020202020204" pitchFamily="34" charset="0"/>
                <a:ea typeface="Open Sans Regular" panose="020B0606030504020204" pitchFamily="34" charset="0"/>
                <a:cs typeface="Arial" panose="020B0604020202020204" pitchFamily="34" charset="0"/>
              </a:rPr>
              <a:t> để dự đoán tuổi thọ trung bình, t</a:t>
            </a:r>
            <a:r>
              <a:rPr lang="vi-VN" sz="2000" dirty="0">
                <a:latin typeface="Arial" panose="020B0604020202020204" pitchFamily="34" charset="0"/>
                <a:ea typeface="Open Sans Regular" panose="020B0606030504020204" pitchFamily="34" charset="0"/>
                <a:cs typeface="Arial" panose="020B0604020202020204" pitchFamily="34" charset="0"/>
              </a:rPr>
              <a:t>hông qua việc triển khai các bước tiền xử lý dữ liệu</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áp dụng các kỹ thuật giảm chiều và xây dựng các mô hình học máy, dự án không chỉ giúp người học nâng cao kỹ năng thực hành mà còn đóng góp vào việc hiểu sâu hơn về các nhân tố quyết định tuổi thọ con người. </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200000"/>
              </a:lnSpc>
            </a:pP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200000"/>
              </a:lnSpc>
            </a:pPr>
            <a:r>
              <a:rPr lang="vi-VN" sz="2000" dirty="0">
                <a:latin typeface="Arial" panose="020B0604020202020204" pitchFamily="34" charset="0"/>
                <a:ea typeface="Open Sans Regular" panose="020B0606030504020204" pitchFamily="34" charset="0"/>
                <a:cs typeface="Arial" panose="020B0604020202020204" pitchFamily="34" charset="0"/>
              </a:rPr>
              <a:t>Chọn đề tài này không chỉ vì tính thực tiễn cao trong lĩnh vực y tế công cộng, mà còn vì tiềm năng ứng dụng trong việc hỗ trợ các nhà hoạch định chính sách đưa ra quyết định dựa trên dữ liệu, từ đó cải thiện chất lượng cuộc sống và nâng cao tuổi thọ của người dân trên toàn thế giới.</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2" name="TextBox 1"/>
          <p:cNvSpPr txBox="1"/>
          <p:nvPr/>
        </p:nvSpPr>
        <p:spPr>
          <a:xfrm>
            <a:off x="11711380" y="6471416"/>
            <a:ext cx="331094" cy="369332"/>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861497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Tổng quan về bộ dữ liệu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5170646"/>
          </a:xfrm>
          <a:prstGeom prst="rect">
            <a:avLst/>
          </a:prstGeom>
          <a:noFill/>
        </p:spPr>
        <p:txBody>
          <a:bodyPr wrap="square" rtlCol="0">
            <a:spAutoFit/>
          </a:bodyPr>
          <a:lstStyle/>
          <a:p>
            <a:pPr>
              <a:lnSpc>
                <a:spcPct val="150000"/>
              </a:lnSpc>
            </a:pPr>
            <a:r>
              <a:rPr lang="vi-VN" sz="2000" dirty="0">
                <a:ea typeface="Open Sans Regular" panose="020B0606030504020204" pitchFamily="34" charset="0"/>
                <a:cs typeface="Open Sans Regular" panose="020B0606030504020204" pitchFamily="34" charset="0"/>
              </a:rPr>
              <a:t>Bộ dữ liệu: Life Expectancy (WHO)</a:t>
            </a:r>
          </a:p>
          <a:p>
            <a:pPr>
              <a:lnSpc>
                <a:spcPct val="150000"/>
              </a:lnSpc>
            </a:pPr>
            <a:r>
              <a:rPr lang="vi-VN" sz="2000" dirty="0">
                <a:ea typeface="Open Sans Regular" panose="020B0606030504020204" pitchFamily="34" charset="0"/>
                <a:cs typeface="Open Sans Regular" panose="020B0606030504020204" pitchFamily="34" charset="0"/>
              </a:rPr>
              <a:t>   • 193 quốc gia</a:t>
            </a:r>
          </a:p>
          <a:p>
            <a:pPr>
              <a:lnSpc>
                <a:spcPct val="150000"/>
              </a:lnSpc>
            </a:pPr>
            <a:r>
              <a:rPr lang="vi-VN" sz="2000" dirty="0">
                <a:ea typeface="Open Sans Regular" panose="020B0606030504020204" pitchFamily="34" charset="0"/>
                <a:cs typeface="Open Sans Regular" panose="020B0606030504020204" pitchFamily="34" charset="0"/>
              </a:rPr>
              <a:t>   • 2000 – 2015</a:t>
            </a:r>
          </a:p>
          <a:p>
            <a:pPr>
              <a:lnSpc>
                <a:spcPct val="150000"/>
              </a:lnSpc>
            </a:pPr>
            <a:r>
              <a:rPr lang="vi-VN" sz="2000" dirty="0">
                <a:ea typeface="Open Sans Regular" panose="020B0606030504020204" pitchFamily="34" charset="0"/>
                <a:cs typeface="Open Sans Regular" panose="020B0606030504020204" pitchFamily="34" charset="0"/>
              </a:rPr>
              <a:t>   • 2.938 quan sát</a:t>
            </a:r>
          </a:p>
          <a:p>
            <a:pPr>
              <a:lnSpc>
                <a:spcPct val="150000"/>
              </a:lnSpc>
            </a:pPr>
            <a:r>
              <a:rPr lang="vi-VN" sz="2000" dirty="0">
                <a:ea typeface="Open Sans Regular" panose="020B0606030504020204" pitchFamily="34" charset="0"/>
                <a:cs typeface="Open Sans Regular" panose="020B0606030504020204" pitchFamily="34" charset="0"/>
              </a:rPr>
              <a:t>   • 22 biến</a:t>
            </a:r>
          </a:p>
          <a:p>
            <a:pPr>
              <a:lnSpc>
                <a:spcPct val="150000"/>
              </a:lnSpc>
            </a:pPr>
            <a:r>
              <a:rPr lang="vi-VN" sz="2000" dirty="0">
                <a:ea typeface="Open Sans Regular" panose="020B0606030504020204" pitchFamily="34" charset="0"/>
                <a:cs typeface="Open Sans Regular" panose="020B0606030504020204" pitchFamily="34" charset="0"/>
              </a:rPr>
              <a:t>Biến mục tiêu: Life Expectancy (tuổi thọ trung bình)</a:t>
            </a:r>
          </a:p>
          <a:p>
            <a:pPr>
              <a:lnSpc>
                <a:spcPct val="150000"/>
              </a:lnSpc>
            </a:pPr>
            <a:r>
              <a:rPr lang="vi-VN" sz="2000" dirty="0">
                <a:ea typeface="Open Sans Regular" panose="020B0606030504020204" pitchFamily="34" charset="0"/>
                <a:cs typeface="Open Sans Regular" panose="020B0606030504020204" pitchFamily="34" charset="0"/>
              </a:rPr>
              <a:t>Một số biến quan trọng:</a:t>
            </a:r>
          </a:p>
          <a:p>
            <a:pPr>
              <a:lnSpc>
                <a:spcPct val="150000"/>
              </a:lnSpc>
            </a:pPr>
            <a:r>
              <a:rPr lang="vi-VN" sz="2000" dirty="0">
                <a:ea typeface="Open Sans Regular" panose="020B0606030504020204" pitchFamily="34" charset="0"/>
                <a:cs typeface="Open Sans Regular" panose="020B0606030504020204" pitchFamily="34" charset="0"/>
              </a:rPr>
              <a:t>   • Adult Mortality      → Tỷ lệ tử vong người lớn</a:t>
            </a:r>
          </a:p>
          <a:p>
            <a:pPr>
              <a:lnSpc>
                <a:spcPct val="150000"/>
              </a:lnSpc>
            </a:pPr>
            <a:r>
              <a:rPr lang="vi-VN" sz="2000" dirty="0">
                <a:ea typeface="Open Sans Regular" panose="020B0606030504020204" pitchFamily="34" charset="0"/>
                <a:cs typeface="Open Sans Regular" panose="020B0606030504020204" pitchFamily="34" charset="0"/>
              </a:rPr>
              <a:t>   • HIV/AIDS              → Tử vong do HIV</a:t>
            </a:r>
          </a:p>
          <a:p>
            <a:pPr>
              <a:lnSpc>
                <a:spcPct val="150000"/>
              </a:lnSpc>
            </a:pPr>
            <a:r>
              <a:rPr lang="vi-VN" sz="2000" dirty="0">
                <a:ea typeface="Open Sans Regular" panose="020B0606030504020204" pitchFamily="34" charset="0"/>
                <a:cs typeface="Open Sans Regular" panose="020B0606030504020204" pitchFamily="34" charset="0"/>
              </a:rPr>
              <a:t>   • GDP, Schooling       → Kinh tế, giáo dục</a:t>
            </a:r>
          </a:p>
          <a:p>
            <a:pPr>
              <a:lnSpc>
                <a:spcPct val="150000"/>
              </a:lnSpc>
            </a:pPr>
            <a:r>
              <a:rPr lang="vi-VN" sz="2000" dirty="0">
                <a:ea typeface="Open Sans Regular" panose="020B0606030504020204" pitchFamily="34" charset="0"/>
                <a:cs typeface="Open Sans Regular" panose="020B0606030504020204" pitchFamily="34" charset="0"/>
              </a:rPr>
              <a:t>   • BMI, Vaccination     → Dinh dưỡng, tiêm chủng</a:t>
            </a:r>
            <a:endParaRPr lang="en-US" sz="2000" dirty="0">
              <a:ea typeface="Open Sans Regular" panose="020B0606030504020204" pitchFamily="34" charset="0"/>
              <a:cs typeface="Open Sans Regular" panose="020B0606030504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8" name="TextBox 7"/>
          <p:cNvSpPr txBox="1"/>
          <p:nvPr/>
        </p:nvSpPr>
        <p:spPr>
          <a:xfrm>
            <a:off x="11711380" y="6471416"/>
            <a:ext cx="331094" cy="369332"/>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1368650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Thống kê mô tả biến mục tiêu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2862322"/>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Count</a:t>
            </a:r>
            <a:r>
              <a:rPr lang="en-US" sz="2000" dirty="0">
                <a:latin typeface="Arial" panose="020B0604020202020204" pitchFamily="34" charset="0"/>
                <a:ea typeface="Open Sans Regular" panose="020B0606030504020204" pitchFamily="34" charset="0"/>
                <a:cs typeface="Arial" panose="020B0604020202020204" pitchFamily="34" charset="0"/>
              </a:rPr>
              <a:t> (số quan sát):</a:t>
            </a:r>
            <a:r>
              <a:rPr lang="vi-VN" sz="2000" dirty="0">
                <a:latin typeface="Arial" panose="020B0604020202020204" pitchFamily="34" charset="0"/>
                <a:ea typeface="Open Sans Regular" panose="020B0606030504020204" pitchFamily="34" charset="0"/>
                <a:cs typeface="Arial" panose="020B0604020202020204" pitchFamily="34" charset="0"/>
              </a:rPr>
              <a:t> 2928</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a:t>
            </a:r>
            <a:r>
              <a:rPr lang="en-US" sz="2000" dirty="0">
                <a:latin typeface="Arial" panose="020B0604020202020204" pitchFamily="34" charset="0"/>
                <a:ea typeface="Open Sans Regular" panose="020B0606030504020204" pitchFamily="34" charset="0"/>
                <a:cs typeface="Arial" panose="020B0604020202020204" pitchFamily="34" charset="0"/>
              </a:rPr>
              <a:t>  10 giá trị bị thiếu </a:t>
            </a:r>
          </a:p>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Mean</a:t>
            </a:r>
            <a:r>
              <a:rPr lang="en-US" sz="2000" dirty="0">
                <a:latin typeface="Arial" panose="020B0604020202020204" pitchFamily="34" charset="0"/>
                <a:ea typeface="Open Sans Regular" panose="020B0606030504020204" pitchFamily="34" charset="0"/>
                <a:cs typeface="Arial" panose="020B0604020202020204" pitchFamily="34" charset="0"/>
              </a:rPr>
              <a:t> (giá trị trung bình):</a:t>
            </a:r>
            <a:r>
              <a:rPr lang="vi-VN" sz="2000" dirty="0">
                <a:latin typeface="Arial" panose="020B0604020202020204" pitchFamily="34" charset="0"/>
                <a:ea typeface="Open Sans Regular" panose="020B0606030504020204" pitchFamily="34" charset="0"/>
                <a:cs typeface="Arial" panose="020B0604020202020204" pitchFamily="34" charset="0"/>
              </a:rPr>
              <a:t>  69.22</a:t>
            </a:r>
            <a:r>
              <a:rPr lang="en-US" sz="2000" dirty="0">
                <a:latin typeface="Arial" panose="020B0604020202020204" pitchFamily="34" charset="0"/>
                <a:ea typeface="Open Sans Regular" panose="020B0606030504020204" pitchFamily="34" charset="0"/>
                <a:cs typeface="Arial" panose="020B0604020202020204" pitchFamily="34" charset="0"/>
              </a:rPr>
              <a:t> năm</a:t>
            </a:r>
          </a:p>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Std</a:t>
            </a:r>
            <a:r>
              <a:rPr lang="en-US" sz="2000" dirty="0">
                <a:latin typeface="Arial" panose="020B0604020202020204" pitchFamily="34" charset="0"/>
                <a:ea typeface="Open Sans Regular" panose="020B0606030504020204" pitchFamily="34" charset="0"/>
                <a:cs typeface="Arial" panose="020B0604020202020204" pitchFamily="34" charset="0"/>
              </a:rPr>
              <a:t> (độ lệch chuẩn): </a:t>
            </a:r>
            <a:r>
              <a:rPr lang="vi-VN" sz="2000" dirty="0">
                <a:latin typeface="Arial" panose="020B0604020202020204" pitchFamily="34" charset="0"/>
                <a:ea typeface="Open Sans Regular" panose="020B0606030504020204" pitchFamily="34" charset="0"/>
                <a:cs typeface="Arial" panose="020B0604020202020204" pitchFamily="34" charset="0"/>
              </a:rPr>
              <a:t>9.52</a:t>
            </a:r>
            <a:r>
              <a:rPr lang="en-US" sz="2000" dirty="0">
                <a:latin typeface="Arial" panose="020B0604020202020204" pitchFamily="34" charset="0"/>
                <a:ea typeface="Open Sans Regular" panose="020B0606030504020204" pitchFamily="34" charset="0"/>
                <a:cs typeface="Arial" panose="020B0604020202020204" pitchFamily="34" charset="0"/>
              </a:rPr>
              <a:t> năm</a:t>
            </a:r>
            <a:r>
              <a:rPr lang="vi-VN" sz="2000" dirty="0">
                <a:latin typeface="Arial" panose="020B0604020202020204" pitchFamily="34" charset="0"/>
                <a:ea typeface="Open Sans Regular" panose="020B0606030504020204" pitchFamily="34" charset="0"/>
                <a:cs typeface="Arial" panose="020B0604020202020204" pitchFamily="34" charset="0"/>
              </a:rPr>
              <a:t> </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Min</a:t>
            </a:r>
            <a:r>
              <a:rPr lang="en-US" sz="2000" dirty="0">
                <a:latin typeface="Arial" panose="020B0604020202020204" pitchFamily="34" charset="0"/>
                <a:ea typeface="Open Sans Regular" panose="020B0606030504020204" pitchFamily="34" charset="0"/>
                <a:cs typeface="Arial" panose="020B0604020202020204" pitchFamily="34" charset="0"/>
              </a:rPr>
              <a:t> (giá trị nhỏ nhất):</a:t>
            </a:r>
            <a:r>
              <a:rPr lang="vi-VN" sz="2000" dirty="0">
                <a:latin typeface="Arial" panose="020B0604020202020204" pitchFamily="34" charset="0"/>
                <a:ea typeface="Open Sans Regular" panose="020B0606030504020204" pitchFamily="34" charset="0"/>
                <a:cs typeface="Arial" panose="020B0604020202020204" pitchFamily="34" charset="0"/>
              </a:rPr>
              <a:t> 36.3</a:t>
            </a:r>
            <a:r>
              <a:rPr lang="en-US" sz="2000" dirty="0">
                <a:latin typeface="Arial" panose="020B0604020202020204" pitchFamily="34" charset="0"/>
                <a:ea typeface="Open Sans Regular" panose="020B0606030504020204" pitchFamily="34" charset="0"/>
                <a:cs typeface="Arial" panose="020B0604020202020204" pitchFamily="34" charset="0"/>
              </a:rPr>
              <a:t> năm</a:t>
            </a:r>
          </a:p>
          <a:p>
            <a:pPr>
              <a:lnSpc>
                <a:spcPct val="150000"/>
              </a:lnSpc>
            </a:pPr>
            <a:r>
              <a:rPr lang="en-US" sz="2000" dirty="0">
                <a:latin typeface="Arial" panose="020B0604020202020204" pitchFamily="34" charset="0"/>
                <a:ea typeface="Open Sans Regular" panose="020B0606030504020204" pitchFamily="34" charset="0"/>
                <a:cs typeface="Arial" panose="020B0604020202020204" pitchFamily="34" charset="0"/>
              </a:rPr>
              <a:t>50% (trung vị): 72.1 năm</a:t>
            </a:r>
          </a:p>
          <a:p>
            <a:pPr>
              <a:lnSpc>
                <a:spcPct val="150000"/>
              </a:lnSpc>
            </a:pPr>
            <a:r>
              <a:rPr lang="en-US" sz="2000" dirty="0">
                <a:latin typeface="Arial" panose="020B0604020202020204" pitchFamily="34" charset="0"/>
                <a:ea typeface="Open Sans Regular" panose="020B0606030504020204" pitchFamily="34" charset="0"/>
                <a:cs typeface="Arial" panose="020B0604020202020204" pitchFamily="34" charset="0"/>
              </a:rPr>
              <a:t>M</a:t>
            </a:r>
            <a:r>
              <a:rPr lang="vi-VN" sz="2000" dirty="0">
                <a:latin typeface="Arial" panose="020B0604020202020204" pitchFamily="34" charset="0"/>
                <a:ea typeface="Open Sans Regular" panose="020B0606030504020204" pitchFamily="34" charset="0"/>
                <a:cs typeface="Arial" panose="020B0604020202020204" pitchFamily="34" charset="0"/>
              </a:rPr>
              <a:t>ax </a:t>
            </a:r>
            <a:r>
              <a:rPr lang="en-US" sz="2000" dirty="0">
                <a:latin typeface="Arial" panose="020B0604020202020204" pitchFamily="34" charset="0"/>
                <a:ea typeface="Open Sans Regular" panose="020B0606030504020204" pitchFamily="34" charset="0"/>
                <a:cs typeface="Arial" panose="020B0604020202020204" pitchFamily="34" charset="0"/>
              </a:rPr>
              <a:t>(giá trị lớn nhất): </a:t>
            </a:r>
            <a:r>
              <a:rPr lang="vi-VN" sz="2000" dirty="0">
                <a:latin typeface="Arial" panose="020B0604020202020204" pitchFamily="34" charset="0"/>
                <a:ea typeface="Open Sans Regular" panose="020B0606030504020204" pitchFamily="34" charset="0"/>
                <a:cs typeface="Arial" panose="020B0604020202020204" pitchFamily="34" charset="0"/>
              </a:rPr>
              <a:t>89</a:t>
            </a:r>
            <a:r>
              <a:rPr lang="en-US" sz="2000" dirty="0">
                <a:latin typeface="Arial" panose="020B0604020202020204" pitchFamily="34" charset="0"/>
                <a:ea typeface="Open Sans Regular" panose="020B0606030504020204" pitchFamily="34" charset="0"/>
                <a:cs typeface="Arial" panose="020B0604020202020204" pitchFamily="34" charset="0"/>
              </a:rPr>
              <a:t> năm</a:t>
            </a: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2" name="Picture 1"/>
          <p:cNvPicPr>
            <a:picLocks noChangeAspect="1"/>
          </p:cNvPicPr>
          <p:nvPr/>
        </p:nvPicPr>
        <p:blipFill>
          <a:blip r:embed="rId4"/>
          <a:stretch>
            <a:fillRect/>
          </a:stretch>
        </p:blipFill>
        <p:spPr>
          <a:xfrm>
            <a:off x="5207244" y="1484973"/>
            <a:ext cx="6581775" cy="4800600"/>
          </a:xfrm>
          <a:prstGeom prst="rect">
            <a:avLst/>
          </a:prstGeom>
        </p:spPr>
      </p:pic>
      <p:sp>
        <p:nvSpPr>
          <p:cNvPr id="9" name="TextBox 8"/>
          <p:cNvSpPr txBox="1"/>
          <p:nvPr/>
        </p:nvSpPr>
        <p:spPr>
          <a:xfrm>
            <a:off x="11711380" y="6471416"/>
            <a:ext cx="33109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287608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Xử lý giá trị thiếu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07675" y="1040279"/>
            <a:ext cx="1157665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Tổng: 2.563 giá trị thiếu (3.97%)</a:t>
            </a:r>
            <a:endParaRPr lang="en-US" sz="2000" dirty="0">
              <a:effectLst/>
              <a:latin typeface="Arial" panose="020B0604020202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675" y="1835945"/>
            <a:ext cx="11414841" cy="4211766"/>
          </a:xfrm>
          <a:prstGeom prst="rect">
            <a:avLst/>
          </a:prstGeom>
        </p:spPr>
      </p:pic>
      <p:sp>
        <p:nvSpPr>
          <p:cNvPr id="9" name="TextBox 8"/>
          <p:cNvSpPr txBox="1"/>
          <p:nvPr/>
        </p:nvSpPr>
        <p:spPr>
          <a:xfrm>
            <a:off x="11711380" y="6471416"/>
            <a:ext cx="331094" cy="369332"/>
          </a:xfrm>
          <a:prstGeom prst="rect">
            <a:avLst/>
          </a:prstGeom>
          <a:noFill/>
        </p:spPr>
        <p:txBody>
          <a:bodyPr wrap="square" rtlCol="0">
            <a:spAutoFit/>
          </a:bodyPr>
          <a:lstStyle/>
          <a:p>
            <a:r>
              <a:rPr lang="en-US" dirty="0"/>
              <a:t>4</a:t>
            </a:r>
          </a:p>
        </p:txBody>
      </p:sp>
    </p:spTree>
    <p:extLst>
      <p:ext uri="{BB962C8B-B14F-4D97-AF65-F5344CB8AC3E}">
        <p14:creationId xmlns:p14="http://schemas.microsoft.com/office/powerpoint/2010/main" val="1479264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Xử lý giá trị thiếu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1420325"/>
          </a:xfrm>
          <a:prstGeom prst="rect">
            <a:avLst/>
          </a:prstGeom>
          <a:noFill/>
        </p:spPr>
        <p:txBody>
          <a:bodyPr wrap="square" rtlCol="0">
            <a:spAutoFit/>
          </a:bodyPr>
          <a:lstStyle/>
          <a:p>
            <a:pPr>
              <a:lnSpc>
                <a:spcPct val="150000"/>
              </a:lnSpc>
            </a:pPr>
            <a:r>
              <a:rPr lang="vi-VN" sz="2000" dirty="0">
                <a:ea typeface="Open Sans Regular" panose="020B0606030504020204" pitchFamily="34" charset="0"/>
                <a:cs typeface="Arial" panose="020B0604020202020204" pitchFamily="34" charset="0"/>
              </a:rPr>
              <a:t>Để xử lý giá trị thiếu, nhóm áp dụng phương pháp Mean Imputation (điền bằng giá trị trung bình) sử dụng SimpleImputer từ thư viện scikit-learn. Đây là một phương pháp phổ biến và phù hợp cho dữ liệu số, dựa trên công thức:</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1406106" y="2388481"/>
            <a:ext cx="8680359" cy="3937612"/>
          </a:xfrm>
          <a:prstGeom prst="rect">
            <a:avLst/>
          </a:prstGeom>
        </p:spPr>
      </p:pic>
      <p:sp>
        <p:nvSpPr>
          <p:cNvPr id="9" name="TextBox 8"/>
          <p:cNvSpPr txBox="1"/>
          <p:nvPr/>
        </p:nvSpPr>
        <p:spPr>
          <a:xfrm>
            <a:off x="11711380" y="6471416"/>
            <a:ext cx="331094" cy="369332"/>
          </a:xfrm>
          <a:prstGeom prst="rect">
            <a:avLst/>
          </a:prstGeom>
          <a:noFill/>
        </p:spPr>
        <p:txBody>
          <a:bodyPr wrap="square" rtlCol="0">
            <a:spAutoFit/>
          </a:bodyPr>
          <a:lstStyle/>
          <a:p>
            <a:r>
              <a:rPr lang="en-US" dirty="0"/>
              <a:t>5</a:t>
            </a:r>
          </a:p>
        </p:txBody>
      </p:sp>
    </p:spTree>
    <p:extLst>
      <p:ext uri="{BB962C8B-B14F-4D97-AF65-F5344CB8AC3E}">
        <p14:creationId xmlns:p14="http://schemas.microsoft.com/office/powerpoint/2010/main" val="2009232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Mã hóa biến phân loại</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5170646"/>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Trong bộ dữ liệu có hai biến phân loại (categorical variables): Country và Status.</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Biến Country: 193 giá trị → LOẠI BỎ → Tránh "curse of dimensionality“</a:t>
            </a: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Curse of dimensionality</a:t>
            </a:r>
            <a:r>
              <a:rPr lang="en-US" sz="2000" dirty="0">
                <a:latin typeface="Arial" panose="020B0604020202020204" pitchFamily="34" charset="0"/>
                <a:cs typeface="Arial" panose="020B0604020202020204" pitchFamily="34" charset="0"/>
              </a:rPr>
              <a:t>:</a:t>
            </a:r>
            <a:r>
              <a:rPr lang="vi-VN" sz="2000" dirty="0">
                <a:latin typeface="Arial" panose="020B0604020202020204" pitchFamily="34" charset="0"/>
                <a:cs typeface="Arial" panose="020B0604020202020204" pitchFamily="34" charset="0"/>
              </a:rPr>
              <a:t> Số chiều tăng đột biến, làm tăng độ phức tạp</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tính toán</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Overfitting: Mô hình dễ học thuộc lòng dữ liệu huấn luyện</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Multicollinearity: Các biến dummy có tương quan cao với nhau</a:t>
            </a:r>
            <a:endParaRPr lang="en-US"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Biến Status: Developed / Developing → One-Hot Encoding với tham số drop_first=True → Status_Developing (0/1)</a:t>
            </a: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Tránh dummy variable trap (bẫy biến giả): Khi có k loại, chỉ cần k − 1 biến dummy </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Tránh multicollinearity hoàn hảo: Nếu giữ cả 2 cột, chúng có tương quan âm hoàn hảo (-1) </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Courier New" panose="02070309020205020404" pitchFamily="49" charset="0"/>
              <a:buChar char="o"/>
            </a:pPr>
            <a:r>
              <a:rPr lang="vi-VN" sz="2000" dirty="0">
                <a:latin typeface="Arial" panose="020B0604020202020204" pitchFamily="34" charset="0"/>
                <a:cs typeface="Arial" panose="020B0604020202020204" pitchFamily="34" charset="0"/>
              </a:rPr>
              <a:t>Giảm chiều dữ liệu: Từ 1 cột phân loại thành 1 cột nhị phân thay vì 2 cột</a:t>
            </a:r>
            <a:endParaRPr lang="en-US" sz="2000" dirty="0">
              <a:latin typeface="Arial" panose="020B0604020202020204" pitchFamily="34" charset="0"/>
              <a:cs typeface="Arial" panose="020B0604020202020204" pitchFamily="34" charset="0"/>
            </a:endParaRPr>
          </a:p>
          <a:p>
            <a:pPr>
              <a:lnSpc>
                <a:spcPct val="150000"/>
              </a:lnSpc>
            </a:pP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8" name="TextBox 7"/>
          <p:cNvSpPr txBox="1"/>
          <p:nvPr/>
        </p:nvSpPr>
        <p:spPr>
          <a:xfrm>
            <a:off x="11711380" y="6471416"/>
            <a:ext cx="331094" cy="369332"/>
          </a:xfrm>
          <a:prstGeom prst="rect">
            <a:avLst/>
          </a:prstGeom>
          <a:noFill/>
        </p:spPr>
        <p:txBody>
          <a:bodyPr wrap="square" rtlCol="0">
            <a:spAutoFit/>
          </a:bodyPr>
          <a:lstStyle/>
          <a:p>
            <a:r>
              <a:rPr lang="en-US" dirty="0"/>
              <a:t>6</a:t>
            </a:r>
          </a:p>
        </p:txBody>
      </p:sp>
    </p:spTree>
    <p:extLst>
      <p:ext uri="{BB962C8B-B14F-4D97-AF65-F5344CB8AC3E}">
        <p14:creationId xmlns:p14="http://schemas.microsoft.com/office/powerpoint/2010/main" val="210585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Chuẩn hóa dữ liệu</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6038" y="0"/>
            <a:ext cx="805962" cy="791570"/>
          </a:xfrm>
          <a:prstGeom prst="rect">
            <a:avLst/>
          </a:prstGeom>
        </p:spPr>
      </p:pic>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5441" y="948907"/>
            <a:ext cx="11576650" cy="2400657"/>
          </a:xfrm>
          <a:prstGeom prst="rect">
            <a:avLst/>
          </a:prstGeom>
          <a:noFill/>
        </p:spPr>
        <p:txBody>
          <a:bodyPr wrap="square" rtlCol="0">
            <a:spAutoFit/>
          </a:bodyPr>
          <a:lstStyle/>
          <a:p>
            <a:pPr>
              <a:lnSpc>
                <a:spcPct val="150000"/>
              </a:lnSpc>
            </a:pPr>
            <a:r>
              <a:rPr lang="vi-VN" sz="2000" b="1" dirty="0">
                <a:latin typeface="Arial" panose="020B0604020202020204" pitchFamily="34" charset="0"/>
                <a:ea typeface="Open Sans Regular" panose="020B0606030504020204" pitchFamily="34" charset="0"/>
                <a:cs typeface="Arial" panose="020B0604020202020204" pitchFamily="34" charset="0"/>
              </a:rPr>
              <a:t>Quy trình thực hiện:</a:t>
            </a:r>
            <a:endParaRPr lang="en-US" sz="2000" b="1"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Chia dữ liệu: Trước khi chuẩn hóa, dữ liệu được chia thành tập huấn luyện (70%) và tập kiểm tra</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(30%) với train_test_split, sử dụng random_state để đảm bảo tính tái lập.</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Fit trên tập huấn luyện: X_train để tránh</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data leakage (rò rỉ thông tin từ tập test).</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Transform cả hai tập: Áp dụng phép biến đổi với cùng tham số đã học cho cả X_train và X_test.</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3246333"/>
            <a:ext cx="11576650" cy="496996"/>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Công thức chuẩn hóa:</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2226" y="3146139"/>
            <a:ext cx="7882762" cy="3373307"/>
          </a:xfrm>
          <a:prstGeom prst="rect">
            <a:avLst/>
          </a:prstGeom>
        </p:spPr>
      </p:pic>
      <p:sp>
        <p:nvSpPr>
          <p:cNvPr id="12" name="TextBox 11"/>
          <p:cNvSpPr txBox="1"/>
          <p:nvPr/>
        </p:nvSpPr>
        <p:spPr>
          <a:xfrm>
            <a:off x="11711380" y="6471416"/>
            <a:ext cx="331094" cy="369332"/>
          </a:xfrm>
          <a:prstGeom prst="rect">
            <a:avLst/>
          </a:prstGeom>
          <a:noFill/>
        </p:spPr>
        <p:txBody>
          <a:bodyPr wrap="square" rtlCol="0">
            <a:spAutoFit/>
          </a:bodyPr>
          <a:lstStyle/>
          <a:p>
            <a:r>
              <a:rPr lang="en-US" dirty="0"/>
              <a:t>7</a:t>
            </a:r>
          </a:p>
        </p:txBody>
      </p:sp>
    </p:spTree>
    <p:extLst>
      <p:ext uri="{BB962C8B-B14F-4D97-AF65-F5344CB8AC3E}">
        <p14:creationId xmlns:p14="http://schemas.microsoft.com/office/powerpoint/2010/main" val="4100362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extBox 4"/>
          <p:cNvSpPr txBox="1"/>
          <p:nvPr/>
        </p:nvSpPr>
        <p:spPr>
          <a:xfrm>
            <a:off x="717753" y="3959786"/>
            <a:ext cx="3874779"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Giảm chiều</a:t>
            </a:r>
          </a:p>
          <a:p>
            <a:r>
              <a:rPr lang="en-US" sz="4800" b="1" dirty="0">
                <a:solidFill>
                  <a:schemeClr val="bg1"/>
                </a:solidFill>
                <a:latin typeface="Montserrat ExtraBold" panose="00000900000000000000" pitchFamily="2" charset="0"/>
              </a:rPr>
              <a:t>dữ liệu</a:t>
            </a:r>
          </a:p>
        </p:txBody>
      </p:sp>
    </p:spTree>
    <p:extLst>
      <p:ext uri="{BB962C8B-B14F-4D97-AF65-F5344CB8AC3E}">
        <p14:creationId xmlns:p14="http://schemas.microsoft.com/office/powerpoint/2010/main" val="1401525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717753" y="3959786"/>
            <a:ext cx="5908990"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Phân tích thành </a:t>
            </a:r>
          </a:p>
          <a:p>
            <a:r>
              <a:rPr lang="en-US" sz="4800" b="1" dirty="0">
                <a:solidFill>
                  <a:srgbClr val="0092FF"/>
                </a:solidFill>
                <a:latin typeface="Montserrat ExtraBold" panose="00000900000000000000" pitchFamily="2" charset="0"/>
              </a:rPr>
              <a:t>phần chính (PCA)</a:t>
            </a:r>
          </a:p>
        </p:txBody>
      </p:sp>
    </p:spTree>
    <p:extLst>
      <p:ext uri="{BB962C8B-B14F-4D97-AF65-F5344CB8AC3E}">
        <p14:creationId xmlns:p14="http://schemas.microsoft.com/office/powerpoint/2010/main" val="3091352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Mục đích và ý tưởng</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948907"/>
            <a:ext cx="11683042" cy="3785652"/>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Mục đích:</a:t>
            </a:r>
          </a:p>
          <a:p>
            <a:pPr marL="342900" indent="-342900">
              <a:lnSpc>
                <a:spcPct val="150000"/>
              </a:lnSpc>
              <a:buFont typeface="Arial" panose="020B0604020202020204" pitchFamily="34" charset="0"/>
              <a:buChar char="•"/>
            </a:pPr>
            <a:r>
              <a:rPr lang="en-US" sz="2000" dirty="0">
                <a:latin typeface="Arial" panose="020B0604020202020204" pitchFamily="34" charset="0"/>
                <a:ea typeface="Open Sans Regular" panose="020B0606030504020204" pitchFamily="34" charset="0"/>
                <a:cs typeface="Arial" panose="020B0604020202020204" pitchFamily="34" charset="0"/>
              </a:rPr>
              <a:t>Loại </a:t>
            </a:r>
            <a:r>
              <a:rPr lang="vi-VN" sz="2000" dirty="0">
                <a:latin typeface="Arial" panose="020B0604020202020204" pitchFamily="34" charset="0"/>
                <a:ea typeface="Open Sans Regular" panose="020B0606030504020204" pitchFamily="34" charset="0"/>
                <a:cs typeface="Arial" panose="020B0604020202020204" pitchFamily="34" charset="0"/>
              </a:rPr>
              <a:t>bỏ dư thừa và giữ lại các thành phần mang nhiều thông tin nhất</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ea typeface="Open Sans Regular" panose="020B0606030504020204" pitchFamily="34" charset="0"/>
                <a:cs typeface="Arial" panose="020B0604020202020204" pitchFamily="34" charset="0"/>
              </a:rPr>
              <a:t>B</a:t>
            </a:r>
            <a:r>
              <a:rPr lang="vi-VN" sz="2000" dirty="0">
                <a:latin typeface="Arial" panose="020B0604020202020204" pitchFamily="34" charset="0"/>
                <a:ea typeface="Open Sans Regular" panose="020B0606030504020204" pitchFamily="34" charset="0"/>
                <a:cs typeface="Arial" panose="020B0604020202020204" pitchFamily="34" charset="0"/>
              </a:rPr>
              <a:t>iến đổi dữ liệu sang không gian mới với các trục tọa</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độ ít tương quan, giúp giảm chi phí tính toán, cải thiện hiệu suất mô hình và hỗ trợ trực quan hóa trong cácbài toán dữ liệu có số chiều lớn.</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Ý tưởng:</a:t>
            </a: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Giảm từ 20 đặc trưng xuống còn 15 thành phần chính mà vẫn giữ 9</a:t>
            </a:r>
            <a:r>
              <a:rPr lang="en-US" sz="2000" dirty="0">
                <a:latin typeface="Arial" panose="020B0604020202020204" pitchFamily="34" charset="0"/>
                <a:ea typeface="Open Sans Regular" panose="020B0606030504020204" pitchFamily="34" charset="0"/>
                <a:cs typeface="Arial" panose="020B0604020202020204" pitchFamily="34" charset="0"/>
              </a:rPr>
              <a:t>5</a:t>
            </a:r>
            <a:r>
              <a:rPr lang="vi-VN" sz="2000" dirty="0">
                <a:latin typeface="Arial" panose="020B0604020202020204" pitchFamily="34" charset="0"/>
                <a:ea typeface="Open Sans Regular" panose="020B0606030504020204" pitchFamily="34" charset="0"/>
                <a:cs typeface="Arial" panose="020B0604020202020204" pitchFamily="34" charset="0"/>
              </a:rPr>
              <a:t>% phương sai.</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Loại bỏ đa cộng tuyến giữa các yếu tố như Schooling và Income composition.</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Trực quan hóa mối quan hệ giữa các chỉ số y tế - xã hội và tuổi thọ.</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2" name="TextBox 11"/>
          <p:cNvSpPr txBox="1"/>
          <p:nvPr/>
        </p:nvSpPr>
        <p:spPr>
          <a:xfrm>
            <a:off x="11711380" y="6471416"/>
            <a:ext cx="331094" cy="369332"/>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2765132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7622" y="1007437"/>
            <a:ext cx="6207101" cy="4827745"/>
          </a:xfrm>
          <a:prstGeom prst="rect">
            <a:avLst/>
          </a:prstGeom>
        </p:spPr>
      </p:pic>
      <p:sp>
        <p:nvSpPr>
          <p:cNvPr id="12" name="TextBox 11"/>
          <p:cNvSpPr txBox="1"/>
          <p:nvPr/>
        </p:nvSpPr>
        <p:spPr>
          <a:xfrm>
            <a:off x="1608992" y="5832140"/>
            <a:ext cx="11719951" cy="553998"/>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Phân tán dữ liệu theo 2 thành phần chính đầu tiên (PC1 vs PC2)</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1" name="TextBox 10"/>
          <p:cNvSpPr txBox="1"/>
          <p:nvPr/>
        </p:nvSpPr>
        <p:spPr>
          <a:xfrm>
            <a:off x="11711380" y="6471416"/>
            <a:ext cx="331094" cy="369332"/>
          </a:xfrm>
          <a:prstGeom prst="rect">
            <a:avLst/>
          </a:prstGeom>
          <a:noFill/>
        </p:spPr>
        <p:txBody>
          <a:bodyPr wrap="square" rtlCol="0">
            <a:spAutoFit/>
          </a:bodyPr>
          <a:lstStyle/>
          <a:p>
            <a:r>
              <a:rPr lang="en-US" dirty="0"/>
              <a:t>9</a:t>
            </a:r>
          </a:p>
        </p:txBody>
      </p:sp>
    </p:spTree>
    <p:extLst>
      <p:ext uri="{BB962C8B-B14F-4D97-AF65-F5344CB8AC3E}">
        <p14:creationId xmlns:p14="http://schemas.microsoft.com/office/powerpoint/2010/main" val="444657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2" name="TextBox 11"/>
          <p:cNvSpPr txBox="1"/>
          <p:nvPr/>
        </p:nvSpPr>
        <p:spPr>
          <a:xfrm>
            <a:off x="1592859" y="5879069"/>
            <a:ext cx="8179269" cy="496996"/>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Biểu đồ phân tán cho 6 cặp thành phần chính đầu tiên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5554" y="832310"/>
            <a:ext cx="8179270" cy="511204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10</a:t>
            </a:r>
          </a:p>
        </p:txBody>
      </p:sp>
    </p:spTree>
    <p:extLst>
      <p:ext uri="{BB962C8B-B14F-4D97-AF65-F5344CB8AC3E}">
        <p14:creationId xmlns:p14="http://schemas.microsoft.com/office/powerpoint/2010/main" val="885680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2" name="TextBox 11"/>
          <p:cNvSpPr txBox="1"/>
          <p:nvPr/>
        </p:nvSpPr>
        <p:spPr>
          <a:xfrm>
            <a:off x="1018595" y="5887684"/>
            <a:ext cx="9844665" cy="496996"/>
          </a:xfrm>
          <a:prstGeom prst="rect">
            <a:avLst/>
          </a:prstGeom>
          <a:noFill/>
        </p:spPr>
        <p:txBody>
          <a:bodyPr wrap="square" rtlCol="0">
            <a:spAutoFit/>
          </a:bodyPr>
          <a:lstStyle/>
          <a:p>
            <a:pPr algn="ctr">
              <a:lnSpc>
                <a:spcPct val="150000"/>
              </a:lnSpc>
            </a:pPr>
            <a:r>
              <a:rPr lang="vi-VN" sz="2000" b="1" dirty="0">
                <a:ea typeface="Open Sans Regular" panose="020B0606030504020204" pitchFamily="34" charset="0"/>
                <a:cs typeface="Arial" panose="020B0604020202020204" pitchFamily="34" charset="0"/>
              </a:rPr>
              <a:t>Tương quan giữa các thành phần chính (PC1–PC15) và đặc trưng gốc.</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1895" y="889807"/>
            <a:ext cx="10564593" cy="5004281"/>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11</a:t>
            </a:r>
          </a:p>
        </p:txBody>
      </p:sp>
    </p:spTree>
    <p:extLst>
      <p:ext uri="{BB962C8B-B14F-4D97-AF65-F5344CB8AC3E}">
        <p14:creationId xmlns:p14="http://schemas.microsoft.com/office/powerpoint/2010/main" val="325706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717753" y="3959786"/>
            <a:ext cx="6773008" cy="1569660"/>
          </a:xfrm>
          <a:prstGeom prst="rect">
            <a:avLst/>
          </a:prstGeom>
          <a:noFill/>
        </p:spPr>
        <p:txBody>
          <a:bodyPr wrap="none" rtlCol="0">
            <a:spAutoFit/>
          </a:bodyPr>
          <a:lstStyle/>
          <a:p>
            <a:r>
              <a:rPr lang="vi-VN" sz="4800" b="1" dirty="0">
                <a:solidFill>
                  <a:srgbClr val="0092FF"/>
                </a:solidFill>
                <a:latin typeface="Montserrat ExtraBold" panose="00000900000000000000" pitchFamily="2" charset="0"/>
              </a:rPr>
              <a:t>Lựa chọn đặc trưng </a:t>
            </a:r>
            <a:endParaRPr lang="en-US" sz="4800" b="1" dirty="0">
              <a:solidFill>
                <a:srgbClr val="0092FF"/>
              </a:solidFill>
              <a:latin typeface="Montserrat ExtraBold" panose="00000900000000000000" pitchFamily="2" charset="0"/>
            </a:endParaRPr>
          </a:p>
          <a:p>
            <a:r>
              <a:rPr lang="vi-VN" sz="4800" b="1" dirty="0">
                <a:solidFill>
                  <a:srgbClr val="0092FF"/>
                </a:solidFill>
                <a:latin typeface="Montserrat ExtraBold" panose="00000900000000000000" pitchFamily="2" charset="0"/>
              </a:rPr>
              <a:t>với SelectKBest</a:t>
            </a:r>
            <a:endParaRPr lang="en-US" sz="4800" b="1" dirty="0">
              <a:solidFill>
                <a:srgbClr val="0092FF"/>
              </a:solidFill>
              <a:latin typeface="Montserrat ExtraBold" panose="00000900000000000000" pitchFamily="2" charset="0"/>
            </a:endParaRPr>
          </a:p>
        </p:txBody>
      </p:sp>
    </p:spTree>
    <p:extLst>
      <p:ext uri="{BB962C8B-B14F-4D97-AF65-F5344CB8AC3E}">
        <p14:creationId xmlns:p14="http://schemas.microsoft.com/office/powerpoint/2010/main" val="4051910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Giới thiệu về SelectKBest</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948907"/>
            <a:ext cx="11683042" cy="5170646"/>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Định nghĩa: </a:t>
            </a:r>
            <a:r>
              <a:rPr lang="vi-VN" sz="2000" dirty="0">
                <a:latin typeface="Arial" panose="020B0604020202020204" pitchFamily="34" charset="0"/>
                <a:ea typeface="Open Sans Regular" panose="020B0606030504020204" pitchFamily="34" charset="0"/>
                <a:cs typeface="Arial" panose="020B0604020202020204" pitchFamily="34" charset="0"/>
              </a:rPr>
              <a:t>SelectKBest là một phương pháp feature selection (lựa chọn đặc trưng) thuộc loại supervised learning, có</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nghĩa là nó sử dụng thông tin từ biến mục tiêu (target) để đánh giá và chọn ra K features quan trọng nhất.</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vi-VN" sz="2000" b="1" dirty="0">
                <a:latin typeface="Arial" panose="020B0604020202020204" pitchFamily="34" charset="0"/>
                <a:ea typeface="Open Sans Regular" panose="020B0606030504020204" pitchFamily="34" charset="0"/>
                <a:cs typeface="Arial" panose="020B0604020202020204" pitchFamily="34" charset="0"/>
              </a:rPr>
              <a:t>Ưu điểm:</a:t>
            </a:r>
            <a:endParaRPr lang="en-US" sz="2000" b="1"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Giữ nguyên ý nghĩa của các features gốc (dễ diễn giải)</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Giảm số chiều dữ liệu, tránh overfitting</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Loại bỏ các features không có ý nghĩa thống kê</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Tăng tốc độ training model</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a:lnSpc>
                <a:spcPct val="150000"/>
              </a:lnSpc>
            </a:pPr>
            <a:r>
              <a:rPr lang="vi-VN" sz="2000" b="1" dirty="0">
                <a:latin typeface="Arial" panose="020B0604020202020204" pitchFamily="34" charset="0"/>
                <a:ea typeface="Open Sans Regular" panose="020B0606030504020204" pitchFamily="34" charset="0"/>
                <a:cs typeface="Arial" panose="020B0604020202020204" pitchFamily="34" charset="0"/>
              </a:rPr>
              <a:t>Nhược điểm:</a:t>
            </a:r>
            <a:endParaRPr lang="en-US" sz="2000" b="1"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Không xử lý multicollinearity (tương quan cao giữa các features)</a:t>
            </a:r>
            <a:endParaRPr lang="en-US" sz="2000" dirty="0">
              <a:latin typeface="Arial" panose="020B0604020202020204" pitchFamily="34" charset="0"/>
              <a:ea typeface="Open Sans Regular"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000" dirty="0">
                <a:latin typeface="Arial" panose="020B0604020202020204" pitchFamily="34" charset="0"/>
                <a:ea typeface="Open Sans Regular" panose="020B0606030504020204" pitchFamily="34" charset="0"/>
                <a:cs typeface="Arial" panose="020B0604020202020204" pitchFamily="34" charset="0"/>
              </a:rPr>
              <a:t>Đánh giá từng feature độc lập (không xem xét tương tác giữa các features)</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2" name="TextBox 11"/>
          <p:cNvSpPr txBox="1"/>
          <p:nvPr/>
        </p:nvSpPr>
        <p:spPr>
          <a:xfrm>
            <a:off x="11711380" y="6471416"/>
            <a:ext cx="480620" cy="369332"/>
          </a:xfrm>
          <a:prstGeom prst="rect">
            <a:avLst/>
          </a:prstGeom>
          <a:noFill/>
        </p:spPr>
        <p:txBody>
          <a:bodyPr wrap="square" rtlCol="0">
            <a:spAutoFit/>
          </a:bodyPr>
          <a:lstStyle/>
          <a:p>
            <a:r>
              <a:rPr lang="en-US" dirty="0"/>
              <a:t>12</a:t>
            </a:r>
          </a:p>
        </p:txBody>
      </p:sp>
    </p:spTree>
    <p:extLst>
      <p:ext uri="{BB962C8B-B14F-4D97-AF65-F5344CB8AC3E}">
        <p14:creationId xmlns:p14="http://schemas.microsoft.com/office/powerpoint/2010/main" val="3760159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800" dirty="0">
                <a:latin typeface="Montserrat ExtraBold" panose="00000900000000000000" pitchFamily="2" charset="0"/>
              </a:rPr>
              <a:t>SelectKBest với f_regression</a:t>
            </a:r>
            <a:r>
              <a:rPr lang="en-US" sz="2800" dirty="0">
                <a:latin typeface="Montserrat ExtraBold" panose="00000900000000000000" pitchFamily="2" charset="0"/>
              </a:rPr>
              <a:t> </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708319"/>
            <a:ext cx="11683042" cy="496996"/>
          </a:xfrm>
          <a:prstGeom prst="rect">
            <a:avLst/>
          </a:prstGeom>
          <a:noFill/>
        </p:spPr>
        <p:txBody>
          <a:bodyPr wrap="square" rtlCol="0">
            <a:spAutoFit/>
          </a:bodyPr>
          <a:lstStyle/>
          <a:p>
            <a:pP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f_regression là hàm tính toán F-statistic giữa mỗi feature và target trong bài toán regression.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1915065" y="1220404"/>
            <a:ext cx="7541194" cy="5207773"/>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1938543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800" dirty="0">
                <a:latin typeface="Montserrat ExtraBold" panose="00000900000000000000" pitchFamily="2" charset="0"/>
              </a:rPr>
              <a:t>SelectKBest với f_regression</a:t>
            </a:r>
            <a:r>
              <a:rPr lang="en-US" sz="2800" dirty="0">
                <a:latin typeface="Montserrat ExtraBold" panose="00000900000000000000" pitchFamily="2" charset="0"/>
              </a:rPr>
              <a:t> </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508958" y="1096508"/>
            <a:ext cx="9471804" cy="5450851"/>
          </a:xfrm>
          <a:prstGeom prst="rect">
            <a:avLst/>
          </a:prstGeom>
          <a:noFill/>
        </p:spPr>
        <p:txBody>
          <a:bodyPr wrap="square" rtlCol="0">
            <a:spAutoFit/>
          </a:bodyPr>
          <a:lstStyle/>
          <a:p>
            <a:pPr fontAlgn="base">
              <a:lnSpc>
                <a:spcPct val="150000"/>
              </a:lnSpc>
            </a:pPr>
            <a:r>
              <a:rPr lang="vi-VN" b="1" dirty="0"/>
              <a:t>Ý nghĩa:</a:t>
            </a:r>
            <a:r>
              <a:rPr lang="en-US" dirty="0"/>
              <a:t>​</a:t>
            </a:r>
          </a:p>
          <a:p>
            <a:pPr marL="285750" indent="-285750" fontAlgn="base">
              <a:lnSpc>
                <a:spcPct val="150000"/>
              </a:lnSpc>
              <a:buFont typeface="Arial" panose="020B0604020202020204" pitchFamily="34" charset="0"/>
              <a:buChar char="•"/>
            </a:pPr>
            <a:r>
              <a:rPr lang="vi-VN" b="1" dirty="0"/>
              <a:t>F-statistic cao →</a:t>
            </a:r>
            <a:r>
              <a:rPr lang="vi-VN" dirty="0"/>
              <a:t> Feature có mối quan hệ tuyến tính mạnh với target</a:t>
            </a:r>
            <a:r>
              <a:rPr lang="en-US" dirty="0"/>
              <a:t>​ </a:t>
            </a:r>
            <a:r>
              <a:rPr lang="vi-VN" dirty="0"/>
              <a:t>(SSR lớn so với SSE → mô hình giải thích tốt biến thiên của target)</a:t>
            </a:r>
            <a:r>
              <a:rPr lang="en-US" dirty="0"/>
              <a:t>​</a:t>
            </a:r>
          </a:p>
          <a:p>
            <a:pPr marL="285750" indent="-285750" fontAlgn="base">
              <a:lnSpc>
                <a:spcPct val="150000"/>
              </a:lnSpc>
              <a:buFont typeface="Arial" panose="020B0604020202020204" pitchFamily="34" charset="0"/>
              <a:buChar char="•"/>
            </a:pPr>
            <a:r>
              <a:rPr lang="vi-VN" b="1" dirty="0"/>
              <a:t>F-statistic thấp →</a:t>
            </a:r>
            <a:r>
              <a:rPr lang="vi-VN" dirty="0"/>
              <a:t> Feature ít ảnh hưởng đến target</a:t>
            </a:r>
            <a:r>
              <a:rPr lang="en-US" dirty="0"/>
              <a:t> </a:t>
            </a:r>
            <a:r>
              <a:rPr lang="vi-VN" dirty="0"/>
              <a:t>(SSR nhỏ so với SSE → mô hình giải thích kém biến thiên của target)</a:t>
            </a:r>
            <a:r>
              <a:rPr lang="en-US" dirty="0"/>
              <a:t>​</a:t>
            </a:r>
          </a:p>
          <a:p>
            <a:pPr fontAlgn="base">
              <a:lnSpc>
                <a:spcPct val="150000"/>
              </a:lnSpc>
            </a:pPr>
            <a:endParaRPr lang="en-US" dirty="0"/>
          </a:p>
          <a:p>
            <a:pPr fontAlgn="base">
              <a:lnSpc>
                <a:spcPct val="150000"/>
              </a:lnSpc>
            </a:pPr>
            <a:r>
              <a:rPr lang="vi-VN" b="1" dirty="0"/>
              <a:t>Cách SelectKBest sử dụng F-statistic:</a:t>
            </a:r>
            <a:r>
              <a:rPr lang="en-US" dirty="0"/>
              <a:t>​</a:t>
            </a:r>
          </a:p>
          <a:p>
            <a:pPr marL="285750" indent="-285750" fontAlgn="base">
              <a:lnSpc>
                <a:spcPct val="150000"/>
              </a:lnSpc>
              <a:buFont typeface="Arial" panose="020B0604020202020204" pitchFamily="34" charset="0"/>
              <a:buChar char="•"/>
            </a:pPr>
            <a:r>
              <a:rPr lang="en-US" dirty="0">
                <a:latin typeface="Arial Body"/>
                <a:cs typeface="Arial" panose="020B0604020202020204" pitchFamily="34" charset="0"/>
              </a:rPr>
              <a:t>T</a:t>
            </a:r>
            <a:r>
              <a:rPr lang="vi-VN" dirty="0">
                <a:latin typeface="Arial Body"/>
                <a:cs typeface="Arial" panose="020B0604020202020204" pitchFamily="34" charset="0"/>
              </a:rPr>
              <a:t>ính F-statistic cho từng feature riêng lẻ với target</a:t>
            </a:r>
            <a:r>
              <a:rPr lang="en-US" dirty="0">
                <a:latin typeface="Arial Body"/>
                <a:cs typeface="Arial" panose="020B0604020202020204" pitchFamily="34" charset="0"/>
              </a:rPr>
              <a:t>​</a:t>
            </a:r>
          </a:p>
          <a:p>
            <a:pPr marL="285750" indent="-285750" fontAlgn="base">
              <a:lnSpc>
                <a:spcPct val="150000"/>
              </a:lnSpc>
              <a:buFont typeface="Arial" panose="020B0604020202020204" pitchFamily="34" charset="0"/>
              <a:buChar char="•"/>
            </a:pPr>
            <a:r>
              <a:rPr lang="vi-VN" dirty="0">
                <a:latin typeface="Arial Body"/>
                <a:cs typeface="Arial" panose="020B0604020202020204" pitchFamily="34" charset="0"/>
              </a:rPr>
              <a:t>Xếp hạng các features theo giá trị F-statistic (từ cao đến thấp)</a:t>
            </a:r>
            <a:r>
              <a:rPr lang="en-US" dirty="0">
                <a:latin typeface="Arial Body"/>
                <a:cs typeface="Arial" panose="020B0604020202020204" pitchFamily="34" charset="0"/>
              </a:rPr>
              <a:t>​</a:t>
            </a:r>
          </a:p>
          <a:p>
            <a:pPr marL="285750" indent="-285750" fontAlgn="base">
              <a:lnSpc>
                <a:spcPct val="150000"/>
              </a:lnSpc>
              <a:buFont typeface="Arial" panose="020B0604020202020204" pitchFamily="34" charset="0"/>
              <a:buChar char="•"/>
            </a:pPr>
            <a:r>
              <a:rPr lang="vi-VN" dirty="0">
                <a:latin typeface="Arial Body"/>
                <a:cs typeface="Arial" panose="020B0604020202020204" pitchFamily="34" charset="0"/>
              </a:rPr>
              <a:t>Chọn k features có F-statistic cao nhất</a:t>
            </a:r>
            <a:r>
              <a:rPr lang="en-US" dirty="0">
                <a:latin typeface="Arial Body"/>
                <a:cs typeface="Arial" panose="020B0604020202020204" pitchFamily="34" charset="0"/>
              </a:rPr>
              <a:t>​</a:t>
            </a:r>
          </a:p>
          <a:p>
            <a:pPr marL="285750" indent="-285750" fontAlgn="base">
              <a:lnSpc>
                <a:spcPct val="150000"/>
              </a:lnSpc>
              <a:buFont typeface="Arial" panose="020B0604020202020204" pitchFamily="34" charset="0"/>
              <a:buChar char="•"/>
            </a:pPr>
            <a:r>
              <a:rPr lang="vi-VN" dirty="0">
                <a:latin typeface="Arial Body"/>
                <a:cs typeface="Arial" panose="020B0604020202020204" pitchFamily="34" charset="0"/>
              </a:rPr>
              <a:t>Loại bỏ các features có F-statistic thấp (ít ảnh hưởng đến target)</a:t>
            </a:r>
            <a:r>
              <a:rPr lang="en-US" dirty="0">
                <a:latin typeface="Arial Body"/>
                <a:cs typeface="Arial" panose="020B0604020202020204" pitchFamily="34" charset="0"/>
              </a:rPr>
              <a:t>​</a:t>
            </a:r>
          </a:p>
          <a:p>
            <a:pPr fontAlgn="base">
              <a:lnSpc>
                <a:spcPct val="150000"/>
              </a:lnSpc>
            </a:pPr>
            <a:r>
              <a:rPr lang="en-US" dirty="0"/>
              <a:t>​</a:t>
            </a:r>
          </a:p>
          <a:p>
            <a:pPr fontAlgn="base">
              <a:lnSpc>
                <a:spcPct val="150000"/>
              </a:lnSpc>
            </a:pPr>
            <a:endParaRPr lang="en-US" dirty="0"/>
          </a:p>
        </p:txBody>
      </p:sp>
      <p:sp>
        <p:nvSpPr>
          <p:cNvPr id="12" name="TextBox 11"/>
          <p:cNvSpPr txBox="1"/>
          <p:nvPr/>
        </p:nvSpPr>
        <p:spPr>
          <a:xfrm>
            <a:off x="11711380" y="6471416"/>
            <a:ext cx="480620" cy="369332"/>
          </a:xfrm>
          <a:prstGeom prst="rect">
            <a:avLst/>
          </a:prstGeom>
          <a:noFill/>
        </p:spPr>
        <p:txBody>
          <a:bodyPr wrap="square" rtlCol="0">
            <a:spAutoFit/>
          </a:bodyPr>
          <a:lstStyle/>
          <a:p>
            <a:r>
              <a:rPr lang="en-US" dirty="0"/>
              <a:t>14</a:t>
            </a:r>
          </a:p>
        </p:txBody>
      </p:sp>
    </p:spTree>
    <p:extLst>
      <p:ext uri="{BB962C8B-B14F-4D97-AF65-F5344CB8AC3E}">
        <p14:creationId xmlns:p14="http://schemas.microsoft.com/office/powerpoint/2010/main" val="3429802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2293099" y="5829097"/>
            <a:ext cx="6570362" cy="496996"/>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Top 10 feature quan trọng nhất</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2293099" y="820461"/>
            <a:ext cx="6570362" cy="5113519"/>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a:t>15</a:t>
            </a:r>
          </a:p>
        </p:txBody>
      </p:sp>
    </p:spTree>
    <p:extLst>
      <p:ext uri="{BB962C8B-B14F-4D97-AF65-F5344CB8AC3E}">
        <p14:creationId xmlns:p14="http://schemas.microsoft.com/office/powerpoint/2010/main" val="4151782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2293099" y="5898108"/>
            <a:ext cx="7239090" cy="553998"/>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Ma trận tương quan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5318" y="890897"/>
            <a:ext cx="7870360" cy="5059525"/>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a:t>16</a:t>
            </a:r>
          </a:p>
        </p:txBody>
      </p:sp>
    </p:spTree>
    <p:extLst>
      <p:ext uri="{BB962C8B-B14F-4D97-AF65-F5344CB8AC3E}">
        <p14:creationId xmlns:p14="http://schemas.microsoft.com/office/powerpoint/2010/main" val="93011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2476455" y="5889268"/>
            <a:ext cx="6736556" cy="553998"/>
          </a:xfrm>
          <a:prstGeom prst="rect">
            <a:avLst/>
          </a:prstGeom>
          <a:noFill/>
        </p:spPr>
        <p:txBody>
          <a:bodyPr wrap="square" rtlCol="0">
            <a:spAutoFit/>
          </a:bodyPr>
          <a:lstStyle/>
          <a:p>
            <a:pPr algn="ctr">
              <a:lnSpc>
                <a:spcPct val="150000"/>
              </a:lnSpc>
            </a:pPr>
            <a:r>
              <a:rPr lang="en-US" sz="2000" b="1" dirty="0">
                <a:latin typeface="Arial" panose="020B0604020202020204" pitchFamily="34" charset="0"/>
                <a:ea typeface="Open Sans Regular" panose="020B0606030504020204" pitchFamily="34" charset="0"/>
                <a:cs typeface="Arial" panose="020B0604020202020204" pitchFamily="34" charset="0"/>
              </a:rPr>
              <a:t>Top 4 features quan trọng nhất và target </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55685" y="964776"/>
            <a:ext cx="6857326" cy="4865905"/>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a:t>17</a:t>
            </a:r>
          </a:p>
        </p:txBody>
      </p:sp>
    </p:spTree>
    <p:extLst>
      <p:ext uri="{BB962C8B-B14F-4D97-AF65-F5344CB8AC3E}">
        <p14:creationId xmlns:p14="http://schemas.microsoft.com/office/powerpoint/2010/main" val="901123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extBox 4"/>
          <p:cNvSpPr txBox="1"/>
          <p:nvPr/>
        </p:nvSpPr>
        <p:spPr>
          <a:xfrm>
            <a:off x="1450998" y="3994292"/>
            <a:ext cx="3017173"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Mô hình </a:t>
            </a:r>
          </a:p>
          <a:p>
            <a:r>
              <a:rPr lang="en-US" sz="4800" b="1" dirty="0">
                <a:solidFill>
                  <a:schemeClr val="bg1"/>
                </a:solidFill>
                <a:latin typeface="Montserrat ExtraBold" panose="00000900000000000000" pitchFamily="2" charset="0"/>
              </a:rPr>
              <a:t>hồi quy</a:t>
            </a:r>
          </a:p>
        </p:txBody>
      </p:sp>
    </p:spTree>
    <p:extLst>
      <p:ext uri="{BB962C8B-B14F-4D97-AF65-F5344CB8AC3E}">
        <p14:creationId xmlns:p14="http://schemas.microsoft.com/office/powerpoint/2010/main" val="1818063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5" name="TextBox 4"/>
          <p:cNvSpPr txBox="1"/>
          <p:nvPr/>
        </p:nvSpPr>
        <p:spPr>
          <a:xfrm>
            <a:off x="1450998" y="3994292"/>
            <a:ext cx="3017173"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Mô hình </a:t>
            </a:r>
          </a:p>
          <a:p>
            <a:r>
              <a:rPr lang="en-US" sz="4800" b="1" dirty="0">
                <a:solidFill>
                  <a:srgbClr val="0092FF"/>
                </a:solidFill>
                <a:latin typeface="Montserrat ExtraBold" panose="00000900000000000000" pitchFamily="2" charset="0"/>
              </a:rPr>
              <a:t>KNN</a:t>
            </a:r>
          </a:p>
        </p:txBody>
      </p:sp>
    </p:spTree>
    <p:extLst>
      <p:ext uri="{BB962C8B-B14F-4D97-AF65-F5344CB8AC3E}">
        <p14:creationId xmlns:p14="http://schemas.microsoft.com/office/powerpoint/2010/main" val="2382936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Mô hình KNN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876980"/>
            <a:ext cx="11683042" cy="1881990"/>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Thuật toán K-Nearest Neighbors Regression (KNN Regression) là một phương pháp hồi quy phi tham số(non-parametric regression), nghĩa là nó không giả định trước dạng hàm quan hệ giữa đầu vào x và đầu ray. Thay vào đó, dự đoán đầu ra của một điểm mới được thực hiện dựa trên sự tương đồng (về khoảng cách)với các điểm đã biết trong tập dữ liệu huấn luyện.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4739" y="3006081"/>
            <a:ext cx="6112935" cy="3303720"/>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a:t>18</a:t>
            </a:r>
          </a:p>
        </p:txBody>
      </p:sp>
    </p:spTree>
    <p:extLst>
      <p:ext uri="{BB962C8B-B14F-4D97-AF65-F5344CB8AC3E}">
        <p14:creationId xmlns:p14="http://schemas.microsoft.com/office/powerpoint/2010/main" val="875377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Ý tưởng tổng quát</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715993" y="1539466"/>
            <a:ext cx="9494358" cy="3984136"/>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19</a:t>
            </a:r>
          </a:p>
        </p:txBody>
      </p:sp>
    </p:spTree>
    <p:extLst>
      <p:ext uri="{BB962C8B-B14F-4D97-AF65-F5344CB8AC3E}">
        <p14:creationId xmlns:p14="http://schemas.microsoft.com/office/powerpoint/2010/main" val="1089962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Tính khoảng cách giữa các điểm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20</a:t>
            </a:r>
          </a:p>
        </p:txBody>
      </p:sp>
      <p:pic>
        <p:nvPicPr>
          <p:cNvPr id="5" name="Picture 4"/>
          <p:cNvPicPr>
            <a:picLocks noChangeAspect="1"/>
          </p:cNvPicPr>
          <p:nvPr/>
        </p:nvPicPr>
        <p:blipFill>
          <a:blip r:embed="rId4"/>
          <a:stretch>
            <a:fillRect/>
          </a:stretch>
        </p:blipFill>
        <p:spPr>
          <a:xfrm>
            <a:off x="4227212" y="1977827"/>
            <a:ext cx="2924266" cy="1032883"/>
          </a:xfrm>
          <a:prstGeom prst="rect">
            <a:avLst/>
          </a:prstGeom>
        </p:spPr>
      </p:pic>
      <p:sp>
        <p:nvSpPr>
          <p:cNvPr id="12" name="TextBox 11"/>
          <p:cNvSpPr txBox="1"/>
          <p:nvPr/>
        </p:nvSpPr>
        <p:spPr>
          <a:xfrm>
            <a:off x="405441" y="1230665"/>
            <a:ext cx="11683042" cy="496996"/>
          </a:xfrm>
          <a:prstGeom prst="rect">
            <a:avLst/>
          </a:prstGeom>
          <a:noFill/>
        </p:spPr>
        <p:txBody>
          <a:bodyPr wrap="square" rtlCol="0">
            <a:spAutoFit/>
          </a:bodyPr>
          <a:lstStyle/>
          <a:p>
            <a:pPr>
              <a:lnSpc>
                <a:spcPct val="150000"/>
              </a:lnSpc>
            </a:pPr>
            <a:r>
              <a:rPr lang="en-US" sz="2000" dirty="0">
                <a:latin typeface="Arial" panose="020B0604020202020204" pitchFamily="34" charset="0"/>
                <a:ea typeface="Open Sans Regular" panose="020B0606030504020204" pitchFamily="34" charset="0"/>
                <a:cs typeface="Arial" panose="020B0604020202020204" pitchFamily="34" charset="0"/>
              </a:rPr>
              <a:t>Dữ liệu có nhiều thuộc tính (d &gt; 1) nên nhóm sử dụng công thức tính khoảng cách Manhattan:</a:t>
            </a:r>
          </a:p>
        </p:txBody>
      </p:sp>
      <p:pic>
        <p:nvPicPr>
          <p:cNvPr id="6" name="Picture 5"/>
          <p:cNvPicPr>
            <a:picLocks noChangeAspect="1"/>
          </p:cNvPicPr>
          <p:nvPr/>
        </p:nvPicPr>
        <p:blipFill>
          <a:blip r:embed="rId5"/>
          <a:stretch>
            <a:fillRect/>
          </a:stretch>
        </p:blipFill>
        <p:spPr>
          <a:xfrm>
            <a:off x="2303254" y="3136140"/>
            <a:ext cx="7656212" cy="1567325"/>
          </a:xfrm>
          <a:prstGeom prst="rect">
            <a:avLst/>
          </a:prstGeom>
        </p:spPr>
      </p:pic>
    </p:spTree>
    <p:extLst>
      <p:ext uri="{BB962C8B-B14F-4D97-AF65-F5344CB8AC3E}">
        <p14:creationId xmlns:p14="http://schemas.microsoft.com/office/powerpoint/2010/main" val="3604441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Cách tính dự đoán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759124" y="1150682"/>
            <a:ext cx="8768751" cy="4422611"/>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21</a:t>
            </a:r>
          </a:p>
        </p:txBody>
      </p:sp>
    </p:spTree>
    <p:extLst>
      <p:ext uri="{BB962C8B-B14F-4D97-AF65-F5344CB8AC3E}">
        <p14:creationId xmlns:p14="http://schemas.microsoft.com/office/powerpoint/2010/main" val="3350495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Đánh giá hiệu quả mô hình</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2" name="TextBox 11"/>
          <p:cNvSpPr txBox="1"/>
          <p:nvPr/>
        </p:nvSpPr>
        <p:spPr>
          <a:xfrm>
            <a:off x="405441" y="1624962"/>
            <a:ext cx="11683042" cy="553998"/>
          </a:xfrm>
          <a:prstGeom prst="rect">
            <a:avLst/>
          </a:prstGeom>
          <a:noFill/>
        </p:spPr>
        <p:txBody>
          <a:bodyPr wrap="square" rtlCol="0">
            <a:spAutoFit/>
          </a:bodyPr>
          <a:lstStyle/>
          <a:p>
            <a:pPr>
              <a:lnSpc>
                <a:spcPct val="150000"/>
              </a:lnSpc>
            </a:pPr>
            <a:r>
              <a:rPr lang="vi-VN" sz="2000" dirty="0">
                <a:latin typeface="Arial" panose="020B0604020202020204" pitchFamily="34" charset="0"/>
                <a:cs typeface="Arial" panose="020B0604020202020204" pitchFamily="34" charset="0"/>
              </a:rPr>
              <a:t>MSE </a:t>
            </a:r>
            <a:r>
              <a:rPr lang="en-US" sz="2000" dirty="0">
                <a:latin typeface="Arial" panose="020B0604020202020204" pitchFamily="34" charset="0"/>
                <a:cs typeface="Arial" panose="020B0604020202020204" pitchFamily="34" charset="0"/>
              </a:rPr>
              <a:t>(</a:t>
            </a:r>
            <a:r>
              <a:rPr lang="vi-VN" sz="2000" dirty="0">
                <a:latin typeface="Arial" panose="020B0604020202020204" pitchFamily="34" charset="0"/>
                <a:cs typeface="Arial" panose="020B0604020202020204" pitchFamily="34" charset="0"/>
              </a:rPr>
              <a:t>Mean Squared Error) — </a:t>
            </a:r>
            <a:r>
              <a:rPr lang="en-US" sz="2000" dirty="0">
                <a:latin typeface="Arial" panose="020B0604020202020204" pitchFamily="34" charset="0"/>
                <a:cs typeface="Arial" panose="020B0604020202020204" pitchFamily="34" charset="0"/>
              </a:rPr>
              <a:t>Trung bình bình phương sai số</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
        <p:nvSpPr>
          <p:cNvPr id="15" name="TextBox 14"/>
          <p:cNvSpPr txBox="1"/>
          <p:nvPr/>
        </p:nvSpPr>
        <p:spPr>
          <a:xfrm>
            <a:off x="405441" y="3392183"/>
            <a:ext cx="11683042" cy="504305"/>
          </a:xfrm>
          <a:prstGeom prst="rect">
            <a:avLst/>
          </a:prstGeom>
          <a:noFill/>
        </p:spPr>
        <p:txBody>
          <a:bodyPr wrap="square" rtlCol="0">
            <a:spAutoFit/>
          </a:bodyPr>
          <a:lstStyle/>
          <a:p>
            <a:pPr>
              <a:lnSpc>
                <a:spcPct val="150000"/>
              </a:lnSpc>
            </a:pPr>
            <a:r>
              <a:rPr lang="en-US" sz="2000" dirty="0">
                <a:latin typeface="Arial" panose="020B0604020202020204" pitchFamily="34" charset="0"/>
                <a:cs typeface="Arial" panose="020B0604020202020204" pitchFamily="34" charset="0"/>
              </a:rPr>
              <a:t>R² (R- Square) – Độ đo tương đối (tỷ đối)</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7" name="Picture 6"/>
          <p:cNvPicPr>
            <a:picLocks noChangeAspect="1"/>
          </p:cNvPicPr>
          <p:nvPr/>
        </p:nvPicPr>
        <p:blipFill>
          <a:blip r:embed="rId4"/>
          <a:stretch>
            <a:fillRect/>
          </a:stretch>
        </p:blipFill>
        <p:spPr>
          <a:xfrm>
            <a:off x="4532194" y="4177836"/>
            <a:ext cx="2558720" cy="988877"/>
          </a:xfrm>
          <a:prstGeom prst="rect">
            <a:avLst/>
          </a:prstGeom>
        </p:spPr>
      </p:pic>
      <p:pic>
        <p:nvPicPr>
          <p:cNvPr id="13" name="Picture 12">
            <a:extLst>
              <a:ext uri="{FF2B5EF4-FFF2-40B4-BE49-F238E27FC236}">
                <a16:creationId xmlns:a16="http://schemas.microsoft.com/office/drawing/2014/main" id="{F71CF506-4B11-DF65-ABD6-D3F52C216DF6}"/>
              </a:ext>
            </a:extLst>
          </p:cNvPr>
          <p:cNvPicPr>
            <a:picLocks noChangeAspect="1"/>
          </p:cNvPicPr>
          <p:nvPr/>
        </p:nvPicPr>
        <p:blipFill>
          <a:blip r:embed="rId5"/>
          <a:stretch>
            <a:fillRect/>
          </a:stretch>
        </p:blipFill>
        <p:spPr>
          <a:xfrm>
            <a:off x="4247260" y="2180546"/>
            <a:ext cx="2948299" cy="1211636"/>
          </a:xfrm>
          <a:prstGeom prst="rect">
            <a:avLst/>
          </a:prstGeom>
        </p:spPr>
      </p:pic>
      <p:sp>
        <p:nvSpPr>
          <p:cNvPr id="14" name="TextBox 13"/>
          <p:cNvSpPr txBox="1"/>
          <p:nvPr/>
        </p:nvSpPr>
        <p:spPr>
          <a:xfrm>
            <a:off x="11711380" y="6471416"/>
            <a:ext cx="480620" cy="369332"/>
          </a:xfrm>
          <a:prstGeom prst="rect">
            <a:avLst/>
          </a:prstGeom>
          <a:noFill/>
        </p:spPr>
        <p:txBody>
          <a:bodyPr wrap="square" rtlCol="0">
            <a:spAutoFit/>
          </a:bodyPr>
          <a:lstStyle/>
          <a:p>
            <a:r>
              <a:rPr lang="en-US" dirty="0"/>
              <a:t>22</a:t>
            </a:r>
          </a:p>
        </p:txBody>
      </p:sp>
    </p:spTree>
    <p:extLst>
      <p:ext uri="{BB962C8B-B14F-4D97-AF65-F5344CB8AC3E}">
        <p14:creationId xmlns:p14="http://schemas.microsoft.com/office/powerpoint/2010/main" val="3955114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a:stretch>
            <a:fillRect/>
          </a:stretch>
        </p:blipFill>
        <p:spPr>
          <a:xfrm>
            <a:off x="1439325" y="1312163"/>
            <a:ext cx="9313350" cy="404875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23</a:t>
            </a:r>
          </a:p>
        </p:txBody>
      </p:sp>
    </p:spTree>
    <p:extLst>
      <p:ext uri="{BB962C8B-B14F-4D97-AF65-F5344CB8AC3E}">
        <p14:creationId xmlns:p14="http://schemas.microsoft.com/office/powerpoint/2010/main" val="446561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Phân tích kết quả</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7419" y="2009954"/>
            <a:ext cx="5699073" cy="3256613"/>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6862" y="2009954"/>
            <a:ext cx="5463045" cy="3277827"/>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24</a:t>
            </a:r>
          </a:p>
        </p:txBody>
      </p:sp>
    </p:spTree>
    <p:extLst>
      <p:ext uri="{BB962C8B-B14F-4D97-AF65-F5344CB8AC3E}">
        <p14:creationId xmlns:p14="http://schemas.microsoft.com/office/powerpoint/2010/main" val="2558388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Trực quan hóa phần dư</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3778370" y="820461"/>
            <a:ext cx="4226637" cy="2793879"/>
          </a:xfrm>
          <a:prstGeom prst="rect">
            <a:avLst/>
          </a:prstGeom>
        </p:spPr>
      </p:pic>
      <p:pic>
        <p:nvPicPr>
          <p:cNvPr id="6" name="Picture 5"/>
          <p:cNvPicPr>
            <a:picLocks noChangeAspect="1"/>
          </p:cNvPicPr>
          <p:nvPr/>
        </p:nvPicPr>
        <p:blipFill>
          <a:blip r:embed="rId5"/>
          <a:stretch>
            <a:fillRect/>
          </a:stretch>
        </p:blipFill>
        <p:spPr>
          <a:xfrm>
            <a:off x="241322" y="3411637"/>
            <a:ext cx="4382435" cy="2896864"/>
          </a:xfrm>
          <a:prstGeom prst="rect">
            <a:avLst/>
          </a:prstGeom>
        </p:spPr>
      </p:pic>
      <p:pic>
        <p:nvPicPr>
          <p:cNvPr id="12" name="Picture 11"/>
          <p:cNvPicPr>
            <a:picLocks noChangeAspect="1"/>
          </p:cNvPicPr>
          <p:nvPr/>
        </p:nvPicPr>
        <p:blipFill>
          <a:blip r:embed="rId6"/>
          <a:stretch>
            <a:fillRect/>
          </a:stretch>
        </p:blipFill>
        <p:spPr>
          <a:xfrm>
            <a:off x="7440063" y="3411637"/>
            <a:ext cx="4281442" cy="2830106"/>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25</a:t>
            </a:r>
          </a:p>
        </p:txBody>
      </p:sp>
    </p:spTree>
    <p:extLst>
      <p:ext uri="{BB962C8B-B14F-4D97-AF65-F5344CB8AC3E}">
        <p14:creationId xmlns:p14="http://schemas.microsoft.com/office/powerpoint/2010/main" val="2776432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5" name="TextBox 4"/>
          <p:cNvSpPr txBox="1"/>
          <p:nvPr/>
        </p:nvSpPr>
        <p:spPr>
          <a:xfrm>
            <a:off x="1450998" y="3994292"/>
            <a:ext cx="6072496"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Mô hình </a:t>
            </a:r>
          </a:p>
          <a:p>
            <a:r>
              <a:rPr lang="en-US" sz="4800" b="1" dirty="0">
                <a:solidFill>
                  <a:srgbClr val="0092FF"/>
                </a:solidFill>
                <a:latin typeface="Montserrat ExtraBold" panose="00000900000000000000" pitchFamily="2" charset="0"/>
              </a:rPr>
              <a:t>Linear Regression</a:t>
            </a:r>
          </a:p>
        </p:txBody>
      </p:sp>
    </p:spTree>
    <p:extLst>
      <p:ext uri="{BB962C8B-B14F-4D97-AF65-F5344CB8AC3E}">
        <p14:creationId xmlns:p14="http://schemas.microsoft.com/office/powerpoint/2010/main" val="930733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Mô hình Linear Regression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405441" y="876980"/>
            <a:ext cx="11683042" cy="1477328"/>
          </a:xfrm>
          <a:prstGeom prst="rect">
            <a:avLst/>
          </a:prstGeom>
          <a:noFill/>
        </p:spPr>
        <p:txBody>
          <a:bodyPr wrap="square" rtlCol="0">
            <a:spAutoFit/>
          </a:bodyPr>
          <a:lstStyle/>
          <a:p>
            <a:pPr>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Thuật toán Linear Regression (Hồi quy tuyến tính) mô hình hóa mối quan hệ giữa biến đầu ra y (trong</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bài toán này là tuổi thọ trung bình) và các biến đầu vào x1, x2, . . . , xn (các yếu tố y tế - xã hội như GDP,BMI, tỷ lệ tiêm chủng, v.v.) theo dạng tuyến tính:</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5" name="Picture 4"/>
          <p:cNvPicPr>
            <a:picLocks noChangeAspect="1"/>
          </p:cNvPicPr>
          <p:nvPr/>
        </p:nvPicPr>
        <p:blipFill>
          <a:blip r:embed="rId4"/>
          <a:stretch>
            <a:fillRect/>
          </a:stretch>
        </p:blipFill>
        <p:spPr>
          <a:xfrm>
            <a:off x="1371600" y="2335267"/>
            <a:ext cx="9068339" cy="3952865"/>
          </a:xfrm>
          <a:prstGeom prst="rect">
            <a:avLst/>
          </a:prstGeom>
        </p:spPr>
      </p:pic>
      <p:sp>
        <p:nvSpPr>
          <p:cNvPr id="12" name="TextBox 11"/>
          <p:cNvSpPr txBox="1"/>
          <p:nvPr/>
        </p:nvSpPr>
        <p:spPr>
          <a:xfrm>
            <a:off x="11711380" y="6471416"/>
            <a:ext cx="480620" cy="369332"/>
          </a:xfrm>
          <a:prstGeom prst="rect">
            <a:avLst/>
          </a:prstGeom>
          <a:noFill/>
        </p:spPr>
        <p:txBody>
          <a:bodyPr wrap="square" rtlCol="0">
            <a:spAutoFit/>
          </a:bodyPr>
          <a:lstStyle/>
          <a:p>
            <a:r>
              <a:rPr lang="en-US" dirty="0"/>
              <a:t>26</a:t>
            </a:r>
          </a:p>
        </p:txBody>
      </p:sp>
    </p:spTree>
    <p:extLst>
      <p:ext uri="{BB962C8B-B14F-4D97-AF65-F5344CB8AC3E}">
        <p14:creationId xmlns:p14="http://schemas.microsoft.com/office/powerpoint/2010/main" val="2899551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Hàm mất mát (Loss function)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a:stretch>
            <a:fillRect/>
          </a:stretch>
        </p:blipFill>
        <p:spPr>
          <a:xfrm>
            <a:off x="416124" y="1770526"/>
            <a:ext cx="11359752" cy="314055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27</a:t>
            </a:r>
          </a:p>
        </p:txBody>
      </p:sp>
    </p:spTree>
    <p:extLst>
      <p:ext uri="{BB962C8B-B14F-4D97-AF65-F5344CB8AC3E}">
        <p14:creationId xmlns:p14="http://schemas.microsoft.com/office/powerpoint/2010/main" val="1535865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Huấn luyện mô hình</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717099" y="1048548"/>
            <a:ext cx="9526797" cy="4786635"/>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28</a:t>
            </a:r>
          </a:p>
        </p:txBody>
      </p:sp>
    </p:spTree>
    <p:extLst>
      <p:ext uri="{BB962C8B-B14F-4D97-AF65-F5344CB8AC3E}">
        <p14:creationId xmlns:p14="http://schemas.microsoft.com/office/powerpoint/2010/main" val="190554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1121434" y="1253190"/>
            <a:ext cx="9495347" cy="4791231"/>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29</a:t>
            </a:r>
          </a:p>
        </p:txBody>
      </p:sp>
    </p:spTree>
    <p:extLst>
      <p:ext uri="{BB962C8B-B14F-4D97-AF65-F5344CB8AC3E}">
        <p14:creationId xmlns:p14="http://schemas.microsoft.com/office/powerpoint/2010/main" val="1726285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Phân tích kết quả</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528" y="1922466"/>
            <a:ext cx="6073466" cy="347055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6603" y="2037728"/>
            <a:ext cx="5342946" cy="3205768"/>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30</a:t>
            </a:r>
          </a:p>
        </p:txBody>
      </p:sp>
    </p:spTree>
    <p:extLst>
      <p:ext uri="{BB962C8B-B14F-4D97-AF65-F5344CB8AC3E}">
        <p14:creationId xmlns:p14="http://schemas.microsoft.com/office/powerpoint/2010/main" val="2437076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Trực quan hóa phần dư</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3762593" y="820461"/>
            <a:ext cx="4248056" cy="2808037"/>
          </a:xfrm>
          <a:prstGeom prst="rect">
            <a:avLst/>
          </a:prstGeom>
        </p:spPr>
      </p:pic>
      <p:pic>
        <p:nvPicPr>
          <p:cNvPr id="6" name="Picture 5"/>
          <p:cNvPicPr>
            <a:picLocks noChangeAspect="1"/>
          </p:cNvPicPr>
          <p:nvPr/>
        </p:nvPicPr>
        <p:blipFill>
          <a:blip r:embed="rId5"/>
          <a:stretch>
            <a:fillRect/>
          </a:stretch>
        </p:blipFill>
        <p:spPr>
          <a:xfrm>
            <a:off x="7487422" y="3433333"/>
            <a:ext cx="4478989" cy="2960688"/>
          </a:xfrm>
          <a:prstGeom prst="rect">
            <a:avLst/>
          </a:prstGeom>
        </p:spPr>
      </p:pic>
      <p:pic>
        <p:nvPicPr>
          <p:cNvPr id="12" name="Picture 11"/>
          <p:cNvPicPr>
            <a:picLocks noChangeAspect="1"/>
          </p:cNvPicPr>
          <p:nvPr/>
        </p:nvPicPr>
        <p:blipFill>
          <a:blip r:embed="rId6"/>
          <a:stretch>
            <a:fillRect/>
          </a:stretch>
        </p:blipFill>
        <p:spPr>
          <a:xfrm>
            <a:off x="291692" y="3532800"/>
            <a:ext cx="4254013" cy="2811974"/>
          </a:xfrm>
          <a:prstGeom prst="rect">
            <a:avLst/>
          </a:prstGeom>
        </p:spPr>
      </p:pic>
      <p:sp>
        <p:nvSpPr>
          <p:cNvPr id="11" name="TextBox 10"/>
          <p:cNvSpPr txBox="1"/>
          <p:nvPr/>
        </p:nvSpPr>
        <p:spPr>
          <a:xfrm>
            <a:off x="11711380" y="6471416"/>
            <a:ext cx="480620" cy="369332"/>
          </a:xfrm>
          <a:prstGeom prst="rect">
            <a:avLst/>
          </a:prstGeom>
          <a:noFill/>
        </p:spPr>
        <p:txBody>
          <a:bodyPr wrap="square" rtlCol="0">
            <a:spAutoFit/>
          </a:bodyPr>
          <a:lstStyle/>
          <a:p>
            <a:r>
              <a:rPr lang="en-US" dirty="0"/>
              <a:t>31</a:t>
            </a:r>
          </a:p>
        </p:txBody>
      </p:sp>
    </p:spTree>
    <p:extLst>
      <p:ext uri="{BB962C8B-B14F-4D97-AF65-F5344CB8AC3E}">
        <p14:creationId xmlns:p14="http://schemas.microsoft.com/office/powerpoint/2010/main" val="3521694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882931"/>
            <a:ext cx="12192000" cy="827406"/>
          </a:xfrm>
          <a:prstGeom prst="rect">
            <a:avLst/>
          </a:prstGeom>
          <a:noFill/>
        </p:spPr>
        <p:txBody>
          <a:bodyPr wrap="square" rtlCol="0">
            <a:spAutoFit/>
          </a:bodyPr>
          <a:lstStyle/>
          <a:p>
            <a:pPr algn="ctr">
              <a:lnSpc>
                <a:spcPct val="200000"/>
              </a:lnSpc>
            </a:pPr>
            <a:r>
              <a:rPr lang="en-US" sz="2800" b="1" dirty="0">
                <a:solidFill>
                  <a:srgbClr val="008DF4"/>
                </a:solidFill>
                <a:latin typeface="Montserrat ExtraBold" panose="00000900000000000000" pitchFamily="2" charset="0"/>
              </a:rPr>
              <a:t>CUỐI KỲ</a:t>
            </a:r>
          </a:p>
        </p:txBody>
      </p:sp>
    </p:spTree>
    <p:extLst>
      <p:ext uri="{BB962C8B-B14F-4D97-AF65-F5344CB8AC3E}">
        <p14:creationId xmlns:p14="http://schemas.microsoft.com/office/powerpoint/2010/main" val="3281931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extBox 4"/>
          <p:cNvSpPr txBox="1"/>
          <p:nvPr/>
        </p:nvSpPr>
        <p:spPr>
          <a:xfrm>
            <a:off x="717753" y="3959786"/>
            <a:ext cx="3501280" cy="830997"/>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Phân cụm</a:t>
            </a:r>
          </a:p>
        </p:txBody>
      </p:sp>
    </p:spTree>
    <p:extLst>
      <p:ext uri="{BB962C8B-B14F-4D97-AF65-F5344CB8AC3E}">
        <p14:creationId xmlns:p14="http://schemas.microsoft.com/office/powerpoint/2010/main" val="41190367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9A02B-4799-BB98-1D2F-13720CE0C82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F8392EF-6221-98F4-7CBC-59D8C01B880D}"/>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Giới thiệu</a:t>
            </a:r>
          </a:p>
        </p:txBody>
      </p:sp>
      <p:cxnSp>
        <p:nvCxnSpPr>
          <p:cNvPr id="10" name="Straight Connector 9">
            <a:extLst>
              <a:ext uri="{FF2B5EF4-FFF2-40B4-BE49-F238E27FC236}">
                <a16:creationId xmlns:a16="http://schemas.microsoft.com/office/drawing/2014/main" id="{BB51E289-F72C-F4D6-E4FC-BE24F3C9A811}"/>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013223D-EEF4-A94B-AC29-52E0FA26F2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2CBB867F-B0F9-6C4A-CD2E-F8DABC6B3F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36ED9F9D-4AB1-D606-F55B-8AF268F6ED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TextBox 2">
            <a:extLst>
              <a:ext uri="{FF2B5EF4-FFF2-40B4-BE49-F238E27FC236}">
                <a16:creationId xmlns:a16="http://schemas.microsoft.com/office/drawing/2014/main" id="{C9B416E1-9E89-EF7B-09DE-98F942C14ADA}"/>
              </a:ext>
            </a:extLst>
          </p:cNvPr>
          <p:cNvSpPr txBox="1"/>
          <p:nvPr/>
        </p:nvSpPr>
        <p:spPr>
          <a:xfrm>
            <a:off x="464009" y="838664"/>
            <a:ext cx="10692551" cy="5632311"/>
          </a:xfrm>
          <a:prstGeom prst="rect">
            <a:avLst/>
          </a:prstGeom>
          <a:noFill/>
        </p:spPr>
        <p:txBody>
          <a:bodyPr wrap="square" rtlCol="0">
            <a:spAutoFit/>
          </a:bodyPr>
          <a:lstStyle/>
          <a:p>
            <a:pPr algn="just">
              <a:lnSpc>
                <a:spcPct val="150000"/>
              </a:lnSpc>
            </a:pPr>
            <a:r>
              <a:rPr lang="vi-VN" sz="2000" dirty="0">
                <a:latin typeface="Arial" panose="020B0604020202020204" pitchFamily="34" charset="0"/>
                <a:cs typeface="Arial" panose="020B0604020202020204" pitchFamily="34" charset="0"/>
              </a:rPr>
              <a:t>Phân cụm (clustering) là một kỹ thuật học không giám sát (unsupervised learning) nhằm nhóm các điểm dữ</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liệu có đặc điểm tương tự vào cùng một nhóm (cluster) mà không cần nhãn dữ liệu từ trước. Trong phân</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tích tuổi thọ, việc phân cụm giúp:</a:t>
            </a:r>
            <a:endParaRPr lang="en-US" sz="2000" dirty="0">
              <a:latin typeface="Arial" panose="020B0604020202020204" pitchFamily="34" charset="0"/>
              <a:cs typeface="Arial" panose="020B0604020202020204" pitchFamily="34" charset="0"/>
            </a:endParaRPr>
          </a:p>
          <a:p>
            <a:pPr algn="just">
              <a:lnSpc>
                <a:spcPct val="150000"/>
              </a:lnSpc>
            </a:pPr>
            <a:endParaRPr lang="en-US" sz="2000" dirty="0">
              <a:latin typeface="Arial" panose="020B0604020202020204" pitchFamily="34" charset="0"/>
              <a:cs typeface="Arial" panose="020B0604020202020204" pitchFamily="34" charset="0"/>
            </a:endParaRPr>
          </a:p>
          <a:p>
            <a:pPr lvl="1" algn="just">
              <a:lnSpc>
                <a:spcPct val="150000"/>
              </a:lnSpc>
            </a:pPr>
            <a:r>
              <a:rPr lang="vi-VN" sz="2000" dirty="0">
                <a:latin typeface="Arial" panose="020B0604020202020204" pitchFamily="34" charset="0"/>
                <a:cs typeface="Arial" panose="020B0604020202020204" pitchFamily="34" charset="0"/>
              </a:rPr>
              <a:t>• Nhận diện các nhóm quốc gia có đặc điểm y tế - kinh tế - xã hội tương đồng</a:t>
            </a:r>
            <a:endParaRPr lang="en-US" sz="2000" dirty="0">
              <a:latin typeface="Arial" panose="020B0604020202020204" pitchFamily="34" charset="0"/>
              <a:cs typeface="Arial" panose="020B0604020202020204" pitchFamily="34" charset="0"/>
            </a:endParaRPr>
          </a:p>
          <a:p>
            <a:pPr lvl="1" algn="just">
              <a:lnSpc>
                <a:spcPct val="150000"/>
              </a:lnSpc>
            </a:pPr>
            <a:r>
              <a:rPr lang="vi-VN" sz="2000" dirty="0">
                <a:latin typeface="Arial" panose="020B0604020202020204" pitchFamily="34" charset="0"/>
                <a:cs typeface="Arial" panose="020B0604020202020204" pitchFamily="34" charset="0"/>
              </a:rPr>
              <a:t>• Phát hiện các mô hình và xu hướng ẩn trong dữ liệu</a:t>
            </a:r>
            <a:endParaRPr lang="en-US" sz="2000" dirty="0">
              <a:latin typeface="Arial" panose="020B0604020202020204" pitchFamily="34" charset="0"/>
              <a:cs typeface="Arial" panose="020B0604020202020204" pitchFamily="34" charset="0"/>
            </a:endParaRPr>
          </a:p>
          <a:p>
            <a:pPr lvl="1" algn="just">
              <a:lnSpc>
                <a:spcPct val="150000"/>
              </a:lnSpc>
            </a:pPr>
            <a:r>
              <a:rPr lang="vi-VN" sz="2000" dirty="0">
                <a:latin typeface="Arial" panose="020B0604020202020204" pitchFamily="34" charset="0"/>
                <a:cs typeface="Arial" panose="020B0604020202020204" pitchFamily="34" charset="0"/>
              </a:rPr>
              <a:t>• Hỗ trợ chuyển đổi bài toán hồi quy sang phân loại một cách có cơ sở khoa học</a:t>
            </a:r>
            <a:endParaRPr lang="en-US" sz="2000" dirty="0">
              <a:latin typeface="Arial" panose="020B0604020202020204" pitchFamily="34" charset="0"/>
              <a:cs typeface="Arial" panose="020B0604020202020204" pitchFamily="34" charset="0"/>
            </a:endParaRPr>
          </a:p>
          <a:p>
            <a:pPr lvl="1" algn="just">
              <a:lnSpc>
                <a:spcPct val="150000"/>
              </a:lnSpc>
            </a:pPr>
            <a:r>
              <a:rPr lang="vi-VN" sz="2000" dirty="0">
                <a:latin typeface="Arial" panose="020B0604020202020204" pitchFamily="34" charset="0"/>
                <a:cs typeface="Arial" panose="020B0604020202020204" pitchFamily="34" charset="0"/>
              </a:rPr>
              <a:t>• Tạo cơ sở cho việc thiết kế các chính sách y tế phù hợp với từng nhóm</a:t>
            </a:r>
            <a:endParaRPr lang="en-US" sz="2000" dirty="0">
              <a:latin typeface="Arial" panose="020B0604020202020204" pitchFamily="34" charset="0"/>
              <a:cs typeface="Arial" panose="020B0604020202020204" pitchFamily="34" charset="0"/>
            </a:endParaRPr>
          </a:p>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r>
              <a:rPr lang="vi-VN" sz="2000" dirty="0">
                <a:latin typeface="Arial" panose="020B0604020202020204" pitchFamily="34" charset="0"/>
                <a:cs typeface="Arial" panose="020B0604020202020204" pitchFamily="34" charset="0"/>
              </a:rPr>
              <a:t>Chương này sẽ áp dụng hai phương pháp phân cụm phổ biến là K-Means và Gaussian Mixture Model (GMM)</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để phân tích dữ liệu tuổi thọ, sau đó sử dụng kết quả phân cụm để tạo nhãn phân loại cho các mô hình học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máy</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86069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3CB2B-A38A-43C5-758B-5EB07ACB7EF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031901-4754-18BB-5E66-24B13ACA71E8}"/>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Dữ liệu &amp; tiền xử lý</a:t>
            </a:r>
          </a:p>
        </p:txBody>
      </p:sp>
      <p:cxnSp>
        <p:nvCxnSpPr>
          <p:cNvPr id="10" name="Straight Connector 9">
            <a:extLst>
              <a:ext uri="{FF2B5EF4-FFF2-40B4-BE49-F238E27FC236}">
                <a16:creationId xmlns:a16="http://schemas.microsoft.com/office/drawing/2014/main" id="{B27762A6-CDCC-1E5F-B2A0-92180A1F1128}"/>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FBE949E-E239-4600-C72D-68408733DE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72626E26-5434-881D-FF0D-FB04AD9F20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9E6B65CD-CC25-3CE3-FA27-48BB74D928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5" name="Rectangle 1">
            <a:extLst>
              <a:ext uri="{FF2B5EF4-FFF2-40B4-BE49-F238E27FC236}">
                <a16:creationId xmlns:a16="http://schemas.microsoft.com/office/drawing/2014/main" id="{03873A2A-AD59-79E3-EFD8-61B5E0A13F34}"/>
              </a:ext>
            </a:extLst>
          </p:cNvPr>
          <p:cNvSpPr>
            <a:spLocks noChangeArrowheads="1"/>
          </p:cNvSpPr>
          <p:nvPr/>
        </p:nvSpPr>
        <p:spPr bwMode="auto">
          <a:xfrm>
            <a:off x="688902" y="974426"/>
            <a:ext cx="4926349"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Dataset: </a:t>
            </a:r>
            <a:r>
              <a:rPr kumimoji="0" lang="en-US" altLang="en-US" sz="2000" b="0" i="1" u="none" strike="noStrike" cap="none" normalizeH="0" baseline="0" dirty="0">
                <a:ln>
                  <a:noFill/>
                </a:ln>
                <a:solidFill>
                  <a:schemeClr val="tx1"/>
                </a:solidFill>
                <a:effectLst/>
                <a:latin typeface="Arial" panose="020B0604020202020204" pitchFamily="34" charset="0"/>
              </a:rPr>
              <a:t>Life Expectancy Dataset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2938 </a:t>
            </a:r>
            <a:r>
              <a:rPr kumimoji="0" lang="en-US" altLang="en-US" sz="2000" b="0" i="0" u="none" strike="noStrike" cap="none" normalizeH="0" baseline="0" dirty="0" err="1">
                <a:ln>
                  <a:noFill/>
                </a:ln>
                <a:solidFill>
                  <a:schemeClr val="tx1"/>
                </a:solidFill>
                <a:effectLst/>
                <a:latin typeface="Arial" panose="020B0604020202020204" pitchFamily="34" charset="0"/>
              </a:rPr>
              <a:t>mẫu</a:t>
            </a:r>
            <a:r>
              <a:rPr kumimoji="0" lang="en-US" altLang="en-US" sz="2000" b="0" i="0" u="none" strike="noStrike" cap="none" normalizeH="0" baseline="0" dirty="0">
                <a:ln>
                  <a:noFill/>
                </a:ln>
                <a:solidFill>
                  <a:schemeClr val="tx1"/>
                </a:solidFill>
                <a:effectLst/>
                <a:latin typeface="Arial" panose="020B0604020202020204" pitchFamily="34" charset="0"/>
              </a:rPr>
              <a:t>, 20 </a:t>
            </a:r>
            <a:r>
              <a:rPr kumimoji="0" lang="en-US" altLang="en-US" sz="2000" b="0" i="0" u="none" strike="noStrike" cap="none" normalizeH="0" baseline="0" dirty="0" err="1">
                <a:ln>
                  <a:noFill/>
                </a:ln>
                <a:solidFill>
                  <a:schemeClr val="tx1"/>
                </a:solidFill>
                <a:effectLst/>
                <a:latin typeface="Arial" panose="020B0604020202020204" pitchFamily="34" charset="0"/>
              </a:rPr>
              <a:t>đặc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trưng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Nhóm</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đặc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trưng</a:t>
            </a:r>
            <a:r>
              <a:rPr kumimoji="0" lang="en-US" altLang="en-US" sz="2000" b="0" i="0" u="none" strike="noStrike" cap="none" normalizeH="0" baseline="0" dirty="0">
                <a:ln>
                  <a:noFill/>
                </a:ln>
                <a:solidFill>
                  <a:schemeClr val="tx1"/>
                </a:solidFill>
                <a:effectLst/>
                <a:latin typeface="Arial" panose="020B0604020202020204" pitchFamily="34" charset="0"/>
              </a:rPr>
              <a:t>:</a:t>
            </a:r>
          </a:p>
          <a:p>
            <a:pPr lvl="1" algn="just" eaLnBrk="0" fontAlgn="base" hangingPunct="0">
              <a:lnSpc>
                <a:spcPct val="2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 Y </a:t>
            </a:r>
            <a:r>
              <a:rPr kumimoji="0" lang="en-US" altLang="en-US" sz="2000" b="0" i="0" u="none" strike="noStrike" cap="none" normalizeH="0" baseline="0" dirty="0" err="1">
                <a:ln>
                  <a:noFill/>
                </a:ln>
                <a:solidFill>
                  <a:schemeClr val="tx1"/>
                </a:solidFill>
                <a:effectLst/>
                <a:latin typeface="Arial" panose="020B0604020202020204" pitchFamily="34" charset="0"/>
              </a:rPr>
              <a:t>tế</a:t>
            </a:r>
            <a:r>
              <a:rPr kumimoji="0" lang="en-US" altLang="en-US" sz="2000" b="0" i="0" u="none" strike="noStrike" cap="none" normalizeH="0" baseline="0" dirty="0">
                <a:ln>
                  <a:noFill/>
                </a:ln>
                <a:solidFill>
                  <a:schemeClr val="tx1"/>
                </a:solidFill>
                <a:effectLst/>
                <a:latin typeface="Arial" panose="020B0604020202020204" pitchFamily="34" charset="0"/>
              </a:rPr>
              <a:t>, Kinh </a:t>
            </a:r>
            <a:r>
              <a:rPr kumimoji="0" lang="en-US" altLang="en-US" sz="2000" b="0" i="0" u="none" strike="noStrike" cap="none" normalizeH="0" baseline="0" dirty="0" err="1">
                <a:ln>
                  <a:noFill/>
                </a:ln>
                <a:solidFill>
                  <a:schemeClr val="tx1"/>
                </a:solidFill>
                <a:effectLst/>
                <a:latin typeface="Arial" panose="020B0604020202020204" pitchFamily="34" charset="0"/>
              </a:rPr>
              <a:t>tế</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Xã</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hội</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Tiền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xử</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lý</a:t>
            </a:r>
            <a:r>
              <a:rPr kumimoji="0" lang="en-US" altLang="en-US" sz="2000" b="0" i="0" u="none" strike="noStrike" cap="none" normalizeH="0" baseline="0" dirty="0">
                <a:ln>
                  <a:noFill/>
                </a:ln>
                <a:solidFill>
                  <a:schemeClr val="tx1"/>
                </a:solidFill>
                <a:effectLst/>
                <a:latin typeface="Arial" panose="020B0604020202020204" pitchFamily="34" charset="0"/>
              </a:rPr>
              <a:t>:</a:t>
            </a:r>
          </a:p>
          <a:p>
            <a:pPr lvl="1" algn="just" eaLnBrk="0" fontAlgn="base" hangingPunct="0">
              <a:lnSpc>
                <a:spcPct val="2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Xử</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lý</a:t>
            </a:r>
            <a:r>
              <a:rPr kumimoji="0" lang="en-US" altLang="en-US" sz="2000" b="0" i="0" u="none" strike="noStrike" cap="none" normalizeH="0" baseline="0" dirty="0">
                <a:ln>
                  <a:noFill/>
                </a:ln>
                <a:solidFill>
                  <a:schemeClr val="tx1"/>
                </a:solidFill>
                <a:effectLst/>
                <a:latin typeface="Arial" panose="020B0604020202020204" pitchFamily="34" charset="0"/>
              </a:rPr>
              <a:t> missing value</a:t>
            </a:r>
          </a:p>
          <a:p>
            <a:pPr lvl="1" algn="just" eaLnBrk="0" fontAlgn="base" hangingPunct="0">
              <a:lnSpc>
                <a:spcPct val="2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Chuẩn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hóa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dữ</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liệu</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StandardScaler</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90247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307975" y="3983849"/>
            <a:ext cx="5687776" cy="830997"/>
          </a:xfrm>
          <a:prstGeom prst="rect">
            <a:avLst/>
          </a:prstGeom>
          <a:noFill/>
        </p:spPr>
        <p:txBody>
          <a:bodyPr wrap="none" rtlCol="0">
            <a:spAutoFit/>
          </a:bodyPr>
          <a:lstStyle/>
          <a:p>
            <a:r>
              <a:rPr lang="en-US" sz="4800" b="1" dirty="0" err="1">
                <a:solidFill>
                  <a:srgbClr val="0092FF"/>
                </a:solidFill>
                <a:latin typeface="Montserrat ExtraBold" panose="00000900000000000000" pitchFamily="2" charset="0"/>
              </a:rPr>
              <a:t>Mô</a:t>
            </a:r>
            <a:r>
              <a:rPr lang="en-US" sz="4800" b="1" dirty="0">
                <a:solidFill>
                  <a:srgbClr val="0092FF"/>
                </a:solidFill>
                <a:latin typeface="Montserrat ExtraBold" panose="00000900000000000000" pitchFamily="2" charset="0"/>
              </a:rPr>
              <a:t> </a:t>
            </a:r>
            <a:r>
              <a:rPr lang="en-US" sz="4800" b="1" dirty="0" err="1">
                <a:solidFill>
                  <a:srgbClr val="0092FF"/>
                </a:solidFill>
                <a:latin typeface="Montserrat ExtraBold" panose="00000900000000000000" pitchFamily="2" charset="0"/>
              </a:rPr>
              <a:t>hình</a:t>
            </a:r>
            <a:r>
              <a:rPr lang="en-US" sz="4800" b="1" dirty="0">
                <a:solidFill>
                  <a:srgbClr val="0092FF"/>
                </a:solidFill>
                <a:latin typeface="Montserrat ExtraBold" panose="00000900000000000000" pitchFamily="2" charset="0"/>
              </a:rPr>
              <a:t> </a:t>
            </a:r>
            <a:r>
              <a:rPr lang="en-US" sz="4800" b="1" dirty="0" err="1">
                <a:solidFill>
                  <a:srgbClr val="0092FF"/>
                </a:solidFill>
                <a:latin typeface="Montserrat ExtraBold" panose="00000900000000000000" pitchFamily="2" charset="0"/>
              </a:rPr>
              <a:t>sử</a:t>
            </a:r>
            <a:r>
              <a:rPr lang="en-US" sz="4800" b="1" dirty="0">
                <a:solidFill>
                  <a:srgbClr val="0092FF"/>
                </a:solidFill>
                <a:latin typeface="Montserrat ExtraBold" panose="00000900000000000000" pitchFamily="2" charset="0"/>
              </a:rPr>
              <a:t> </a:t>
            </a:r>
            <a:r>
              <a:rPr lang="en-US" sz="4800" b="1" dirty="0" err="1">
                <a:solidFill>
                  <a:srgbClr val="0092FF"/>
                </a:solidFill>
                <a:latin typeface="Montserrat ExtraBold" panose="00000900000000000000" pitchFamily="2" charset="0"/>
              </a:rPr>
              <a:t>dụng</a:t>
            </a:r>
            <a:endParaRPr lang="en-US" sz="4800" b="1" dirty="0">
              <a:solidFill>
                <a:srgbClr val="0092FF"/>
              </a:solidFill>
              <a:latin typeface="Montserrat ExtraBold" panose="00000900000000000000" pitchFamily="2" charset="0"/>
            </a:endParaRPr>
          </a:p>
        </p:txBody>
      </p:sp>
    </p:spTree>
    <p:extLst>
      <p:ext uri="{BB962C8B-B14F-4D97-AF65-F5344CB8AC3E}">
        <p14:creationId xmlns:p14="http://schemas.microsoft.com/office/powerpoint/2010/main" val="20605149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r>
              <a:rPr lang="en-US" sz="2800" b="1" dirty="0">
                <a:solidFill>
                  <a:schemeClr val="bg1"/>
                </a:solidFill>
                <a:latin typeface="Montserrat ExtraBold" panose="00000900000000000000" pitchFamily="2" charset="0"/>
              </a:rPr>
              <a:t>KMEANS</a:t>
            </a:r>
          </a:p>
          <a:p>
            <a:endParaRPr lang="en-US" sz="2800" dirty="0">
              <a:latin typeface="Montserrat ExtraBold" panose="00000900000000000000" pitchFamily="2" charset="0"/>
            </a:endParaRP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Rectangle 2">
            <a:extLst>
              <a:ext uri="{FF2B5EF4-FFF2-40B4-BE49-F238E27FC236}">
                <a16:creationId xmlns:a16="http://schemas.microsoft.com/office/drawing/2014/main" id="{B2EF68F5-EA06-C089-6EF7-96D982D723CD}"/>
              </a:ext>
            </a:extLst>
          </p:cNvPr>
          <p:cNvSpPr>
            <a:spLocks noChangeArrowheads="1"/>
          </p:cNvSpPr>
          <p:nvPr/>
        </p:nvSpPr>
        <p:spPr bwMode="auto">
          <a:xfrm>
            <a:off x="561475" y="674606"/>
            <a:ext cx="1059508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pPr>
            <a:r>
              <a:rPr lang="vi-VN" altLang="en-US" sz="2000" dirty="0">
                <a:latin typeface="Arial" panose="020B0604020202020204" pitchFamily="34" charset="0"/>
                <a:cs typeface="Arial" panose="020B0604020202020204" pitchFamily="34" charset="0"/>
              </a:rPr>
              <a:t>K-Means là một trong những thuật toán phân cụm cơ bản và phổ biến nhất. Ý tưởng của K-Means là phân</a:t>
            </a:r>
            <a:r>
              <a:rPr lang="en-US" altLang="en-US" sz="2000" dirty="0">
                <a:latin typeface="Arial" panose="020B0604020202020204" pitchFamily="34" charset="0"/>
                <a:cs typeface="Arial" panose="020B0604020202020204" pitchFamily="34" charset="0"/>
              </a:rPr>
              <a:t> </a:t>
            </a:r>
            <a:r>
              <a:rPr lang="vi-VN" altLang="en-US" sz="2000" dirty="0">
                <a:latin typeface="Arial" panose="020B0604020202020204" pitchFamily="34" charset="0"/>
                <a:cs typeface="Arial" panose="020B0604020202020204" pitchFamily="34" charset="0"/>
              </a:rPr>
              <a:t>chia N điểm dữ liệu vào K cụm sao cho mỗi điểm thuộc về cụm có tâm (centroid) gần nó nhất</a:t>
            </a:r>
            <a:endParaRPr lang="en-US" altLang="en-US" sz="2000" dirty="0">
              <a:latin typeface="Arial" panose="020B0604020202020204" pitchFamily="34" charset="0"/>
              <a:cs typeface="Arial" panose="020B0604020202020204" pitchFamily="34" charset="0"/>
            </a:endParaRPr>
          </a:p>
          <a:p>
            <a:pPr lvl="0" algn="just" eaLnBrk="0" fontAlgn="base" hangingPunct="0">
              <a:lnSpc>
                <a:spcPct val="2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Phân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cụm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dựa</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trên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khoảng</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cách</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Euclidean</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Gán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cứng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(hard assignment)</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Tối</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ưu</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tổng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bình</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phương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khoảng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cách</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đến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tâm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cụm</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30805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47653-9B3F-B1A4-0BE6-862E37B2E9B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07376C-1600-176F-87C9-A5B4362BE561}"/>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r>
              <a:rPr lang="en-US" sz="2800" b="1" dirty="0">
                <a:solidFill>
                  <a:schemeClr val="bg1"/>
                </a:solidFill>
                <a:latin typeface="Montserrat ExtraBold" panose="00000900000000000000" pitchFamily="2" charset="0"/>
              </a:rPr>
              <a:t>GMM</a:t>
            </a:r>
          </a:p>
          <a:p>
            <a:endParaRPr lang="en-US" sz="2800" dirty="0">
              <a:latin typeface="Montserrat ExtraBold" panose="00000900000000000000" pitchFamily="2" charset="0"/>
            </a:endParaRPr>
          </a:p>
        </p:txBody>
      </p:sp>
      <p:cxnSp>
        <p:nvCxnSpPr>
          <p:cNvPr id="10" name="Straight Connector 9">
            <a:extLst>
              <a:ext uri="{FF2B5EF4-FFF2-40B4-BE49-F238E27FC236}">
                <a16:creationId xmlns:a16="http://schemas.microsoft.com/office/drawing/2014/main" id="{24C25F90-C964-D43F-406A-67D82B6EC21C}"/>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760C831-A481-320A-54DB-EBB9136498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F641A1F1-6CD1-DAE0-AB5C-F6AAA46BC3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0CCF6310-72D0-5CD8-BB6A-E9BF57ED33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Rectangle 2">
            <a:extLst>
              <a:ext uri="{FF2B5EF4-FFF2-40B4-BE49-F238E27FC236}">
                <a16:creationId xmlns:a16="http://schemas.microsoft.com/office/drawing/2014/main" id="{B8AD673C-972C-09C9-351F-814C21F31A55}"/>
              </a:ext>
            </a:extLst>
          </p:cNvPr>
          <p:cNvSpPr>
            <a:spLocks noChangeArrowheads="1"/>
          </p:cNvSpPr>
          <p:nvPr/>
        </p:nvSpPr>
        <p:spPr bwMode="auto">
          <a:xfrm>
            <a:off x="545433" y="827006"/>
            <a:ext cx="1097083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pPr>
            <a:r>
              <a:rPr lang="vi-VN" altLang="en-US" sz="2000" dirty="0">
                <a:latin typeface="Arial" panose="020B0604020202020204" pitchFamily="34" charset="0"/>
                <a:cs typeface="Arial" panose="020B0604020202020204" pitchFamily="34" charset="0"/>
              </a:rPr>
              <a:t>Khác với K-Means gán mỗi điểm vào đúng 1 cụm (hard assignment), GMM sử dụng soft assignment: mỗi</a:t>
            </a:r>
            <a:r>
              <a:rPr lang="en-US" altLang="en-US" sz="2000" dirty="0">
                <a:latin typeface="Arial" panose="020B0604020202020204" pitchFamily="34" charset="0"/>
                <a:cs typeface="Arial" panose="020B0604020202020204" pitchFamily="34" charset="0"/>
              </a:rPr>
              <a:t> </a:t>
            </a:r>
            <a:r>
              <a:rPr lang="vi-VN" altLang="en-US" sz="2000" dirty="0">
                <a:latin typeface="Arial" panose="020B0604020202020204" pitchFamily="34" charset="0"/>
                <a:cs typeface="Arial" panose="020B0604020202020204" pitchFamily="34" charset="0"/>
              </a:rPr>
              <a:t>điểm có xác suất thuộc về mỗi cụm. GMM giả định rằng dữ liệu được sinh ra từ một hỗn hợp (mixture) của</a:t>
            </a:r>
            <a:r>
              <a:rPr lang="en-US" altLang="en-US" sz="2000" dirty="0">
                <a:latin typeface="Arial" panose="020B0604020202020204" pitchFamily="34" charset="0"/>
                <a:cs typeface="Arial" panose="020B0604020202020204" pitchFamily="34" charset="0"/>
              </a:rPr>
              <a:t> </a:t>
            </a:r>
            <a:r>
              <a:rPr lang="vi-VN" altLang="en-US" sz="2000" dirty="0">
                <a:latin typeface="Arial" panose="020B0604020202020204" pitchFamily="34" charset="0"/>
                <a:cs typeface="Arial" panose="020B0604020202020204" pitchFamily="34" charset="0"/>
              </a:rPr>
              <a:t>K phân phối Gaussian.</a:t>
            </a:r>
            <a:endParaRPr lang="en-US" altLang="en-US" sz="2000" dirty="0">
              <a:latin typeface="Arial" panose="020B0604020202020204" pitchFamily="34" charset="0"/>
              <a:cs typeface="Arial" panose="020B0604020202020204" pitchFamily="34" charset="0"/>
            </a:endParaRPr>
          </a:p>
          <a:p>
            <a:pPr lvl="0" algn="just" eaLnBrk="0" fontAlgn="base" hangingPunct="0">
              <a:lnSpc>
                <a:spcPct val="2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algn="just" eaLnBrk="0" fontAlgn="base" hangingPunct="0">
              <a:lnSpc>
                <a:spcPct val="2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Mô</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hỗn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Gaussian</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algn="just" eaLnBrk="0" fontAlgn="base" hangingPunct="0">
              <a:lnSpc>
                <a:spcPct val="2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mềm</a:t>
            </a:r>
            <a:r>
              <a:rPr lang="en-US" sz="2000" dirty="0">
                <a:latin typeface="Arial" panose="020B0604020202020204" pitchFamily="34" charset="0"/>
                <a:cs typeface="Arial" panose="020B0604020202020204" pitchFamily="34" charset="0"/>
              </a:rPr>
              <a:t> (soft assignment – </a:t>
            </a: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suất</a:t>
            </a:r>
            <a:r>
              <a:rPr lang="en-US" sz="2000" dirty="0">
                <a:latin typeface="Arial" panose="020B0604020202020204" pitchFamily="34" charset="0"/>
                <a:cs typeface="Arial" panose="020B0604020202020204" pitchFamily="34" charset="0"/>
              </a:rPr>
              <a:t>)</a:t>
            </a:r>
          </a:p>
          <a:p>
            <a:pPr lvl="0" algn="just" eaLnBrk="0" fontAlgn="base" hangingPunct="0">
              <a:lnSpc>
                <a:spcPct val="2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pt-BR" sz="2000" dirty="0">
                <a:latin typeface="Arial" panose="020B0604020202020204" pitchFamily="34" charset="0"/>
                <a:cs typeface="Arial" panose="020B0604020202020204" pitchFamily="34" charset="0"/>
              </a:rPr>
              <a:t>Tối ưu bằng </a:t>
            </a:r>
            <a:r>
              <a:rPr lang="pt-BR" sz="2000" b="1" dirty="0">
                <a:latin typeface="Arial" panose="020B0604020202020204" pitchFamily="34" charset="0"/>
                <a:cs typeface="Arial" panose="020B0604020202020204" pitchFamily="34" charset="0"/>
              </a:rPr>
              <a:t>EM algorithm</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55404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1301-6711-2102-7DF1-3DE565FDCD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329AC0-D16E-0F78-EBB7-CE8E74824074}"/>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latin typeface="Montserrat ExtraBold" panose="00000900000000000000" pitchFamily="2" charset="0"/>
              </a:rPr>
              <a:t>So sánh K-Means vs GMM</a:t>
            </a:r>
          </a:p>
        </p:txBody>
      </p:sp>
      <p:cxnSp>
        <p:nvCxnSpPr>
          <p:cNvPr id="10" name="Straight Connector 9">
            <a:extLst>
              <a:ext uri="{FF2B5EF4-FFF2-40B4-BE49-F238E27FC236}">
                <a16:creationId xmlns:a16="http://schemas.microsoft.com/office/drawing/2014/main" id="{79949890-5271-67EA-8F8B-459E04E4C529}"/>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01D2784B-0CE9-AE6C-54F7-829BF5F1B2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4262E8B8-2757-4F65-D00A-9AD339BA14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F53AF97D-BEEC-84D5-3AA2-A49B102774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graphicFrame>
        <p:nvGraphicFramePr>
          <p:cNvPr id="5" name="Table 4">
            <a:extLst>
              <a:ext uri="{FF2B5EF4-FFF2-40B4-BE49-F238E27FC236}">
                <a16:creationId xmlns:a16="http://schemas.microsoft.com/office/drawing/2014/main" id="{AE8A2C1A-EC9C-1FAA-A40E-FD6A1BFAFF10}"/>
              </a:ext>
            </a:extLst>
          </p:cNvPr>
          <p:cNvGraphicFramePr>
            <a:graphicFrameLocks noGrp="1"/>
          </p:cNvGraphicFramePr>
          <p:nvPr>
            <p:extLst>
              <p:ext uri="{D42A27DB-BD31-4B8C-83A1-F6EECF244321}">
                <p14:modId xmlns:p14="http://schemas.microsoft.com/office/powerpoint/2010/main" val="2444237174"/>
              </p:ext>
            </p:extLst>
          </p:nvPr>
        </p:nvGraphicFramePr>
        <p:xfrm>
          <a:off x="854015" y="1363111"/>
          <a:ext cx="9931608" cy="4373595"/>
        </p:xfrm>
        <a:graphic>
          <a:graphicData uri="http://schemas.openxmlformats.org/drawingml/2006/table">
            <a:tbl>
              <a:tblPr firstRow="1" bandRow="1">
                <a:tableStyleId>{5C22544A-7EE6-4342-B048-85BDC9FD1C3A}</a:tableStyleId>
              </a:tblPr>
              <a:tblGrid>
                <a:gridCol w="3310536">
                  <a:extLst>
                    <a:ext uri="{9D8B030D-6E8A-4147-A177-3AD203B41FA5}">
                      <a16:colId xmlns:a16="http://schemas.microsoft.com/office/drawing/2014/main" val="1079515451"/>
                    </a:ext>
                  </a:extLst>
                </a:gridCol>
                <a:gridCol w="3310536">
                  <a:extLst>
                    <a:ext uri="{9D8B030D-6E8A-4147-A177-3AD203B41FA5}">
                      <a16:colId xmlns:a16="http://schemas.microsoft.com/office/drawing/2014/main" val="1510636902"/>
                    </a:ext>
                  </a:extLst>
                </a:gridCol>
                <a:gridCol w="3310536">
                  <a:extLst>
                    <a:ext uri="{9D8B030D-6E8A-4147-A177-3AD203B41FA5}">
                      <a16:colId xmlns:a16="http://schemas.microsoft.com/office/drawing/2014/main" val="128931296"/>
                    </a:ext>
                  </a:extLst>
                </a:gridCol>
              </a:tblGrid>
              <a:tr h="8747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Tiêu chí</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K-Means</a:t>
                      </a:r>
                    </a:p>
                  </a:txBody>
                  <a:tcPr/>
                </a:tc>
                <a:tc>
                  <a:txBody>
                    <a:bodyPr/>
                    <a:lstStyle/>
                    <a:p>
                      <a:pPr algn="ctr"/>
                      <a:r>
                        <a:rPr lang="en-US" sz="2000" dirty="0">
                          <a:latin typeface="Arial" panose="020B0604020202020204" pitchFamily="34" charset="0"/>
                          <a:cs typeface="Arial" panose="020B0604020202020204" pitchFamily="34" charset="0"/>
                        </a:rPr>
                        <a:t>GMM</a:t>
                      </a:r>
                    </a:p>
                  </a:txBody>
                  <a:tcPr/>
                </a:tc>
                <a:extLst>
                  <a:ext uri="{0D108BD9-81ED-4DB2-BD59-A6C34878D82A}">
                    <a16:rowId xmlns:a16="http://schemas.microsoft.com/office/drawing/2014/main" val="669449076"/>
                  </a:ext>
                </a:extLst>
              </a:tr>
              <a:tr h="87471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err="1">
                          <a:latin typeface="Arial" panose="020B0604020202020204" pitchFamily="34" charset="0"/>
                          <a:cs typeface="Arial" panose="020B0604020202020204" pitchFamily="34" charset="0"/>
                        </a:rPr>
                        <a:t>Gán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cụm</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Hard</a:t>
                      </a:r>
                    </a:p>
                    <a:p>
                      <a:pPr algn="just"/>
                      <a:endParaRPr lang="en-US" sz="2000" dirty="0">
                        <a:latin typeface="Arial" panose="020B0604020202020204" pitchFamily="34" charset="0"/>
                        <a:cs typeface="Arial" panose="020B0604020202020204" pitchFamily="34" charset="0"/>
                      </a:endParaRPr>
                    </a:p>
                  </a:txBody>
                  <a:tcPr/>
                </a:tc>
                <a:tc>
                  <a:txBody>
                    <a:bodyPr/>
                    <a:lstStyle/>
                    <a:p>
                      <a:pPr algn="just"/>
                      <a:r>
                        <a:rPr lang="en-US" sz="2000" dirty="0">
                          <a:latin typeface="Arial" panose="020B0604020202020204" pitchFamily="34" charset="0"/>
                          <a:cs typeface="Arial" panose="020B0604020202020204" pitchFamily="34" charset="0"/>
                        </a:rPr>
                        <a:t>Soft</a:t>
                      </a:r>
                    </a:p>
                  </a:txBody>
                  <a:tcPr/>
                </a:tc>
                <a:extLst>
                  <a:ext uri="{0D108BD9-81ED-4DB2-BD59-A6C34878D82A}">
                    <a16:rowId xmlns:a16="http://schemas.microsoft.com/office/drawing/2014/main" val="555680648"/>
                  </a:ext>
                </a:extLst>
              </a:tr>
              <a:tr h="87471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err="1">
                          <a:latin typeface="Arial" panose="020B0604020202020204" pitchFamily="34" charset="0"/>
                          <a:cs typeface="Arial" panose="020B0604020202020204" pitchFamily="34" charset="0"/>
                        </a:rPr>
                        <a:t>Mô</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hình</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err="1">
                          <a:latin typeface="Arial" panose="020B0604020202020204" pitchFamily="34" charset="0"/>
                          <a:cs typeface="Arial" panose="020B0604020202020204" pitchFamily="34" charset="0"/>
                        </a:rPr>
                        <a:t>Khoảng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cách</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suất</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15435431"/>
                  </a:ext>
                </a:extLst>
              </a:tr>
              <a:tr h="87471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err="1">
                          <a:latin typeface="Arial" panose="020B0604020202020204" pitchFamily="34" charset="0"/>
                          <a:cs typeface="Arial" panose="020B0604020202020204" pitchFamily="34" charset="0"/>
                        </a:rPr>
                        <a:t>Hình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cụm</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err="1">
                          <a:latin typeface="Arial" panose="020B0604020202020204" pitchFamily="34" charset="0"/>
                          <a:cs typeface="Arial" panose="020B0604020202020204" pitchFamily="34" charset="0"/>
                        </a:rPr>
                        <a:t>Cầu</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Ellipsoid</a:t>
                      </a:r>
                    </a:p>
                    <a:p>
                      <a:pPr algn="just"/>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72657064"/>
                  </a:ext>
                </a:extLst>
              </a:tr>
              <a:tr h="87471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Output</a:t>
                      </a:r>
                    </a:p>
                    <a:p>
                      <a:pPr algn="just"/>
                      <a:endParaRPr lang="en-US" sz="2000" dirty="0">
                        <a:latin typeface="Arial" panose="020B0604020202020204" pitchFamily="34" charset="0"/>
                        <a:cs typeface="Arial" panose="020B0604020202020204" pitchFamily="34" charset="0"/>
                      </a:endParaRPr>
                    </a:p>
                  </a:txBody>
                  <a:tcPr/>
                </a:tc>
                <a:tc>
                  <a:txBody>
                    <a:bodyPr/>
                    <a:lstStyle/>
                    <a:p>
                      <a:pPr algn="just"/>
                      <a:r>
                        <a:rPr lang="en-US" sz="2000" dirty="0" err="1">
                          <a:latin typeface="Arial" panose="020B0604020202020204" pitchFamily="34" charset="0"/>
                          <a:cs typeface="Arial" panose="020B0604020202020204" pitchFamily="34" charset="0"/>
                        </a:rPr>
                        <a:t>Nhãn</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suất</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tham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51946615"/>
                  </a:ext>
                </a:extLst>
              </a:tr>
            </a:tbl>
          </a:graphicData>
        </a:graphic>
      </p:graphicFrame>
    </p:spTree>
    <p:extLst>
      <p:ext uri="{BB962C8B-B14F-4D97-AF65-F5344CB8AC3E}">
        <p14:creationId xmlns:p14="http://schemas.microsoft.com/office/powerpoint/2010/main" val="14973868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CDB08-13C3-43F6-5BA1-CCBE67F60B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1788A2A-275A-B372-90CB-3438B5F624CD}"/>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latin typeface="Montserrat ExtraBold" panose="00000900000000000000" pitchFamily="2" charset="0"/>
              </a:rPr>
              <a:t>Độ đo đánh giá</a:t>
            </a:r>
          </a:p>
        </p:txBody>
      </p:sp>
      <p:cxnSp>
        <p:nvCxnSpPr>
          <p:cNvPr id="10" name="Straight Connector 9">
            <a:extLst>
              <a:ext uri="{FF2B5EF4-FFF2-40B4-BE49-F238E27FC236}">
                <a16:creationId xmlns:a16="http://schemas.microsoft.com/office/drawing/2014/main" id="{FB79EB15-5544-BD1B-3784-1B70FDD7EF18}"/>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1FD0A79-D3C1-6265-6E61-18C2E7F083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6806BFCA-E8A1-08AB-5C7E-A9249199B1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E7DC2B6F-B5D6-B052-A707-6180D8CE1C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Rectangle 1">
            <a:extLst>
              <a:ext uri="{FF2B5EF4-FFF2-40B4-BE49-F238E27FC236}">
                <a16:creationId xmlns:a16="http://schemas.microsoft.com/office/drawing/2014/main" id="{C6F9911A-6C8E-EE71-EF33-2768E5D81222}"/>
              </a:ext>
            </a:extLst>
          </p:cNvPr>
          <p:cNvSpPr>
            <a:spLocks noChangeArrowheads="1"/>
          </p:cNvSpPr>
          <p:nvPr/>
        </p:nvSpPr>
        <p:spPr bwMode="auto">
          <a:xfrm>
            <a:off x="798726" y="1531302"/>
            <a:ext cx="6447503" cy="3074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Elbow Method →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chọn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số</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cụm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hợp</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lý</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Silhouette Score →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độ</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tách</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biệt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&amp; compact</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Davies–Bouldin →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càng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nhỏ</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càng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tốt</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Calinski</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Harabasz</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càng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lớn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càng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tốt</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(GMM) BIC, AIC →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cân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bằng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fit &amp;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độ</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phức</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tạp</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84787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0C37D-9367-8BED-CDFE-91A4C09D4E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B53516-AD1A-68B6-BD8B-162894C3AB5B}"/>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latin typeface="Montserrat ExtraBold" panose="00000900000000000000" pitchFamily="2" charset="0"/>
              </a:rPr>
              <a:t>Lựa chọn số cụm K</a:t>
            </a:r>
          </a:p>
        </p:txBody>
      </p:sp>
      <p:cxnSp>
        <p:nvCxnSpPr>
          <p:cNvPr id="10" name="Straight Connector 9">
            <a:extLst>
              <a:ext uri="{FF2B5EF4-FFF2-40B4-BE49-F238E27FC236}">
                <a16:creationId xmlns:a16="http://schemas.microsoft.com/office/drawing/2014/main" id="{2B05CF30-69F4-7F5C-6447-31556AFA6089}"/>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3FD15BE-A6ED-712E-83B6-BA4F85B900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11394B64-7DA3-EE0B-2D39-861E06F53E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4D27D83D-A8FA-B0E9-E48B-CF59310515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Rectangle 2">
            <a:extLst>
              <a:ext uri="{FF2B5EF4-FFF2-40B4-BE49-F238E27FC236}">
                <a16:creationId xmlns:a16="http://schemas.microsoft.com/office/drawing/2014/main" id="{F171E774-7F39-A4D8-5DB8-034D565E79EB}"/>
              </a:ext>
            </a:extLst>
          </p:cNvPr>
          <p:cNvSpPr>
            <a:spLocks noChangeArrowheads="1"/>
          </p:cNvSpPr>
          <p:nvPr/>
        </p:nvSpPr>
        <p:spPr bwMode="auto">
          <a:xfrm>
            <a:off x="132876" y="1472051"/>
            <a:ext cx="3889602" cy="4715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dirty="0" err="1">
                <a:latin typeface="Arial" panose="020B0604020202020204" pitchFamily="34" charset="0"/>
                <a:cs typeface="Arial" panose="020B0604020202020204" pitchFamily="34" charset="0"/>
              </a:rPr>
              <a:t>Thử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nghiệm</a:t>
            </a:r>
            <a:r>
              <a:rPr lang="en-US" sz="2000" dirty="0">
                <a:latin typeface="Arial" panose="020B0604020202020204" pitchFamily="34" charset="0"/>
                <a:cs typeface="Arial" panose="020B0604020202020204" pitchFamily="34" charset="0"/>
              </a:rPr>
              <a:t> K = 2 → 10</a:t>
            </a:r>
          </a:p>
          <a:p>
            <a:pPr>
              <a:lnSpc>
                <a:spcPct val="150000"/>
              </a:lnSpc>
            </a:pPr>
            <a:r>
              <a:rPr lang="en-US" sz="2000" dirty="0">
                <a:latin typeface="Arial" panose="020B0604020202020204" pitchFamily="34" charset="0"/>
                <a:cs typeface="Arial" panose="020B0604020202020204" pitchFamily="34" charset="0"/>
              </a:rPr>
              <a:t>Các </a:t>
            </a:r>
            <a:r>
              <a:rPr lang="en-US" sz="2000" dirty="0" err="1">
                <a:latin typeface="Arial" panose="020B0604020202020204" pitchFamily="34" charset="0"/>
                <a:cs typeface="Arial" panose="020B0604020202020204" pitchFamily="34" charset="0"/>
              </a:rPr>
              <a:t>chỉ</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tốt</a:t>
            </a:r>
            <a:r>
              <a:rPr lang="en-US" sz="2000" dirty="0">
                <a:latin typeface="Arial" panose="020B0604020202020204" pitchFamily="34" charset="0"/>
                <a:cs typeface="Arial" panose="020B0604020202020204" pitchFamily="34" charset="0"/>
              </a:rPr>
              <a:t> </a:t>
            </a:r>
          </a:p>
          <a:p>
            <a:pPr>
              <a:lnSpc>
                <a:spcPct val="150000"/>
              </a:lnSpc>
            </a:pPr>
            <a:r>
              <a:rPr lang="en-US" sz="2000" dirty="0" err="1">
                <a:latin typeface="Arial" panose="020B0604020202020204" pitchFamily="34" charset="0"/>
                <a:cs typeface="Arial" panose="020B0604020202020204" pitchFamily="34" charset="0"/>
              </a:rPr>
              <a:t>nhất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a:t>
            </a:r>
          </a:p>
          <a:p>
            <a:pPr>
              <a:lnSpc>
                <a:spcPct val="150000"/>
              </a:lnSpc>
            </a:pPr>
            <a:r>
              <a:rPr lang="en-US" sz="2000" dirty="0">
                <a:latin typeface="Arial" panose="020B0604020202020204" pitchFamily="34" charset="0"/>
                <a:cs typeface="Arial" panose="020B0604020202020204" pitchFamily="34" charset="0"/>
              </a:rPr>
              <a:t>=&gt; </a:t>
            </a:r>
            <a:r>
              <a:rPr lang="en-US" sz="2000" b="1" dirty="0">
                <a:latin typeface="Arial" panose="020B0604020202020204" pitchFamily="34" charset="0"/>
                <a:cs typeface="Arial" panose="020B0604020202020204" pitchFamily="34" charset="0"/>
              </a:rPr>
              <a:t>K = 3</a:t>
            </a:r>
            <a:endParaRPr lang="en-US"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Elbow: </a:t>
            </a:r>
            <a:r>
              <a:rPr lang="en-US" sz="2000" dirty="0" err="1">
                <a:latin typeface="Arial" panose="020B0604020202020204" pitchFamily="34" charset="0"/>
                <a:cs typeface="Arial" panose="020B0604020202020204" pitchFamily="34" charset="0"/>
              </a:rPr>
              <a:t>gãy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K=3</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Silhouette: </a:t>
            </a:r>
            <a:r>
              <a:rPr lang="en-US" sz="2000" dirty="0" err="1">
                <a:latin typeface="Arial" panose="020B0604020202020204" pitchFamily="34" charset="0"/>
                <a:cs typeface="Arial" panose="020B0604020202020204" pitchFamily="34" charset="0"/>
              </a:rPr>
              <a:t>cao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nhất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K=3</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DB </a:t>
            </a:r>
            <a:r>
              <a:rPr lang="en-US" sz="2000" dirty="0" err="1">
                <a:latin typeface="Arial" panose="020B0604020202020204" pitchFamily="34" charset="0"/>
                <a:cs typeface="Arial" panose="020B0604020202020204" pitchFamily="34" charset="0"/>
              </a:rPr>
              <a:t>thấp</a:t>
            </a:r>
            <a:r>
              <a:rPr lang="en-US" sz="2000" dirty="0">
                <a:latin typeface="Arial" panose="020B0604020202020204" pitchFamily="34" charset="0"/>
                <a:cs typeface="Arial" panose="020B0604020202020204" pitchFamily="34" charset="0"/>
              </a:rPr>
              <a:t> – CH </a:t>
            </a:r>
            <a:r>
              <a:rPr lang="en-US" sz="2000" dirty="0" err="1">
                <a:latin typeface="Arial" panose="020B0604020202020204" pitchFamily="34" charset="0"/>
                <a:cs typeface="Arial" panose="020B0604020202020204" pitchFamily="34" charset="0"/>
              </a:rPr>
              <a:t>cao</a:t>
            </a:r>
            <a:endParaRPr lang="en-US"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GMM: BIC &amp; AIC </a:t>
            </a:r>
            <a:r>
              <a:rPr lang="en-US" sz="2000" dirty="0" err="1">
                <a:latin typeface="Arial" panose="020B0604020202020204" pitchFamily="34" charset="0"/>
                <a:cs typeface="Arial" panose="020B0604020202020204" pitchFamily="34" charset="0"/>
              </a:rPr>
              <a:t>phù</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K=3</a:t>
            </a:r>
          </a:p>
          <a:p>
            <a:pPr lvl="0" eaLnBrk="0" fontAlgn="base" hangingPunct="0">
              <a:lnSpc>
                <a:spcPct val="200000"/>
              </a:lnSpc>
              <a:spcBef>
                <a:spcPct val="0"/>
              </a:spcBef>
              <a:spcAft>
                <a:spcPct val="0"/>
              </a:spcAft>
            </a:pPr>
            <a:endParaRPr kumimoji="0" lang="en-US" altLang="en-US" sz="1800" b="0" i="0" u="none" strike="noStrike" cap="none" normalizeH="0" baseline="0" dirty="0">
              <a:ln>
                <a:noFill/>
              </a:ln>
              <a:solidFill>
                <a:schemeClr val="tx1"/>
              </a:solidFill>
              <a:effectLst/>
              <a:latin typeface="Arial (Body)"/>
            </a:endParaRPr>
          </a:p>
        </p:txBody>
      </p:sp>
      <p:pic>
        <p:nvPicPr>
          <p:cNvPr id="6146" name="Picture 2">
            <a:extLst>
              <a:ext uri="{FF2B5EF4-FFF2-40B4-BE49-F238E27FC236}">
                <a16:creationId xmlns:a16="http://schemas.microsoft.com/office/drawing/2014/main" id="{255D12D3-3D30-FD8D-325C-D427A0506E9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1539" y="1029283"/>
            <a:ext cx="8116944" cy="4657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0582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B4CD2-9561-FF24-D8CE-7A3F1443E2A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45BAFC-3181-0738-D8E9-D13AA61AAE1A}"/>
              </a:ext>
            </a:extLst>
          </p:cNvPr>
          <p:cNvSpPr/>
          <p:nvPr/>
        </p:nvSpPr>
        <p:spPr>
          <a:xfrm>
            <a:off x="0" y="-3271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latin typeface="Montserrat ExtraBold" panose="00000900000000000000" pitchFamily="2" charset="0"/>
              </a:rPr>
              <a:t>KẾT QUẢ PHÂN CỤM (K = 3)</a:t>
            </a:r>
          </a:p>
        </p:txBody>
      </p:sp>
      <p:cxnSp>
        <p:nvCxnSpPr>
          <p:cNvPr id="10" name="Straight Connector 9">
            <a:extLst>
              <a:ext uri="{FF2B5EF4-FFF2-40B4-BE49-F238E27FC236}">
                <a16:creationId xmlns:a16="http://schemas.microsoft.com/office/drawing/2014/main" id="{DC0A9181-D30F-7B8C-08C2-3209FBCEB15B}"/>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CDDA325-25EE-1765-1B91-40F296C3EE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1194C0DE-1747-0E71-C8E9-1B0339C975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79AD0283-FB28-1284-859C-A5E4A55FA4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Rectangle 1">
            <a:extLst>
              <a:ext uri="{FF2B5EF4-FFF2-40B4-BE49-F238E27FC236}">
                <a16:creationId xmlns:a16="http://schemas.microsoft.com/office/drawing/2014/main" id="{4B2D2A9F-906B-9C3C-D5ED-CC6AF7C043D8}"/>
              </a:ext>
            </a:extLst>
          </p:cNvPr>
          <p:cNvSpPr>
            <a:spLocks noChangeArrowheads="1"/>
          </p:cNvSpPr>
          <p:nvPr/>
        </p:nvSpPr>
        <p:spPr bwMode="auto">
          <a:xfrm>
            <a:off x="380204" y="799600"/>
            <a:ext cx="5198076" cy="4921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200000"/>
              </a:lnSpc>
            </a:pPr>
            <a:r>
              <a:rPr lang="vi-VN" sz="2000" b="1" dirty="0">
                <a:latin typeface="Arial" panose="020B0604020202020204" pitchFamily="34" charset="0"/>
                <a:cs typeface="Arial" panose="020B0604020202020204" pitchFamily="34" charset="0"/>
              </a:rPr>
              <a:t>So sánh chất lượng</a:t>
            </a:r>
            <a:endParaRPr lang="vi-VN" sz="2000"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vi-VN" sz="2000" dirty="0">
                <a:latin typeface="Arial" panose="020B0604020202020204" pitchFamily="34" charset="0"/>
                <a:cs typeface="Arial" panose="020B0604020202020204" pitchFamily="34" charset="0"/>
              </a:rPr>
              <a:t>K-Means:</a:t>
            </a:r>
          </a:p>
          <a:p>
            <a:pPr marL="742950" lvl="1" indent="-285750" algn="just">
              <a:lnSpc>
                <a:spcPct val="20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Silhouette Score cao hơn</a:t>
            </a:r>
          </a:p>
          <a:p>
            <a:pPr marL="742950" lvl="1" indent="-285750" algn="just">
              <a:lnSpc>
                <a:spcPct val="20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Một cụm có kích thước rất nhỏ (outlier)</a:t>
            </a:r>
          </a:p>
          <a:p>
            <a:pPr marL="285750" indent="-285750" algn="just">
              <a:lnSpc>
                <a:spcPct val="200000"/>
              </a:lnSpc>
              <a:buFont typeface="Arial" panose="020B0604020202020204" pitchFamily="34" charset="0"/>
              <a:buChar char="•"/>
            </a:pPr>
            <a:r>
              <a:rPr lang="vi-VN" sz="2000" dirty="0">
                <a:latin typeface="Arial" panose="020B0604020202020204" pitchFamily="34" charset="0"/>
                <a:cs typeface="Arial" panose="020B0604020202020204" pitchFamily="34" charset="0"/>
              </a:rPr>
              <a:t>GMM:</a:t>
            </a:r>
          </a:p>
          <a:p>
            <a:pPr marL="742950" lvl="1" indent="-285750" algn="just">
              <a:lnSpc>
                <a:spcPct val="20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Phân bố mẫu cân bằng hơn</a:t>
            </a:r>
          </a:p>
          <a:p>
            <a:pPr marL="742950" lvl="1" indent="-285750" algn="just">
              <a:lnSpc>
                <a:spcPct val="200000"/>
              </a:lnSpc>
              <a:buFont typeface="Wingdings" panose="05000000000000000000" pitchFamily="2" charset="2"/>
              <a:buChar char="§"/>
            </a:pPr>
            <a:r>
              <a:rPr lang="vi-VN" sz="2000" dirty="0">
                <a:latin typeface="Arial" panose="020B0604020202020204" pitchFamily="34" charset="0"/>
                <a:cs typeface="Arial" panose="020B0604020202020204" pitchFamily="34" charset="0"/>
              </a:rPr>
              <a:t>Phù hợp hơn với dữ liệu phức tạp</a:t>
            </a:r>
          </a:p>
        </p:txBody>
      </p:sp>
    </p:spTree>
    <p:extLst>
      <p:ext uri="{BB962C8B-B14F-4D97-AF65-F5344CB8AC3E}">
        <p14:creationId xmlns:p14="http://schemas.microsoft.com/office/powerpoint/2010/main" val="33605946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D3E25-0EF2-66D2-3C57-46F17BCA22D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30E634-15D8-6953-440B-9961D8D4FBA5}"/>
              </a:ext>
            </a:extLst>
          </p:cNvPr>
          <p:cNvSpPr/>
          <p:nvPr/>
        </p:nvSpPr>
        <p:spPr>
          <a:xfrm>
            <a:off x="8630" y="6234"/>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latin typeface="Montserrat ExtraBold" panose="00000900000000000000" pitchFamily="2" charset="0"/>
              </a:rPr>
              <a:t>So sánh phân bố tuổi thọ theo cụm</a:t>
            </a:r>
          </a:p>
        </p:txBody>
      </p:sp>
      <p:cxnSp>
        <p:nvCxnSpPr>
          <p:cNvPr id="10" name="Straight Connector 9">
            <a:extLst>
              <a:ext uri="{FF2B5EF4-FFF2-40B4-BE49-F238E27FC236}">
                <a16:creationId xmlns:a16="http://schemas.microsoft.com/office/drawing/2014/main" id="{82F9AC0C-968B-5D8F-0FDF-6566B74C491B}"/>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FEBB8C7-BCC3-818B-1897-524B529FE4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7044ADEA-F65B-11F7-7000-2DA9919A03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7B607C33-368F-F868-F562-BB68B95426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Rectangle 1">
            <a:extLst>
              <a:ext uri="{FF2B5EF4-FFF2-40B4-BE49-F238E27FC236}">
                <a16:creationId xmlns:a16="http://schemas.microsoft.com/office/drawing/2014/main" id="{50AF153F-7B10-112D-E2CB-C48757258084}"/>
              </a:ext>
            </a:extLst>
          </p:cNvPr>
          <p:cNvSpPr>
            <a:spLocks noChangeArrowheads="1"/>
          </p:cNvSpPr>
          <p:nvPr/>
        </p:nvSpPr>
        <p:spPr bwMode="auto">
          <a:xfrm rot="10800000">
            <a:off x="3237470" y="4926230"/>
            <a:ext cx="1860959" cy="104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endParaRPr lang="vi-VN" dirty="0"/>
          </a:p>
        </p:txBody>
      </p:sp>
      <p:pic>
        <p:nvPicPr>
          <p:cNvPr id="7172" name="Picture 4">
            <a:extLst>
              <a:ext uri="{FF2B5EF4-FFF2-40B4-BE49-F238E27FC236}">
                <a16:creationId xmlns:a16="http://schemas.microsoft.com/office/drawing/2014/main" id="{DDA18B31-7C2F-DDEC-6A72-7C61E3B9E2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315" y="855710"/>
            <a:ext cx="10702630" cy="37143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FFAA221-76A3-0C45-744F-D3634D30EF71}"/>
              </a:ext>
            </a:extLst>
          </p:cNvPr>
          <p:cNvSpPr txBox="1"/>
          <p:nvPr/>
        </p:nvSpPr>
        <p:spPr>
          <a:xfrm>
            <a:off x="1238927" y="4531318"/>
            <a:ext cx="10588133" cy="221599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Tuổi thọ trung bình khác biệt rõ giữa các cụm</a:t>
            </a:r>
          </a:p>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Cụm phát triển: Life Expectancy cao, phân bố ổn định</a:t>
            </a:r>
          </a:p>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Cụm kém phát triển: Tuổi thọ thấp, độ phân tán lớn</a:t>
            </a:r>
          </a:p>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GMM cho phân bố mượt hơn, phù hợp dữ liệu chồng lấn</a:t>
            </a:r>
          </a:p>
          <a:p>
            <a:endParaRPr lang="vi-VN" dirty="0"/>
          </a:p>
        </p:txBody>
      </p:sp>
    </p:spTree>
    <p:extLst>
      <p:ext uri="{BB962C8B-B14F-4D97-AF65-F5344CB8AC3E}">
        <p14:creationId xmlns:p14="http://schemas.microsoft.com/office/powerpoint/2010/main" val="11531961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29E21-406F-2297-2DAA-E4A0ADF2A3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81893D9-68C4-C367-7112-A8F1EB5EB77D}"/>
              </a:ext>
            </a:extLst>
          </p:cNvPr>
          <p:cNvSpPr/>
          <p:nvPr/>
        </p:nvSpPr>
        <p:spPr>
          <a:xfrm>
            <a:off x="0" y="25877"/>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latin typeface="Montserrat ExtraBold" panose="00000900000000000000" pitchFamily="2" charset="0"/>
              </a:rPr>
              <a:t>Trực quan hoá phân cụm trong không gian PCA (2D)</a:t>
            </a:r>
          </a:p>
        </p:txBody>
      </p:sp>
      <p:cxnSp>
        <p:nvCxnSpPr>
          <p:cNvPr id="10" name="Straight Connector 9">
            <a:extLst>
              <a:ext uri="{FF2B5EF4-FFF2-40B4-BE49-F238E27FC236}">
                <a16:creationId xmlns:a16="http://schemas.microsoft.com/office/drawing/2014/main" id="{D35B4303-4CE8-9B32-EC48-DB9BDD230DE3}"/>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B655E28-50F6-5708-9884-AAB976C552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6552107C-C6D0-B06F-9B86-7CDA408BF4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51D82887-DE99-06A2-C398-74ADDF601C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Rectangle 1">
            <a:extLst>
              <a:ext uri="{FF2B5EF4-FFF2-40B4-BE49-F238E27FC236}">
                <a16:creationId xmlns:a16="http://schemas.microsoft.com/office/drawing/2014/main" id="{6367AAD3-273C-2C8A-B55C-C03073665999}"/>
              </a:ext>
            </a:extLst>
          </p:cNvPr>
          <p:cNvSpPr>
            <a:spLocks noChangeArrowheads="1"/>
          </p:cNvSpPr>
          <p:nvPr/>
        </p:nvSpPr>
        <p:spPr bwMode="auto">
          <a:xfrm rot="10800000">
            <a:off x="3237470" y="4926230"/>
            <a:ext cx="1860959" cy="104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endParaRPr lang="vi-VN" dirty="0"/>
          </a:p>
        </p:txBody>
      </p:sp>
      <p:pic>
        <p:nvPicPr>
          <p:cNvPr id="10244" name="Picture 4">
            <a:extLst>
              <a:ext uri="{FF2B5EF4-FFF2-40B4-BE49-F238E27FC236}">
                <a16:creationId xmlns:a16="http://schemas.microsoft.com/office/drawing/2014/main" id="{EC705D8E-28CB-6804-0614-3415BF520F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3232" y="858187"/>
            <a:ext cx="9229839" cy="36456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F0F3266-ADDB-55AC-7952-FD0EA1C91DA9}"/>
              </a:ext>
            </a:extLst>
          </p:cNvPr>
          <p:cNvSpPr txBox="1"/>
          <p:nvPr/>
        </p:nvSpPr>
        <p:spPr>
          <a:xfrm>
            <a:off x="1333364" y="4503795"/>
            <a:ext cx="9341708" cy="193899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PCA giảm dữ liệu xuống 2 chiều, giữ ~43% phương sai</a:t>
            </a:r>
          </a:p>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Các cụm phân tách theo trục phát triển kinh tế – xã hội</a:t>
            </a:r>
          </a:p>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K-Means: cụm gọn, ranh giới phân chia rõ</a:t>
            </a:r>
          </a:p>
          <a:p>
            <a:pPr marL="285750" indent="-285750" algn="just">
              <a:lnSpc>
                <a:spcPct val="150000"/>
              </a:lnSpc>
              <a:buFont typeface="Arial" panose="020B0604020202020204" pitchFamily="34" charset="0"/>
              <a:buChar char="•"/>
            </a:pPr>
            <a:r>
              <a:rPr lang="vi-VN" sz="2000" dirty="0">
                <a:latin typeface="Arial" panose="020B0604020202020204" pitchFamily="34" charset="0"/>
                <a:cs typeface="Arial" panose="020B0604020202020204" pitchFamily="34" charset="0"/>
              </a:rPr>
              <a:t>GMM: phân cụm mềm, phù hợp khi dữ liệu chồng lấn</a:t>
            </a:r>
          </a:p>
        </p:txBody>
      </p:sp>
    </p:spTree>
    <p:extLst>
      <p:ext uri="{BB962C8B-B14F-4D97-AF65-F5344CB8AC3E}">
        <p14:creationId xmlns:p14="http://schemas.microsoft.com/office/powerpoint/2010/main" val="3303851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EFB9-BD2D-EB7C-A65A-78E418EA72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E08B51-4B3A-8C7B-9528-06A9AF21091B}"/>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800" b="1" dirty="0">
                <a:latin typeface="Montserrat ExtraBold" panose="00000900000000000000" pitchFamily="2" charset="0"/>
              </a:rPr>
              <a:t>Đặc trưng các cụm so với trung bình chung</a:t>
            </a:r>
            <a:endParaRPr lang="en-US" sz="2800" b="1" dirty="0">
              <a:latin typeface="Montserrat ExtraBold" panose="00000900000000000000" pitchFamily="2" charset="0"/>
            </a:endParaRPr>
          </a:p>
        </p:txBody>
      </p:sp>
      <p:cxnSp>
        <p:nvCxnSpPr>
          <p:cNvPr id="10" name="Straight Connector 9">
            <a:extLst>
              <a:ext uri="{FF2B5EF4-FFF2-40B4-BE49-F238E27FC236}">
                <a16:creationId xmlns:a16="http://schemas.microsoft.com/office/drawing/2014/main" id="{EFDB365C-BD3D-0B03-0237-26F0F6101D45}"/>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EC0C9D5C-9845-5FCC-771D-AA422375E0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FD538477-E36C-8F75-1923-41A8D26465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ECCA0A72-E1BB-15C6-59EF-18AA8330B9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Rectangle 1">
            <a:extLst>
              <a:ext uri="{FF2B5EF4-FFF2-40B4-BE49-F238E27FC236}">
                <a16:creationId xmlns:a16="http://schemas.microsoft.com/office/drawing/2014/main" id="{01905C18-52B7-BB10-EFDF-0B12B467BD2C}"/>
              </a:ext>
            </a:extLst>
          </p:cNvPr>
          <p:cNvSpPr>
            <a:spLocks noChangeArrowheads="1"/>
          </p:cNvSpPr>
          <p:nvPr/>
        </p:nvSpPr>
        <p:spPr bwMode="auto">
          <a:xfrm rot="10800000">
            <a:off x="3237470" y="4926230"/>
            <a:ext cx="1860959" cy="104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endParaRPr lang="vi-VN" dirty="0"/>
          </a:p>
        </p:txBody>
      </p:sp>
      <p:sp>
        <p:nvSpPr>
          <p:cNvPr id="7" name="Rectangle 2">
            <a:extLst>
              <a:ext uri="{FF2B5EF4-FFF2-40B4-BE49-F238E27FC236}">
                <a16:creationId xmlns:a16="http://schemas.microsoft.com/office/drawing/2014/main" id="{4255DB43-E1BC-7427-3CE3-30097B832A62}"/>
              </a:ext>
            </a:extLst>
          </p:cNvPr>
          <p:cNvSpPr>
            <a:spLocks noChangeArrowheads="1"/>
          </p:cNvSpPr>
          <p:nvPr/>
        </p:nvSpPr>
        <p:spPr bwMode="auto">
          <a:xfrm>
            <a:off x="1680519" y="4822844"/>
            <a:ext cx="1051148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vi-VN" altLang="en-US" sz="2000" dirty="0">
                <a:latin typeface="Arial" panose="020B0604020202020204" pitchFamily="34" charset="0"/>
                <a:cs typeface="Arial" panose="020B0604020202020204" pitchFamily="34" charset="0"/>
              </a:rPr>
              <a:t>Heatmap thể hiện mức độ lệch chuẩn (Z-score) của từng cụm</a:t>
            </a:r>
          </a:p>
          <a:p>
            <a:pPr lvl="0" algn="just" eaLnBrk="0" fontAlgn="base" hangingPunct="0">
              <a:spcBef>
                <a:spcPct val="0"/>
              </a:spcBef>
              <a:spcAft>
                <a:spcPct val="0"/>
              </a:spcAft>
            </a:pPr>
            <a:r>
              <a:rPr lang="vi-VN" altLang="en-US" sz="2000" dirty="0">
                <a:latin typeface="Arial" panose="020B0604020202020204" pitchFamily="34" charset="0"/>
                <a:cs typeface="Arial" panose="020B0604020202020204" pitchFamily="34" charset="0"/>
              </a:rPr>
              <a:t>Cụm 0: Mortality cao, Schooling &amp; GDP thấp → kém phát triển</a:t>
            </a:r>
          </a:p>
          <a:p>
            <a:pPr lvl="0" algn="just" eaLnBrk="0" fontAlgn="base" hangingPunct="0">
              <a:spcBef>
                <a:spcPct val="0"/>
              </a:spcBef>
              <a:spcAft>
                <a:spcPct val="0"/>
              </a:spcAft>
            </a:pPr>
            <a:r>
              <a:rPr lang="vi-VN" altLang="en-US" sz="2000" dirty="0">
                <a:latin typeface="Arial" panose="020B0604020202020204" pitchFamily="34" charset="0"/>
                <a:cs typeface="Arial" panose="020B0604020202020204" pitchFamily="34" charset="0"/>
              </a:rPr>
              <a:t>Cụm 1: GDP, Schooling cao, Mortality thấp → phát triển</a:t>
            </a:r>
          </a:p>
          <a:p>
            <a:pPr lvl="0" algn="just" eaLnBrk="0" fontAlgn="base" hangingPunct="0">
              <a:spcBef>
                <a:spcPct val="0"/>
              </a:spcBef>
              <a:spcAft>
                <a:spcPct val="0"/>
              </a:spcAft>
            </a:pPr>
            <a:r>
              <a:rPr lang="vi-VN" altLang="en-US" sz="2000" dirty="0">
                <a:latin typeface="Arial" panose="020B0604020202020204" pitchFamily="34" charset="0"/>
                <a:cs typeface="Arial" panose="020B0604020202020204" pitchFamily="34" charset="0"/>
              </a:rPr>
              <a:t>Cụm 2: Giá trị trung gian → đang phát triển</a:t>
            </a:r>
          </a:p>
          <a:p>
            <a:pPr lvl="0" algn="just" eaLnBrk="0" fontAlgn="base" hangingPunct="0">
              <a:spcBef>
                <a:spcPct val="0"/>
              </a:spcBef>
              <a:spcAft>
                <a:spcPct val="0"/>
              </a:spcAft>
            </a:pPr>
            <a:r>
              <a:rPr lang="vi-VN" altLang="en-US" sz="2000" dirty="0">
                <a:latin typeface="Arial" panose="020B0604020202020204" pitchFamily="34" charset="0"/>
                <a:cs typeface="Arial" panose="020B0604020202020204" pitchFamily="34" charset="0"/>
              </a:rPr>
              <a:t>Kinh tế và giáo dục ảnh hưởng mạnh đến tuổi thọ</a:t>
            </a:r>
          </a:p>
        </p:txBody>
      </p:sp>
      <p:pic>
        <p:nvPicPr>
          <p:cNvPr id="8196" name="Picture 4">
            <a:extLst>
              <a:ext uri="{FF2B5EF4-FFF2-40B4-BE49-F238E27FC236}">
                <a16:creationId xmlns:a16="http://schemas.microsoft.com/office/drawing/2014/main" id="{ABC6A817-DDCE-07EB-ECDC-0F6FF6BC23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210" y="830571"/>
            <a:ext cx="9218140" cy="4061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784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B854-9B52-F605-ACF1-BF63C5C421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063983-9F04-5B90-E80F-798A7E2331B2}"/>
              </a:ext>
            </a:extLst>
          </p:cNvPr>
          <p:cNvSpPr/>
          <p:nvPr/>
        </p:nvSpPr>
        <p:spPr>
          <a:xfrm>
            <a:off x="0" y="25877"/>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latin typeface="Montserrat ExtraBold" panose="00000900000000000000" pitchFamily="2" charset="0"/>
              </a:rPr>
              <a:t>Kết luận</a:t>
            </a:r>
          </a:p>
        </p:txBody>
      </p:sp>
      <p:cxnSp>
        <p:nvCxnSpPr>
          <p:cNvPr id="10" name="Straight Connector 9">
            <a:extLst>
              <a:ext uri="{FF2B5EF4-FFF2-40B4-BE49-F238E27FC236}">
                <a16:creationId xmlns:a16="http://schemas.microsoft.com/office/drawing/2014/main" id="{C49B001F-250E-7C72-A6C0-F2D4326E530D}"/>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C7FDC52-D249-63F0-5CDB-F9FDEB511C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80F8CB37-C451-09B6-4817-0A09BD172E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362EE06D-B60E-803B-1876-8CFE735A6D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Rectangle 1">
            <a:extLst>
              <a:ext uri="{FF2B5EF4-FFF2-40B4-BE49-F238E27FC236}">
                <a16:creationId xmlns:a16="http://schemas.microsoft.com/office/drawing/2014/main" id="{7FD93E5E-226A-89E5-91B8-98DA5023FD00}"/>
              </a:ext>
            </a:extLst>
          </p:cNvPr>
          <p:cNvSpPr>
            <a:spLocks noChangeArrowheads="1"/>
          </p:cNvSpPr>
          <p:nvPr/>
        </p:nvSpPr>
        <p:spPr bwMode="auto">
          <a:xfrm rot="10800000">
            <a:off x="3237470" y="4926230"/>
            <a:ext cx="1860959" cy="104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endParaRPr lang="vi-VN" dirty="0"/>
          </a:p>
        </p:txBody>
      </p:sp>
      <p:sp>
        <p:nvSpPr>
          <p:cNvPr id="7" name="Rectangle 2">
            <a:extLst>
              <a:ext uri="{FF2B5EF4-FFF2-40B4-BE49-F238E27FC236}">
                <a16:creationId xmlns:a16="http://schemas.microsoft.com/office/drawing/2014/main" id="{F874CC9C-5F96-1D7D-7483-ADDFA7DFD081}"/>
              </a:ext>
            </a:extLst>
          </p:cNvPr>
          <p:cNvSpPr>
            <a:spLocks noChangeArrowheads="1"/>
          </p:cNvSpPr>
          <p:nvPr/>
        </p:nvSpPr>
        <p:spPr bwMode="auto">
          <a:xfrm>
            <a:off x="571240" y="1763601"/>
            <a:ext cx="1058532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K-Means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GMM </a:t>
            </a:r>
            <a:r>
              <a:rPr lang="en-US" sz="2000" dirty="0" err="1">
                <a:latin typeface="Arial" panose="020B0604020202020204" pitchFamily="34" charset="0"/>
                <a:cs typeface="Arial" panose="020B0604020202020204" pitchFamily="34" charset="0"/>
              </a:rPr>
              <a:t>đều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cụm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dữ</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tuổi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thọ</a:t>
            </a:r>
            <a:endParaRPr lang="en-US" sz="2000" dirty="0">
              <a:latin typeface="Arial" panose="020B0604020202020204" pitchFamily="34" charset="0"/>
              <a:cs typeface="Arial" panose="020B0604020202020204" pitchFamily="34" charset="0"/>
            </a:endParaRPr>
          </a:p>
          <a:p>
            <a:pPr marL="285750" lvl="0" indent="-285750" algn="just" eaLnBrk="0" fontAlgn="base" hangingPunct="0">
              <a:lnSpc>
                <a:spcPct val="200000"/>
              </a:lnSpc>
              <a:spcBef>
                <a:spcPct val="0"/>
              </a:spcBef>
              <a:spcAft>
                <a:spcPct val="0"/>
              </a:spcAft>
              <a:buFont typeface="Arial" panose="020B0604020202020204" pitchFamily="34" charset="0"/>
              <a:buChar char="•"/>
            </a:pPr>
            <a:r>
              <a:rPr lang="vi-VN" sz="2000" dirty="0">
                <a:latin typeface="Arial" panose="020B0604020202020204" pitchFamily="34" charset="0"/>
                <a:cs typeface="Arial" panose="020B0604020202020204" pitchFamily="34" charset="0"/>
              </a:rPr>
              <a:t>Số cụm tối ưu: K = 3</a:t>
            </a:r>
            <a:endParaRPr lang="en-US" sz="2000" dirty="0">
              <a:latin typeface="Arial" panose="020B0604020202020204" pitchFamily="34" charset="0"/>
              <a:cs typeface="Arial" panose="020B0604020202020204" pitchFamily="34" charset="0"/>
            </a:endParaRPr>
          </a:p>
          <a:p>
            <a:pPr marL="285750" lvl="0" indent="-285750" algn="just" eaLnBrk="0" fontAlgn="base" hangingPunct="0">
              <a:lnSpc>
                <a:spcPct val="200000"/>
              </a:lnSpc>
              <a:spcBef>
                <a:spcPct val="0"/>
              </a:spcBef>
              <a:spcAft>
                <a:spcPct val="0"/>
              </a:spcAft>
              <a:buFont typeface="Arial" panose="020B0604020202020204" pitchFamily="34" charset="0"/>
              <a:buChar char="•"/>
            </a:pPr>
            <a:r>
              <a:rPr lang="vi-VN" sz="2000" dirty="0">
                <a:latin typeface="Arial" panose="020B0604020202020204" pitchFamily="34" charset="0"/>
                <a:cs typeface="Arial" panose="020B0604020202020204" pitchFamily="34" charset="0"/>
              </a:rPr>
              <a:t>GMM linh hoạt hơn, K-Means đơn giản và nhanh hơn</a:t>
            </a:r>
            <a:endParaRPr lang="en-US" sz="2000" dirty="0">
              <a:latin typeface="Arial" panose="020B0604020202020204" pitchFamily="34" charset="0"/>
              <a:cs typeface="Arial" panose="020B0604020202020204" pitchFamily="34" charset="0"/>
            </a:endParaRPr>
          </a:p>
          <a:p>
            <a:pPr marL="285750" lvl="0" indent="-285750" algn="just" eaLnBrk="0" fontAlgn="base" hangingPunct="0">
              <a:lnSpc>
                <a:spcPct val="200000"/>
              </a:lnSpc>
              <a:spcBef>
                <a:spcPct val="0"/>
              </a:spcBef>
              <a:spcAft>
                <a:spcPct val="0"/>
              </a:spcAft>
              <a:buFont typeface="Arial" panose="020B0604020202020204" pitchFamily="34" charset="0"/>
              <a:buChar char="•"/>
            </a:pPr>
            <a:r>
              <a:rPr lang="vi-VN" sz="2000" dirty="0">
                <a:latin typeface="Arial" panose="020B0604020202020204" pitchFamily="34" charset="0"/>
                <a:cs typeface="Arial" panose="020B0604020202020204" pitchFamily="34" charset="0"/>
              </a:rPr>
              <a:t>Kết quả phân cụm được dùng làm </a:t>
            </a:r>
            <a:r>
              <a:rPr lang="vi-VN" sz="2000" b="1" dirty="0">
                <a:latin typeface="Arial" panose="020B0604020202020204" pitchFamily="34" charset="0"/>
                <a:cs typeface="Arial" panose="020B0604020202020204" pitchFamily="34" charset="0"/>
              </a:rPr>
              <a:t>nhãn đầu vào cho các mô hình học có giám sát</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52989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extBox 4"/>
          <p:cNvSpPr txBox="1"/>
          <p:nvPr/>
        </p:nvSpPr>
        <p:spPr>
          <a:xfrm>
            <a:off x="717753" y="3959786"/>
            <a:ext cx="5564344" cy="1569660"/>
          </a:xfrm>
          <a:prstGeom prst="rect">
            <a:avLst/>
          </a:prstGeom>
          <a:noFill/>
        </p:spPr>
        <p:txBody>
          <a:bodyPr wrap="none" rtlCol="0">
            <a:spAutoFit/>
          </a:bodyPr>
          <a:lstStyle/>
          <a:p>
            <a:r>
              <a:rPr lang="en-US" sz="4800" b="1" dirty="0">
                <a:solidFill>
                  <a:schemeClr val="bg1"/>
                </a:solidFill>
                <a:latin typeface="Montserrat ExtraBold" panose="00000900000000000000" pitchFamily="2" charset="0"/>
              </a:rPr>
              <a:t>Chuyển bài toán</a:t>
            </a:r>
            <a:br>
              <a:rPr lang="en-US" sz="4800" b="1" dirty="0">
                <a:solidFill>
                  <a:schemeClr val="bg1"/>
                </a:solidFill>
                <a:latin typeface="Montserrat ExtraBold" panose="00000900000000000000" pitchFamily="2" charset="0"/>
              </a:rPr>
            </a:br>
            <a:r>
              <a:rPr lang="en-US" sz="4800" b="1" dirty="0">
                <a:solidFill>
                  <a:schemeClr val="bg1"/>
                </a:solidFill>
                <a:latin typeface="Montserrat ExtraBold" panose="00000900000000000000" pitchFamily="2" charset="0"/>
              </a:rPr>
              <a:t>về phân loại</a:t>
            </a:r>
          </a:p>
        </p:txBody>
      </p:sp>
    </p:spTree>
    <p:extLst>
      <p:ext uri="{BB962C8B-B14F-4D97-AF65-F5344CB8AC3E}">
        <p14:creationId xmlns:p14="http://schemas.microsoft.com/office/powerpoint/2010/main" val="26160895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Tạo nhãn phân loại</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5840" y="1006805"/>
            <a:ext cx="9040319" cy="4475735"/>
          </a:xfrm>
          <a:prstGeom prst="rect">
            <a:avLst/>
          </a:prstGeom>
        </p:spPr>
      </p:pic>
      <p:sp>
        <p:nvSpPr>
          <p:cNvPr id="11" name="TextBox 10"/>
          <p:cNvSpPr txBox="1"/>
          <p:nvPr/>
        </p:nvSpPr>
        <p:spPr>
          <a:xfrm>
            <a:off x="845389" y="5369016"/>
            <a:ext cx="11050437" cy="1015663"/>
          </a:xfrm>
          <a:prstGeom prst="rect">
            <a:avLst/>
          </a:prstGeom>
          <a:noFill/>
        </p:spPr>
        <p:txBody>
          <a:bodyPr wrap="square" rtlCol="0">
            <a:spAutoFit/>
          </a:bodyPr>
          <a:lstStyle/>
          <a:p>
            <a:pPr algn="just">
              <a:lnSpc>
                <a:spcPct val="150000"/>
              </a:lnSpc>
            </a:pPr>
            <a:r>
              <a:rPr lang="en-US" sz="2000" dirty="0">
                <a:latin typeface="Arial" panose="020B0604020202020204" pitchFamily="34" charset="0"/>
                <a:cs typeface="Arial" panose="020B0604020202020204" pitchFamily="34" charset="0"/>
              </a:rPr>
              <a:t>Nhận xét: </a:t>
            </a:r>
            <a:r>
              <a:rPr lang="vi-VN" sz="2000" dirty="0">
                <a:latin typeface="Arial" panose="020B0604020202020204" pitchFamily="34" charset="0"/>
                <a:cs typeface="Arial" panose="020B0604020202020204" pitchFamily="34" charset="0"/>
              </a:rPr>
              <a:t>GMM phân ra 3 cụm có mean tuổi thọ phân khá rõ ràng và số lượng mẫu ở mỗi cụm không quá mất cân bằng như Kmeans.</a:t>
            </a:r>
          </a:p>
        </p:txBody>
      </p:sp>
    </p:spTree>
    <p:extLst>
      <p:ext uri="{BB962C8B-B14F-4D97-AF65-F5344CB8AC3E}">
        <p14:creationId xmlns:p14="http://schemas.microsoft.com/office/powerpoint/2010/main" val="33743362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Tạo nhãn phân loại</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1" name="TextBox 10"/>
          <p:cNvSpPr txBox="1"/>
          <p:nvPr/>
        </p:nvSpPr>
        <p:spPr>
          <a:xfrm>
            <a:off x="379562" y="1312164"/>
            <a:ext cx="5374257" cy="1477328"/>
          </a:xfrm>
          <a:prstGeom prst="rect">
            <a:avLst/>
          </a:prstGeom>
          <a:noFill/>
        </p:spPr>
        <p:txBody>
          <a:bodyPr wrap="square" rtlCol="0">
            <a:spAutoFit/>
          </a:bodyPr>
          <a:lstStyle/>
          <a:p>
            <a:pPr algn="just">
              <a:lnSpc>
                <a:spcPct val="150000"/>
              </a:lnSpc>
            </a:pPr>
            <a:r>
              <a:rPr lang="en-US" sz="2000" dirty="0">
                <a:latin typeface="Arial" panose="020B0604020202020204" pitchFamily="34" charset="0"/>
                <a:cs typeface="Arial" panose="020B0604020202020204" pitchFamily="34" charset="0"/>
              </a:rPr>
              <a:t>Cụm 0: Mean = 59.60 năm (877 mẫu)</a:t>
            </a:r>
          </a:p>
          <a:p>
            <a:pPr algn="just">
              <a:lnSpc>
                <a:spcPct val="150000"/>
              </a:lnSpc>
            </a:pPr>
            <a:r>
              <a:rPr lang="en-US" sz="2000" dirty="0">
                <a:latin typeface="Arial" panose="020B0604020202020204" pitchFamily="34" charset="0"/>
                <a:cs typeface="Arial" panose="020B0604020202020204" pitchFamily="34" charset="0"/>
              </a:rPr>
              <a:t>Cụm 1: Mean = 78.11 năm (761 mẫu) </a:t>
            </a:r>
          </a:p>
          <a:p>
            <a:pPr algn="just">
              <a:lnSpc>
                <a:spcPct val="150000"/>
              </a:lnSpc>
            </a:pPr>
            <a:r>
              <a:rPr lang="en-US" sz="2000" dirty="0">
                <a:latin typeface="Arial" panose="020B0604020202020204" pitchFamily="34" charset="0"/>
                <a:cs typeface="Arial" panose="020B0604020202020204" pitchFamily="34" charset="0"/>
              </a:rPr>
              <a:t>Cụm 2: Mean = 70.52 năm (1300 mẫu) </a:t>
            </a:r>
          </a:p>
        </p:txBody>
      </p:sp>
      <p:sp>
        <p:nvSpPr>
          <p:cNvPr id="5" name="Rectangle 4"/>
          <p:cNvSpPr/>
          <p:nvPr/>
        </p:nvSpPr>
        <p:spPr>
          <a:xfrm>
            <a:off x="6406488" y="1571498"/>
            <a:ext cx="3635932" cy="958660"/>
          </a:xfrm>
          <a:prstGeom prst="rect">
            <a:avLst/>
          </a:prstGeom>
        </p:spPr>
        <p:txBody>
          <a:bodyPr wrap="none">
            <a:spAutoFit/>
          </a:bodyPr>
          <a:lstStyle/>
          <a:p>
            <a:pPr algn="just">
              <a:lnSpc>
                <a:spcPct val="150000"/>
              </a:lnSpc>
            </a:pPr>
            <a:r>
              <a:rPr lang="en-US" sz="2000" dirty="0">
                <a:latin typeface="Arial" panose="020B0604020202020204" pitchFamily="34" charset="0"/>
                <a:cs typeface="Arial" panose="020B0604020202020204" pitchFamily="34" charset="0"/>
              </a:rPr>
              <a:t>Tổng số mẫu: 2938 </a:t>
            </a:r>
          </a:p>
          <a:p>
            <a:pPr algn="just">
              <a:lnSpc>
                <a:spcPct val="150000"/>
              </a:lnSpc>
            </a:pPr>
            <a:r>
              <a:rPr lang="en-US" sz="2000" dirty="0">
                <a:latin typeface="Arial" panose="020B0604020202020204" pitchFamily="34" charset="0"/>
                <a:cs typeface="Arial" panose="020B0604020202020204" pitchFamily="34" charset="0"/>
              </a:rPr>
              <a:t>Mục tiêu mỗi nhóm: ~979 mẫu</a:t>
            </a:r>
          </a:p>
        </p:txBody>
      </p:sp>
      <p:pic>
        <p:nvPicPr>
          <p:cNvPr id="6" name="Picture 5"/>
          <p:cNvPicPr>
            <a:picLocks noChangeAspect="1"/>
          </p:cNvPicPr>
          <p:nvPr/>
        </p:nvPicPr>
        <p:blipFill>
          <a:blip r:embed="rId4"/>
          <a:stretch>
            <a:fillRect/>
          </a:stretch>
        </p:blipFill>
        <p:spPr>
          <a:xfrm>
            <a:off x="8630" y="3433309"/>
            <a:ext cx="5548277" cy="2102621"/>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3521947351"/>
              </p:ext>
            </p:extLst>
          </p:nvPr>
        </p:nvGraphicFramePr>
        <p:xfrm>
          <a:off x="5253486" y="3433310"/>
          <a:ext cx="6731479" cy="2032096"/>
        </p:xfrm>
        <a:graphic>
          <a:graphicData uri="http://schemas.openxmlformats.org/drawingml/2006/table">
            <a:tbl>
              <a:tblPr firstRow="1" bandRow="1">
                <a:tableStyleId>{5C22544A-7EE6-4342-B048-85BDC9FD1C3A}</a:tableStyleId>
              </a:tblPr>
              <a:tblGrid>
                <a:gridCol w="1008292">
                  <a:extLst>
                    <a:ext uri="{9D8B030D-6E8A-4147-A177-3AD203B41FA5}">
                      <a16:colId xmlns:a16="http://schemas.microsoft.com/office/drawing/2014/main" val="3296657030"/>
                    </a:ext>
                  </a:extLst>
                </a:gridCol>
                <a:gridCol w="3781701">
                  <a:extLst>
                    <a:ext uri="{9D8B030D-6E8A-4147-A177-3AD203B41FA5}">
                      <a16:colId xmlns:a16="http://schemas.microsoft.com/office/drawing/2014/main" val="2929947249"/>
                    </a:ext>
                  </a:extLst>
                </a:gridCol>
                <a:gridCol w="1059765">
                  <a:extLst>
                    <a:ext uri="{9D8B030D-6E8A-4147-A177-3AD203B41FA5}">
                      <a16:colId xmlns:a16="http://schemas.microsoft.com/office/drawing/2014/main" val="2765230980"/>
                    </a:ext>
                  </a:extLst>
                </a:gridCol>
                <a:gridCol w="881721">
                  <a:extLst>
                    <a:ext uri="{9D8B030D-6E8A-4147-A177-3AD203B41FA5}">
                      <a16:colId xmlns:a16="http://schemas.microsoft.com/office/drawing/2014/main" val="363393337"/>
                    </a:ext>
                  </a:extLst>
                </a:gridCol>
              </a:tblGrid>
              <a:tr h="502786">
                <a:tc>
                  <a:txBody>
                    <a:bodyPr/>
                    <a:lstStyle/>
                    <a:p>
                      <a:pPr algn="ctr"/>
                      <a:r>
                        <a:rPr lang="en-US" sz="1800" b="0" i="0" kern="1200" dirty="0">
                          <a:solidFill>
                            <a:schemeClr val="lt1"/>
                          </a:solidFill>
                          <a:effectLst/>
                          <a:latin typeface="+mn-lt"/>
                          <a:ea typeface="+mn-ea"/>
                          <a:cs typeface="+mn-cs"/>
                        </a:rPr>
                        <a:t>Nhãn</a:t>
                      </a:r>
                      <a:endParaRPr lang="en-US" dirty="0"/>
                    </a:p>
                  </a:txBody>
                  <a:tcPr/>
                </a:tc>
                <a:tc>
                  <a:txBody>
                    <a:bodyPr/>
                    <a:lstStyle/>
                    <a:p>
                      <a:pPr algn="ctr"/>
                      <a:r>
                        <a:rPr lang="en-US" sz="1800" b="0" i="0" kern="1200" dirty="0">
                          <a:solidFill>
                            <a:schemeClr val="lt1"/>
                          </a:solidFill>
                          <a:effectLst/>
                          <a:latin typeface="+mn-lt"/>
                          <a:ea typeface="+mn-ea"/>
                          <a:cs typeface="+mn-cs"/>
                        </a:rPr>
                        <a:t>Khoảng</a:t>
                      </a:r>
                      <a:r>
                        <a:rPr lang="en-US" sz="1800" b="0" i="0" kern="1200" baseline="0" dirty="0">
                          <a:solidFill>
                            <a:schemeClr val="lt1"/>
                          </a:solidFill>
                          <a:effectLst/>
                          <a:latin typeface="+mn-lt"/>
                          <a:ea typeface="+mn-ea"/>
                          <a:cs typeface="+mn-cs"/>
                        </a:rPr>
                        <a:t> giá trị</a:t>
                      </a:r>
                      <a:endParaRPr lang="en-US" dirty="0"/>
                    </a:p>
                  </a:txBody>
                  <a:tcPr/>
                </a:tc>
                <a:tc>
                  <a:txBody>
                    <a:bodyPr/>
                    <a:lstStyle/>
                    <a:p>
                      <a:pPr algn="ctr"/>
                      <a:r>
                        <a:rPr lang="en-US" sz="1800" b="0" i="0" kern="1200" dirty="0">
                          <a:solidFill>
                            <a:schemeClr val="lt1"/>
                          </a:solidFill>
                          <a:effectLst/>
                          <a:latin typeface="+mn-lt"/>
                          <a:ea typeface="+mn-ea"/>
                          <a:cs typeface="+mn-cs"/>
                        </a:rPr>
                        <a:t>Số mẫu</a:t>
                      </a:r>
                      <a:endParaRPr lang="en-US" dirty="0"/>
                    </a:p>
                  </a:txBody>
                  <a:tcPr/>
                </a:tc>
                <a:tc>
                  <a:txBody>
                    <a:bodyPr/>
                    <a:lstStyle/>
                    <a:p>
                      <a:pPr algn="ctr"/>
                      <a:r>
                        <a:rPr lang="en-US" sz="1800" b="0" i="0" kern="1200" dirty="0">
                          <a:solidFill>
                            <a:schemeClr val="lt1"/>
                          </a:solidFill>
                          <a:effectLst/>
                          <a:latin typeface="+mn-lt"/>
                          <a:ea typeface="+mn-ea"/>
                          <a:cs typeface="+mn-cs"/>
                        </a:rPr>
                        <a:t>Tỷ lệ</a:t>
                      </a:r>
                      <a:endParaRPr lang="en-US" dirty="0"/>
                    </a:p>
                  </a:txBody>
                  <a:tcPr/>
                </a:tc>
                <a:extLst>
                  <a:ext uri="{0D108BD9-81ED-4DB2-BD59-A6C34878D82A}">
                    <a16:rowId xmlns:a16="http://schemas.microsoft.com/office/drawing/2014/main" val="1462762441"/>
                  </a:ext>
                </a:extLst>
              </a:tr>
              <a:tr h="509770">
                <a:tc>
                  <a:txBody>
                    <a:bodyPr/>
                    <a:lstStyle/>
                    <a:p>
                      <a:pPr algn="ctr"/>
                      <a:r>
                        <a:rPr lang="en-US" sz="1800" b="0" i="0" kern="1200" dirty="0">
                          <a:solidFill>
                            <a:schemeClr val="dk1"/>
                          </a:solidFill>
                          <a:effectLst/>
                          <a:latin typeface="+mn-lt"/>
                          <a:ea typeface="+mn-ea"/>
                          <a:cs typeface="+mn-cs"/>
                        </a:rPr>
                        <a:t>0</a:t>
                      </a:r>
                      <a:endParaRPr lang="en-US" dirty="0"/>
                    </a:p>
                  </a:txBody>
                  <a:tcPr/>
                </a:tc>
                <a:tc>
                  <a:txBody>
                    <a:bodyPr/>
                    <a:lstStyle/>
                    <a:p>
                      <a:r>
                        <a:rPr lang="en-US" sz="1800" b="0" i="0" kern="1200" dirty="0">
                          <a:solidFill>
                            <a:schemeClr val="dk1"/>
                          </a:solidFill>
                          <a:effectLst/>
                          <a:latin typeface="+mn-lt"/>
                          <a:ea typeface="+mn-ea"/>
                          <a:cs typeface="+mn-cs"/>
                        </a:rPr>
                        <a:t>Life expectancy &lt; 66.6</a:t>
                      </a:r>
                      <a:endParaRPr lang="en-US" dirty="0"/>
                    </a:p>
                  </a:txBody>
                  <a:tcPr/>
                </a:tc>
                <a:tc>
                  <a:txBody>
                    <a:bodyPr/>
                    <a:lstStyle/>
                    <a:p>
                      <a:pPr algn="ctr"/>
                      <a:r>
                        <a:rPr lang="en-US" sz="1800" b="0" i="0" kern="1200" dirty="0">
                          <a:solidFill>
                            <a:schemeClr val="dk1"/>
                          </a:solidFill>
                          <a:effectLst/>
                          <a:latin typeface="+mn-lt"/>
                          <a:ea typeface="+mn-ea"/>
                          <a:cs typeface="+mn-cs"/>
                        </a:rPr>
                        <a:t>974</a:t>
                      </a:r>
                      <a:endParaRPr lang="en-US" dirty="0"/>
                    </a:p>
                  </a:txBody>
                  <a:tcPr/>
                </a:tc>
                <a:tc>
                  <a:txBody>
                    <a:bodyPr/>
                    <a:lstStyle/>
                    <a:p>
                      <a:pPr algn="ctr"/>
                      <a:r>
                        <a:rPr lang="en-US" sz="1800" b="0" i="0" kern="1200" dirty="0">
                          <a:solidFill>
                            <a:schemeClr val="dk1"/>
                          </a:solidFill>
                          <a:effectLst/>
                          <a:latin typeface="+mn-lt"/>
                          <a:ea typeface="+mn-ea"/>
                          <a:cs typeface="+mn-cs"/>
                        </a:rPr>
                        <a:t>33.2%</a:t>
                      </a:r>
                      <a:endParaRPr lang="en-US" dirty="0"/>
                    </a:p>
                  </a:txBody>
                  <a:tcPr/>
                </a:tc>
                <a:extLst>
                  <a:ext uri="{0D108BD9-81ED-4DB2-BD59-A6C34878D82A}">
                    <a16:rowId xmlns:a16="http://schemas.microsoft.com/office/drawing/2014/main" val="910859028"/>
                  </a:ext>
                </a:extLst>
              </a:tr>
              <a:tr h="509770">
                <a:tc>
                  <a:txBody>
                    <a:bodyPr/>
                    <a:lstStyle/>
                    <a:p>
                      <a:pPr algn="ctr"/>
                      <a:r>
                        <a:rPr lang="en-US" dirty="0"/>
                        <a:t>1</a:t>
                      </a:r>
                    </a:p>
                  </a:txBody>
                  <a:tcPr/>
                </a:tc>
                <a:tc>
                  <a:txBody>
                    <a:bodyPr/>
                    <a:lstStyle/>
                    <a:p>
                      <a:r>
                        <a:rPr lang="en-US" sz="1800" b="0" i="0" kern="1200" dirty="0">
                          <a:solidFill>
                            <a:schemeClr val="dk1"/>
                          </a:solidFill>
                          <a:effectLst/>
                          <a:latin typeface="+mn-lt"/>
                          <a:ea typeface="+mn-ea"/>
                          <a:cs typeface="+mn-cs"/>
                        </a:rPr>
                        <a:t>66.6 &lt;= Life expectancy &lt; 74.4</a:t>
                      </a:r>
                      <a:endParaRPr lang="en-US" dirty="0"/>
                    </a:p>
                  </a:txBody>
                  <a:tcPr/>
                </a:tc>
                <a:tc>
                  <a:txBody>
                    <a:bodyPr/>
                    <a:lstStyle/>
                    <a:p>
                      <a:pPr algn="ctr"/>
                      <a:r>
                        <a:rPr lang="en-US" sz="1800" b="0" i="0" kern="1200" dirty="0">
                          <a:solidFill>
                            <a:schemeClr val="dk1"/>
                          </a:solidFill>
                          <a:effectLst/>
                          <a:latin typeface="+mn-lt"/>
                          <a:ea typeface="+mn-ea"/>
                          <a:cs typeface="+mn-cs"/>
                        </a:rPr>
                        <a:t>975</a:t>
                      </a:r>
                      <a:endParaRPr lang="en-US" dirty="0"/>
                    </a:p>
                  </a:txBody>
                  <a:tcPr/>
                </a:tc>
                <a:tc>
                  <a:txBody>
                    <a:bodyPr/>
                    <a:lstStyle/>
                    <a:p>
                      <a:pPr algn="ctr"/>
                      <a:r>
                        <a:rPr lang="en-US" sz="1800" b="0" i="0" kern="1200" dirty="0">
                          <a:solidFill>
                            <a:schemeClr val="dk1"/>
                          </a:solidFill>
                          <a:effectLst/>
                          <a:latin typeface="+mn-lt"/>
                          <a:ea typeface="+mn-ea"/>
                          <a:cs typeface="+mn-cs"/>
                        </a:rPr>
                        <a:t>33.2%</a:t>
                      </a:r>
                      <a:endParaRPr lang="en-US" dirty="0"/>
                    </a:p>
                  </a:txBody>
                  <a:tcPr/>
                </a:tc>
                <a:extLst>
                  <a:ext uri="{0D108BD9-81ED-4DB2-BD59-A6C34878D82A}">
                    <a16:rowId xmlns:a16="http://schemas.microsoft.com/office/drawing/2014/main" val="1921520034"/>
                  </a:ext>
                </a:extLst>
              </a:tr>
              <a:tr h="509770">
                <a:tc>
                  <a:txBody>
                    <a:bodyPr/>
                    <a:lstStyle/>
                    <a:p>
                      <a:pPr algn="ctr"/>
                      <a:r>
                        <a:rPr lang="en-US" dirty="0"/>
                        <a:t>2</a:t>
                      </a:r>
                    </a:p>
                  </a:txBody>
                  <a:tcPr/>
                </a:tc>
                <a:tc>
                  <a:txBody>
                    <a:bodyPr/>
                    <a:lstStyle/>
                    <a:p>
                      <a:r>
                        <a:rPr lang="en-US" sz="1800" b="0" i="0" kern="1200" dirty="0">
                          <a:solidFill>
                            <a:schemeClr val="dk1"/>
                          </a:solidFill>
                          <a:effectLst/>
                          <a:latin typeface="+mn-lt"/>
                          <a:ea typeface="+mn-ea"/>
                          <a:cs typeface="+mn-cs"/>
                        </a:rPr>
                        <a:t>Life expectancy &gt;= 74.4</a:t>
                      </a:r>
                      <a:endParaRPr lang="en-US" dirty="0"/>
                    </a:p>
                  </a:txBody>
                  <a:tcPr/>
                </a:tc>
                <a:tc>
                  <a:txBody>
                    <a:bodyPr/>
                    <a:lstStyle/>
                    <a:p>
                      <a:pPr algn="ctr"/>
                      <a:r>
                        <a:rPr lang="en-US" sz="1800" b="0" i="0" kern="1200" dirty="0">
                          <a:solidFill>
                            <a:schemeClr val="dk1"/>
                          </a:solidFill>
                          <a:effectLst/>
                          <a:latin typeface="+mn-lt"/>
                          <a:ea typeface="+mn-ea"/>
                          <a:cs typeface="+mn-cs"/>
                        </a:rPr>
                        <a:t>989</a:t>
                      </a:r>
                      <a:endParaRPr lang="en-US" dirty="0"/>
                    </a:p>
                  </a:txBody>
                  <a:tcPr/>
                </a:tc>
                <a:tc>
                  <a:txBody>
                    <a:bodyPr/>
                    <a:lstStyle/>
                    <a:p>
                      <a:pPr algn="ctr"/>
                      <a:r>
                        <a:rPr lang="en-US" sz="1800" b="0" i="0" kern="1200" dirty="0">
                          <a:solidFill>
                            <a:schemeClr val="dk1"/>
                          </a:solidFill>
                          <a:effectLst/>
                          <a:latin typeface="+mn-lt"/>
                          <a:ea typeface="+mn-ea"/>
                          <a:cs typeface="+mn-cs"/>
                        </a:rPr>
                        <a:t>33.7%</a:t>
                      </a:r>
                      <a:endParaRPr lang="en-US" dirty="0"/>
                    </a:p>
                  </a:txBody>
                  <a:tcPr/>
                </a:tc>
                <a:extLst>
                  <a:ext uri="{0D108BD9-81ED-4DB2-BD59-A6C34878D82A}">
                    <a16:rowId xmlns:a16="http://schemas.microsoft.com/office/drawing/2014/main" val="67089656"/>
                  </a:ext>
                </a:extLst>
              </a:tr>
            </a:tbl>
          </a:graphicData>
        </a:graphic>
      </p:graphicFrame>
    </p:spTree>
    <p:extLst>
      <p:ext uri="{BB962C8B-B14F-4D97-AF65-F5344CB8AC3E}">
        <p14:creationId xmlns:p14="http://schemas.microsoft.com/office/powerpoint/2010/main" val="24030711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717753" y="3959786"/>
            <a:ext cx="6611105"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Mô hình</a:t>
            </a:r>
            <a:br>
              <a:rPr lang="en-US" sz="4800" b="1" dirty="0">
                <a:solidFill>
                  <a:srgbClr val="0092FF"/>
                </a:solidFill>
                <a:latin typeface="Montserrat ExtraBold" panose="00000900000000000000" pitchFamily="2" charset="0"/>
              </a:rPr>
            </a:br>
            <a:r>
              <a:rPr lang="en-US" sz="4800" b="1" dirty="0">
                <a:solidFill>
                  <a:srgbClr val="0092FF"/>
                </a:solidFill>
                <a:latin typeface="Montserrat ExtraBold" panose="00000900000000000000" pitchFamily="2" charset="0"/>
              </a:rPr>
              <a:t>Logistic Regression</a:t>
            </a:r>
          </a:p>
        </p:txBody>
      </p:sp>
    </p:spTree>
    <p:extLst>
      <p:ext uri="{BB962C8B-B14F-4D97-AF65-F5344CB8AC3E}">
        <p14:creationId xmlns:p14="http://schemas.microsoft.com/office/powerpoint/2010/main" val="5104996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Softmax Regression</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7" name="TextBox 6"/>
          <p:cNvSpPr txBox="1"/>
          <p:nvPr/>
        </p:nvSpPr>
        <p:spPr>
          <a:xfrm>
            <a:off x="483080" y="930803"/>
            <a:ext cx="11050437" cy="1420325"/>
          </a:xfrm>
          <a:prstGeom prst="rect">
            <a:avLst/>
          </a:prstGeom>
          <a:noFill/>
        </p:spPr>
        <p:txBody>
          <a:bodyPr wrap="square" rtlCol="0">
            <a:spAutoFit/>
          </a:bodyPr>
          <a:lstStyle/>
          <a:p>
            <a:pPr algn="just">
              <a:lnSpc>
                <a:spcPct val="150000"/>
              </a:lnSpc>
            </a:pPr>
            <a:r>
              <a:rPr lang="vi-VN" sz="2000" dirty="0">
                <a:latin typeface="Arial" panose="020B0604020202020204" pitchFamily="34" charset="0"/>
                <a:cs typeface="Arial" panose="020B0604020202020204" pitchFamily="34" charset="0"/>
              </a:rPr>
              <a:t>Softmax Regression là một trong những thuật toán học máy có giám sát nền tảng, được thiết kế chuyên biệt</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để giải quyết bài toán phân loại đa lớp.</a:t>
            </a:r>
            <a:r>
              <a:rPr lang="en-US" sz="2000" dirty="0">
                <a:latin typeface="Arial" panose="020B0604020202020204" pitchFamily="34" charset="0"/>
                <a:cs typeface="Arial" panose="020B0604020202020204" pitchFamily="34" charset="0"/>
              </a:rPr>
              <a:t> Sử dụng hàm </a:t>
            </a:r>
            <a:r>
              <a:rPr lang="en-US" sz="2000" b="1" dirty="0">
                <a:latin typeface="Arial" panose="020B0604020202020204" pitchFamily="34" charset="0"/>
                <a:cs typeface="Arial" panose="020B0604020202020204" pitchFamily="34" charset="0"/>
              </a:rPr>
              <a:t>Softmax</a:t>
            </a:r>
            <a:r>
              <a:rPr lang="en-US" sz="2000" dirty="0">
                <a:latin typeface="Arial" panose="020B0604020202020204" pitchFamily="34" charset="0"/>
                <a:cs typeface="Arial" panose="020B0604020202020204" pitchFamily="34" charset="0"/>
              </a:rPr>
              <a:t> ở lớp đầu ra để chuẩn hóa điểm số thành xác suất.</a:t>
            </a:r>
            <a:endParaRPr lang="vi-VN" sz="20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4"/>
          <a:stretch>
            <a:fillRect/>
          </a:stretch>
        </p:blipFill>
        <p:spPr>
          <a:xfrm>
            <a:off x="2847795" y="2422261"/>
            <a:ext cx="6496409" cy="3962418"/>
          </a:xfrm>
          <a:prstGeom prst="rect">
            <a:avLst/>
          </a:prstGeom>
        </p:spPr>
      </p:pic>
    </p:spTree>
    <p:extLst>
      <p:ext uri="{BB962C8B-B14F-4D97-AF65-F5344CB8AC3E}">
        <p14:creationId xmlns:p14="http://schemas.microsoft.com/office/powerpoint/2010/main" val="29008692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Softmax-stable</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7" name="TextBox 6"/>
          <p:cNvSpPr txBox="1"/>
          <p:nvPr/>
        </p:nvSpPr>
        <p:spPr>
          <a:xfrm>
            <a:off x="483080" y="930803"/>
            <a:ext cx="11050437" cy="1938992"/>
          </a:xfrm>
          <a:prstGeom prst="rect">
            <a:avLst/>
          </a:prstGeom>
          <a:noFill/>
        </p:spPr>
        <p:txBody>
          <a:bodyPr wrap="square" rtlCol="0">
            <a:spAutoFit/>
          </a:bodyPr>
          <a:lstStyle/>
          <a:p>
            <a:pPr algn="just">
              <a:lnSpc>
                <a:spcPct val="150000"/>
              </a:lnSpc>
            </a:pPr>
            <a:r>
              <a:rPr lang="vi-VN" sz="2000" dirty="0">
                <a:cs typeface="Arial" panose="020B0604020202020204" pitchFamily="34" charset="0"/>
              </a:rPr>
              <a:t>Khi các giá trị z rất lớn (dương hoặc âm), việc tính toán trực tiếp hàm mũ exp(z) có thể gây ra hai</a:t>
            </a:r>
            <a:r>
              <a:rPr lang="en-US" sz="2000" dirty="0">
                <a:cs typeface="Arial" panose="020B0604020202020204" pitchFamily="34" charset="0"/>
              </a:rPr>
              <a:t> </a:t>
            </a:r>
            <a:r>
              <a:rPr lang="vi-VN" sz="2000" dirty="0">
                <a:cs typeface="Arial" panose="020B0604020202020204" pitchFamily="34" charset="0"/>
              </a:rPr>
              <a:t>vấn đề:</a:t>
            </a:r>
            <a:endParaRPr lang="en-US" sz="2000" dirty="0">
              <a:cs typeface="Arial" panose="020B0604020202020204" pitchFamily="34" charset="0"/>
            </a:endParaRP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Overflow: Khi z quá lớn thì </a:t>
            </a:r>
            <a:r>
              <a:rPr lang="vi-VN" sz="2000" dirty="0">
                <a:latin typeface="Arial" panose="020B0604020202020204" pitchFamily="34" charset="0"/>
                <a:cs typeface="Arial" panose="020B0604020202020204" pitchFamily="34" charset="0"/>
              </a:rPr>
              <a:t>exp(z)</a:t>
            </a:r>
            <a:r>
              <a:rPr lang="en-US" sz="2000" dirty="0">
                <a:latin typeface="Arial" panose="020B0604020202020204" pitchFamily="34" charset="0"/>
                <a:cs typeface="Arial" panose="020B0604020202020204" pitchFamily="34" charset="0"/>
              </a:rPr>
              <a:t> có thể sẽ vượt quá giới hạn lưu trữ của máy tính</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Underflow: Khi z quá nhỏ (số âm lớn) thì exp(z) làm tròn về 0</a:t>
            </a:r>
            <a:endParaRPr lang="vi-VN" sz="2000" dirty="0">
              <a:latin typeface="Arial" panose="020B0604020202020204" pitchFamily="34" charset="0"/>
              <a:cs typeface="Arial" panose="020B0604020202020204" pitchFamily="34" charset="0"/>
            </a:endParaRPr>
          </a:p>
        </p:txBody>
      </p:sp>
      <p:pic>
        <p:nvPicPr>
          <p:cNvPr id="13" name="Picture 12"/>
          <p:cNvPicPr>
            <a:picLocks noChangeAspect="1"/>
          </p:cNvPicPr>
          <p:nvPr/>
        </p:nvPicPr>
        <p:blipFill>
          <a:blip r:embed="rId4"/>
          <a:stretch>
            <a:fillRect/>
          </a:stretch>
        </p:blipFill>
        <p:spPr>
          <a:xfrm>
            <a:off x="2850759" y="3993053"/>
            <a:ext cx="6315075" cy="1333500"/>
          </a:xfrm>
          <a:prstGeom prst="rect">
            <a:avLst/>
          </a:prstGeom>
        </p:spPr>
      </p:pic>
      <p:sp>
        <p:nvSpPr>
          <p:cNvPr id="14" name="TextBox 13"/>
          <p:cNvSpPr txBox="1"/>
          <p:nvPr/>
        </p:nvSpPr>
        <p:spPr>
          <a:xfrm>
            <a:off x="483079" y="3230481"/>
            <a:ext cx="11050437" cy="504305"/>
          </a:xfrm>
          <a:prstGeom prst="rect">
            <a:avLst/>
          </a:prstGeom>
          <a:noFill/>
        </p:spPr>
        <p:txBody>
          <a:bodyPr wrap="square" rtlCol="0">
            <a:spAutoFit/>
          </a:bodyPr>
          <a:lstStyle/>
          <a:p>
            <a:pPr algn="just">
              <a:lnSpc>
                <a:spcPct val="150000"/>
              </a:lnSpc>
            </a:pPr>
            <a:r>
              <a:rPr lang="en-US" sz="2000" dirty="0">
                <a:latin typeface="Arial" panose="020B0604020202020204" pitchFamily="34" charset="0"/>
                <a:cs typeface="Arial" panose="020B0604020202020204" pitchFamily="34" charset="0"/>
              </a:rPr>
              <a:t>Giải pháp: Softmax ổn định (Stable Softmax)</a:t>
            </a:r>
            <a:endParaRPr lang="vi-V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67088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Hàm mất mát Cross-Entropy</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p:cNvPicPr>
            <a:picLocks noChangeAspect="1"/>
          </p:cNvPicPr>
          <p:nvPr/>
        </p:nvPicPr>
        <p:blipFill>
          <a:blip r:embed="rId4"/>
          <a:stretch>
            <a:fillRect/>
          </a:stretch>
        </p:blipFill>
        <p:spPr>
          <a:xfrm>
            <a:off x="241543" y="1322833"/>
            <a:ext cx="5714304" cy="4785379"/>
          </a:xfrm>
          <a:prstGeom prst="rect">
            <a:avLst/>
          </a:prstGeom>
        </p:spPr>
      </p:pic>
      <p:sp>
        <p:nvSpPr>
          <p:cNvPr id="6" name="AutoShape 2" descr="data:image/png;base64,iVBORw0KGgoAAAANSUhEUgAAA0cAAAIwCAYAAABN6hBOAAAAOnRFWHRTb2Z0d2FyZQBNYXRwbG90bGliIHZlcnNpb24zLjEwLjAsIGh0dHBzOi8vbWF0cGxvdGxpYi5vcmcvlHJYcgAAAAlwSFlzAAAPYQAAD2EBqD+naQAA7d5JREFUeJzs3Xd0FNX7BvBndtNISCchlFBCCR0R6S30KijSe1FsqFjBRlGQpuhPv4gN6U0FpEmVqoDShEiTFgJICJCQhJK2e39/xF2y2U2yu7nJ7myezzk5x70zO/PO5iHmzczcUYQQAkRERERERMWcxtEFEBEREREROQM2R0RERERERGBzREREREREBIDNEREREREREQA2R0RERERERADYHBEREREREQFgc0RERERERASAzREREREREREANkdE5CR27tyJyZMnY//+/Y4uhYiIiIopRQghHF0EUXFw/PhxrF27FlWrVsWQIUMcXY5TuX79OurUqYNy5crh4MGD8Pb2dnRJNtu/fz+2bduG2rVro2/fvo4uh4iIiOzA5oioiOh0Ojz55JPYuHEjNmzYgO7duzu6JKfRo0cP/P777zh8+DCqVKni6HJsdu3aNTRo0AAeHh44cOAAwsPDHV0SERER2YGX1RFZoVKlSlAUBQsXLsxzvaioKCiKgsmTJ5st02q1WLlyJRo1aoRhw4bh8uXLhVOsk1u7di00Gg00Gg0mTJiA06dPo1SpUvjhhx9U2RhlZmZiwIABSEtLwy+//FIkjdHp06fx2muvoUGDBggODoa7uzuCg4PRrFkzvP322zh9+nSh1+AMFi5cCEVR8v2qVKmSo0stFqz9OUkFY8i1s1i3bh0URcEnn3xS4G0tXboUiqLgyy+/lFAZkX3YHBEVIW9vb2zcuBGBgYHo168f0tPTHV1SkYqOjsawYcPw6quvYtmyZfj4449x/PhxLFy4EB07djRbf8SIEU7/y9Y777yDP/74A6tXr0a9evVyXW/y5Mm5Ns7WyszMxKuvvoo6derg008/RWxsLBo1aoR+/fqhadOmuHTpEmbMmIE6dergf//7n937URsfHx8MHz48168+ffpI2c/u3buhKAqioqKkbI9I7dLS0vDaa68hPDwcL774YoG3N2jQINStWxfvv/8+EhISJFRIZDs3RxdAVNyEhIRgy5YtWLp0KU6ePIkGDRo4uqQikZGRgQ8//BDPPvssPv74YwBAamoqvvzyS7Rp0wZlypRxcIW2S05ORsmSJfHzzz+jQ4cOhb6/IUOGYNWqVfDz88P//d//YejQodBqtcblQghs374db7/9Ns6fP1/o9TiLUqVKOXUDTeSqvvjiC1y8eBFz586Fl5dXgben0WgwadIk9OnTB1OnTsWcOXMkVElkGzZHRA5QtWrVAp1BUCN3d3f88MMPJmMjR47EyJEjHVRRwfn5+WHixIlFsq/vv/8eq1atgru7O7Zt24YmTZqYraMoCjp16oS2bdvi8OHDRVIXERVPOp0OX3zxBby8vDB48GBp2+3ZsydCQkIwf/58fPDBByhZsqS0bRNZg5fVERWBjIwMLF26FIMHD0aNGjXg5+eHEiVKIDIyEi+//DL+/fdfi+8z3MO0e/duHDx4EN27d0dwcDB8fX3Rpk0b7Nu3z7juli1b0L59ewQGBqJkyZLo2LEjjh49anOt2a9nX7p0KRo3boySJUsiJCQEAwcORGxsLICssxT/+9//8Mgjj8DHxwelSpXCiBEjEB8fX+Djj4mJgaIoWLRoEYCsJir7PSTWNpaGeyBiYmKwefNmREVFwd/fH4GBgejRoweio6ON6y5fvhzNmjWDr68vAgIC0Lt3b1y4cMHidtesWYOnn34aderUQWBgILy8vFC5cmWMGjUKZ8+etfiZTpkyBQAwZcoUk2MZMWJEvschhMC0adMAAM8//7zFxig7d3d3NGvWzPg6++Vg9+/fx8SJE1GzZk14e3ub3Y+zcuVKtG/fHkFBQfD09ETFihUxatQo/PPPPxb3df36dbzyyiuoXr06vLy84O3tjfDwcLRv3954hjC7HTt24PHHH0fp0qXh7u6OwMBAVKtWDUOGDMHevXvz/SxkyH6J482bN/Hiiy8iPDwcHh4eCA8Px0svvYQ7d+6YvCcqKgpt27YFAOzZsyfXe5qyXwr6999/o3///ihTpgy0Wq1JbhMSEvDOO++gdu3a8Pb2hq+vLxo2bIhZs2bhwYMHZjXn/B6+8847qFq1Kry8vFC2bFmMHj0a165dM3nPrl27oCgKatSogdzmXkpNTUVwcDAURcGpU6fs+0AL4OrVq3jppZdQrVo1eHl5wd/fHy1atMDXX38NnU5n8T0//vgjOnToYHK/Xa1atfDMM8/gxIkTJusmJSXhvffeQ926deHj4wNPT0+ULVsWLVq0wMSJE5GRkVEUh1lkbM2Vwbp169CqVSv4+vrC398fbdq0waZNm4w/iy3dt7d+/XrExsbiiSeegL+/v8myixcvIiAgABqNBps3bzZ777///ovQ0FAoioJVq1aZLHN3d8egQYOQnJyMJUuW2PdBEBWEIKJ8VaxYUQAQCxYsyHO9Nm3aCABi0qRJJuNXrlwRAIS/v79o2rSp6Nu3r+jWrZsoW7asACBCQkLEuXPnct3eG2+8Idzc3ESDBg1E//79xSOPPCIACE9PT/H777+L//3vf0Kj0YjmzZuLfv36ierVqwsAomTJkha3mxcAAoCYMGGCcHNzE+3atRN9+vQRFSpUEABEeHi4SEhIEP369RNeXl6iS5cu4sknnxShoaECgKhXr55IS0sr0PHfvHlTDB8+XFSpUkUAEC1atBDDhw83fq1du9aqYzF83yZMmCAURREtWrQw+XwCAgLE+fPnxZtvvmlyrOHh4QKAKFu2rEhISDDbrlarFd7e3uKxxx4TvXv3Fo8//rioVKmSACB8fHzE77//brL+8OHDRf369QUAUb9+fZNj+fbbb/M9juPHjxu/L0eOHLHq2LPbtWuXACCaNGkiGjVqJHx8fETXrl1F//79RYcOHYQQQuj1ejFs2DABwPhZDBgwwPhZeXt7i82bN5ts9/r168bvYYUKFUSvXr1E//79RatWrURQUJDw9/c3WX/hwoVCURShKIpo0qSJ6N+/v+jZs6d49NFHhVarFa+88opNx7VgwQIBQFSsWNGm902aNEkAEKNGjRLly5cXpUuXFr179xbdunUT/v7+AoBo1KiRSE9PN75n+vTponPnzgKAKF26tMn38PXXXzeuN3z4cAFAPPPMM8LT01NUqlRJ9OvXTzz++OPi448/FkIIceHCBWM2Q0JCxFNPPSV69uwpfH19BQDx6KOPmuXO8D1s1qyZaNq0qfD29hbdunUTffv2FWXKlBEARFhYmPjnn39M3le3bl0BQGzbts3iZ/H9998LAKJt27bGMUPWdu3aZdPnau3PSYM///xTBAUFGfPTv39/0aVLF+Hl5SUAiM6dO5v9LJkyZYoxo61btxYDBw4U3bp1E3Xq1BGKoohPP/3UuO69e/dEnTp1jJ/z448/LgYMGCCioqJEWFiYACASExNtOkZnYPj+5GRProQQYubMmcZtNmnSRAwcOFA0atRIABBvvfVWrv/GDD8vvvvuO4t1rl69WgAQpUqVEleuXDGOZ2ZmilatWgkA4oUXXrD43o0bNwoAolOnTlZ+KkTysDkiskJBm6Pk5GSxbt06s//Rp6eni7ffflsAEN26dct1e4qiiCVLlpgse+211wQAERkZKUqWLCl27NhhXJaZmSmeeuopAUA8/fTTNh2r4X+SwcHB4q+//jKO379/X7Rs2VIAEHXr1hVVqlQRMTExxuU3b94UVatWFQDE0qVLpRy/4RdNa3/ZysnwffP09DT7fPr27SsAiDp16pgd671790Tz5s0FADF16lSz7S5cuFAkJyebjOl0OvHxxx8LAKJ27dpCr9ebLDf8Qp4zG9aYP3++ACA8PDxERkaGze83/GJtaF6vX79uts68efOMv8gcO3bMOK7X6421BwQEiPj4eOMywy+qY8aMMTve9PR0k89cCCEqV64sAIh9+/aZ7f/GjRvi6NGjNh1XQZsjAGLEiBEiNTXVuCw2NlaUK1dOABDLly83eZ/hc2zTpk2u2zZk1tCU63Q6s3WaNGkiAIiePXuKu3fvGsfj4+PFo48+KgCIQYMGWdw3AFG1alVx+fJl47IHDx4Y/703bdrU5H3ffvutcV+WNGzYUAAQq1evNo4VRXOUmppqXP+5554zaUQvXLhg/GPDO++8Y/KeEiVKiJIlS4ozZ86YbTMmJkacPn3a+HrRokUCgOjatavJ9oXI+ve6e/dus59Jecn+vbXly9bPMT+5NUf25Oro0aNCq9UKrVYr1qxZY7Lshx9+EBqNJtd/Y4Y/Ip08eTLXWl955RXjH7gMP7vGjx9vbNay/9vL7vbt20JRFOHt7W3T94hIBjZHRFYw/E/c2i9bfwEuW7as0Gg0Zr9wG5qjvn37mr3n9u3bxv29+eabZsuPHDkiAIjKlSvbVIthm3PnzjVbtmbNGuPyTZs2mS3/5JNPBAAxcuRIm/aZ2/HLao4sfT5Hjx7N81gNf/XM/hd1azz22GMWf2EoSHM0Y8YM45kBe2T/xXrv3r0W1zGcpfv888/Nlun1elGvXj0BQEybNs04/sILLwgAZr9U5cbb29vsbFJBGJqj/L5ynpEyfC/Kly8v7t27Z7Zdw+c9atQok3FbmqPq1auLzMxMs+X79u0TQNaZuLi4OLPlhw8fFgCERqMx+Wt79u/hzz//bPa+GzduCG9vbwHA5Mzl/fv3RXBwsNBoNCZ/zBBCiAMHDggg62xw9lojIyNFZGSk+OOPP3I9TktsaY6WLFkigKyzs5Z+Qf7pp58EAOHr6ysePHgghMj6Jd/Q4Ftj1qxZAoCYM2eOTceRm2+//dbkjKG1X9kbNhksNUf25mrUqFECgBg4cKDFffXp08dic3Tz5k3j9izl3CA9Pd3YtL311lti06ZNQlEU4e/vLy5cuJDncRrOiB4/fjzP9Yhk44QMRDZo0aIFqlatmuvyLVu24MaNG7kuP378OH799VdcunQJ9+7dg16vB5A1RbNer8f58+ctzl7XrVs3s7GgoCAEBwfj9u3bFpdXq1YNAHK9nyk/eW3Tzc0NnTp1snmf9h5/QeV1LPktz+1YUlJSsHv3bly4cAEpKSnG+yPS0tIAAGfPnkWtWrUKXLtMoaGhaNWqldn41atXjfdXDR8+3Gy5oigYOXIkXn31VezatQvvvPMOAKBx48b48ssvMWHCBAgh0KlTpzxvnm7cuDF2796NYcOG4ZVXXkGDBg2g0RT81lcfH588p+tu3LixxfH27dvD29vbbLxmzZoAYHYPjy2eeOIJk5kEDXbv3g0A6NKlC0qXLm22vGHDhqhfvz6OHz+OPXv2mN3oHhAQgJ49e5q9LzQ0FF26dMGaNWuwe/duNG/eHABQokQJjBkzBtOnT8e8efMwY8YM43vmzp0LAHjuuedMaj1z5oztB2wjw+cwYMAAeHp6mi3v3bs3AgMDkZiYiCNHjqBFixYICQlBpUqVcOLECbz++usYPXp0nv/GGjVqBACYNWsWgoOD0aNHDwQFBdld89NPP42nn37a7vcXJntztWfPHgDIdUKFwYMH46effjIbN/x/zt/f32LODdzd3bFq1So8+uijmD17Nr766isIITB//nxERETkeUzBwcG4fv16nv9PJSoMbI6IbPD000/neQN9VFSUxR/k9+7dw9ChQ7F27do8t5+cnGxxvEKFChbHS5Ysidu3b1tc7uvrC+DhL+u2srRNwy++ZcqUgZub+Y8Pwz5TU1NNxgt6/AWV17Hktjy3YwGAadOmYdq0aXne4CzzWEJCQgBk3Wyt0+ny/GUkL7k9DNXQBAQHB8PPz8/iOoYH9GZvGIYOHYrt27dj2bJleOqpp6DValGrVi20bNkSffr0Qbt27Uy28eWXX6JHjx5YsmQJlixZAl9fXzRq1Ajt2rXD0KFDTb4PP//8M37++WezOp5++mm0bNnSZMzeqbxz+3dl+Awsfe+tld9nXbly5VzfW6VKFRw/ftxic2aYZMQSwzavXr1qMv7CCy9g9uzZmD9/PiZPngwvLy/cvHkTP/74Izw9PfHMM89Yc0hS5fc5KIqCypUrIzEx0eRzWLx4Mfr06YM5c+Zgzpw5CAoKQpMmTdCxY0cMHToUpUqVMq4bFRWF8ePHY/bs2Rg+fDgURUG1atXQokUL9OrVC48//riU5lyWW7du4Y033jAbr1GjBiZMmJDne+3NlSErueU1t/GkpCQAyPXnRXYVK1bEF198gcGDByM5ORnPP/88nnrqqXzfZ9h2YmJivusSycTmiKgIvP3221i7di1q1KiBGTNmoFGjRihVqhQ8PDwAAM2bN8eBAwdynVEqv/+BF8b/4PPapq37K+jxF5TMz+/bb7/Fe++9h7CwMMyfPx/NmzdH6dKljc/4GDRoEFasWCH1WBo2bAgASE9Px/Hjx/Hoo4/atZ0SJUpIqwnI+tyWLl2Kd955B5s2bcLvv/+O33//HfPmzcO8efPw+OOPY+3atcZmrmbNmjh79iy2bduGnTt3Yv/+/di3bx927tyJDz74APPnz8eQIUMAAH/99ZdxtsLsoqKizJqjgtRfWGR/1rbImb3y5cujd+/e+OGHH7Bq1SoMHz4c3333HdLS0jB06FBj860GrVq1QkxMDDZt2oQ9e/Zg//792Lp1KzZv3oxJkyZh7dq1aN++vXH9GTNm4LnnnsOGDRvw22+/4ffff8eCBQuwYMECNGrUCLt27YKPj49V+/7uu+/w22+/2VzzhAkTUKNGjXzXu3v3rsXMt2nTJt/mqKBya7hzGw8ICABg3R+BhBBYtmyZ8fXRo0eRkZEBd3f3PN9naMACAwPz3QeRTGyOiIqA4fk+q1atQr169cyWnzt3rqhLKlKudPyGX16+/vpri5c3Fcax1KtXD5UrV8alS5ewaNEiu5uj3JQrVw4AcPv2bSQnJ1v8a/DFixdN1s2uVq1aqFWrFt58800IIbBz504MGjQIGzZswOLFi02eZeXm5oZu3boZL2VMTk7GnDlzMGXKFDz77LN48skn4ePjg8mTJ7vks8AMn5/h87Qkr886JiYm1/cZlpUvX95s2csvv4wffvgBc+fOxZAhQ/DVV18BAMaOHWtt6VJZ8zlcunTJZF2DEiVKoE+fPsZLKW/evIn33nsP33zzDUaNGoXLly+brF+pUiW89NJLeOmllwAAhw4dwpAhQ3Do0CHMmjXLOM1+fn777TeLzUt+RowYYVVzVKlSJbv/qGJvrsqVK4eLFy8iJibG4iWKueUtNDQUAHDnzp18z2bPnDkTv/zyC2rWrImAgAAcOHAA48ePz/cBr7dv3wYAi5cJEhUm5zmfTOTCEhISAGRdXpDT1q1bcevWraIuqUjZe/yGM0uZmZmFV5yNDM9xsnQsJ0+exF9//WXxfQU5FkVRjPf5zJs3D3/++Wee62dmZuLgwYNWb798+fLGy+YsXZ4mhDCOG571k1et7du3x6BBgwAg18/DwM/PD5MnT0ZAQADu37+f6/OUnIGMPEZFRQHI/f7EY8eO4a+//oJGo0Hr1q3Nlt+5cwcbNmwwG7958ya2bNliso/sWrRogYYNG+LQoUN47733EBsbi0aNGuV6P1ZhM9S4atUqi5cvrl27FomJicbn9OQlJCQEs2bNAgDExsbmexlWo0aN8MILLwDIP5/ZLVy4ECJrIiubvix9P2SzN1eG/16+fLnF7eY2XqpUKYSHh0MIkec9avv27cN7770Hb29v/Pjjj1i1ahWCgoLw6aefYt26dbm+7/bt24iLi4O3t7fxHkCiosLmiKgIGH64f/HFFybjZ8+exXPPPeeIkoqUvcdv+Av4yZMnC684G1WvXh1A1s3shgklgKyHoQ4bNizXX5wLeixPP/00+vTpg4yMDHTs2BGLFi0ye0im4axN8+bNsXLlSpu2b7jX4cMPP8Tx48dNtjl16lT89ddfCAgIMLk/ZfHixThy5IjZtgyTVQAPm8j79+9jzpw5uHnzptn6+/btw507d6DVai2e9XAWhtrOnTtn98NDW7ZsiSZNmuDBgwd49tlncf/+feOyW7du4dlnnwWQNVFBeHi4xW28/vrrJvcVpaWl4cUXX8S9e/fQuHFjtGjRwuL7XnnlFQAwTsqQ21mjGjVqoEaNGvk24QXRt29fVKhQAf/++y9ee+01k383ly5dwuuvvw4AeOmll4yXrF6+fBnfffedxUu5DA1jYGCg8czn2rVrsXfvXpN/p0DWQ6kNjaSlP3Kokb25Gjt2LDQaDVauXGnWrKxZswarV6/OdZ+GP5QcOHDA4vKbN29i4MCB0Ol0mDt3LmrXro3w8HAsWrTIOMlLbmem9u/fbzyu/C6/I5KuqKbFI1Kzgj7naPXq1UJRFAFkPSNowIABol27dsLd3V20a9fO+EydnM/DMGwvt+dkGOq6dOmSxeXI5XkYecnrPZcuXcr1mRdC5D7Vsb3Hf/z4caHRaIRGoxEdOnQQI0eOFKNHjxbr1q2z6lgK8vnkdqy///67cHd3F/jveTP9+vUTXbp0ESVKlBC1a9cWTz75pMWsxMXFCR8fH+MzP0aMGCFGjx4tvv/+e6uORYisaXHHjh1r/CyDg4NFly5dxKBBg0T37t2NU99qtVqT6cmtmYJar9eLoUOHCiDrAZvt27cXAwcOFJGRkQKAKFGihPjll19M3tOrVy/jdMzdunUTgwcPNnmQap06dYzTsycmJhqn/q1fv77o06ePGDhwoGjWrJnxeCZOnGj1ZyHEw6m8fXx88p1OOfuU3flNq57X52WYqj0yMlIMHjxYjB49WowfP9643Jrp57M/rDM0NFT06dNH9OrVS/j5+Rmf/5LXQ2CbNGkivL29RY8ePUS/fv2MD+INDQ21+Pwfg7S0NFG6dGkBZD0kNLdnzBj+Xdj7nKOIiAjRpEmTXL8MDzLO/hDYihUriv79+4tu3brl+hDYY8eOCQDC3d1dNGrUSPTr10/069dPNGjQQABZz4PL/kBSwzN2SpUqJTp27CgGDx4sevbsaXxgdbly5UymtVaL3H5u2ZMrIYT46KOPjNts2rSpGDRokGjcuLEAIF5//XUBQFSrVs3sfYZHO/Tr189smU6nE506dRIAxPDhw82WG7bbuHFjs2dQCSHEyy+/LACIL7/80spPhUgeNkdEVihocySEEHv37hXt27cXpUqVEt7e3qJOnTpi2rRpIi0tLdcmyFWaIyHsO34hhFi7dq1o0aKF8PX1Nf4Sbe2zggqjORJCiL/++ks8/vjjokyZMsLLy0tUq1ZNvPXWWyI5OTnPX4737t0rOnToIAIDA40PV7T0i0N+Tp48KV555RVRv359ERAQINzc3ERgYKBo0qSJeOedd8Q///xjsr41zZHB8uXLRVRUlAgICBDu7u4iPDxcjBgxwuIv3Xv37hXjxo0TjRs3FmFhYcLDw0OEhYWJZs2aiS+++MLkQZQZGRniq6++EgMHDhQ1atQQ/v7+okSJEqJKlSriqaeeEr/++qvNn4O1zzkCIBITE43vK0hzdPnyZTFo0CBRpkwZ4ebmZpYRa5/Ndfv2bfH222+LmjVrCi8vL+Ht7S0aNGggZsyYIe7fv59nTXfv3hVvvvmmqFy5svDw8BClS5cWI0aMELGxsfl+Zv379xcAxNtvv53rOgVtjvL7yr7d2NhY8eKLL4qIiAjh4eEhfH19RbNmzcS8efPMHnicnJwsPvvsM/Hkk0+KatWqiZIlSwofHx9RvXp1MWzYMHH48GGT9Y8dOyYmTJggWrZsKcqVKyc8PDxESEiIaNiwofjoo4/ErVu3bDo+Z5HXzy1bc2WwZs0a0aJFC+Hj4yN8fX1Fy5Ytxc8//yz27t1rbMpzyszMFBUqVBBeXl5mTdeHH34oAIhatWpZfJZYenq6aNq0qQAgxo0bZ7asVKlSws/PT6SkpFjzkRBJpQhRSNNDERERkRS7d+9G27Zt0aZNG+Mli7a6c+cOypcvj9TUVFy6dCnXy/aIDD744ANMmjQJL730Ej7//HOz5R9//DHefPNNfP7558YJLwpq9erV6NOnD1599dV8J20gKgy854iIiKgYmD59Ou7du4d+/fqxMSKjc+fOWZzEYv369Zg+fToURbH4cGgg656wiIgIzJo1q0DPBTPQ6/WYMmUKgoKC8N577xV4e0T24FTeRERELmr//v34/vvvcenSJezcuRPe3t6YOnWqo8siJ7Js2TJ89NFHaNCgAcLDw5GRkYGzZ8/i7NmzAIDJkyfnOmOgp6cn5syZgyeeeAL/+9//LD7E1hbLly9HdHQ05s6di6CgoAJti8hebI6IiIhc1D///IP58+ejRIkSaNq0KWbOnImIiAhHl0VOpEuXLjh37hwOHjyI06dPIzU1FcHBwXj88cfxwgsvoEuXLnm+v1evXtIeej1kyBDjg6CJHMUp7zmaPHmy2UPZIiMj85xLn4iIiIiIqCCc9sxR7dq1sWPHDuNrNzenLZWIiIiIiFyA03Ycbm5uCAsLc3QZRERERERUTDhtc3Tu3DmULVsWXl5eaNasGaZPn44KFSpYXDctLQ1paWnG13q9HgkJCQgODoaiKEVVMhERERERORkhBFJSUlC2bFloNHlP1u2U9xxt3rwZd+/eRWRkJK5fv44pU6bg2rVr+Pvvv+Hr62u2vqV7lIiIiIiIiAyuXLmC8uXL57mOUzZHOd25cwcVK1bEnDlzMHr0aLPlOc8cJSUloUKFCrh48SICAgIAAIqiQKPRQK/Xm8yqYhjX6XQm28xtXKPRQFEUi+NA1lkra8a1Wi2EEBbHc9aY2ziPqWiOKTMzEydPnkTNmjWh1Wpd4phc8fukhmPS6XRmWVL7MVmqncdUNMeUnp6O06dPG/PkCsfkit8ntRxTZmamMU9ubm4ucUyu+H1SwzFlz5JWq3WKY0pOTkalSpVw584d+Pv7Iy9Oe1lddgEBAahevTrOnz9vcbmnpyc8PT0tvi8wMLCwyyMXp9Pp4Ovri8DAQOMvtET2YJZIJuaJZGKeSBZnzJKhDmtut8n7ojsncffuXVy4cAFlypSx6X35XVNIZA2NRoPIyEjmiQqMWSKZmCeSiXkiWdSeJaes+o033sCePXsQExOD/fv348knn4RWq8XAgQMdXRoVUx4eHo4ugVwEs0QyMU8kE/NEsqg5S07ZHF29ehUDBw5EZGQk+vXrh+DgYBw8eBAhISE2bSfntZBE9tDr9YiOjmaeqMCYJZKJeSKZmCeSRe1Zcsp7jlauXOnoEoiIiIiIqJhxyjNHRERERERERY3NEREREREREVTynCNbJScnw9/f36q5zInyY5jL3zCXPpG9mCWSiXkimZgnksUZs2ToDZKSkuDn55fnujxzRGSF9PR0R5dALoJZIpmYJ5KJeSJZ1Jwll26O1DpLBjkXvV6Ps2fPMk9UYMwSycQ8kUzME8mi9iy5dHNERERERERkLTZHREREREREYHNEZBWtVuvoEshFMEskE/NEMjFPJIuas+TSs9VZMyMFERERERG5Ls5W9x8X7PvIAYQQSE5OZp6owJglkol5IpmYJ5JF7Vly6eZIrbNkkHPR6/W4ePEi80QFxiyRTMwTycQ8kSxqz5JLN0dERERERETWYnNEREREREQENkdEVvHy8nJ0CeQimCWSiXkimZgnkkXNWeJsdURERERE5LI4W91/1HojGDkXvV6P27dvM09UYMwSycQ8kUzME8mi9iy5dHPkgifFyAGEELhy5QrzRAXGLJFMzBPJxDyRLGrPkks3R0RERERERNZic0RERERERAQ2R0RW8fX1dXQJ5CKYJZKJeSKZmCeSRc1Z4mx1RERERETksjhb3X/UOksGORe9Xo+4uDjmiQqMWSKZmCeSiXkiWdSeJZdujlzwpBg5gBACcXFxzBMVGLNEMjFPJBPzRLKoPUsu3RwRERERERFZi80RERERERERXLw5UhTF0SWQC1AUBUFBQcwTFRizRDIxTyQT80SyqD1LnK2OiIiIiIhcFmer+4/ZLBkXLwLbtgHffQdMnAj89ptjCiNV0ev1iI2NVe2sK+Q8mCWSiXkimZgnkkXtWXJzdAGFyeyk2MsvA5s2PXzt7g60bFm0RZHqCCGQkJCAcuXKOboUUjlmiWRinkgm5olkUXuWXPrMkZnwcNPXsbGOqYOIiIiIiJxO8WqOKlQwfX3limPqICIiIiIip+PSzZHZLBk8c0R2UBQFYWFhqp11hZwHs0QyMU8kE/NEsqg9Sy59z5FGk6P3s3TmSAhApd88KhoajQZhYWGOLoNcALNEMjFPJBPzRLKoPUsufeZIp9OZDuQ8c3T3LnDnTpHVQ+qk0+lw4cIF8zwR2YhZIpmYJ5KJeSJZ1J4ll26OzJQrZ36WiPcdkRVSUlIcXQK5CGaJZGKeSCbmiWRRc5aKV3Pk4QHkPM3H+46IiIiIiAjFrTkCOGMdERERERFZ5NLNkcVZMjhjHdlIURSEh4erdtYVch7MEsnEPJFMzBPJovYsFa/Z6gDzM0dsjigfGo0GwcHBji6DXACzRDIxTyQT80SyqD1LLn3myOIsGTnPHPGyOsqHTqfDmTNnVDvrCjkPZolkYp5IJuaJZFF7lly6ObKIZ47IDqmpqY4ugVwEs0QyMU8kE/NEsqg5S8WvOcp55ujaNUClnS0REREREclT/JqjnGeOMjOBuDjH1EJERERERE7DpZsjixMyhIRkPe8oO953RHnQaDSIiIiwnCciGzBLJBPzRDIxTySL2rOkzqqtZHEKQY2G03mTTRRFgZ+fn2qnpCTnwSyRTMwTycQ8kSxqz5JLN0e5zpLBGevIBjqdDtHR0aqddYWcB7NEMjFPJBPzRLKoPUsu3RzlijPWkY3U+g+cnA+zRDIxTyQT80SyqDlLxbM54pkjIiIiIiLKoXg2RzxzREREREREObh0c5TrLBk8c0Q20Gg0iIyMVO2sK+Q8mCWSiXkimZgnkkXtWVJn1QWV88xRfDyg4if5UuHzyDn9O5GdmCWSiXkimZgnkkXNWXLp5kiv11tekPPMEQBcvVq4xZBq6fV6REdH554nIisxSyQT80QyMU8ki9qz5NLNUa78/AB/f9Mx3ndERERERFSsFc/mCOB9R0REREREZKL4NkecsY6IiIiIiLJx6eYoz1kyeOaIrKTRaFC3bl3VzrpCzoNZIpmYJ5KJeSJZ1J4ldVYtA88ckQ3S09MdXQK5CGaJZGKeSCbmiWRRc5ZcujnKc5YMnjkiK+n1epw9e1a1s66Q82CWSCbmiWRinkgWtWfJpZujPFk6cySEY2ohIiIiIiKHK77NUc4zR3fvAklJjqmFiIiIiIgcrvg2R+XKAYpiOsb7jigXWq3W0SWQi2CWSCbmiWRinkgWNWdJEcL1riVLTk6Gv78/kpKS4Ofnl/uKZcoAcXEPX2/cCHTvXvgFEhERERFRkbC6N4CLnznKt+/jjHVkBSEEkpOT888TUT6YJZKJeSKZmCeSRe1ZcunmKN9ZMjhjHVlBr9fj4sWLqp11hZwHs0QyMU8kE/NEsqg9Sy7dHOWLZ46IiIiIiOg/xbs54pkjIiIiIiL6T/FujnjmiKzk5eXl6BLIRTBLJBPzRDIxTySLmrNUvGer+/NPoEmTh6/d3YEHDwAVTz9IREREREQPcba6/+R7I1jOM0cZGcCNG4VXEKmSXq/H7du3VXtjITkPZolkYp5IJuaJZFF7lly6Ocr3pFhoaNbZoux43xHlIITAlStXVDslJTkPZolkYp5IJuaJZFF7lly6OcqXRmM+KQPvOyIiIiIiKpaKd3MEcMY6IiIiIiICwOaIM9aRVXx9fR1dArkIZolkYp5IJuaJZFFzltwcXUBh0loz6xwvq6N8aLVaVKlSxdFlkAtglkgm5olkYp5IFrVnyaXPHFk1S0bOM0e8rI5y0Ov1iIuLU+2sK+Q8mCWSiXkimZgnkkXtWXLp5siqWTJ45ojyIYRAXFycamddIefBLJFMzBPJxDyRLGrPkks3R1bJeeYoPh5ITXVMLURERERE5DBsjnKeOQKAq1eLvg4iIiIiInIol26OFEXJfyV/f8DPz3SM9x1RNoqiICgoyLo8EeWBWSKZmCeSiXkiWdSeJZdujjQaKw+P9x1RHjQaDSpUqGB9nohywSyRTMwTycQ8kSxqz5I6q7aS1bNkcMY6yoNer0dsbKxqZ10h58EskUzME8nEPJEsas+SSzdHVs+SwTNHlAchBBISElQ76wo5D2aJZGKeSCbmiWRRe5acvjmaMWMGFEXBuHHjCm8nPHNERERERFTsOXVzdOjQIXz99deoV69e4e6IZ46IiIiIiIo9p22O7t69i8GDB+Pbb79FYGCgXduwepaMnGeOYmMBlZ4KJPkURUFYWJhqZ10h58EskUzME8nEPJEsas+Sm6MLyM2LL76I7t27o0OHDpg6dWqe66alpSEtLc34Ojk5GUDWNY86nQ5A1jdKo9FAr9ebXAOpKAo0Oc8c3b0LfWIiNEFBxvcbaDQaKIpicRwwnwQit3GtVgshhMXxnDXmNp7nMWk0ZjXmNs5jyvuYFEVBSEiISZ7Ufkyu+H1SwzFZypLaj8lS7TymojkmIYRJnlzhmFzx+6SmYzLkSa/Xu8wx5Vc7j6lwjin7zyZnOKacy/PilM3RypUrcfToURw6dMiq9adPn44pU6aYjf/999/w9fUFAAQFBaFChQq4evUqEhISjOuEhYUhrHx5s/cmnzyJgFatcO7cOaSmphrHIyIi4Ofnh1OnTpl80JGRkfDw8EB0dLTJdurWrYv09HScPXvWOKbValG3bl2kpKTg4sWLxnEvLy/UqFEDiYmJuJLtvidfX19UqVIF8fHxiIuLM47neUxhYYiJiUFKSopxPDw8HMHBwTwmG48pKSkJJ06cgK+vLxRFcYljcsXvkxqOSavV4uDBg8YsucIxueL3SS3HdPbsWdy6dcuYJ1c4Jlf8PqnlmG7fvo2UlBT4+vqiTJkyLnFMrvh9UsMxxcbGGrPk5+fnFMd09+5dWEsRTjaVxJUrV/DYY49h+/btxnuNoqKi8Mgjj+Czzz6z+B5LZ47Cw8Nx8+ZN4yV5+XWoIiwMyo0bxnH9+vXQPP44/5LAY0JmZiaio6NRu3ZtaLValzgmV/w+qeGYdDqdWZbUfkyWaucxFc0xpaen4+TJk8Y8ucIxueL3SS3HlJmZacyTm5ubSxyTK36f1HBM2bOk1Wqd4piSk5MRFBSEpKQk+Pn5IS9Od+boyJEjiI+Px6OPPmoc0+l02Lt3L/73v/8hLS3N+EuFgaenJzw9Pc22ZfiGZGf4sHJSKlQAsjVHmmvXjNuwRMa4oigWx3Or0dbxwqw9t3FXPSbDcWVfrvZjcsXvk7MfU25Zymt9Zz8mW8d5THKPyVKe1H5MhTXOY8p7PHueDOup/ZgKq0Zbx4vbMVn62eToY8ptuSVO1xy1b9/e7LTeyJEjUaNGDYwfP96mg7NJeDiQ/TI+zlhHRERERFSsOF1z5Ovrizp16piM+fj4IDg42Gw8P4Zr+q3CZx1RLhRFQXh4uG15IrKAWSKZmCeSiXkiWdSeJadrjmTK7VSdRXzWEeVCo9EgODjY0WWQC2CWSCbmiWRinkgWtWfJaZ9zlN3u3btznYwhL7ZM28czR5QbnU6HM2fO2JYnIguYJZKJeSKZmCeSRe1ZUkVzVCRynjm6cgXIyHBMLeR0sk8bSVQQzBLJxDyRTMwTyaLmLLE5Mqhe3fR1ZiZw8qRjaiEiIiIioiLH5sggMBCoXNl07OhRx9RCVESOHTuGqVOnmjxojYiIiKi4cunmyKYJGQCgYUPT10eOyCuGVEuj0SAiIsL2PDm5GzduoGfPnggLC4Ovr6+jyykWXDVL5BjME8nEPJEsas+SOqu2ks1TCGZ78CwAnjkiAFk58vPzK/CUlKmpqZg2bRq2bdsmqbKCOXLkCGbNmoWnn37a0aUUG7KyRAQwTyQX80SyqD1LLt0c2TxLRs7m6PjxrHuPqNi5f/8+bt26hVu3bqFChQro2rUrbt26VaBtvvrqq1ixYgWaNGkiqcqC6datGwYOHOjoMooVnU6H6Oho1c7gQ86FeSKZmCeSRe1ZcunmyGY5m6MHD4AzZxxTSzG3cOFCKIpi/PLy8kLZsmXRuXNnfP7554V+j8ysWbMQEhKCkJAQXLlyBVu2bMFjjz1m9/Z+/PFHrF+/Hr/88gv8/f0lVpo11b2iKPjpp59MxtPT09GjRw9oNBp8//33AMw/15xfBw8eNL7fMJbbmaV3333XuE5BG8fiRK3/syDnxDyRTMwTyaLmLLn0Q2BtFhKSNaV39mccHT0K1KnjuJqKuQ8++ACVK1dGRkYG4uLisHv3bowbNw5z5szB+vXrUa9evULZ77Bhw9CyZUsAwJAhQxAREYEZM2bYtS0hBK5evYrNmzejQs7naRWSjIwM9OnTB7/88gu+/fZbjBo1ymS54XPNqWrVqiavvby8sHr1anz55Zfw8PAwWbZixQp4eXmperpOIiIiouzYHOXUsKFpc3TkCDBsmOPqKea6du1qcsbm7bffxs6dO9GjRw/07NkTp0+fRokSJazaVkZGBoKCgvDvv//mOwFBREQEIiIiAGQ1CKVKlUKLFi3sOgZFUfDqq6/a9V57ZGRkoF+/fti4cSO+/vprjB492mydnJ9rbrp06YL169dj8+bN6NWrl3F8//79uHTpEp566imsXr1aav1EREREjuLSl9XZNUsGJ2Vweu3atcP777+Py5cvY+nSpcbxqKgoREVFma3ftm1bKIqCGzduQKfT4cGDBxa3K4TA1KlTUb58eXh7e6Nt27Y4+d+zrvz9/U3ydPHiRfTt2xdBQUHw9vZG06ZNsWnTJpPtpaenY+LEiWjYsCH8/f3h4+ODVq1aYdeuXSbrxcTEQFEUfPzxx/jmm29QpUoVeHp6olGjRjh06JBNn01mZiYGDBiAdevWYd68eXjmmWdsen9O5cqVQ+vWrbF8+XKT8WXLlqFu3bqow7OqNtFoNIiMjFTtDD7kXJgnkol5IlnUniV1Vl2Yck7nfewYoNc7phbK1dChQwHAqpnfSpUqBQAIDw9HZGQkQkJCLK43ceJEvP/++6hfvz5mz56NiIgIdOrUCffu3TP5B37jxg00b94cW7duxQsvvIBp06YhNTUVPXv2xNq1a43rJScn49tvv0VUVBRmzpyJSZMm4caNG+jcuTP++usvs/0vX74cs2fPxrPPPoupU6ciJiYGvXv3RkZGhlWfSWZmJgYOHIi1a9di7ty5ePbZZ3NdNykpyTjhhOHr9u3bFtcdNGgQNmzYgLt37xr38+OPP2LQoEFW1UWmcl6eSFQQzBPJxDyRLKrOknBBSUlJAoBISEiw/c3XrwsBmH6dPi2/SMrTggULBABx6NChXNfx9/cXDRo0ML5u06aNaNOmjdl6w4cPFxUrVhQxMTHiwYMHFrcVHx8vPDw8RPfu3YVerzeOv/POOwKAePzxx0VmZqYQQohx48YJAGLfvn3G9VJSUkTlypVFpUqVhE6nE0IIkZmZKVJTU032k5CQIEJCQsSoUaOMY5cuXRIARHBwsElm161bJwCIDRs25PoZCCHErl27BABRsWJFAUDMnTs313UNn6ulL09PT5N1AYgXX3xRJCQkCA8PD7FkyRIhhBCbNm0SiqKImJgYMWnSJAFA3Lx5M88aKUtmZqY4duyYMUtEBcE8kUzME8nijFky9AZJSUn5rsszRzmFhQFlypiO8dI6p1SyZEmbZq2rWLEivLy8LC7bsWMH0tPT8dJLL5nMyz9u3DizdX/55Rc0btzYOGGDoZYxY8YgJiYGp06dAgBotVp4enoa10lPT0eJEiXQvHlzHLWQqf79+yMwMND4ulWrVgCyLuGzxo0bN+Dm5mZxooWc5s6di+3bt5t8bd682eK6gYGB6NKlC1asWAEg6wxX8+bNUbFiRavqIiIiIlILNkeW5Ly07sgRx9RBebp7926+EytY6/LlywCAatWqmYyHhISYNCyGdSMjI822UbNmTZNtAcCqVavQtGlT+Pv7w9PTEyVKlMC6deuQlJRk9v6cM9kZ9puYmGjVMcyaNQsVKlRAnz598Pvvv+e5buPGjdGhQweTr7Zt2+a6/qBBg7B9+3bExsbi559/5iV1RERE5JLYHFnCSRmc3tWrV5GUlGQy9XRuT2J21Fz7K1euxIABA1C5cmUsXLgQv/32Gw4cOIBOnTpBb+E+Nq1Wa3E7Qgir9lemTBls374d/v7+6N69O44fP16g+rPr2bMnPD09MXz4cKSlpaFfv37Stk1ERETkLFy6ObJ7loycZ46OHuWkDE5myZIlAIDOnTsbxwIDA3Hnzh2zdbOfycmN4RKxc+fOmYzfvHkTiYmJCAwMNOapYsWKOHv2rNk2zvz3wGDDtlatWoWqVatixYoVePLJJ9GiRQs0bdq0UB9gGxERga1bt0Kj0aBz585mx2OvEiVK4IknnsDu3bvRsWNH4yQXZBuNRoO6deuqdgYfci7ME8nEPJEsas+SOqsubDnPHCUnA1be90GFb+fOnfjwww9RuXJlDB482DhepUoVnDlzBjdv3jSOHT9+PN9LzACgQ4cOcHd3xxdffGFypuazzz4DAJMzPd26dcOff/6JAwcOGMfu3buHb775BpUqVUKtWrUAZJ3J0uv1Ju/dv38/Dh48aPtB26Bu3brYtGkT7t69i44dO+LatWtStvvGG29g0qRJeP/996Vsr7hKT093dAnkQpgnkol5IlnUnCWXfgispUuXrFKuHBAaCsTHPxw7ehTIdgkXFY3NmzfjzJkzyMzMxI0bN7Bz505s374dFStWxPr1600mWBg1ahTmzJmDTp064emnn0Z8fDy++uor1KpVK9+zNSEhIXjjjTcwffp09OjRA926dcOxY8ewefNmlCpVCklJSdDr9dBqtZgwYQJWrFiBrl274uWXX0ZQUBAWLVqES5cuYfXq1ca/lHTv3h1r167Fk08+ie7du+PixYv4+uuvUbt27UI9ewQAzZo1w5o1a/D444+jY8eO2LdvH4KDg43LDZ9rTs2bNzc+/Dan+vXro379+oVWc3Gg1+tx9uxZ1K1bN9fLKImsxTyRTMwTyaL2LLl0c2Q3Rck6e7Rly8OxI0cA3mdR5CZOnAgga778oKAg1K1bF5999hlGjhxpNhlDzZo1sXjxYkycOBGvvfYaatWqhcWLF2PFihXYvXt3vvuaOnUqvLy88NVXX2HXrl1o0qQJtm3bhu7du5usV7p0aezfvx/jx4/HF198gdTUVNSrVw8bNmwwWXfUqFGIi4vDN998g23btqF27dpYsWIFVq5caVU9BdWpUycsWbIEAwcORNeuXfHrr78alxk+15wWLFiQa3NERERE5OoUYe3d3iqSnJwMf39/JCQkmM00ZrV33wU++ujh6w4dgO3b5RRIqqLT6RAdHa3av4CQ82CWSCbmiWRinkgWZ8ySoTdISkqCn59fnuvynqPcWJrO2/X6SJcVFRWFqKgoadtzln/cpH7MEsnEPJFMzBPJouYsuXRzVKBvTM5JGRITAStmPSPXo9VqneqvH6RezBLJxDyRTMwTyaL2LLl0c1SgKwYrVgSCgkzH+DBY1di2bRu2bdsmZVtCCCQnJxcsT0Rglkgu5olkYp5IFrVnyaWbI7tnqwMeTsqQHR8GqxoeHh7w8PCQsi29Xo+LFy8WLE9EYJZILuaJZGKeSBa1Z8nu2ep27dqFX3/9Fb///juuXr2KW7duwdvbGyEhIahbty7atGmDHj16ICwsTGa9RathQ2DHjoev2RwREREREbksm84c3bt3D9OnT0dERAQ6dOiAjz76CHv27MG1a9fg4+OD1NRU/P3331i2bBnGjBmDihUrok+fPlY9hNMp5TxzxEkZitysWbNQo0YN1f71gVzDli1bULJkSZMHDBMREZHrsbo5+uqrr1C1alW8++678PPzw4cffohff/0VSUlJuH//Pq5evYrbt28jIyMDZ86cwaJFi9CvXz9s27YNrVu3Ru/evXHp0qXCPBb5cjZHN28C1645ppZiKDk5GTNnzsT48eOND1YFAEVRjF8ajQZly5ZFp06dpD47aP369Xj00Ufh5eWFypUr49tvv0VmZqZV7502bRp69uyJ0qVLQ1EUTJ48WVpdMuzevRuKouCnn35ydCkFotfrsXDhQvTs2RPh4eHw8fFBnTp1MHXqVKSmplq1jY8++ghNmzZFSEgIvLy8UK1aNYwbN86sCerSpQuqVq2K6dOnF7ju7A8uJioo5olkYp5IFjVnyernHLm7u2PgwIF46623UKdOHat38ODBAyxbtgzTp0/H8OHDc334pEy2zGWeJyGAwEAgKenh2M8/A716FbhGyt9nn32GSZMm4caNGyb/yBRFQceOHTFs2DAIIXDp0iV8+eWXiI+Px6ZNm9C1a9cC7Xfz5s3o3r07oqKiMHDgQERHR2Pu3LkYM2YM5s2bl+/7FUVBWFgY6tevj61bt2LSpElO1SDt3r0bbdu2xY8//og+ffo4uhy73b17F76+vmjatCl69OiB0NBQHDhwAIsWLULr1q2xc+dOKIqS5zaeeuophISEoEaNGvD19cXp06fx7bffIjQ0FH/99Rd8fHyM686bNw9vvPEG4uLizB5ATERERM7Lpt5AWOns2bPWrmpRZmamuHjxYoG2Ya2kpCQBQCQmJhZ8Y1FRQmS1SVlfEycWfJtklXr16okhQ4aYjQMQL774osnYiRMnBADRqVOnAu+3Vq1aon79+iIjI0MIIYROpxOvvfaaUBRFnD59Ot/3X7p0SQghxM2bNwUAMWnSpALXdOXKFZGQkFDg7QghxK5duwQA8eOPP0rZnqOkpaWJ33//3Wx8ypQpAoDYvn27Xdv96aefBACxYsUKk/EbN24IrVYr5s+fb9d2hcjK0q1bt4ROp7N7G0QGzBPJxDyRLM6YJUNvkJSUlO+6Vl9WV716dXubNQBZc55Xrly5QNuwlZBxf5Clh8FSobt06RJOnDiBDh06WLV+3bp1UapUqQJfunnq1CmcOnUKY8aMgZtb1nwlQgh07twZQgirLkWrVKlSgWqwZMeOHShbtiwGDx6MXbt2Fcn0mBcvXkTfvn0RFBQEb29vNG3aFJs2bTJb74svvkDt2rXh7e2NwMBAPPbYY1i+fLlxeUpKCsaNG4dKlSrB09MToaGh6NixI44WcIITDw8PNG/e3Gz8ySefBACcPn3aru0avn937twxGQ8NDUW9evWwbt06u7YLZGXpypUrqp3elJwL80QyMU8ki9qzZPdsdR988AGioqLQunXrXNfZt28fdu3aVSSX0hUaTuftEPv37wcAPJrz889FYmIiEhMTUbVqVeNYUlISMjIy8n2vl5cXSpYsCQA4duwYAOCxxx4zWSc0NBTly5c3Li9qnTp1wksvvYQlS5Zg+fLliIiIwKhRozBixAiUK1dO+v5u3LiB5s2b4/79+3j55ZcRHByMRYsWoWfPnvjpp5+MDci3336Ll19+GX369MErr7yC1NRUnDhxAn/88QcGDRoEAHjuuefw008/YezYsahVqxZu376N3377DadPnzZ+f+/fv4/79+/nW5dWq0VgYGCe68TFxQEASpUqZdWxCiFw+/ZtZGZm4ty5c5gwYQK0Wi2ioqLM1m3YsCF+/vlnq7ZLREREKmTv6SlFUcSUKVPyXGfq1KlCo9HYuwu7GU6dSbkM6fRp08vqACH+/bfg26U8vffeewKASElJMVsGQIwePVrcvHlTxMfHiz/++EO0b99eABCffPKJcb02bdoIAPl+DR8+3Pie2bNnCwAiNjbWOJaZmSmOHTsmHnvsMdG0aVOrj0HmZXUGGRkZYt26deKJJ54Q7u7uQqvVim7duok1a9aI9PR0q7ZhzWV148aNEwDEvn37jGMpKSmicuXKolKlSsZT5b169RK1a9fOc3/+/v5ml0HmNGnSJKu+VxUrVsz3+Dp06CD8/Pysvqz2+vXrJvsoX768WLVqlcV1P/roIwFA3Lhxw6pt52TIUmZmpl3vJ8qOeSKZmCeSxRmzZMtldXafObJGeno6tFptYe6i8FWvDpQsCdy9+3Ds6FGge3fH1VQM3L59G25ubsYzOjnNnz8f8+fPN7728vLCa6+9hnHjxhnHPvnkEyQmJua7r7Jlyxr/+8GDBwAAT09Pk3V8fX3h5eWFlJQUWw5DOjc3N/Ts2RM9e/ZEfHw8lixZggULFqB3794IDQ3FsGHD8NFHH8Hd3b1A+/nll1/QuHFjtGzZ0jhWsmRJjBkzBm+//TZOnTqFOnXqICAgAFevXsWhQ4fQqFEji9sKCAjAH3/8gX///dfks85u2LBhJvvKTYkSJfJc/tFHH2HHjh348ssvERAQkO/2ACAoKAjbt29Hamoqjh07hjVr1uBu9n/v2RjOWt26dQuhoaFWbT8nTuZAMjFPJBPzRLKoOUsFao7ymgkqPT0d+/bts/sXCBmkNGYaDfDII8Bvvz0cY3PkcL169cLYsWOhKAp8fX1Ru3Ztk5nFgKxLoGxl+OU7LS3NOKbValGlShWkpaXl+8t5QaSnpyMhIcFkLCQkJNcch4aG4vXXX8czzzyD119/Hd999x0+/vhjvPvuu1Y3Brm5fPkymjRpYjZes2ZN4/I6depg/Pjx2LFjBxo3boyqVauiU6dOGDRoEFq0aGF8z6xZszB8+HCEh4ejYcOG6NatG4YNG4aIiAjjOhERESav7bFq1Sq89957GD16NJ5//nmr3+fh4WG8t61Hjx5o3749WrRogdDQUPTo0cNkXfHf9dP5zYKXG0OWiGRgnkgm5olkUXuWbGqOcv7y8umnn2LBggVm6+l0Oty6dQupqal45plnClZhAUh7cGjDhqbNESdlKHTBwcHIzMxESkqKxb8+lC9fPt/JGhISEpCenp7vvkqUKAF/f38AQJkyZQAA169fR3h4OICsHMXHx+P69eto3LixrYditf3796Nt27YmY5cuXbI4wYMQArt378b333+P1atXIzU1Fe3bt8fTTz9dsOnrbVSzZk2cPXsWGzduxJYtW7B69Wp8+eWXmDhxIqZMmQIA6NevH1q1aoW1a9di27ZtmD17NmbOnIk1a9YYp12/e/durmdrstNqtQgJCTEb3759O4YNG4bu3bvjq6++KtAxNW/eHGXKlMGyZcvMmiPDmUhr72fKyZCl0NBQk2d3EdmDeSKZmCeSRe1Zsqk50uv1xr+YKooCIYTFmSjc3d1Ru3ZttGvXDu+//76cSu1gqTa7cFKGIlejRg0AWc1BvXr17NpG7969sWfPnnzXGz58OBYuXAgAeOSRRwAAhw8fNjZCQgicOHECV69exZgxY+yqxRr169fH9u3bTcbCwsJMXsfExGDRokVYuHAhYmJiUL58ebz++usYPXq01FnyKlasiLNnz5qNnzlzxrjcwMfHB/3790f//v2Rnp6O3r17Y9q0aXj77beNz6cqU6YMXnjhBbzwwguIj4/Ho48+imnTphmbo48//tjYTOVXV0xMjMnYH3/8gSeffBKPPfYYfvjhB+MsgwWRmpqKpOzPN/vPpUuXUKpUKYsNmjWEEIiLi7P7/UTZMU8kE/NEsqg9Szb9FpH9lxKNRoNXX31V3TPRWSvn5VlXrgA3bwIq/aarQbNmzQBkNSn2Nkf23HNUu3Zt1KhRA9988w2effZZ4yVtP/74IxRFMXloalJSEq5fv44yZcoYzzwVRGBgYK5nw6Kjo/Hqq69i586dcHNzQ48ePTB37lx07ty5UO7r69atGz777DMcOHDA+L24d+8evvnmG1SqVAm1atUCkHVvWHBwsPF9Hh4eqFWrFjZv3oyMjAy4u7vj7t27Jp9PaGgoypYta3Lpor33HJ0+fRrdu3dHpUqVsHHjxjwvezxz5gy8vb1RoUIF4/EoigJvb2+T9VavXo3ExESzGQsB4MiRI8bPg4iIiFyP3X9ivXTpUoHva1CNyEigRAngv5v1AWRdWteli+NqcnERERGoU6cOduzYgVGjRtm1DXvuOQKA2bNno2fPnujUqRMGDBiA6OhofP/99xg9erTxnhsAWLt2LUaOHIkFCxZgxIgRxvElS5bg8uXLxqmp9+7di6lTpwIAhg4danLWxVpHjhzB1atXMXPmTAwfPlzKvXyrV682ngnKbvjw4ZgwYQJWrFiBrl274uWXX0ZQUBAWLVqES5cuYfXq1cbT5J06dUJYWBhatGiB0qVL4/Tp0/jf//6H7t27w9fXF3fu3EH58uXRp08f1K9fHyVLlsSOHTtw6NAhfPLJJ8Z92nPPUUpKCjp37ozExES8+eabZs9gqlKlikkjU7NmTbRp0wa7d+8GAJw7dw4dOnRA//79UaNGDWg0Ghw+fBhLly5FpUqV8Morr5hsLz4+HidOnMCLL75oU51ERESkIoU2Z54DGabrs3YqX6s0a2Y6nfdbb8nbNlk0Z84cUbJkSXH//n2TcQD5Tg1dUGvXrhWPPPKI8PT0FOXLlxcvvfSSSE1NNVlnwYIFAoBYsGCByXheU4jv2rXLrnru3r1r55GYM0zlnduXYfruCxcuiD59+oiAgADh5eUlGjduLDZu3Giyra+//lq0bt1aBAcHC09PT1GlShXx5ptvGqfKTEtLE2+++aaoX7++8PX1FT4+PqJ+/friyy+/LPBxXLp0yeop2oXIyk2bNm2Mr2/evCnGjBkjatSoIXx8fISHh4eoVq2aGDdunLh586bZ/ubNmye8vb1FcnKy3TXrdDpx+fJlp3pqOKkX80QyMU8kizNmyZapvBUhCnZjzoEDB7Bjxw78+++/JpfJGCiKYjLlclFITk6Gv78/kpKS5N2c/t57wLRpD1/Xrw/89ZecbZNFSUlJiIiIwKxZszB69GhHl0PFXIMGDRAVFYVPP/3U0aUQERGRDWzpDexujjIzMzFw4ECsWbMGQgjjBA3GDf/3WlEU6HQ6e3ZhN8MHkJiYKO/Sv337gNatTcf+/Rf4b3YzKhwzZ87EggULcOrUKYfNeKLX63H16lWUL19elbOuUMFt2bIFffr0wcWLFwt0SSOzRDIxTyQT80SyOGOWbGmO7K74k08+werVqzFy5EgcPnwYQgiMGzcOBw4cwMyZMxEQEIC+ffviwoUL9u6iwAp4UsxU06ZAzimlt22Tt32yaPz48Thz5oxD/3EJIZCQkCA3T6QqXbp0wd27dwt8rxezRDIxTyQT80SyqD1Ldv/GuWzZMtSpUwffffcdHv1vquuAgAA0adIEb775Jvbu3YuNGzdi69at0op1KHd3IOdMYq5ybEREREREZH9zdP78eURFRRlfK4qCjIwM4+vatWvj8ccfx7x58wAAH3zwAT788EMkJCTYX62jde5s+nr7dkDWg2aJiIiIiMih7G6OPDw8TJ4PUrJkScTHx5usU7FiRZw7dw4AMHnyZEyePBm3bt2yd5c2MzywVpqczdGtW3wgbDGgKArCwsLk54mKHWaJZGKeSCbmiWRRe5bsfs5ReHg4rly5Ynxdo0YN7N271zgJAwAcPHgQQUFBAIBdu3YBgPEBjEVB+n0qlSoB1asD//zzcGzrVsDCwyLJdWg0GoSFhTm6DHIBzBLJxDyRTMwTyaL2LNndPbRp08bYDAFA//79cfbsWfTo0QNz587FwIED8dtvv6HLfw9KbdOmDdq0aQMvLy85lVuhUGbJy3n2iPcduTydTocLFy4U+ayL5HqYJZKJeSKZmCeSRe1ZsvvM0ahRo6DT6XDt2jWUL18eL730Enbv3o2NGzdi8+bNAIDGjRtjxowZ0op1Cp07A1988fD1gQNAcjIg63lK5JRSUlIcXQK5CGaJZGKeSCbmiWRRc5bsbo4effRR42QLAODu7o7169fj8OHDuHDhAipWrIjGjRs7zfzm0kRFAR4eQHp61uvMTGDnTuCJJxxZFRERERERFZD0zuWxxx5D//790bRpU9drjADAxwdo2dJ0jJfW2ezWrVsYO3YsfvzxRzx48MDR5RARERERyW+OnEmhzZJh6b4jlT7oylEWLFiAuXPnol+/fggODsbgwYOxceNGpBvOyDkRRVEQHh6u2llXyHkwSyQT80QyMU8ki9qzpIgCPL721KlT+N///odDhw7hzp07Fm+8UhQFFy5cKFCRtkpOToa/vz+SkpLgVxj3Ap04AdSvbzr2zz9AtWry9+Wi6tWrh+joaONrNzc3ZGZmwt/fH7t27UKDBg0cWB0RERERuQpbegO7zxzt2bMHDRs2xFdffYXjx48jNTUVQgizL70DH5JaaLNk1K0LlCljOrZlS+HsywWdPXvWpDECgMzMTABAUlKSQzNjiU6nw5kzZ1Q76wo5D2aJZGKeSCbmiWRRe5bsbo4mTJiAzMxMfPfdd3jw4AGuXLmCS5cuWfxyOYoCdOpkOsb7jqy2cuVKaLVai8sqVaqERx99tIgryl9qaqqjSyAXwSyRTMwTycQ8kSxqzpLdzdHx48cxYMAAjBo1KtdfdF1azvuOdu0C0tIcU4uKCCGwdOlSi39N0Gq1GDp0qGqvUSUiIiIidbO7OfLx8UFoaKjMWtSlY8esM0gG9+8Dv//uuHpU4vjx4zh//rzFZTqdDgMGDCjiioiIiIiIstjdHHXr1g379u2TWYt0hTqVeKlSQMOGpmO8tC5feV1SV6tWLdSqVauIK8qfRqNBRESEa05NT0WKWSKZmCeSiXkiWdSeJburnj17Nu7cuYOXX34Z9+/fl1mTNIV+eZalKb0pV3ldUqfRaDB06FAHVJU/RVHg5+fHy/2owJglkol5IpmYJ5JF7Vmyeirvdu3amY3duXMHx48fh4+PD6pXr25xajxFUfDrr78WvFIbGKbrS0hIQGBgYOHtaN8+oHVr07Hr14GwsMLbp4odOHAAzZs3z3X5xYsXUbly5SKsyDo6nQ6nTp1CrVq1iuf9dSQNs0QyMU8kE/NEsjhjlmyZytvN2o3u3r0712V3797F0aNHLS5Ta9dolaZNAV9fICXl4di2bcCwYY6ryYmtWLHC+Dyj7BRFwaOPPuqUjZGBWqejJOfDLJFMzBPJxDyRLGrOktWX1en1eru+1Pzh5MvdHejQwXSMl9ZZpNPpsGLFCrPGyMBZL6kjIiIiouJDnXdKOZOc9x1t2wY42UNMncGePXtw69atXJf37du3CKshIiIiIjInrTm6ePEijh07hosXL8raZIEVySwZOZujW7eAY8cKf78qY7ikLieNRoOWLVuibNmyDqjKOhqNBpGRkaqddYWcB7NEMjFPJBPzRLKoPUsFqjopKQmvvPIKAgMDUa1aNTz22GOoVq0aAgMDMW7cOCQlJcmq03lVqgRUr246xkvrTKSnp+OHH36weEmdXq/HkCFDHFCVbTw8PBxdArkIZolkYp5IJuaJZFFzluxujuLj49G4cWN88cUXUBQFbdq0Qb9+/dCmTRsoioLPP/8cjRs3Rnx8vMx6baIvqsvbcp49WreuaParEtu3b0dycrLFZVqtFk899VQRV2QbvV6P6OjoossTuSxmiWRinkgm5olkUXuW7G6O3n77bZw7dw4TJkzAlStXsHPnTqxYsQI7d+7ElStXMH78eJw7dw7vvPOOzHqdU/fupq///BM4d84xtTih5cuXW7ykTqvVomPHjggODnZAVUREREREpuxujjZs2IB27drho48+go+Pj8kyHx8fTJ8+HVFRUVi/fn2Bi3R67dsDISGmY8uXO6YWJ3P//n2sXbvW4iV1Op0OgwYNckBVRERERETm7G6O7t27h6ZNm+a5TrNmzXD//n17d6Eebm7AgAGmY0uXAtY9X9elbdq0CQ8ePLC4zMPDA7169SriioiIiIiILLO7OapTpw5iYmLyXCcmJgZ16tSxdxcFVqSzZOScVOD8+azL64q55cuXW3w6slarRffu3fN9SrEz0Gg0qFu3rmpnXSHnwSyRTMwTycQ8kSxqz5LdVb/zzjv46aefsGPHDovLt23bhp9++gnvvvuu3cWpSqNGQNWqpmPLljmmFieRnJyMTZs2WXwQsNouqUtPT3d0CeQimCWSiXkimZgnkkXNWTK/S95KSUlJ6NSpEzp37oyOHTuiZcuWKF26NG7cuIF9+/Zhx44d6NGjBxITE7F48WKT9w4bNqzAhVujSGfJUJSss0eTJz8cW7kS+OQTwN296OpwIj///DMyMjIsLitRogS655zIwknp9XqcPXsWdevWtXgWjMhazBLJxDyRTMwTyaL2LNndHI0YMQKKokAIgW3btmHbtm1m62zYsAEbN240vhZCQFGUImuOitzgwabN0c2bwPbtQLduDivJkZYtWwatVmt25sjNzQ29e/dGiRIlHFQZEREREZE5u5ujBQsWyKzDNVStCjRpAvzxx8OxZcuKZXN069Yt/PrrrxYvqcvMzMTAgQMdUBURERERUe7sbo6GDx8usw7XMWSIaXO0di2QkgL4+jquJgdYvXq1xcYIAPz8/NCxY8cirqhg1HhamJwTs0QyMU8kE/NEsqg5S+qcRsJKDvnG9OsHZN/vgwfAzz8XfR0OtmzZMouzlLi5uaFfv37w8PBwQFX20Wq1qr1ulpwLs0QyMU8kE/NEsqg9Sy7dHAlHPGcoNBTo3Nl0rJjNWnft2jX89ttvFifEyMzMVNUsdUBWjpKTkx2TJ3IpzBLJxDyRTMwTyaL2LLl0c1Sks9Vll/OZR9u3A3FxjqnFAX788UcoimJxWalSpdC6desirqhg9Ho9Ll686Lg8kctglkgm5olkYp5IFrVnyaWbI4fp2RPw8Xn4Wq/Pmta7mFiyZInFvxa4ublh4MCBqj3NSkRERESujc1RYfDxAXr3Nh0rJpfWXbx4EUePHrXYHKnxkjoiIiIiKj7YHBWWnJfWHT4MnD3rmFqK0MqVKy1OxAAA5cuXR5MmTYq4Ijm8vLwcXQK5CGaJZGKeSCbmiWRRc5Zcujly6OVb7doBpUubjhWDs0dLly61eI2pVqvFkCFDcr0XyZlptVrUqFGDlwNSgTFLJBPzRDIxTySL2rNkd3N06tQpfP7557h586bF5fHx8fj8889x+vRpm7c9b9481KtXD35+fvDz80OzZs2wefNmm7fj0BvB3NyAnA86XboUUOnMHdY4efJkrt9vnU6HAQMGFHFFcuj1ety+fVu1NxaS82CWSCbmiWRinkgWtWfJ7uZoxowZmDlzJoKDgy0uDw4OxuzZszFr1iybt12+fHnMmDEDR44cweHDh9GuXTv06tULJ0+etGk7Dp9CcPBg09eXLgEHDjimliKwcuXKXP9KULVqVdSrV6+IK5JDCIErV644Pk+keswSycQ8kUzME8mi9izZ3Rzt27cP7du3z/X+Eq1Wi/bt22Pv3r02b/vxxx9Ht27dUK1aNVSvXh3Tpk1DyZIlcfDgQXvLdYyGDYHISNMxF720TgiBpUuXQqfTmS3TarUYOnSoKi+pIyIiIqLiw83eN8bFxSE8PDzPdcqVK4fr16/buwsAWZdj/fjjj7h37x6aNWtmcZ20tDSkpaUZXycnJxvfa/hlXVEUaDQa6PV6k07WMJ7zl/rcxjUaDRRFsTgOmF/Kpxk8GMrEicbXYtUq6GfPhtbbG0IIs/W1Wq1ZjbmNO+yYLIwfPnwYMTExsESn06Fv375m23f2YzLUKISAEMJkW2r9PmU/JlfJnpqOyVKW1H5MlmrnMRXdMWXPk6scU84aeUxFc0zZ8+Qqx+SK3yc1HFPOn03OcEyW/nifG7ubIx8fH8THx+e5Tnx8vN2zVURHR6NZs2ZITU1FyZIlsXbtWtSqVcviutOnT8eUKVPMxk+fPg1fX18AQFBQECpUqICrV68iISHBuE5YWBjCwsIQExODlJQU43h4eDiCg4Nx7tw5pKamGscjIiLg5+eHU6dOmXzQkZGR8PDwQHR0tEkNdQcMgDZbc6Tcvo1/P/0U4e++i5SUFFy8eNG4zMvLCzVq1EBiYiKuXLliHPf19UWVKlUQHx+PuGwPk3XYMdWti/T0dJzNNvvel19+CTc3N2RmZiKnunXrIjQ01GQ7ajgmrVaLunXr4u7du0hJScHJkyehKIqqv0+GY3Kl7KnpmLRarUmWXOGYXPH7pJZjOn/+vEmeXOGYXPH7pJZjun37tjFPZcqUcYljcsXvkxqOKTY21pglPz8/pzimu3fvwlqKsPOCwE6dOuHYsWM4d+4cAgICzJYnJiaiWrVqeOSRR7Bjxw6bt5+eno7Y2FgkJSXhp59+wnfffYc9e/ZYbJAsnTkKDw9HQkIC/Pz8ADi4627fHsquXcYx0aABlCNHICysr8a/JOj1eoSHh+PGjRvISaPRYMaMGXj99ddVdUzZayxuf/HhMfGYeEw8Jh4Tj4nHxGNypWNKTk5GUFAQkpKSjL1BbuxujtatW4cnn3wS9evXx//93/+hdevWxmV79uzBK6+8gujoaKxevRpPPPGEPbsw0aFDB1SpUgVff/11vusmJyfD398fiYmJFhu3Ird+PdCrl+nYnj1Ats9Mzfbt22fy/c/p8uXLqFChQhFWJJder0d8fDxCQ0ON/9iI7MEskUzME8nEPJEszpglQ29gTXNkd8W9evXCq6++iuPHj6Nt27bw9vZGREQEvL290a5dO5w4cQJvvPGGlMYIyPqgs58dsobTzJLRvTtQpYrp2KefOqaWQrBixQq4uZlfoakoCpo0aaLqxgjIylFcXJzz5IlUi1kimZgnkol5IlnUnqUCtXOffPIJ1q9fj86dO8PHxwdXr15FyZIl0bVrV2zatAkzZ860a7tvv/029u7di5iYGERHR+Ptt9/G7t27MTjn1NhqodUCL79sOrZuHZDtWk21yszMxMqVKy3eawQAQ4YMKeKKiIiIiIjsY/OEDPv27cPKlSvh5eWFXr16oUePHujRo4fUouLj4zFs2DBcv34d/v7+qFevHrZu3YqOHTtK3U+RGjkSeP994L+Z9CAE8MUXqj+DtHPnTiQmJua6vE+fPkVYDRERERGR/Ww+c3TlyhX4+Pjg7Nmz6NChA65evSq9qPnz5yMmJgZpaWmIj4/Hjh077GqMnOq5Or6+wOjRpmPz5z9sllQqt0vqNBoNoqKiEBYW5oCq5FIUBUFBQc6VJ1IlZolkYp5IJuaJZFF7luyekCEmJgYRERH4+++/c51i21FsuemqSF26BFStCmSf3eOzz4BXXnFYSQWRlpaGUqVK5To94nfffYfRORtCIiIiIqIiVCQTMlSpUgWKoqBu3brQarW5flk6q1BUck4x6HCVKwM5J6j4v/8DbHgwlTPZsmVLro2Rm5sbevfuXcQVFQ69Xo/Y2FjnyxOpDrNEMjFPJBPzRLKoPUtWNUe//fab2Vjp0qXRoEEDtG7d2uSrfv368Pb2hhAC9erVQ6tWraQXbS2nnCVj3DjT15cuARs2OKSUglq+fLnF5ler1aJz584IDAx0QFXyCSGQkJDgnHkiVWGWSCbmiWRinkgWtWfJqtM6nTp1wuLFi01urv/3339zXf/+/fuYMGECtmzZgu3btxe8SlfSsiXw6KPA0aMPxz77zPyMkpO7d+8e1q9fb3GWOp1Oh0GDBjmgKiIiIiIi+1l15mjo0KEYMGAAPrVyZjVvb298/vnn8Pf3x1tvvVWgAl2OopifPdqzBzh2zCHl2GvDhg1ITU21uMzT0xM9e/Ys4oqIiIiIiArGqubo66+/xuLFizFp0iR89913Vm+8VatW2Lhxo93FFZTTzpLRvz+Qcxa3//s/x9Rip2XLlkGr1ZqNu7m5oWfPnihZsqQDqiociqIgLCzMefNEqsEskUzME8nEPJEsas+S1RMyDBo0CIcPH4a/v7/VG79582auN+wXBY2mQM+4LTweHsCLL5qOrVgBxMU5ph4bJSYmYsuWLdBZmEgiMzPT5S6p02g0CAsLc948kWowSyQT80QyMU8ki9qzZFPV1atXR9++ffNdT6/XY8mSJVi1ahUeeeQRe2srMEu/vDuNZ58FPD0fvk5PB+bNc1w9Nli7dq3Fe40AwMfHB126dCniigqXTqfDhQsXnDtPpArMEsnEPJFMzBPJovYs2T3PdkREhMXxzMxMxMfHIyMjA+7u7pg+fbrdxbm0kBBgyJCsB8EazJsHvP024OXluLqssGzZMmg0GrMpGt3c3PDUU0/By8nrt0dKSoqjSyAXwSyRTMwTycQ8kSxqzpLd57v0ej2EEGZf7u7uqFOnDsaMGYMjR46gTZs2Mut1LTkf/nrzJrB4sWNqsVJ8fDx27dplce56V7ykjoiIiIiKD7vPHMXExEgso5iqWxdo3x749deHY1OnAsOHm15y50R+/PHHXJcFBASgXbt2RVgNEREREZE86rxTykqqmCVjwgTT11euAN9845harLBs2TKLn6ubmxv69+8Pd3d3B1RVuBRFQXh4uDryRE6NWSKZmCeSiXkiWdSeJUWo9fG1eUhOToa/vz+SkpLg5+fn6HLyJgTQtm3Ws44MSpcGLlwAfHwcV5cFV65cQYUKFXJdvmfPHrRu3boIKyIiIiIiypstvYFNl9WNGjXK5mIURcH87JMOFCFVzJKhKFmX0rVq9XDsxg1g7lzAyR6gu2rVKosTMQBA6dKl0bJlSwdUVfh0Oh3OnTuHatWqWXy2E5G1mCWSiXkimZgnkkXtWbKpOVq4cCEURYEtJ5sc2RypRsuWQJcuwJYtD8dmzsya7tuG50oVtqVLl1psjNzc3DB48GDVzmdvjdTUVEeXQC6CWSKZmCeSiXkiWdScJZsnZHBzc0O3bt0wfPhwlClTpjBqKp6mTjVtjhISgE8/BSZPdlhJ2Z07dw7Hjx+3uCwzMxMDBgwo4oqIiIiIiOSyqTmaO3cuvv/+e6xbtw6bNm1Cly5dMHr0aPTo0UOVp82cSsOGwJNPAmvXPhybMwd46SUgONhxdf1n5cqV0Gq1Fi9VrFChAh577DEHVEVEREREJI9N10E9//zzOHToEI4fP44XXngBBw8eRO/evVGuXDm8+eabOHXqVGHVaRfVXeb14YdZ9yAZpKQAs2Y5rp7/CCGwZMkSi42RVqvF0KFDVTsjiTU0Gg0iIiLUlydyOswSycQ8kUzME8mi9iwVaLa6jIwM/Pzzz/j++++xfft2CCHQuHFjjB49GoMGDYK3t7fMWq2mqtnqchoyBFi27OHrEiWyZq5z4CWMJ06cQP369XNdHh0djTp16hRhRURERERE1rGlNyhQS+fu7o6+ffti8+bNiI2NxYcffojY2Fg8++yz2LFjR0E2LYUqZqvLafJkIPslig8eANOnO6wc4OEldZbUqFHD5RsjnU6H6OhodeaJnAqzRDIxTyQT80SyqD1LUs53paenY9++fdizZw9u3LgBIQS8vLxkbLr4qVoVGDnSdOzrr4HYWIeUI4TA0qVLLQZco9FgyJAhDqiq6Kn1Hzg5H2aJZGKeSCbmiWRRc5YK1BwdO3YML730EsqWLYuBAwfixIkTeP3113H69Gl06tRJVo3Fz/vvAx4eD1+npwMffOCQUv78809cuXLF4jK9Xo/+/fsXcUVERERERIXD5uYoISEBn3/+ORo0aIDHHnsMX3/9NVq2bImff/4ZV69excyZMxEZGVkYtRYfFSpkPeMou4ULgXPniryUlStXws3NfFJDRVHQoEEDVK1atchrIiIiIiIqDDZNyNCvXz9s2LAB6enpiIyMxMiRIzFs2DCULl26MGu0meGmqzt37sDfiR6iapO4OCAiIuueI4P+/YGVK4usBJ1OhzJlyuDmzZtmyzQaDWbPno3XXnutyOpxFCEEUlNT4eXl5dKz8lHhY5ZIJuaJZGKeSBZnzJItEzLY1BxpNBq4u7uja9euaN68udUFvfXWW1avK4NLNEcAMH68+VTeu3cDbdoUye53796Ntm3bWlymKAquXLmCcuXKFUktjiSEgF6vh0ajcZp/5KROzBLJxDyRTMwTyeKMWSrU5sj4RkWBNW9VFKXIb8oyfAAJCQkIDAws0n1Ldft21gQNd+48HKtTBzh6FHB3L/TdjxkzBgsWLEBmZqbJuKIoaN68OX777bdCr8EZGGZdqVu3Lh92TAXCLJFMzBPJxDyRLM6YJVuaI/ObSfKwYMGCAhVGNgoOBqZOBcaOfTj299/A//4HvPpqoe46IyMDq1atMmuMDAYPHlyo+yciIiIiKmo2NUfDhw8vrDooN889B3z3HfDXXw/HJk0CBgwo1AfD7tixA8nJyRaXKYqCPn36FNq+iYiIiIgcQcpzjqgQabXA3LmmYykpQCHfx7V8+XKLs9RpNBq0a9cOISEhhbp/IiIiIqKiZvU9R/fu3YOPj0+BdiZjG9ZwmQkZshsxAli0yHRs716gVSvpu3rw4AFKlSqF+/fvW1y+YMECjBgxQvp+nZUz3lhI6sQskUzME8nEPJEszpglW+45svrMUeXKlTF79mzcu3fP5oIOHDiALl26YM6cOTa/l/4zcyaQs9F78UUgl3uCCuKXX37JtTFyc3PDk08+KX2fzi49Pd3RJZCLYJZIJuaJZGKeSBY1Z8nq5mjQoEF47733EBYWhuHDh2PDhg0Wn38DAJmZmThy5AhmzJiBunXromXLlrh27Rq6du0qrXBr6PX6It1foSpdGvjgA9Ox6Gjgyy+l72r58uUWZxfRarXo1q2b65yNs5Jer8fZs2ddK0/kEMwSycQ8kUzME8mi9ixZPSHDZ599hhdffBEffvghfvjhByxduhQAUK5cOZQuXRoBAQFITU1FQkICLl26hLS0NAghUKtWLXz77bcYMWKEyVTgZIcXXgDmzwdOnHg49v77WQ+HlfQg3pSUFGzcuNHi9Os6nY6z1BERERGRy7KpW6lWrRoWL16Ma9eu4f/+7//Qs2dPpKWl4ciRI/j111/x+++/4/z586hZsyZeeeUV7NmzB3///TdGjRrFxkgGN7esabyzS062a3KGixcvokuXLpg5cyYuX75sHF+3bl2up0K9vLzQvXt3m/dFRERERKQGNk3lbRAUFISxY8di7H/P38nIyMDt27dRokSJYnfJVZFr1QoYOhRYsuTh2OLFwJgxQIsWVm8mNjYWW7duxdatWzFhwgQ0atQIQ4YMwdq1a6HVas3OHLm5ueGJJ54okgk1nJGzPMSM1I9ZIpmYJ5KJeSJZ1Jwlq2erUxNbZqRQpbg4IDIy66yRQf36wOHDWWeXrBAbG4uKFSsaXxtmE8krDuvXr8fjjz9uX81ERERERA5QKLPVqZEL9n1ZwsKAKVNMx44fB2bMsHoT5cqVM3mOkRAiz8/L19cXnTp1srlUVyCEQHJysuvmiYoMs0QyMU8kE/NEsqg9Sy7dHKl1lgyrjB0L1KljOvbBB8Bff1n1dq1Wi3Llylm1rqIoePDgAQYNGoTVq1fjwYMHNharbnq9HhcvXnTtPFGRYJZIJuaJZGKeSBa1Z8mlmyOX5uYGfPcdkH2ii4wMYPhwwMq55atVq2bVekIIZGZmYt26dejTpw9KlSqFoUOH4tixY/ZUTkRERETklNgcqVmTJsCECaZjJ06YPw8pF1WrVoW7u7vVuzNM0nD//n0sXboUH374odXvJSIiIiJydmyO1G7iRKBePdOx6dOBP/7I960RERF2nfLUarWIjIzEvHnzbH6vWnl5eTm6BHIRzBLJxDyRTMwTyaLmLLl0c6TmaQSt5ukJLFpkOkudXp91eV0+9wZFRERYfNhrXrRaLWrUqIF9+/ahtKQHzzo7wzEXizxRoWKWSCbmiWRinkgWtWepUJqjtLQ0ZGRkFMambaLWG8Fs9sgjwKRJpmNnzwLvvZfn2ypXrmzTbrRaLWrXro29e/ciJCTExiLVS6/X4/bt28UnT1RomCWSiXkimZgnkkXtWbK7Odq7dy8mTpyIO3fuGMdu376Nrl27omTJkvD398eEnPfDFDG1TiFolwkTgMceMx379FNg375c3xIREWH15rVaLerXr489e/YgKCjI3ipVSQiBK1euFK88UaFglkgm5olkYp5IFrVnye7m6OOPP8by5csREBBgHHv99dexdetWVK5cGQEBAZg9ezZ++OEHGXVSftzcsi6v8/R8OCYEMGIEcPeuxbcEBATA19c3301rtVo0bNgQO3fuNPl+ExERERG5Erubo2PHjqFly5bG16mpqfjhhx/QqVMn/PPPPzh79iwqVKhQrG7ad7hatYBp00zHLl4E3nor17dUqlQpz01qtVo0adIEO3bsgL+/v4QiiYiIiIick93N0e3bt00eInrgwAGkpqZi5MiRAABfX1/06NEDZ8+eLXiVZL1x44AWLUzH5s0DtmyxuHpkZCQ0Gssx0Gg0aNGiBbZt22bVGSZXVtyPn+Rhlkgm5olkYp5IFjVnye7mqESJEkhJSTG+3rVrFxRFQZs2bYxjJUuWRGJiYsEqLAC1zpJRIFotsHAh4O1tOj50KHDtmtnqERERFj8njUaDqKgobN68GT4+PoVUrDpotVpUqVKleOaJpGKWSCbmiWRinkgWtWfJ7uaoatWq2LJlC9LS0pCeno6VK1eiVq1aCAsLM64TGxuL0NBQKYXaQ62zZBRY1arA7NmmY7duAQMGADlmEaxcuTIyMzNNxjQaDTp06IBNmzbBO2eTVQzp9XrExcUV3zyRNMwSycQ8kUzME8mi9izZ3Rw988wzOH/+PKpWrYqaNWviwoULxkvqDI4cOYJatWoVuEh7qXWWDCmefx7o1ct07LffzKb3joiIMPmcNBoNunbtivXr16v6AV4yCSEQFxdXvPNEUjBLJBPzRDIxTySL2rNkd3M0evRovPnmm3jw4AGSkpLw/PPPY9y4ccblBw4cwD///IP27dvLqJNspSjAggVAzgkXZs0CNmwwvsw+nbeiKOjZsyfWrFkDz+yz3hERERERFQNu9r5RURTMnDkTM2fOtLi8YcOGSExMLPb3qzhUYCDw449ZEzSkpz8cHz4cOHoUqFQJFSpUgKIoEELgqaeewvLly+Hu7u64momIiIiIHMTu5ig/Hh4e8PDwKKzNW0VRFIfu3yk89hgwZw4wduzDscREiL59sXfaNPx7+zZq1qyJhg0b4vvvv4ebW6FFQrUURUFQUBDzRAXGLJFMzBPJxDyRLGrPkt2X1UVHR+P7779HcnKycezBgwd4/vnnUa5cOVStWhVfffWVlCLtldsU1cXOCy8A/fqZDCmHD+N4584YNGgQTp06hV27dmH9+vUOKtC5aTQaVKhQgXmiAmOWSCbmiWRinkgWtWfJ7qqnTp2K999/32Qe83feeQdff/01UlJScOXKFbz44ovYvn27lELtodZZMqRTFODbb4Fq1UyGXwbQ57//vnbtGvr06YM1a9YUeXnOTq/XIzY2lnmiAmOWSCbmiWRinkgWtWfJ7ubozz//RNu2bY2nzDIzM7FgwQI0btwY8fHxuHTpEkJCQvB///d/0oq1lVpnySgUfn7QrVyJ1BzD8wFUxcPPaty4cdDpdEVdnVMTQiAhIYF5ogJjlkgm5olkYp5IFrVnye7m6ObNmwgPDze+PnToEJKTk/Hcc8/By8sLZcuWRa9evXD8+HEphVLB7UtOxos5xvwArAFQEllhvnLlCvbt21f0xREREREROZjdzZGbmxvS0tKMr3fv3g1FUdC2bVvjWHBwMG7dulWwCkma69ev43sAC3OM1wWwAg/DcP369aIsi4iIiIjIKdjdHFWqVAm7du0yvv7xxx9RuXJlVKxY0Th27do1BAcHF6zCAlDrLBmFpUyZMgCAFwH8nWNZDwAzc6xHWRRFQVhYGPNEBcYskUzME8nEPJEsas+S3c3R0KFDcfz4cTRp0gStW7fG8ePHMWjQIJN1Tpw4gWo5JgEoSmqdJaOwtGrVCuXLl8cDRUFPADnP6b0B4I3AQLRq1coB1TkvjUaDsLAw5okKjFkimZgnkol5IlnUniW7qx47diz69u2Lw4cP47fffkPXrl3xzjvvGJefPHkSx48fR7t27aQUag9OLGBKq9UaJ8iIURQ8CSA9xzozk5Oh5T1HJnQ6HS5cuMA8UYExSyQT80QyMU8ki9qzZHdz5OnpiVWrViExMRFJSUnYuHEjvLy8jMtLly6NY8eO4eWXX5ZSKMnRu3dv/PTTTyhXrhx+AzAmx3KNTgc89RRw/rwjynNaKSkpji6BXASzRDIxTyQT80SyqDlLBT7f5efnZ/KsI4NSpUqhfv368Pf3L+guSLLevXsjJiYGu3btQuflyxHbv7/pCgkJwOOPA3fuOKQ+IiIiIiJHcCvoBu7du4eff/4Zf/31F5KTk+Hn54dHHnkETzzxBHx8fGTUSIVAq9UiKioq60W/fsCDB8D69Q9XOHMma/yXXwC3AseEiIiIiMjpFei33tWrV2PMmDG4c+eOyYOeFEVBQEAAvv32W/Tu3bvARdpLrbNkFDmtFli2DGjRAjhx4uH49u3AuHHAF18AxfizVBQF4eHhzBMVGLNEMjFPJBPzRLKoPUuKsPPxtfv370ebNm2g1WoxfPhwtG3bFmXKlEFcXBx27dqFRYsWQafTYc+ePWjWrJnsuvOUnJwMf39/JCUlwc/Pr0j3rWqxsUDjxsCNG6bjM2YA48c7piYiIiIiogKwpTewuznq0aMHdu/ejd9//x3169c3W37ixAk0b94cbdu2xYYNG+zZhd0MH0BCQgICAwOLdN+qd/AgEBUFZHvALwDgu++A0aMdUpKj6XQ6nDt3DtWqVYNWq3V0OaRizBLJxDyRTMwTyeKMWbKlObJ7QoYDBw6gf//+FhsjAKhXrx769euH/fv327sLcoSmTYEFC8zHx4wB1q4t+nqcRGpqqqNLIBfBLJFMzBPJxDyRLGrOkt3N0f3791G6dOk81yldujTu379v7y7IUQYOBObMMR3T67PGd+1yTE1ERERERIXM7uaoUqVK2L59e57r/Prrr6hUqZK9uyBHevVV4O23TcfS0oBevYCjRx1TExERERFRIbK7OerXrx+OHDmC4cOH499//zVZdv36dYwYMQJHjhxB/5zP0ClCGk2BH+NUvE2bBjzzjOlYSgrQpQvwzz+OqckBNBoNIiIimCcqMGaJZGKeSCbmiWRRe5bsnpDh/v37aNu2LQ4dOgQPDw9UrVoVpUuXxo0bN3D+/Hmkp6ejcePG2LVrF0qUKCG77jxxtjqJdLqs5x2tWWM6XrEi8PvvQLlyjqmLiIiIiMgKRTIhg7e3N/bu3YvJkyejfPnyOHXqFHbt2oVTp06hfPnymDJlCvbs2VPkjVF2Op3OYft2GYZnILVtazp++TLQuTOQkOCYuoqQTqdDdHQ080QFxiyRTMwTycQ8kSxqz1KBznd5enpi4sSJOH/+PJKSknDlyhUkJSXh/PnzeP/99+Hp6SmrTnIkLy/g55+BRx81HT95EujUCUhMdEhZRUmt/8DJ+TBLJBPzRDIxTySLmrMk7WJAX19flCtXDr6+vsaxkSNHws3NTdYuyJH8/IDNm4Hq1U3HjxwBOnYsFg0SEREREbm2Qr9Tys5bmsgZhYYC27aZ32d05EjWGaQ7dxxSFhERERGRDOqcRsJKap0lw6lVrJj1rKOyZU3HDx/OOoPkgg2SRqNBZGQk80QFxiyRTMwTycQ8kSxqz5I6qybHqlYN2L27WDVIHh4eji6BXASzRDIxTyQT80SyqDlLLt0c6fV6R5fguqpVy/0MkotdYqfX6xEdHc08UYExSyQT80QyMU8ki9qz5NLNERWy6tWzGqQyZUzHDx3KmubbhRokIiIiInJ9bI6oYKpXz7rELmeD9OefWZfY3brlkLKIiIiIiGxl0zzb3t7eNm08IyPDpvVJpQwNUlQUcP36w/HDh4HWrbNmuCtf3lHVERERERFZRRE2zLVdqVIlKIpi804uXbpk0/rTp0/HmjVrcObMGZQoUQLNmzfHzJkzERkZadX7k5OT4e/vjzt37sDf39/meslOZ88CbduaNkgAUKECsH27+TOSVEIIAb1eD41GY1f+iQyYJZKJeSKZmCeSxRmzZOgNkpKS4Ofnl+e6NjVHRaVLly4YMGAAGjVqhMzMTLzzzjv4+++/cerUKfj4+OT7fjZHDvTPP1mX08XGmo6HhABbtwINGjimrgIQQiA1NRVeXl5O84+c1IlZIpmYJ5KJeSJZnDFLqm+Ocrp58yZCQ0OxZ88etG7d2mx5Wloa0tLSjK+Tk5MRHh6OmzdvIjAwEACgKAo0Gg30er3Jg2kN4zqdzmSbuY0bumBL44D5DHm5jWu1WmNnnXM8Z425jTvtMV2+DE3XrlDOnDFZLvz8oF+3DmjVSlXHlJmZiejoaNSuXRtarTbX2tV0TC6bPSc/Jp1OZ5YltR+Tpdp5TEVzTOnp6Th58qQxT65wTK74fVLLMWVmZhrz5Obm5hLH5IrfJzUcU/YsabVapzim5ORkBAUFWdUc2XTPkaMkJSUBAIKCgiwunz59OqZMmWI2fvr0afj6+hrfW6FCBVy9ehUJCQnGdcLCwhAWFoaYmBikpKQYx8PDwxEcHIxz584hNTXVOB4REQE/Pz+cOnXK5BsRGRkJDw8PREdHm9RQt25dpKen4+zZs8YxrVaLunXrIiUlBRcvXjSOe3l5oUaNGkhMTMSVK1eM476+vqhSpQri4+MRFxdnHHfaY7pzB9ovv0SVsWPhfeqUcR0lORlKly6ImT0bols31RzT3bt3kZCQgJMnT0JRFNf5Prli9pz8mLRarUmWXOGYXPH7pJZjOn/+vEmeXOGYXPH7pJZjun37tjFPZcqUcYljcsXvkxqOKTY21pglPz8/pzimu3fvwlpOf+ZIr9ejZ8+euHPnDn777TeL6/DMkZMeU0oKNE8+CWX3bpP1hFYLsWABNEOHquKYeOaIx8QzR8Xr+6SWY+KZIx4TzxwVv++TGo6JZ44K2Ysvvoi///4718YIADw9PeHp6Wk2bviGZGf4sCytW9TjiqJYHM+tRlvHHX5MAQHA5s3AgAHAunUP19HpoAwbBly/Ds2bbwIW6ne2Y3JzczPLk8t8n6yokcdUuFnKa31nPyZbx3lMco/JUp7UfkyFNc5jyns8e54M66n9mAqrRlvHi9sxWfrZ5Ohjym25JU595mjs2LFYt24d9u7di8qVK1v9PltuuqIikJkJPPMMsHCh+bIxY4C5cwE3p+/TiYiIiEiFbOkNnPIhsEIIjB07FmvXrsXOnTttaoxyboecgJsbMH8+8Oqr5su++Qbo0QNITi76uqwkhEBycjLzRAXGLJFMzBPJxDyRLGrPklM2Ry+++CKWLl2K5cuXw9fXF3FxcYiLi8ODBw9s2k7OayHJgTQa4JNPgNmzzZdt3Qq0bAlkuynRmej1ely8eJF5ogJjlkgm5olkYp5IFrVnySmbo3nz5iEpKQlRUVEoU6aM8WvVqlWOLo0KQlGAN94AfvwR8PIyXRYdDTRtChw75pjaiIiIiKjYs/pGj9j/HupZrlw5aLVa42trVKhQwez9eVHraTiyUp8+QPnyQM+ewM2bD8f//TfrGUirVgHduzuuPiIiIiIqlqxujipVqgRFUXD69GlUr17d+Do/iqIgMzMTlSpVgkajwalTp1C9evUCFU0uoGlT4OBBoFs3INv8+bh3L6tpmjMHePnlrLNNTsAr55kuIjsxSyQT80QyMU8ki5qzZHVzNGzYMCiKAn9/f5PX9r6/KNgybR85QEQEsH8/0Ls3sGfPw3G9Hhg3LusSu6++Mr8Er4hptVrUqFHDoTWQa2CWSCbmiWRinkgWtWfJqafytpdhur7ExEQEBAQ4uhzKT1oa8PTTwNKl5ssaNwbWrAHKlSv6uv6j1+uRmJiIwMDAXOfjJ7IGs0QyMU8kE/NEsjhjlopkKu/Fixdj69at9r69SLhg3+eaPD2BxYuByZPNl/35J9CwYdYZJgcRQuDKlSvMExUYs0QyMU8kE/NEsqg9S3Y3R6NHj8aWLVtk1kLFmaIAkyYBq1cDPj6my27cAKKigG+/dUhpRERERFQ82N0clSlTBpmZmTJrIcq6/+jgwaz7kbLLyADGjAFeeAFIT3dMbURERETk0uxujnr27Int27cjLS1NZj1EQJ06wKFDQKdO5svmzQPatweuXSvSknx9fYt0f+S6mCWSiXkimZgnkkXNWbJ7QoakpCS0a9cOYWFhmDVrFmrXri27NrvZctMVObHMTODtt4GPPzZfFhICLFsGdOxY9HURERERkWrY0hvY3RxFREQgLS0NcXFxALLmMw8NDTWb3ltRFFy4cMGeXdiNs9W5mGXLsmazS001HVcUYOJE4P33gUKctl2v1yM+Ph6hoaFOM+sKqROzRDIxTyQT80SyOGOWimS2Or1eDw8PD1SoUAEVKlRAaGgogKwZKrJ/6fV6e3dRYGqdJYNyGDwY+P13oFIl03EhgClTgC5dgPj4Qtu9EAJxcXHMExUYs0QyMU8kE/NEsqg9S1Y/BDanmJgYiWUQ5ePRR4GjR4Hhw4ENG0yX7dgBNGgArFwJtGrlmPqIiIiISPWc41wXkTUCA4F164BZs8wvo/v3X6Bt26xlDjxbSURERETqZXdzFBERgc8//zzPdebOnYuInFMyF6Gc9z+RC1AU4M03gd27gbJlTZfpdMD48UDXrsD16xJ3qSAoKIh5ogJjlkgm5olkYp5IFrVnye7mKCYmBnfu3MlznTt37uDy5cv27qLAnOUmMCoELVsCx44BHTqYL9u2DahXz/zyOztpNBpUqFCBeaICY5ZIJuaJZGKeSBa1Z6lQq05KSoKnp2dh7iJPjpwMgopAaCiwZUvWpAw5/zpx6xbQsyfw4ovAgwcF2o1er0dsbCzzRAXGLJFMzBPJxDyRLGrPkk0TMuzdu9fkdUxMjNkYAOh0Oly5cgXLli1D9erVC1ZhAah1lgyygVabNZ13y5bA0KFZ9x5l9+WXWZfgrViRdTbJDkIIJCQkoFy5cgWvl4o1ZolkYp5IJuaJZFF7lmxqjqKioozXDyqKgkWLFmHRokUW1xVCQFEUzJgxo+BVEuWnXTvgxAngmWeAtWtNl506BTRqBMycCbz8MqDS07xEREREVLhsao4mTpwIRVEghMAHH3yANm3aICoqymw9rVaLoKAgtG3bFjVr1pRVK1HegoOB1auB774Dxo0D7t9/uCw9HXj1VWDTJmD+fKBCBYeVSURERETOSRF2XnvWtm1bjBw5EsOGDZNdU4EZnoKbmJiIgIAAR5dDjnD2LDBwYNakDTn5+QGffQaMGGF+r5IFzvikZ1InZolkYp5IJuaJZHHGLBl6g6SkJPj5+eW5rt3NkTOz5QMgF5aWBrz3HvDxx5aX9+gBfPMNUKZM0dZFREREREXGlt7AOdq5QqLT6RxdAjmSpycwezawfTtQvrz58o0bgdq1geXLgTz+RqDT6XDhwgXmiQqMWSKZmCeSiXkiWdSeJZdujogAZD0LKToaGD7cfFliIjB4MNC3LxAfn+smUlJSCrFAKk6YJZKJeSKZmCeSRc1ZYnNExUNAALBwIbBuHVC6tPny1auzziItW5bnWSQiIiIicl1sjqh46dkTOHkS6N/ffNmtW8CQIUD37sDly0VfGxERERE5lEs3R4oVM5FRMRQcDKxcCaxalfXfOW3enHUW6YsvAJ0OiqIgPDyceaICY5ZIJuaJZGKeSBa1Z4mz1VHxduMG8Pzz5g+ONWjaNOu5SbVrF21dRERERCQFZ6v7j1pnyaAiVLo0sGZN1j1HYWHmyw8ehGjQALfGjoUu+0Nlieyg0+lw5swZ/mwiKZgnkol5IlnUniW3grxZp9Phhx9+wI4dO/Dvv/8iLS3NbB1FUfDrr78WZDdEha93b6BdO+Ctt4BvvzVZpGRkoNTcuRDbtgFffpk1+x2RnVJTUx1dArkQ5olkYp5IFjVnyarm6Nq1ayhXrpzJ2L1799CpUyccPHgQQggoioLsV+gZXqv1ekMqhgICsh4KO3AgMGYMcP68yWLl3DmgY8esyRzmzAHKlnVMnURERERUKKy6rK5Zs2Y4deqUydjUqVNx4MABTJ8+HadPn4YQAps3b8bly5exYMEClC9fHgMHDkR6enqhFE5UaNq2BU6cAMaPB7Ra8+WrVgE1agD/939AZmbR10dEREREhcKq5igkJAQtW7bE3r17jWNr1qxBs2bN8NZbbyEgIADAw9kphg8fjoMHD2Lr1q2YNWtWoRRuDY3GpW+posJUogQwYwZw+DBEkybmy1NSgHHjgEaNgIMHi7w8UieNRoOIiAj+bCIpmCeSiXkiWdSeJauqPnDgAPr164fOnTtj+/btAIDY2Fg0+e+XRu1/f13Pfs9RmTJl0KdPHyxatEh2zVbjJX1UYI88AmX/fuDrr4HAQPPlf/0FNGsGPP00EB9f5OWRuiiKAj8/P/5sIimYJ5KJeSJZ1J4lq5ojDw8PfPXVV/j+++/x999/AwB8fHyMHaGvry8URcG1a9dM3ufn54fY2FjJJVtPrbNkkHPRCYHoZs2gO3UKGDHC8krz5wPVqmXdi8RLSSkXOp0O0dHR/NlEUjBPJBPzRLKoPUs2ne8aOHAgXn31VQBAxYoVjY2Pp6cnqlWrhnXr1hnX1ev12Lp1K8qUKSOxXCLH0Ol0QEgIsGABsHcvUKeO+UrJycDrrwP16gFbthR9kaQKav2fBTkn5olkYp5IFjVnye6LAdu3b4/du3cbD37EiBHYunUr2rVrh/Hjx6Np06b4+++/0adPH2nFEjmFVq2Ao0eBjz8GfHzMl589C3TtCvTsaTbjHRERERE5L7ubo2eeeQavv/46bt++DQB44403MHToUOzevRuzZ8/G4cOH0a9fP0yePFlWrUTOw9096yzRP/8AQ4daXmfDBqBWraxZ75KSirY+IiIiIrKZIrI/nEiCuLg4XL58GZUrV0ZoaKjMTVstOTkZ/v7+uHPnDvz9/R1SA7kOIQRSU1Ph5eWV+82FBw4AL78MHD5seXmpUsDkyVnPT3J3L7RayblZlSUiKzFPJBPzRLI4Y5YMvUFSUhL8/PzyXFf6HHthYWFo0qSJwxojosLg4eGR9wrNmgF//AF8/z1gKfu3bgFjxwJ16wLr1wNy/yZBKpJvlohswDyRTMwTyaLmLKlzAnIr6fV6R5dALkCv1yM6Ojr/PGk0wMiRWZfavf464OZmvs7Zs0CvXkC7dsCRI4VTMDktq7NEZAXmiWRinkgWtWfJwm9vlrVr1w6KomDRokUoX7482rVrZ9X7FEXBr7/+aneBRKrj7581WcOYMVn3G/38s/k6u3cDjz0GDBkCTJ0KVKxY1FUSERERUQ5WN0e7d++Goii4f/++8bU1nOVaQ6IiV706sHYtsGcP8MYblu9HWroU+OEH4PnngXffzZounIiIiIgcwurL6vR6PXQ6HapXr258bc2Xmuc5J5KiTZus+5GWLQMqVDBfnp4O/N//ARERwJQpQEpK0ddIRERERPJnq3MGnK2OZBJCQK/XQ6PRFPxMaGpqViP00UdZD421JCQEeO894NlnAU/Pgu2PnIrULFGxxzyRTMwTyeKMWXLobHVErig9PV3Ohry8su5DOn8eeOUVy9N637yZtSwyEli0CMjMlLNvcgrSskQE5onkYp5IFjVnyeYzR9evX8eDBw9QqVIlaDRZvdWePXuwZ88es3UfeeQR9OzZU06lNjB0hwkJCQgMDCzy/ZNr0el0iI6ORt26daHVauVuPCYGmDQJWLIk9+m9q1fPekZSv36A7P1TkSrULFGxwzyRTMwTyeKMWbLlzJHVEzIAwK1btxAZGYlmzZph69atxvHdu3djypQpZuv7+vriwoULKFWqlC27ISo+KlXKOjv05pvAO+8AGzaYr/PPP8CgQcC0aVlNUu/eWdOGExEREZFUNv2GtXjxYty7dw8zZ840W6YoClasWGH8+vLLL5GSkoIlS5ZIK5bIZdWpk/Vw2N9+A1q2tLzOyZNA377Ao4/yQbJERA6k1+vxySefYMuWLY4uhYgks6k52rJlC2rXro1HHnnE4vL+/fsbv5577jk0btwYv/zyi4w6iRyqyE4Lt2gB7N0LbNqU1QRZcvx41oNkGzcGNm5kk6QyznKJAbkG5skxJk+ejGXLlqFZs2aOLkUq5olkUXOWbGqOoqOjbfpBUK9ePZw8edLmomRR8zeGnIdWqy3a62YVBejWLeu5SGvXAnXrWl7v8GHg8ceBhg2z1lPpk6iLkyLPErk05qno7N+/HyVLlkTp0qVx4cIFuLu7Y8uWLS41Iy7zRLKoPUs2NUcJCQkIDQ01G4+KisLEiRPNxkNDQ5GQkGB/dQXkgrOUkwMIIZCcnFz0eVIU4IkngL/+AlatAmrWtLzesWNZ9yE98kjWA2X5bDGn5bAskUtinorG/fv3MWLECCxcuBBDhgzB+PHj8f7771v8fUjNmCeSRe1Zsqk58vLywr1798zG27Rpg0mTJpmN379/H54OfE6Lnn9JJwn0ej0uXrzouDxpNFkz1UVHA0uXAlWrWl4vOhro3z/rTNOyZZwC3Ak5PEvkUlw5T6mpqZg2bRq2bdvm6FJw6tQpvPvuu+jTpw9mzpyJRo0aIS4uztFlSefKeaKipfYs2dQclS9fHidOnLB6/ePHj6N8+fI2F0VEFmi1wODBwOnTwOLFWVN8W3L6NDBkCFCjBvD111kPniUiKiT379/HrVu3cOvWLVSoUAEDBw5EYmJigbb56quvYsWKFWjSpImkKu332GOPYfjw4QAANzc3jB8/HmFhYQ6uiogKi03NUatWrbB3715cunQp33UvXLiAvXv3onXr1nYXR0QWuLkBQ4cCp04BK1YAtWpZXu/CBeC554CICODjj4GUlKKtk4iKxKJFi6AoivHLy8sLZcuWRefOnfH5558jpZD/7c+aNQshISEICQnBlStXsHLlSjRo0MDu7f34449Yv349fvnlF6n39FSqVMnkc8rta+HChcb33Lt3Dx9++CHq1asHb29v+Pv7o1WrVli8eLHJJUMjRoywatsjRoyQdjxEVDhses7R888/j2+++Qb9+/fHli1bEBQUZHG9hIQEDBw4EHq9Hs8995yUQokcycvLy9ElmNNqgQEDsi65W7MG+PBDwNKZ3evXs56j9NFHwNixwMsvA3z2mMM4ZZZItbLn6YMPPkDlypWRkZGBuLg47N69G+PGjcOcOXOwfv161KtXr1BqGDZsGFr+9wiCIUOGoH79+hbvQ7aGEAJXr17F5s2bUaFCBZll4rPPPsPdu3eNr3/55ResWLECn376qcnzGJs3bw4AuHHjBtq3b4/Tp09jwIABGDt2LFJTU7F69WoMHz4cv/zyC5YtWwatVotnn30WHTp0MG7j0qVLmDhxIsaMGYNWrVoZx6tUqSL1mGTjzyeSRdVZEjZ6/fXXhaIoonTp0mLSpEli165d4uzZs+Ls2bNi165dYuLEiSIsLEwoiiLeeOMNWzcvRVJSkgAgkpKSHLJ/IofQ6YT4+WchHntMiKwJvi1/lSghxEsvCXHxoqMrJiIJFixYIACIQ4cOmS379ddfRYkSJUTFihXF/fv3rd5menq6KFmypEhOTraplooVK4rhw4fb9B5HmT17tgAgLl26ZHF5586dhUajEevWrTNb9sYbbwgAYsaMGRbfe+jQIQFALFiwQGLFRGQvW3oDmy6rA4DZs2dj/PjxuH37Nj788EO0b98eNWvWRM2aNdG+fXt8+OGHuHnzJiZMmIBZs2bJ7eRspNYbwci56PV63L592/nzpNFkPf/ozz+B7duBdu0sr/fgAfDFF1kTOwwYkDUlOBUJ1WSJVMGaPLVr1w7vv/8+Ll++jKVLlxrHo6KiEBUVZbZ+27ZtoSgKbty4AZ1OhwcPHljcrhACU6dORfny5eHt7Y22bdvm+uiOixcvom/fvggKCoK3tzeaNm2KTZs2mayTnp6OiRMnomHDhvD394ePjw9atWqFXbt2mawXExMDRVHw8ccf45tvvkGVKlXg6emJRo0a4dChQ7l+DrY6ePAgtm7dihEjRqBnz55my6dPn45q1aph5syZuX5GasOfTySL2rNkc3OkKAqmT5+OU6dOYcKECYiKikKNGjVQo0YNtGnTBu+88w5Onz6Njz76CIqiFEbNVhMqnUKQnIsQAleuXFFPnhQF6NAB+PVX4I8/sqYDt0Svz5oivFEjoG3brAfPqvQHmVqoLkvk1Ax5ys/QoUMBwKqZ3wyXl4WHhyMyMhIhISEW15s4cSLef/991K9fH7Nnz0ZERAQ6depkNqPtjRs30Lx5c2zduhUvvPACpk2bhtTUVPTs2RNr1641rpecnIxvv/0WUVFRmDlzJiZNmoQbN26gc+fO+Ouvv8z2v3z5csyePRvPPvsspk6dipiYGPTu3RsZGRn5HqM1NmzYACDrkkFL3NzcMGjQICQmJuL333+Xsk9H488nkkXtWbLpnqPsqlWrhmnTpsmshYhka9w46wGxp04BM2cCy5dbnuJ79+6sr1q1gNdfBwYNAtR8vTARGZUvXx7+/v64cOFCvuv6+PigYsWK2LNnD0qXLm3xj5w3b97ErFmz0L17d2zYsMG4zrvvvouPPvrIZN0ZM2bgxo0b2Ldvn/G+pGeeeQb16tXDa6+9hl69ekGj0SAwMBAxMTEmj/945plnEBkZiS+++ALz58832W5sbCzOnTuHwMBAAEBkZCR69eqFrVu3okePHrZ9QBacOnUKAFC/fv1c1zEsO336tMn9RkSkbjafOSIiFapVC1i0CDh/Hnj1VaBkScvrnToFjB4NVKwITJ4M3LhRpGUSUeEoWbKkTbPWVaxYMdcbqnfs2IH09HS89NJLJs3TuHHjzNb95Zdf0LhxY2NjZKhlzJgxiImJMTYhWq3WpDFKT09HiRIl0Lx5cxw9etRsu/379zc2RgCMkx5cvHjR6mPMi+Gz8vX1zXUdw7Lk5GQp+yQi58DmiMgKef0PUlUqVgTmzAFiY4Hp04EyZSyvFx8PTJkCVKgAjBwJHD9etHW6MJfJEjkFa/N09+5dadm7fPkygKwrSLILCQkxaVgM60ZGRppto2bNmibbAoBVq1ahadOm8Pf3h6enJ0qUKIF169YhKSnJ7P05Z7Iz7Legz1cyMHxWeTWU1jRQauNKx0KOpeYsuXRzpNVqHV0CuQCtVosqVaq4Vp4CA4EJE4BLl4Dvv8/9WUnp6cDChcAjj2RN8LB+PaDTFWWlLsUls0QOY8iTRpP3/8qvXr2KpKQkVK1a1TiW2z3BOgf9+165ciUGDBiAypUrY+HChfjtt99w4MABdOrUyeJN3bn9G5J1j4OhecvrwfeGZbVy+/mpMvz5RLKoPUsu3RypdZYMci56vR5xcXGumSdPz6wzQ9HRwMaNuc9wBwC7dmXNhle9OvDJJ4Ckv9AWJy6dJSpy1uZpyZIlAIDOnTsbxwIDA3Hnzh2zdbOfyclNxYoVAQDnzp0zGb9586bZmZuKFSvi7NmzZts4c+aMybZWrVqFqlWrYsWKFXjyySfRokULNG3atNAfYJsbw31Lixcvtrhcp9Nh+fLlCAwMRIsWLYqytELDn08ki9qz5NLNkVpnySDnIoRAXFyca+dJowG6d8+a4e74cWDUqKzGyZKLF4E33gDKlweefTarsSKrFIssUZEx5CkvO3fuxIcffojKlStj8ODBxvEqVargzJkzuHnzpnHs+PHjVs281qFDB7i7u+OLL74wyfJnn31mtm63bt3w559/4sCBA8axe/fu4ZtvvkGlSpWMZ10URYFerzf5ZWr//v04ePBgvvUUhubNm6NDhw5YsGABNm7caLb83XffxT///IO33noLJUqUcECF8vHnE8mi9izZPVsdEbmoevWA+fOz7kn66ivgyy8tT8xw/z7wzTdZX23aAGPHZk0b7sYfK0SOsHnzZpw5cwaZmZm4ceMGdv5/e/cd18T9xgH8k7BRpsiQKSoiKCoq7o0Dt3VQrZa6Z9VaB7VVsNq6qj+trdZRxdE66qq2DlxoHa11DxBUQEFlKFtlJd/fH9cEYhJIIGTxvF+ve6F3l7vv5Z4cebjvPd9z53D69Gm4u7vj6NGjEgUWxo4dizVr1qBnz54YP3480tLS8NNPP8HHx6fcuzW1a9fGnDlzsGzZMvTr1w99+vTBrVu3cOLECXEpcJHQ0FDs2bMHQUFBmDFjBmxtbbFjxw4kJCTg4MGD4i6Bffv2xeHDhzF48GD07dsX8fHx2LRpE3x9fTV292jnzp3o3r07Bg4ciJEjR6Jjx44oKCjAoUOHEBUVheDgYMydO1cjbSOEVB36FkMIkc3eHli0CJg/nxsP6X//A2SMNwIAuHCBm5ydgYkTgfHjgTp11NpcQqq7RYsWAQCMjY1ha2uLJk2aYO3atRgzZozUw9GNGjXCzp07sWjRIsyePRs+Pj7YuXMn9uzZg6ioqHL3tXTpUpiamuKnn37C+fPn0bp1a0RGRqJv374S6zk4OODKlSuYP38+1q9fj/z8fPj5+eHYsWMS644dOxYpKSnYvHkzIiMj4evriz179mDv3r0KtacqODk54dq1a1i9ejV+++03HDx4EIaGhvDz80NERAQ+/vhjjY/nSAhRPR7T1XteZcjJyYGVlRUyMzNhbW2t6eYQHScUCpGcnAwXF5dyH3zWa4wBV64A69cDBw/KHi9JxMCAu4s0ZQr3HBN9gQBAsURUi+KJqBLFE1EVbYwlUW6QnZ0NS0vLMtfV6+RIkTeAEFIBz58DmzZxU1pa2es2bAhMngyEhHBV8gghWqVLly4AoLE7NIQQUtWUyQ20I52rIrpaJYNoF6FQiGfPnlE8lebsDHz9NTde0u7dQOvW8teNjeUGnq1TB/jkE+DyZe4uVDVEsURUieKJqBLFE1EVXY8lvU6O9PCmGNEAxhgyMjIonmQxMQE++gj4+2/gxg3uWSNzc9nr5ucDO3YAHToAjRsD69YBGRnqba+GUSwRVVJVPEVGRiIyMlJFrSK6iq5PRFV0PZb0OjkihKiRvz+wZQvX5e7774H/BlGUKToamDWLu5s0ahRw8WK1vZtEiKYZGxvD2NhY080ghBCtQMkRIUS1rK2BTz8FHjwAoqKA4GDAyEj2ugUFwC+/cKXAvb2BFSuAly/V2VpCCCGEEDG9To6oxCZRBR6PB0dHR4onZfF4XNKzdy+QlMQlPvXry18/Lg4IDQVcXYEBA4DffweKitTXXjWgWCKq9H48rVy5Et7e3jrbz59olqquT6GhoWhd1nOoRO/p+u86vU6OtKV8INFtfD4fjo6OFE+V4eAAzJvHFWc4dw748ENAXjcegQA4dowrBe7iAsydC8TEqLW5VYViiahS6XjKycnBihUrMH/+fIn44vF44onP56NOnTro2bOnSivTHT16FP7+/jA1NYWbmxvCwsJQXFap/1IeP36MoUOHwsbGBubm5ujQoQPOnz+vsrZVVkREBHg8Hq5fv67ppqjElStX0KFDB5ibm8PR0REzZsxAXl4egPKvTxs3bsSwYcPg5uYGHo+HTz75ROZ6s2bNwp07d3D06NGqOgyi5XT9d51utlpBAoFA000gekAgEODJkycUT6rA5wNduwJ79nDPJq1ezZX6lictDfjuO8DHB2jTBti4EcjMVF97VYxiiahS6Xjatm0biouLMWLECKn1evTogV27dmHHjh2YPHky7t69i27duuHEiROVbsOJEycwaNAgWFtbY/369Rg0aBCWLl2KTz/9tNzXJiUloW3btrh06RLmzp2LZcuWIS8vDz179sTFixcr3TYi6fbt2+jevTvevn2LNWvWYPz48di8eTOGDRsGoPzr04oVK3Du3Dn4+vrC0NBQ7n4cHR0xcOBAfPfdd1VyHET76fzvOqaHsrOzGQCWkZGh6aYQPVBcXMxu3brFiouLNd0U/SQUMnbpEmNjxjBWowZjXGkG+ZOJCWPDhzN2/DhjRUWabr1SKJaIKpWOJz8/PzZq1CipdQCwadOmScy7e/cuA8B69uxZ6Tb4+Piwpk2bsqJSn8Uvv/yS8Xg8FhMTU+Zrp06dygwNDdnDhw/F8968ecNcXV2Zv79/hdv0+PFj9ubNmwq/vrTt27czAOzff/9VyfY0KSgoiDk5ObHs7GzxvC1btjAA7NSpU+VenxITE5lQKGSMMVajRg0WEhIid18HDhxgPB6PPXnyRKXHQHSDNv6uE+UGpeNfHr2+c0QI0QE8HtC+PbBtG1eMYetWoG1b+esXFAD79wN9+gBublx3vfv31ddeQrRMQkIC7t69i8DAQIXWb9KkCezs7JCQkFCp/UZHRyM6OhoTJ06UuJMwdepUMMZw4MCBMl//119/oXnz5mhY6u6xubk5BgwYgJs3b+LRo0cVateuXbvg5OSEyZMn499//63QNpR169YtBAUFwdLSEjVr1kT37t3x999/S6xTVFSExYsXo0GDBjA1NUWtWrXQoUMHnD59WrxOSkoKxowZAxcXF5iYmMDJyQkDBw5EYmJipdqXk5OD06dPY9SoURIDYH788ceoWbMm9u/fX+423N3dFX6GRBSLv//+e8UaTIgGyb8vSggh6mZhAYwbx03R0VzCtGsX171OlpcvgVWruKlZM2D0aGDECMDJSa3NJkSTrl69CgDw9/dXaP3MzExkZmaifqkCKdnZ2ShSoACKqakpatasCYBLCACgZcuWEuvUqVMHLi4u4uXyFBQUwMbGRmq++X9jpd24cQMNGjQot03vGzlyJNLS0rBnzx5s2rQJTZo0wbhx4zBq1CjUqlVL6e2V58GDB+jYsSMsLS0xb948GBkZYdOmTejSpQsuXLggLk4QHh6OZcuWYfz48QgICEBOTg6uX7+OmzdvokePHgCAIUOG4MGDB/j000/h4eGBtLQ0nD59Gs+ePYOHhwcAIC8vD/n5+eW2y8jICFZWVgCAe/fuobi4WOpcGRsbo1mzZuWeK2VZWVmhXr16uHz5Mj777DOVbpuQKlf1N7LUT3TrLDMzU9NNIXpAIBCwV69eMYFAoOmmVE+FhYwdO8bYkCGMGRuX3+2Oz2esVy/Gdu1iLC9P062XQLFEVEkUT19++SUDwHJzc6XWAcDGjRvH0tPTWVpaGvvnn39Y9+7dGQC2evVq8XqdO3dmAMqdSnelWrVqFQPAnj17JrXfVq1asTZt2pTZ/v79+zNra2uWk5MjMb9t27YMAPvuu++UfEckvXv3jv3yyy+se/fujMfjMRMTExYcHMwiIyMV/gwq0q1u0KBBzNjYWKIL2YsXL5iFhQXr1KmTeF7Tpk1Z37595W4nMzOTAWCrVq0qs00hISEKnavOnTuLX/Pbb78xAOzixYtS2xs2bBhzdHRU6vpUXrc6xhjr2bMna9SoUbnbIvpHG3/XKdOtTq/vHOlqlQyiXfh8fpX8tZEoyMgI6NePm16/5kqD79gByOsuIxQCp05xU40awODBwEcfAYGBQBkPEasDxRJRJVE8ZWRkwNDQUHxH530///wzfv75Z/H/TU1NMXv2bMyaNUs8b/Xq1chUoNhJnTp1xP9+9+4dAMDExERqPVNTU+Tk5JS5rSlTpuDYsWMIDg7GN998gxo1amDDhg3iynCi7VeUqakpRo4ciZEjR+Lp06eIiIhAREQE9u3bB3d3d0yaNAlffPFFpfYhEAgQGRmJQYMGwdPTUzzfyckJI0eOxJYtW5CTkwNLS0tYW1vjwYMHePTokcw7YmZmZjA2NkZUVBTGjRsn864aAMybNw+jRo0qt22lX1/euXr37p3Kr082NjYqvyNFdIOu/67T6+RIZ6tkEK0iEAjEv8wMDAw03ZzqrVYtYNo0bnrwgEuSfvkFePFC9vpv3gC7d3NT7drcgLQjR3KV7zQw/gLFElElUTwxxspcb+DAgZg+fTp4PB4sLCzg6+uLGjVqSKzTokULpfdvZmYGgOse9778/HzxcnmCgoKwfv16hIaGirsE1q9fH9988w3mzZsnN9kDuC/72dnZEvMcHR3lru/u7o6wsDBMnjwZEyZMwLFjx7BixYpKJ0fp6el4+/atxHNTIo0aNYJQKERSUhJ8fX3x9ddfY+DAgfDy8kLjxo3Ru3dvjB49Gn5+fgC4xGXFihX4/PPP4eDggDZt2qBfv374+OOPJY7Nx8cHPj4+SrVTkXOl6usTY0xnx7khlaPrv+vo1gohClCkfzdRM19fYOVK4Nkz4MwZICQEKOPLFNLTgR9+ANq1A+rVA778knuuSc0ologq5efnw9bWFsXFxcjNzZW5jouLCwIDA9G9e3cEBARIJUYAkJGRgZSUlHKn0gmJ03/P9r18+VJqey9fvpS4yyTP9OnTkZqaiitXruD69et4+PCh+DkZLy8vua/bt28fnJycJCZ5iouLcfToUQwePBiurq7i8uO//vprue1TpU6dOuHJkyfYtm0bGjdujK1bt8Lf3x9bt24VrzNr1izExcVh2bJlMDU1xcKFC9GoUSOJOzDZ2dkKnauMjAzxaxQ9V6q8PmVmZsLOzk5l2yO6RZd/12llcnTx4kX0798fderUAY/Hw5EjRzTdJEKItjIwALp3ByIigJQU7k5S797cmEryJCQA337LJVh+fty/nzxRW5MJUSVvb28AqFT1uQ8++EAq2ZA1zZw5U/yaZs2aAYDUAKkvXrxAcnKyeHl5atSogbZt26JFixYwMDDAmTNnYGZmhvbt28t9Ta9evXD69GmJ6X3R0dGYO3cuXFxcMHDgQERHR2PJkiVITk7G4cOH0adPH4XaV5batWvD3NwcsbGxUssePnwIPp8PV1dX8TxbW1uMGTMGe/bsQVJSEvz8/BAeHi7xunr16uHzzz9HZGQk7t+/j8LCQqxevVq8fObMmQqdqw8++ED8msaNG8PQ0FDqXBUWFuL27dsKnytlJCQkoFGjRirfLiFVTSu71b158wZNmzbF2LFjJT7chBBSpho1uG5zI0dyidL+/VyydO2a/Nfcu8dNX34JtGwJfPghMHw4UOoLDSHarE2bNgC4JEXURUtZFXnmyNfXF97e3ti8eTMmTZok7j6zceNG8Hg8DB06VLxudnY2Xr58CScnJ/GdIVmuXLmCQ4cOYcqUKWWuV9bdoqioKISGhuKff/6BmZkZhg4divHjx6NTp07lHp+yDAwM0LNnT/z+++9ITEwUV5RLTU3Fr7/+ig4dOohLZ79+/VriOYyaNWuifv36SEpKAgC8ffsWfD4fpqam4nXq1asHCwsLie5wFXnmyMrKCoGBgdi9ezcWLlwICwsLAFzZ87y8PPFAsKJ2PH/+HHZ2dhW+85OdnY0nT55gypQpFXo9IZqklclRUFAQgoKCKr0dKshAVIHP58PT05PiSdc4OgIzZnDT48fAnj1coiTjL7xi169z05w53NhLwcHAkCGAAt2DFEGxRFRJFE8WFhZo3Lgxzpw5g7Fjx1ZoWxV55ggAVq1ahQEDBqBnz5748MMPcf/+ffzwww8YP368xF2Dw4cPY8yYMdi+fTs++eQTAMDTp08xfPhwDBgwAI6Ojnjw4AF++ukn+Pn54dtvv61QewDgwoULKCoqwoYNGzBy5MgykyxFbdu2DSdPnpSaP3PmTCxduhSnT59Ghw4dMHXqVBgaGmLTpk0oKCjAypUrxev6+PigS5cuaNGiBWxtbXH9+nUcOHAA06dPBwDExcWhe/fuGD58OHx8fGBoaIjDhw8jNTUVH374ocR2lH3mCAC++eYbtGvXDp07d8bEiRORnJyM1atXo2fPnujduzcYY/D09MT169fRrVs3hIWFSdzVOnbsGO7cuQOAG7Pp7t27WLp0KQBgwIABEon5mTNnwBjDwIEDlW4n0X26/rtOK5MjZRUUFEj8VUVUIUcoFIqLMvB4PPD5fAiFQomHV0Xz3y/eIG8+n88Hj8eTOV+0T0XmGxgYgDEmc/77bZQ3n45JPccEcN0+Si/T9WPSx/NU5jHVrQssWAB88QVw6xYM9u0D27sXvOfPIdfly8Dly2AzZ4LXoQOEQ4aAffCBOFGq6DG9H0t0nuiYKnpMQqFQHE+ffPIJwsPD8e7dOxgbG0uszxiT2UZVHFNQUBAOHTqExYsX49NPP0Xt2rURGhqKRYsWibddeluinwKBADVq1ICjoyN++OEHZGRkwNnZGdOnT8eCBQtgbm4OgUBQofP0+eef46uvvhLPEwgEFT5PovU3btwIWUaPHo1GjRrhr7/+QmhoKJYtWwahUIiAgADs3LkTrVu3Frd9+vTpOHbsGCIjI1FQUAB3d3d8/fXXmDNnDgQCAVxcXPDhhx/i3Llz2LVrFwwNDdGwYUPs27cPH3zwgdR7oOwx+fv7IzIyEqGhofjss89gYWGBsWPHYvny5eL1378+ld7ngQMHsHPnTvH/b926JX4WytnZGX5+fuL19+/fj/bt28PT07PKYk/efLpGaMcxlY4lbTgmZYq08Vh5ZW40jMfj4fDhwxg0aJDcdcLDw7F48WKp+RcvXhTfOra1tYWbmxuePXsm8ZCio6MjHB0d8eTJE4mHWV1dXVGrVi08fPhQ4qEyT09PWFpa4t69exJvdMOGDWFsbIx79+5JtKFJkyYoLCyU6I9sYGCAJk2aICcnB/Hx8eL5pqam8Pb2xuvXr8W32QHAwsIC9erVEz9kKULHpJ5jysrKws2bN2FjYwMej6cXx6SP50npY3rxArknT8L61ClYnz4NIwW6FDEeD2+aNUNWjx4wHz0ato0bK3VMBgYGuHTpkjiWVH5M+nie6JjkHlN0dDRSUlJgY2ODvLw8DBw4EKtWrUJAQIDOHpM+niddOabXr18jMzMTNjY2cHJyqvAxpaamol+/fli2bBkmT55M56kaHtOzZ8/EsWRpaakVx5SXl4eOHTsiOztb3NVVHr1IjmTdOXJ1dUV6erq4z60uZt3lzadjUs8xFRcX4969e/D19RXfSdL1Y9LH81SpYyouBi8qCvz9+8EOHQIvKwvlYTweeO3aQTh4MNjgwYC7e7nHJBAIpGKJzhMdU0WPqbCwEA8ePBDH06pVqxAREYF79+5JdGfRpWPSx/OkK8dUXFwsjidDQ8MKH9MXX3yB8+fP4++//9b4MenjedKFYyodSwYGBlpxTDk5ObC1ta0+ydH7cnJyYGVlhYyMDLmDqBGiKNEX2iZNmuhkvX6ipMJCbgDZ334Dfv8dKGcgS7GWLYGhQ7lnlOrXl7kKxRJRJYonokoUT0RVtDGWRLmBIsmRbj4pRQghVcXYGOjfH9i5E0hLA44eBUaNAv7roivX9etAaCjQoAHQtCkQHg7cvQto99+fCCGEEFKKVt45ysvLw+PHjwEAzZs3x5o1a9C1a1dx/8TyiLLDrKwslVSpIdUbYwz5+fkwNTWl0b6rs/x8IDKSu6N09Kjid5Q8PYHBg4HBg8HatEF+YSHFElEJujYRVaJ4IqqijbGkzJ0jrUyOoqKi0LVrV6n5ISEhiIiIKPf1lBwRVRL1qxX1ayUEBQXAmTPAwYNc17tSD5OWhTk4gA0cCN6gQeB16waYmFRxQ4k+o2sTUSWKJ6Iq2hhLOp8cVRY9c0RUSRv7zhItUlQEXLgAHDgAHD7MdcVThIUF0Ls3MHAg0KcPQNcqoiS6NhFVongiqqKNsUTPHBFCiLoYGQGBgcBPPwEvXnCJ0qxZ4up1cuXmcl30Ro0C7O2B7t2B9euBp0/V0mxCCCGESKPkiBBCVMXAAOjUCfjf/4CEBODGDeCrrwBf37JfV1wMnDsHzJgBeHhwBR2++gr45x/gvVKphBCiD4RCITZv3owdO3ZouimESDDUdAMIIUQv8XiAvz83LVkCPHoE4cGDeLdnD8zv3QOvrB7Nd+9y0zffAA4OQL9+XAW9wECgRg31HQMhhFSBmJgYjBkzBv/88w/4fD6aNGkCf39/TTeLEAB6/swRFWQgqqCNDxYS3SSOpfR08P74gyvmcPo0V+BBEaamQNeuQN++3OThUaXtJdqNrk1EldQRT4WFhVi5ciUWL14MxhgEAgEMDAzQqFEj3Lx5E0ZGRlWyX6Je2nhtooIMlBwRFdLGkpREN8mMpTdvuBLhR44Af/4JvH6t+AZ9fbkkqV8/oG1bwJA6A1QndG0iqlTV8ZSWloYuXbrg4cOHeP+rJ4/Hw7fffovQ0FCV75eonzZem6ggw3+E1FefqIBQKERsbCzFE6k0mbFUowY3DtKOHUBqKvDXX8C8eYC3d/kbfPAAWLmSe87J3h4YMaJk8Fqi9+jaRFSpquMpLy8PcXFxUokRwH2ZXrRoEeLi4qpk30S9dP3apNfJESGE6BQDA6BDB2DFCiAmBnj0CFizhutKV1451MxMYO9eICQEcHQEAgKA8HCuqINAoJbmE0KIPJ6enggNDZV7J4ExhrFjx+rsF2qiPyg5IoQQbVW/PvDZZ1wlu/R0LvkZPRqoVavs1zEG/PsvsHgx0KYNlyyNGgX88gu3HUII0YCFCxeiXr16Mse+KS4uxuXLl7FlyxYNtIyQEpQcEaIAbRnEjOi+CseSjQ0QHMx1m0tNBa5cAb78kiv7XZ5Xr7jEaNQorvpdq1bAwoXA5ctcGXGis+jaRFSpquPJxMQEO3bsKPPu0Oeff47nz59XaTtI1dPla5NeF2RQ5KErQgjRecnJwIkTwPHjwJkzQF6e4q+1sgJ69AB69QJ69gTc3KqunYQQAmD69OnYuHGjzCTJ0NAQvXv3xtGjR7XmYX6i+6haHVWrIyrEGENubi4sLCzoQk0qRS2xVFgIXLrEJUrHj3PPLinD25tLknr1Ajp3pnGVtBhdm4gqqTOecnNz0bBhQ6Smpsq9i7Rv3z4MHz68SttBqoY2XpuoWt1/6KE+ogpCoRDx8fEUT6TS1BJLxsZAt27Ad98B0dFAQgKwYQMwYIBiic7Dh8D333Mlwm1tuW0tXw7cuAHQZ0Cr0LWJqJI648nCwgI///yz3H3xeDxMmTIFr5UZ2oBoDV2/Nul1ckQIIdWehwcwZQo34GxGBlfcYd48wM+v/NcWFgLnzwNffAG0bMmVCw8OBrZuBZ4+rfKmE0L0V1BQEEaMGCHz2RTGGLKzszFr1iz1N4xUe5QcEUJIdWFszJUFX7ECuHMHeP4c2LaNS3hsbct//evXwP79wIQJXNLl5QVMmwYcOsSVEieEECV8//33crteCQQC7N69G6dOndJAy0h1RskRIQowNTXVdBOIntCqWKpTBxgzhisRnpYGXLsGLF0KdOwIGBqW//pHj7gue0OGAHZ2XBW8L77gikK8e1f17SfaFU9E56k7nuzs7PDjjz/KHBgWAPh8PsaNG4c8ZYrMEK2gy9cmvS7IQNXqCCGkgnJygKgo4NQp4PRpLhFShokJ0L490L0799xSy5aKJVyEkGqFMYY+ffrg9OnTEMgYsJrP52P69OlYt26dBlpH9AVVq/vvDcjMzIS1tbWmm0N0nFAoRGZmJmxsbMDn081WUnE6HUtPn3JJ0unTwNmzXBc7ZVhYAJ06cYlSt27cM0+69h5oGZ2OJ6J1NBlPSUlJaNiwId7JuePM4/Fw5coVtGnTRq3tIhWjjdcmqlb3Hz3M+4gGMMaQlJRE8UQqTadjyd0dGD8e2LeP64J3/TqwbBkQGAgo0n0iNxf480/g88+B5s254g5DhwI//gg8eADo4nuiYTodT0TraDKeXF1d8d1338ldzufz8cknn6CwsFCNrSIVpevXJr1OjgghhFQBPh9o0QIIDeXuJGVmcneTFiwAWrdW7I7Q69fAwYPA9OlA48aAoyNXGOKnn4DYWEqWCKlmJk+ejLZt28JQRvdbgUCAuLg4LFu2TAMtI9UNJUeEEEIqx9SU6yr3zTfA339zic+RI8CMGYCvr2LbSEvjKuFNmcINROvsDIwYAWzaxI29RMkSIXqNz+dj27ZtcpczxrB06VI8ePBAja0i1RElR4QowMLCQtNNIHqiWsSStTUwcCCwbh1w/z6QkgLs2cOVAK9XT7FtvHzJVdGbPBlo1AhwcuLuLG3YwA1uS8kSgGoST0RtNB1P3t7eCA8Pl1naG+ASpDFjxsgs3EC0i6ZjqTL0uiADVasjhBAt9PQpNxhtVBQ3yGxSkvLbsLPjCjyIJj8/QMZgkoQQ3VJUVIRmzZohNjZWbhK0bt06zJgxQ80tI7qMqtVRtTqiQkKhEGlpabC3t9eaqitEN1EsycAYEB9fkiidPw+8eKH8dqysgA4dSpKlFi0AIyOVN1ebUDwRVdKmeLp+/ToCAgLkPtBvamqKhw8fwt3dXc0tI4rQplgSoWp1/9HDvI9oAGMMKSkpFE+k0iiWZODxuK5248YBu3cDyclcQYbNm4GPPuKePVJEdjZXDW/+fKBtWy5Z6tYNCAvjBqV986Zqj0MDKJ6IKmlTPLVs2RKfffaZ3C/WRUVFGD9+vFa0lUjTpliqCL1OjgghhOgYHg/w8uKeT9q9m+ty9/gxsHUrMHo04Oqq2HbevePuQn39NdCjB/ccVOvWXCnxI0eA9PSqPApCSCUtWbIELi4uMhMkgUCAM2fOYNeuXRpoGdF3lBwRQgjRXqXvLO3cyT2vFB8PREQAY8cC9esrtp3iYuDaNWDNGmDwYG6cJW9vbuymiAguAdPRv3ISoo/Mzc2xfft2CIVCuevMmDEDaWlpamwVqQ70OjmSV+2EEGXweDzY2tpSPJFKo1hSAR4PqFsXCAkBfv4ZePQIeP6cq4Y3ZQrg46P4tmJjuW2MGQM0aMBVxBsyhEug/vkH0PIBJymeiCppYzx169YNY8eOhYGcYit5eXmYPn26mltFyqONsaQMvS7IQNXqCCGkGnr9Grh0CfjrL266eZO7c6QsU1OgVSugfXugXTtuqlVL9e0lhMiVmZkJLy8vvH79Wu4zLEePHkX//v3V3DKiS6haHVWrIyokFAqRnJwst+8zIYqiWNKQN2+4wWn/+otLmq5eBd6+rdi2GjYsSZTateO65mnoXFI8EVXS5ng6dOgQhgwZInMZn89H7dq1ERsbCysrKzW3jMiijbFE1er+o4d5H9EAxhgyMjIonkilUSxpSI0aQPfuQHg4V7kuKwv491/gf//jutE5OCi+rdhYYPt2rmCEry93JykoCFiyhNt2Tk5VHYUUiieiStocTx988AEGDRoks3udUCjEq1evMH/+fA20jMiizbGkCENNN4AQQghRKyMjoGVLbpo1q2Sspb/+Aq5cAS5fBqKjFdtWVhZw8iQ3AdwzUb6+XDlx0eTlpbG7S4Toiw0bNuDs2bPIzc2VWiYQCLBp0yaMHDkSnTp10kDriD6h5IgQQkj1JqqIV68e8Mkn3LyMDK4r3uXL3HTtGlcevDyMAffvc9OWLdw8GxuujHibNtzPgADA1rbKDocQfeTk5IT//e9/GD9+vMzlBgYGGDNmDB48eABTU1M1t47oE3rmiJByaONIz0Q3USzpsKIi4M4d7s6SaEpKqvj2GjYsSZbatAGaNAEMlft7JcUTUSVdiCfGGLp27YpLly5BIBBILefz+Zg3bx6WLVumgdYREW2MJSrIQNXqCCGEVLXkZK64gyhZunWLS6IqwswMaNGCu6vUujU3ublxd7UIIWJPnjyBr68vCgoKZC7n8/m4ceMGmjVrpt6GEa1GydF/b0BGRgZsbGw03Ryi4wQCARITE+Hh4SF3rAVCFEGxpOfy87my4Vevcl3yrl7lxmCqKAeHkmQpIIB7RqrU7zSKJ6JKuhRPq1evxpw5c2QuMzAwgK+vL27cuAFDJe/GEtXQxlhSJjmiqCFEAbIeACWkIiiW9JipaUmJb5GkJC5J+ucfLmG6cQOQ8xdvKampwLFj3CTi5cUlSgEBQIsWyDMwADw8VHoYpPrSlevTzJkzsXv3bty7d0+qe51AIMC9e/ewZs0azJs3T0MtJLoSS7JQckQIIYRUFVdXbho+nPt/YSFw9y6XKImmJ08U315cHDft3g0DAE0MDcFr2pS7q9SqFTf5+Cj9/BIhusTQ0BA7duyAv7+/zOWMMSxcuBCDBw9GgwYN1Nw6ouvo6kkIIYSoi7FxSRnx6dO5ea9ecdXw/vmn5GdmpkKb4xcXc3ejbtwANm3iZpqbA82bc4mSKGmqX5/KiRO94ufnh/nz52PZsmUyx9MRCAQYN24cLly4AB49u0eUoNfPHFG1OqIKQqEQmZmZsLGx0ZqqK0Q3USwRhTAGPH7MJUn//MMNWHvrFnfXqaIsLbmCD6LErGVLoG5dKvhAxHTx+pSfn4/GjRsjMTFRZvU6ANi8eTMmTJig5pZVb9oYS1SQgarVEUII0Sei7njXrnHJ0rVrQEwMl0hVlI0NlzCJkqYWLbjnlyhhIjrk0qVL6Nixo9zlNWvWRGxsLOrUqaPGVhFtQ8kRVasjKiQQCPDo0SM0aNBAa6quEN1EsURUSZCZiefHjsHl5Uvwb9zgkqbExMpt1Na2JGFq0QLw96c7TNWELl+fpk6dik2bNkEoFEotMzAwQN++fXHkyBHqXqcm2hhLVK2OEBXLz8/XdBOInqBYIipjaYkMPz84f/QRIPoCkp4OXL/OJUqinykpim8zIwM4fZqbRKytuSRJlCz5+9MzTHpKV69Py5cvx+HDh5GWliaVIAkEAhw9ehQHDx7E0KFDNdTC6kdXYwmg5IgQQgjRH7VrA0FB3CTy4kVJsiSaXr1SfJtZWcC5c9wkYmEBNGvGJUrNm3M/GzWiKnlEIywtLbF161b069dP5nIej4fJkyejW7dusLW1VXPriK6hqxghhBCiz+rUAQYO5CaAe07p2TOuwt316yXV7l6/VnybubnAX39xk4ipKdCkCZcsiSY/P8DMTLXHQ4gMffv2xYcffojffvtNqjgDYwxZWVmYPXs2IiIiNNNAojP0+pmjrKwsWFlZabo5RMcxxpCbmwsLCwvqr0wqhWKJqJJK44kx4OnTkkSpIgmTLHw+4O0tmTA1a8Y920S0ij5cn9LT0+Hl5YXs7GyZ5b0BIDIyEj169FBzy6oXbYwlKshA1eoIIYSQymEMSEoCbt7kEiXRz9TUym/bzY1LkkTJUrNmgLs7FX4glfbLL79g1KhRMpfx+XzUqVMHDx8+RI0aNdTcMqJJlBxRtTqiQgKBANHR0fDx8dGaqitEN1EsEVXSSDwxxj3DdOsWN928yU3PnlV+29bWQNOmXKIk+unjA5iYVH7bpFz6cn1ijKF37944d+4ciouLpZbz+XzMmDED//vf/zTQuupBG2OJqtURomLyBpcjRFkUS0SV1B5PPB7g7MxNpR9+f/26JFkSJU5xccqNw5SVBVy4wE0ihoZcoYemTSUne3uVHRIpoQ/XJx6Phy1btsDb21tmciQUCrFu3TqMGDECAQEBGmhh9aDLsUTJESGEEEIqp1YtIDCQm0Ty8riBa2/fLkmY7t3jBrRVVHEx95p794Ddu0vmOzpyxR5KJ0wNGwJGRio7JKK73NzcsHLlSnz66acyl/P5fISEhODOnTswNjZWc+uItqPkiBBCCCGqV7Mm0K4dN4kUFQEPH3IJk2i6dQvIzFRu2ykp3BQZWTLP2LjkLpOfX8nk4KCCgyG6ZurUqdi9ezeuX78udRdDIBAgNjYWK1aswMKFCzXUQqKt9PqZI6pWR1SBMYb8/HyYmppqTdUVopsologq6U08MQYkJ3NJ0p07XMJ05w7w5Ilqtm9vz5UY9/Mr+enjQyXG36M38VRKTEwM/Pz8ZHavAwBDQ0PcvXsXjRo1UnPL9Js2xhIVZKDkiKgQYwxCoRB8Pl9rPuREN1EsEVXS+3jKyeG604nuMN29y/3/3bvKb5vPBxo04JKl0pOnJ7esGtLXeFqyZAnCwsJklvY2NDSEv78/rly5ojWFA/SBNsYSJUdUrY6okEAgwL1799CkSRO6eJJKoVgiqlQt40kgAB4/5hKlO3e46e5d1VTLAwBzc8DXtyRZatyY+1kNuubpazwVFhaiWbNmiIuLk1sk4Pvvv5f5fFJ2djZMTU1hQhUTlaKNsUTV6gghhBCifwwMuMILDRsCw4aVzM/M5O4q3b1bMt27B7x9q9z2374F/v2Xm0qrXZtLlN6faCxFrWdsbIwdO3agdevWcteZN28eBgwYAHd3dwBAcXEx1q5di6+++gqhoaEIDw9XU2uJNqDkiBBCCCG6zcYG6NSJm0QEAiA+viRREv188kS5EuMAkJ4OnD/PTaW5uXF3mkTJkq8vVxTC3Lzyx0RUplWrVpg1axbWrVsHoVAotby4uBgTJkzAqVOncPfuXXElOwCIjo5Wd3OJhlFyRAghhBD9Y2DAPVfUoAEwZEjJ/DdvgAcPJO8w3bvHjdWkrGfPuOnEiZJ5PB737JIoWRJNDRsCpqaVPy5SIUuWLMGBAwfw/PlzqQSpuLgYp0+fxuDBg/HHH39ILEtMTFRjK4k20OtnjqggA1EFbXywkOgmiiWiShRPKsQYkJpakiiJpuho1RSAALhCD/XrSyZMPj5c0qQFz7RUh3g6c+YMevToIXOZ6Jjf/1rs6OiIly9fVnnb9Ik2xhIVZKDkiKiQNpakJLqJYomoEsWTGggEQEICcP9+yXTvHhAbyy1TBVHS5ONTkjBp4E5TdYmnMWPGYNeuXXKLM7yPz+ejsLBQawoL6AJtjCVKjqhaHVEhbay6QnQTxRJRJYonDSoo4BKkBw+46f597mdFnmeSh8/nuuf5+HDPMfn4cJO3NzfAropVl3jKzMxEgwYNkJGRIbO8tyzPnz9HnTp1qrhl+kMbY4mq1RFCCCGEVBUTE24wWT8/yflv3wIxMSXJkmh6+lT5fQiFXNnyx4+Bo0cll7m5lSRNosSpUSPA1rbix1RNFBcXo1GjRrh06ZLCr0lOTqbkqBqh5IgQQgghRBXMzYEWLbiptNxcLmkqnTBFR1d8fCZRIYiTJyXn29uXJEylJ2dnrlBENcYYwy+//ILp06cjLy9PqdcmJycjICCgilpGtA0lR4QoQFtuCxPdR7FEVIniSUdYWAABAdxUmihpio4uSZgqeqcJANLSuOnCBcn5NWty3fFEyZLo3/XqAUZG4tX0NZ6ePXuGCRMmIDIyEjweT+HudAD3zFFycnIVtk4/6XIs6fUzR4r0KySEEEII0Sp5edwzTdHRkpMqn2kCAENDLkESJUyiqWFDwNpadfvRsD59+uBE6XLrSjAyMsLMmTOxatUqFbeKqBM9c/QfPcz7iAYwxpCbmwsLCwutqbpCdBPFElEliic9VrOm7O55795xSVNMTMkUHQ08egQUFSm/n+JibnuxsdLLHBwkkyXRT3d3bgwpHbJ27VoUFBTg3Llz4PP5MgeClUcgEOD58+dV2Dr9o+vXJr1OjpQJfkLkEQqFiI+P16qqK0Q3USwRVaJ4qobMzIBmzbiptKIiID6eS5QePixJnB4+5O5CVURqKje930XPxIQbWLdhQ8mkqWFDQEuHT/Hy8sKZM2dw5MgRfPrpp3j58qXC3xGFQiENBKskXb826XVyRAghhBCi94yMShKU0hgDkpMlkyXRlJJSsX0VFJSM+fQ+B4eSdjRsCHh5cT89PbkufBrE4/EwePBg9OrVCytWrMCyZcvAGENxcXG5r01KSlJDC4m2oOSIEEIIIUQf8XiAqys39ewpuSwzk+tO91+yxKKjUXDvHkySksCr6AC3ortNFy9Kzhc92+TlVZIwiX46OKi1kp65uTkWL16MkJAQzJo1C8eOHSu3q11qaiqEQiH4fL7a2kk0h5IjQhRgqsZRyol+o1giqkTxRCrMxgZo04abAAgFAiQ+eoQG7u4wePqUS5pEyVNMDPfvrKyK7ausZ5ssLEqSptJTgwZV2k3P09MTR48excmTJzFt2jQkJCTIfVa9qKgIr169gr29fZW1R9/o8rWJqtURQgghhJCyMQakp5ckTaLEKTaWe96pKp7zdnDgkqQGDUoSJi8voH597vkrFSksLMTatWsRFhaGoqIiCGTcObtx4wb8/f1Vtk+iXsrkBnqdHGVmZsJaj0pREs0QCoXIzMyEjY0N3VInlUKxRFSJ4omoUqXiqbCQKzMuSppKT69fV02DXVxKEqbSk6cnVzSiAp4/f445c+Zg7969MDAwkEiSfv/9dwwYMEBVrddr2nhtolLe/9HDvI9oAGMMSUlJlGiTSqNYIqpE8URUqVLxZGxcMsDs+16/BuLiSqbYWO7no0dAfn7FG5yczE3nzknO5/MBN7eSO0yipKl+faBuXa6tcjg7O2PPnj2YMmUKpkyZgujoaPGyZ8+eISoqCi9fvoSTkxM6duyok5XY1EHXr016nRwRQgghhBANqlULaNuWm0oTCoGkJC5JKp08xcUBCQkV76YnFAKJidwUGSm5jM8HPDxKkqb69UumunXFd5w6deqEO3fuYNOmTfjiiy+Qm5uLBQsWIDc3V7wpFxcXrFu3Dh988EHF2km0FiVHhBBCCCFEvfh8bkBZd3cgMFByWWEh9xyT6A5T6Z+VGZBVKOS2Gx8vO3FycxMnS4b162NavXpwmDcPIxYulEiMAK4L3tChQ3HgwAFKkPQMJUeEKMDCwkLTTSB6gmKJqBLFE1ElrYknY2NucFlvb+llb94Ajx+XJEylp7S0iu+z9B2nM2fEs4f+NyUDeAzgiegnY3gCYOGMGRg4cCB1sXuP1sRSBeh1QQaqVkcIIYQQUk1kZ3OJU+mESfT/V6+qbLeFVlYw9vbm7jrVqyc5qXkcJyIbVaujanVEhYRCIdLS0mBvb681VVeIbqJYIqpE8URUSe/jKStLMnF68oT7/+PHlbvjVJ4aNbgKeqUTJtH/3d0BI6Oq27eGaGMsUbW6/+hh3kc0gDGGlJQU1K5dW9NNITqOYomoEsUTUSW9jydra6BlS256X3Z2SbJUKnEqiI6GSWVLkb95A9y7x03vEz3n9H7S5OnJTTr6B35djyW9To4IIYQQQggpk5UV4O/PTaUYCgTwcnOD2YsX8ARQ/7+p3n8/XQFU6kmj0s85nT0rvdzWtiRRen9ydQUM6Wt8VaB3lRBCCCGEkPcYGBhg+fr1GDp0KO5BskcSj8eDMWM4+v336FmvXsmdpydPuCkhASgoqFwDMjK46fp1WY3juuV5enJlyN//WasWPetUQXqdHPEoKIgK8Hg82NraUjyRSqNYIqpE8URUieJJtg8++AAHDhzAzJkzkZycLJ7v4uKCtWvXoqe8Mt5CIVd2XJQslZ7i44HMzMo1TCAoKUsui4WFZLIkmjw9ubGezM0rt/8y6Hos6XVBBqpWRwghhBBCKksgEOCvv/7Cy5cv4eTkhI4dO1aufHdmZkmiVDppio/nBset6CC4inJwkEyaSk+urnpXKEJvqtX9+OOPWLVqFVJSUtC0aVOsX78eAQEB5b6OqtURVRIKhUhOToaLi4vWVF0huoliiagSxRNRJYonLVJYCDx7Jpk8JSSU/Pu9AWlVzsAAcHEpSZY8PCR/Ojlx68ihjbGkF9Xq9u3bh9mzZ+Onn35C69atsXbtWvTq1QuxsbGwt7dXaBtanPcRHcIYQ0ZGBpydnTXdFKLjKJaIKlE8EVWieNIixsbcmEn160svY4x7Dik+XjJhSkjgpqdPuS53lSEQcNt5+hSIipJebmTEPe9UOmkqNbHatXU6lrQ2OVqzZg0mTJiAMWPGAAB++ukn/Pnnn9i2bRtCQ0M13DpCCCGEEELUjMfjii3UqgW0aiW9vLiY65YnSpxESZRoUsWYTkVFJWNEycA3MYG3oyP4Xl7AuHFAcHDl96lGWpkcFRYW4saNG/jiiy/E8/h8PgIDA3H16lWp9QsKClBQqiJIdnY2ACArK0s8j8fjgc/nQygUSlUb4fP5ELyXZcubz+fzwePxZM4HuFuJisw3MDAAY0zm/PfbKG8+HZN6jqm4uBi5ubnIzMwU9y/W9WPSx/OkC8ckEAikYknXj0lW2+mY1HNMhYWFEvGkD8ekj+dJV46p9O86Q0NDvTgmfTxPCh2TjQ34tWpB0Ly59DG9fQvBf3eYeE+fAomJ4CUlie8U8fLyUGkFBcDTpyh8+hTCLl3Az8nR+HnKyckBoFivMq1Mjl69egWBQAAHBweJ+Q4ODnj48KHU+suWLcPixYul5nt6elZZGwkhhBBCCCFl+PJLbtISubm5sLKyKnMdrUyOlPXFF19g9uzZ4v9nZWXB3d0dz549K/cNIKQ8OTk5cHV1RVJSElU/JJVCsURUieKJqBLFE1EVbYwlxhhyc3NRp06dctfVyuTIzs4OBgYGSE1NlZifmpoKR0dHqfVNTExgYmIiNd/KykprTgrRfZaWlhRPRCUologqUTwRVaJ4IqqibbGk6A0T7aiv9x5jY2O0aNECZ8+eFc8TCoU4e/Ys2rZtq8GWEUIIIYQQQvSVVt45AoDZs2cjJCQELVu2REBAANauXYs3b96Iq9cRQgghhBBCiCppbXIUHByM9PR0LFq0CCkpKWjWrBlOnjwpVaRBFhMTE4SFhcnsakeIsiieiKpQLBFVongiqkTxRFRF12OJx2ikVEIIIYQQQgjRzmeOCCGEEEIIIUTdKDkihBBCCCGEEFByRAghhBBCCCEAKDkihBBCCCGEEACUHBFCCCGEEEIIAB1Ojn788Ud4eHjA1NQUrVu3xrVr18pc/7fffoO3tzdMTU3RpEkTHD9+XE0tJbpAmXjasmULOnbsCBsbG9jY2CAwMLDc+CPVh7LXJpG9e/eCx+Nh0KBBVdtAolOUjaesrCxMmzYNTk5OMDExgZeXF/2+I2LKxtPatWvRsGFDmJmZwdXVFZ999hny8/PV1FqirS5evIj+/fujTp064PF4OHLkSLmviYqKgr+/P0xMTFC/fn1ERERUeTsrSieTo3379mH27NkICwvDzZs30bRpU/Tq1QtpaWky179y5QpGjBiBcePG4datWxg0aBAGDRqE+/fvq7nlRBspG09RUVEYMWIEzp8/j6tXr8LV1RU9e/bE8+fP1dxyom2UjSWRxMREzJkzBx07dlRTS4kuUDaeCgsL0aNHDyQmJuLAgQOIjY3Fli1b4OzsrOaWE22kbDz9+uuvCA0NRVhYGGJiYvDzzz9j3759WLBggZpbTrTNmzdv0LRpU/z4448KrZ+QkIC+ffuia9euuH37NmbNmoXx48fj1KlTVdzSCmI6KCAggE2bNk38f4FAwOrUqcOWLVsmc/3hw4ezvn37Ssxr3bo1mzRpUpW2k+gGZePpfcXFxczCwoLt2LGjqppIdERFYqm4uJi1a9eObd26lYWEhLCBAweqoaVEFygbTxs3bmSenp6ssLBQXU0kOkTZeJo2bRrr1q2bxLzZs2ez9u3bV2k7iW4BwA4fPlzmOvPmzWO+vr4S84KDg1mvXr2qsGUVp3N3jgoLC3Hjxg0EBgaK5/H5fAQGBuLq1asyX3P16lWJ9QGgV69ectcn1UdF4ul9b9++RVFREWxtbauqmUQHVDSWvv76a9jb22PcuHHqaCbRERWJp6NHj6Jt27aYNm0aHBwc0LhxY3z77bcQCATqajbRUhWJp3bt2uHGjRvirnfx8fE4fvw4+vTpo5Y2E/2ha9/DDTXdAGW9evUKAoEADg4OEvMdHBzw8OFDma9JSUmRuX5KSkqVtZPohorE0/vmz5+POnXqSH3wSfVSkVi6dOkSfv75Z9y+fVsNLSS6pCLxFB8fj3PnzuGjjz7C8ePH8fjxY0ydOhVFRUUICwtTR7OJlqpIPI0cORKvXr1Chw4dwBhDcXExJk+eTN3qiNLkfQ/PycnBu3fvYGZmpqGWyaZzd44I0SbLly/H3r17cfjwYZiammq6OUSH5ObmYvTo0diyZQvs7Ow03RyiB4RCIezt7bF582a0aNECwcHB+PLLL/HTTz9pumlEB0VFReHbb7/Fhg0bcPPmTRw6dAh//vknlixZoummEVKldO7OkZ2dHQwMDJCamioxPzU1FY6OjjJf4+joqNT6pPqoSDyJfPfdd1i+fDnOnDkDPz+/qmwm0QHKxtKTJ0+QmJiI/v37i+cJhUIAgKGhIWJjY1GvXr2qbTTRWhW5Njk5OcHIyAgGBgbieY0aNUJKSgoKCwthbGxcpW0m2qsi8bRw4UKMHj0a48ePBwA0adIEb968wcSJE/Hll1+Cz6e/rxPFyPsebmlpqXV3jQAdvHNkbGyMFi1a4OzZs+J5QqEQZ8+eRdu2bWW+pm3bthLrA8Dp06flrk+qj4rEEwCsXLkSS5YswcmTJ9GyZUt1NJVoOWVjydvbG/fu3cPt27fF04ABA8TVfFxdXdXZfKJlKnJtat++PR4/fixOsgEgLi4OTk5OlBhVcxWJp7dv30olQKLEmzFWdY0lekfnvodruiJERezdu5eZmJiwiIgIFh0dzSZOnMisra1ZSkoKY4yx0aNHs9DQUPH6ly9fZoaGhuy7775jMTExLCwsjBkZGbF79+5p6hCIFlE2npYvX86MjY3ZgQMH2MuXL8VTbm6upg6BaAllY+l9VK2OlKZsPD179oxZWFiw6dOns9jYWPbHH38we3t7tnTpUk0dAtEiysZTWFgYs7CwYHv27GHx8fEsMjKS1atXjw0fPlxTh0C0RG5uLrt16xa7desWA8DWrFnDbt26xZ4+fcoYYyw0NJSNHj1avH58fDwzNzdnc+fOZTExMezHH39kBgYG7OTJk5o6hDLpZHLEGGPr169nbm5uzNjYmAUEBLC///5bvKxz584sJCREYv39+/czLy8vZmxszHx9fdmff/6p5hYTbaZMPLm7uzMAUlNYWJj6G060jrLXptIoOSLvUzaerly5wlq3bs1MTEyYp6cn++abb1hxcbGaW020lTLxVFRUxMLDw1m9evWYqakpc3V1ZVOnTmWZmZnqbzjRKufPn5f5PUgUPyEhIaxz585Sr2nWrBkzNjZmnp6ebPv27Wpvt6J4jNG9UUIIIYQQQgjRuWeOCCGEEEIIIaQqUHJECCGEEEIIIaDkiBBCCCGEEEIAUHJECCGEEEIIIQAoOSKEEEIIIYQQAJQcEUIIIYQQQggASo4IIYQQQgghBAAlR4QQQgjRIvfv30d4eDj+/fdfTTeFEFIN0SCwhBBCCNEKOTk5aNGiBdzd3XHixAkYGRlpukmEkGqG7hwRQqTExMTA3NwcM2fO1HRTCCHVyPjx42FmZoZDhw5RYkQI0QhKjgiphMePH8PKygqBgYEoKirSdHNUoqCgACNGjECnTp2wZs0aTTdHJqFQiHbt2oHH4+HEiRNVtp+zZ88iPDwcDx8+rLJ9kPLp4+dMHSZNmgQTExOcP39e001R2P79+3H37l1YWlpquilaJyUlBbVq1YK1tTWeP3+u6eYQorcoOSKkgvLz8zFs2DDUrVtXp//K+fLlS9SuXRt8Ph/h4eG4cuUK2rVrh3379sHAwEDTzZNp7dq1iIuLw5gxYzBx4kRkZ2cr9fouXbqAx+OVu15AQACOHDmCDz74AHl5eRVtrtL7rYzExETweDx88sknVbofde1bWz9n6jiXsij6Hv/yyy/YsmULIiIi0LVrV/U0jmDt2rUwNjZGYmKiyrc9ZcoUNGjQAH5+fpg4caLKt68uPB4PXbp0qdQ2zpw5Ax6Ph+PHj6umUYSUQskRqZbWr18PHo+Hjz/+WObyzMxMODs7w9zcHHFxcTLXmTFjBjIyMnD8+HGd/SsnYwwff/wxWrRogT/++APLly+HsbExNmzYACsrK4l1NfVl8H2PHz/GwoULsWPHDmzevBlubm6YPXt2lezLwsICx48fx5s3b3T6y0hVioqKAo/HA4/HQ926dQEAO3bsAI/HU8kXRH34nKlbTEwMJk2ahOXLl2PEiBFVvj8PDw9xDPB4PJiYmKB27doICAjAtGnTcOnSJZmvEyV6ZX1RlrfOJ598It7f1atXZb62d+/eZcbh7du3MXnyZPj4+MDS0hLGxsZwdHREjx49sHr1aqSnpyty+GKZmZlYsmQJxo4dCw8PD4llpd8fHo8HMzMzODg4oEOHDpgzZw7u3LlT5rZ//fVXXLhwAfv27cOePXtw7do17Ny5U6n2qSIpUYQ6flcEBgaiQ4cOmDdvHgQCQZXui1Q/lByRamn69Ono0qULdu3ahd9//11q+bRp0/DixQssX74cXl5eUsvT09Ph7OyMU6dOoU6dOupocpU4fvw4jIyMsG/fPvTp0wc//PAD1q9fr9W/bGJiYvDTTz+hb9++MDQ0xL59++Dm5qb03SNF1alTBydOnMDJkyexYcOGKtmHNvnxxx9x9+5dhdf38PBAWFgYwsLCxM+oNW3aFGFhYbC2tq5UW/Tlc6Zud+/exZo1azBv3jzxvDdv3iA8PFwld0DlEcXBvHnzEBwcDFNTU2zatAkdO3bEgAEDkJmZWSX7nT9/vlLrC4VCzJkzB82bN8fWrVvh6OiIsWPHYu7cuejfvz9evnyJOXPmoG7dukp1X/vf//6HjIwMzJ07V+ZyKysr8Xs0e/ZsDB48GIWFhVi9ejWaNWuGcePGoaCgQOZrMzIycPjwYbi7u8PZ2RmHDx9GVlaWUsetCg8ePMD3339fqW3ExMQondjJMm/ePDx48AB79+6t9LYIkcAIqaYSEhJYzZo1mb29PUtPTxfP/+233xgA1rVrVyYUCjXYQu3SuXNnpi+XDE0dizr2m5CQwACwkJCQCr1+6NChbPny5RrZty7RVAxV5j22s7Njf//9t8rb5O7uLve9SExMZN27d2cAWOfOnZlAIBAvEx1L586d5W5b3johISEMAKtXrx4DwI4ePSr12l69ejEALCEhQWJ+aGgoA8D8/f3Zo0ePZO73xo0bLDAwUO7y9xUVFTEnJyfWvn17mcsBMHd3d5nL7t27x5o1a8YAsFGjRim0v4oo771WxP3795mpqWmZ66jrs1FYWMjs7OxYhw4dqnxfpHqhO0ek2vLw8MDq1auRlpaGKVOmAABSU1MxZcoUWFhYYPv27VJdA86fP4+xY8eiYcOGqFmzJmrWrImWLVti8+bNcvcTHx+PiRMnom7dujAxMYG9vT26dOmCiIgIhdp58+ZNDB06FG5ubuLuKq1atcI333wjsV5ZXSY8PDykunnExcVh3rx58Pf3R61atWBqagovLy+EhoZK/XWZx+PhwoUL4n+LJkWeLRHtOzs7G1OmTIGTkxNq1KiBTp064ebNmwCAFy9eYNSoUbC3t4eZmRl69uyJR48eydze5cuX0bdvX9ja2sLU1BTe3t4ICwvD27dvy23L+4qKihAeHg4PDw+YmJjAy8tL5t2hiIgI8Hg8qXMmes9TU1MREhICOzs7mJmZoU2bNoiKiqr0fssiEAiwYsUK1K9fH6ampqhfvz6WLVsGoVAoc/2y4kN0Pp8+fYrHjx/D1NRUpfsGuLFrhg8fDnt7e5iYmKBu3bqYNWsWXr9+LbWusp+zip4HWRhj2L59Ozp27Ahra2uYm5ujQYMGmDRpEp49eya1vjLn8s2bNwgLC4O3tzdMTU1ha2uLvn374vLly0q1UZ6nT59i3LhxcHZ2hrGxMVxcXFCrVi3s2LED9+/fR25urvjcij6XWVlZmDRpEhwdHWFqaormzZtjz549KmkPALi7u+PYsWNo1KgRLly4gAMHDqhs2wB3t8rQ0BALFiwoM/5E4uLisGrVKtSuXRsnT55E/fr1Za7n7++P06dPS1035Tl58iRevnyJYcOGKdN8AEDjxo0RGRmJ2rVrY/fu3bh27ZrUOtu3b0fr1q3Fn4fWrVsr/DtE1PUVAC5cuCBxDRdtIzw8HDweT+bnRXT9mzp1Kq5fv17m9UGR3xVldZNMSEjA999/D29vb5iYmMDd3R2LFy+WeW6NjIwwaNAgXLp0CY8fP1bovSBEEYaabgAhmjRx4kQcOnQIBw4cwJ49e7B37168evUKP//8M9zd3aXWX7FiBeLj4xEQEIDBgwcjOzsbp06dwqRJkxAbG4vVq1dLrH/p0iX07dsXubm56NWrFz788ENkZmbi1q1bWLduXbnJxe3bt9GuXTsYGBhg4MCBcHd3R1ZWFqKjo7F582Z8+eWXFT72Q4cO4eeff0bXrl3RpUsXCIVC/P3331ixYgUuXLiAixcvih9+DwsLQ0REBJ4+fYqwsDDxNpo1a6bQvgoLC9GjRw/k5+cjODgYqamp2L9/PwIDA3HlyhX06tULTk5OGDVqFB4/foxjx46hb9++iImJkSgK8dtvv2HEiBEwMTFBcHAw7O3tERkZia+//hqnTp1CVFRUuV/sSxsxYgSuXbuGoKAgGBgYYP/+/Zg2bRqMjIwwYcIEhbaRlZWFDh06wMrKCqNHj0ZaWhr27duHXr164caNG2jcuHGV7HfixInYtm0b6tati2nTpiE/Px9r1qzBlStXFD5+ESMjIxQVFcHDwwPm5ubo1auXSvd96dIl9OrVC4WFhRg6dCg8PDxw9epVrFu3Dn/88Qf+/vtv2NnZiddX9nMGVOw8vE8oFCI4OBgHDhyAs7MzRowYAUtLSyQmJmL//v0ICgqCm5ubxGsUPZf5+fno1q0brl27Bn9/f8yaNQupqanYt28fTp06hT179lToi7VIXFwcOnTogPT0dPTv3x++vr548OABjh07Jr7OeHl5wdfXV/yawsJCBAYGIi8vD6NHj8abN2+wf/9+jBw5Eq9evcKnn35a4faUZmZmhjlz5mDcuHHYt28fhg8frpLtAkCDBg0wYcIEbNy4ETt27MCYMWPKXH/Hjh0QCASYNGkSateuXe72DQ0V+5p09uxZAECbNm0UWv99tWvXxuTJk7FkyRLs27cPAQEB4mUzZszA+vXr4ezsjHHjxgEADh48iDFjxoh/l5RF1PV18eLFcHd3l/i9o+g1HAA2btyIjRs3YuzYsXLXqezvirlz5+LChQvo168fevXqhSNHjiA8PByFhYVSfxAEgLZt22Lr1q04d+6c3ESXEKVp+tYVIZqWnJzMrK2tmYmJCQPA+vXrJ3fdpKQkqXnFxcWsb9++zMDAgD19+lQ8Pz8/nzk7OzM+n89OnDih0LbeN3v2bAaAHTlyRGrZq1evJP6PMrpMuLu7S3XpSE5OZgUFBVLrLl68mAFgu3fvlphf0a4Soi43w4YNY0VFReL5K1asYACYtbU1++yzzyS6ME6ZMoUBYAcPHhTPy87OZlZWVszExITduXNHPF8gELDg4GAGgH399dcKtUl0LK1bt2bZ2dni+Q8fPmSGhoasYcOGEutv376dAWDbt2+XmA+AAWBTp06V6C60detWBoBNmjSpUvuV5/z58wwAa9q0KcvLyxPPT05OZnZ2djK7XZUXH66uruzGjRvs5cuXKt23QCAQd306efKkxLbmzp3LALCxY8dKzFfmcyY6NmXOgzzr169nAFj37t3Z27dvJZa9ffuWvX79Wvx/Zc+l6HP10UcfScT6zZs3mbGxMbO2tmY5OTnltlFet7quXbsyAGzTpk0S8zdt2sQAMEtLS5abmyueL/pcdurUSeI6kJSUxOzs7JiJiQlLTk4utz2lt1WWJ0+eMADM1dVV6lgq063u6tWrLCUlhdWsWZO5uLiwd+/eideR1a1O9D6dPXtWoWNTVKtWrRifz2f5+fkyl6OMbnUiZ8+eZQBYx44dxfMuXLjAALBGjRqxrKws8fyMjAzm5eXFALCLFy8q1May3uuwsDAGgJ0/f15qmej6t2LFCnbjxg1WXFxc5n7K+11R1vmsW7cue/HihXh+eno6s7a2ZhYWFjJ/X925c4cBYB9//HGZbSJEGdStjlR7zs7OmD59OgoKCmBkZFRmFzkXFxfxv/Py8pCamor09HQMGTIEAoFAYjyR33//Hc+fP8eoUaPQu3fvMrdVHjMzM6l5tWrVUvj1soi63rxv+vTpALhSqar03XffSfwVVlRFq7i4GEuXLpXowihaVrqC0++//47s7GyMHTsWfn5+4vl8Ph8rV66EoaGhwt1MRJYtWyZRAa1hw4Zo3749YmNjkZubq9A2atSogRUrVoDPL7mchoSEwNDQEP/++2+V7Ff0MPOiRYtQo0YN8XxnZ+cKD9zL5/Ph7+8PR0dHle778uXLePLkCYKCgqTuSC1atAi2trb49ddfUVhYKJ6vzOdMpCLn4X0bNmyAgYEBNm7cKPWZMzMzg62trdRrFD2XO3bsgJGREZYvXy4R682bN0dISAiysrJw5MgRhdr5vmfPnuH8+fPw8fGRuvM4YcIENGrUCDk5OTILInz77bcS1wEXFxfMnDkTBQUF5T7oLqpS9/TpUwCS3ajerxAnKqjx6tWrihximRwcHDB79mwkJyeXWywgJSVFoj2lRUVFITw8XGJStFtmcnIyrK2tYWJiIjFf9H4AXLfH0u/R+2S9Rzt27ADAdXsrXUHUxsZGfGdG2eteRdnb28Pf379Kh3hYuHAhnJycxP+3s7PDwIEDkZubi9jYWKn1HRwcAHDvPyGqQt3qSLWXlpaGTZs2AeCeH/jjjz/kdm1KT0/HokWLcPjwYaSmpkotf/Hihfjfon7jPXv2rHDbhg8fjrVr12Lw4MEIDg5Gjx490KlTJzg7O1d4myLsv2crIiIicP/+fWRnZ0v06y59LJVlY2Mj1R1J9AuwQYMGMDc3l7msdBtu3boFADKfm3Fzc4Onpyfi4uKQm5sLCwsLhdrVokULqXmiL+ZZWVkKbcfLyws1a9aUmGdoaAgHBwe51aQqu19R0tixY0epZbLmqZKy+y7rvImeJYqMjERsbCyaNGkCQLnPmUhFzkNpeXl5iImJQf369dGgQYNy1xdR5Fzm5OQgPj4ejRo1kvlHka5du2LLli24ffs2Ro8erfC+RW7fvg0A6Ny5s9SXbh6Ph06dOiEmJga3b9+Gq6ureJmhoSHatm0rtT3ReRSdO3lmzZqFrKwsrF27FtnZ2RLdqCpbqVBZc+bMwcaNG7F8+XJMmDABNjY2Sm8jKioKixcvlpqvSPnr169fyzy3ovdk8eLFsLKywqxZs5RqU1mfH9H4VaLzrw/K+zy9T/QHi6pIukn1RckRqfYmT56M9PR0LF++HN999x0+//xz9OrVS+rL/Lt379CpUyfx4KMdOnSAnZ0dDA0NcefOHYSGhkqUYRWVlq5MItO6dWtERUXh22+/xa+//ort27cDAFq1aoUVK1ZUanDHGTNm4IcffoCrqysGDBgAJycn8V89Fy9eLLekbEXIGp9GdBeprGVFRUXieTk5OQBK/lL4PicnJ8TFxSEnJ0fh5KisfStazlze2DuGhoZyt1HZ/WZnZ4PP50s8pyMi7/1RFWX3rch5K72esp8zkYqch/ePC1D+86rIuVT2PVBWedsX3Q18f/t2dnYSd9pERNsprzy+6It+REQEsrOzER4eLnddUUJb+jkf0b7LKqQgWiarnaVZWFhg4cKFmDFjBpYtW4aVK1fKXM/BwQExMTF48eIFvL29JZaJ7hYBwN69e5UaI8rMzAz5+flS80XbW7x4MaytrZV+j3JycsDn82U+H+Xg4AAej1fhuNFGyl4b3717BwBSf2AjpDIoOSLV2q5du3D48GH069cP8+fPh4eHBz788EOMGzcOp0+fllj3yJEjePjwIb766issWbJEYllaWprUtkV/OVVmnAxZOnbsiBMnTuDdu3f4559/cOzYMWzYsAF9+/bF/fv34enpCYD7C3FxcbHMbWRnZ0t0yUhLS8OPP/4IPz8/XL16VeIXS0pKisy/nmqa6JemrDsJQEl3meowUKiVlRWEQiFevXol9aVJ3vujTHyoct/KnjdlP2eqIjr+yn5eZanq2C1v+6L572//1atXEAqFUomHaH1FY0IRou5prVq1Es8TbV9WxcLSbVS0LZMnT8a6deuwfv16ucUk2rVrh6ioKJw/fx7dunVTtPnlql27dqW7dsl6jywtLSEUCpGeng57e3uJ9dPS0sAYU8k1TxQDsq4RVTWGnCpkZGQAgELFNQhRFD1zRKqt58+fY8aMGbC1tRU/ZxQcHIyhQ4fizJkz4q52IqJ+9bKqEcl6BkJUbSgyMlIl7TUzM0OXLl2wevVqLFiwAO/evZNI4GxsbGR+sUtMTJTqjhAfHw/GGAIDA6X+4vbXX3/J3L+on7mmBoht3rw5AMh8BiApKQlPnjyBp6enwneNdFnTpk0ByD5X8s6fMvGhyn2Xdd7evHmD69evw8zMDA0bNgSg/OdMVWrWrAkfHx8kJCTILSNfUZaWlvD09MTjx49lngPRe6NM5bDSRK+7ePEiGGMSyxhjuHjxosztFxcX4+rVq1LbE51H0bmrrHfv3okrDAYHB4vnW1lZwdXVFXFxcXITJFH7Sj9nKI+RkRGWLl2K/Px8LFq0SOY6ISEh4PP52Lx5s0q7YjVp0gT5+fkyy70rIj09Xfw7p/R7VNbnR9m44fP5cq/fom6IsuKzvO6V71Pn7wrRc0iiLrmEqAIlR6TaGjduHLKysvDDDz9IPAC6YcMG1K5dG3PnzhV/UQOAunXrAoDUHaWLFy9i165dUtsfMGAAXFxcsHv3bpw6dUpquSJ/ob569arMrhqiv+yWLlvdqlUrJCYmiseYALhSvbNnz5Z6vahM+ZUrVyS6tCQnJ+OLL76Q2RZR3+6kpKRy210VBg4cCCsrK2zfvh0PHjwQz2eMYf78+SguLlZo3CV9IHou5euvv8abN2/E858/fy63rK8y8aHKfbdv3x716tXDiRMnpIp8LF26FK9fv8aIESPERQGU/Zyp0rRp0yAQCDB16lRxdx2R/Px88V+pKyIkJARFRUX44osvJBKYu3fvIiIiAlZWVhg0aFCFtu3m5oauXbviwYMH2LZtm8Sybdu2ITo6Gt26dZN43khkwYIFEsUwkpOTsW7dOpiYmODDDz+sUHtKe/bsGfr374/o6Gh07twZQ4cOlVgeEhKC4uJizJ07VyqxS05OxqpVq2BgYICPPvpIof0FBwejRYsW2LlzJ+Li4qSWe3l5Yd68eUhLS0NQUJDc8XGU+YMBwD3vBQD//POPUq8DgAcPHqBnz55IS0vD6NGjJe4chYSEAOC65ZXuPpednS2+wy9apzy2trZy726J9rlz506J3wlXr17FL7/8otTxqPN3hej9Fr3/hKgCdasj1dKmTZtw6tQpDB06VKpfee3atbFx40YMHToUY8eOxZkzZ8Dj8dCvXz94enpi3bp1ePjwIZo3b46EhAQcPHgQw4YNk6rsZGJigv3796N3794ICgpC79690bRpU+Tk5OD27dt4+/ZtuX+RW7FiBc6fP49OnTqhbt26MDU1xc2bN3H27Fl4enpi8ODB4nVnz56NyMhI9OnTByNGjIC5uTlOnz4Na2trieQP4J5xGDJkCA4ePIiWLVuie/fuSE1NxR9//IHu3bvjyZMnUm3p1q0bDhw4gCFDhiAoKAimpqZo2rQp+vfvr+zbXyGWlpbYsmULRowYgdatWyM4OBi1a9fGmTNncOPGDQQEBGDu3LlqaYumde3aFWPGjMH27dvRpEkTDB48GAUFBdi3bx/atGmDP/74Q+o1ysSHKvfN5/MRERGBXr16oU+fPhg2bBjc3d1x9epVREVFoV69eli+fLl4fWU/Z6o0ZcoUXLhwAfv370eDBg0wYMAAWFpa4tmzZzh16hR+/vnnCicw8+bNw59//oldu3YhJiYG3bt3F4/FVFxcjC1btlTqrufGjRvRoUMHTJgwAceOHYOPjw+io6Nx9OhR8TXtfU5OTnjz5g38/PzQv39/8ThHr1+/xvfff6/081ei52kEAgGysrJw9+5dXL58GQKBAP369cPOnTulCkYsWLAAZ86cwfbt23H16lX06NEDlpaWePr0KX7//Xfk5eVh9erV8PLyUqgNPB4Py5cvR48ePZCQkCBznW+++QaFhYVYs2YNvL290alTJzRt2hTm5uZIS0vD3bt3ce3aNdSsWVPhuzIDBw7E7Nmzcfr0abnjVWVlZYnfo+LiYrx+/Ro3b97Ev//+C8YYxo4dKzWAcKdOnfDpp59i/fr1aNy4MYYMGQLGGA4ePIjk5GTMmDEDnTp1UqiN3bp1w/79+zFo0CA0b94cBgYGGDBgAPz8/NCmTRu0b98e586dQ9u2bdGpUyfxOejfvz8OHz6s0D5E+1HX74rTp0/DxsZG4feAEIVoqoY4IZoSHx/Patasyezt7Vl6errc9UaMGMEAsB9//FE8LzExkQ0bNozZ29szc3Nz1qpVK7Z//37x2C9hYWFS23n8+DEbN24cc3FxYUZGRsze3p516dKF7dy5s9y2njx5kn388cesYcOGzMLCgtWsWZP5+PiwBQsWyGz7b7/9xpo0acKMjY2Zo6Mj+/TTT1lubq7McY5yc3PZ559/zjw8PJiJiQlr0KABW7JkCSssLJQ5DkVRURGbN28ec3NzY4aGhjLHWpFF1r5FZO2HMfljuTDG2MWLF1lQUBCztrZmxsbGzMvLiy1cuFBizJ3ylDUOh2i8jdJjo5Q1zpEyY0spu9+yFBcXs2XLljFPT09mbGzMPD092bfffsseP34s971TJj5Uve+7d++yoUOHMjs7O2ZkZMTc3d3ZzJkzZcaxsp8zZc9DWYRCIdu6dStr06YNq1GjBjM3N2cNGjRgkydPZs+ePROvV5FzmZeXxxYuXMi8vLzEYxsFBQWxv/76S+H2lfXZSExMZGPGjGFOTk7M0NCQOTk5sTFjxrDExESpdUXvS0ZGBps4cSJzcHBgJiYmrGnTpuzXX39VuD2ibeG/saYAMGNjY2ZnZ8datmzJpkyZUu7x5efns9WrV7OAgABmaWnJDA0NmaOjIxs0aBA7d+6czNeUHudIlp49e4rbI+8zdfPmTTZx4kTm7e3NatasyYyMjJiDgwPr1q0bW7VqFUtNTVXqfQgKCmI2NjYyxzoq/f4AYCYmJsze3p61a9eOzZ49m92+fbvMbW/bto21atWKmZubiz8T27ZtU6p9L1++ZMOHD2d2dnaMz+dLXdNevXrFPv74Y2Zra8vMzMxYmzZt2KlTp+Re/+Qp73eFrM9rWdc/eWMwJSQkMB6Px2bNmqXYG0CIgniMvXcfmxBCCCF6zcPDAwCkxiMiFXf27FkEBgZi9+7dCncDJBX31VdfYeXKlYiJiUG9evU03RyiR+iZI0IIqWbCw8PB4/EUHuCSEFK+7t27o3fv3li6dGmZ5ckrQ94AslWxH0XGd9KUzMxMrF+/HlOmTKHEiKgcJUeEEEIIISqwbt06BAcHV0lJeFIiISEBn332mdyqhIRUBnWrI4SQaubVq1d49eoV3NzcaPDEaoq61ekm0dAQPXv2rNL9PHz4EObm5lKDoRNSHVByRAghhBBCCCGgbnWEEEIIIYQQAoCSI0IIIYQQQggBQMkRIYQQQgghhACg5IgQQgghhBBCAFByRAghhBBCCCEAKDkihBBCCCGEEACUHBFCCCGEEEIIAEqOCCGEEEIIIQQA8H/bBVlpRswEug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3630" y="1322833"/>
            <a:ext cx="5428891" cy="4512736"/>
          </a:xfrm>
          <a:prstGeom prst="rect">
            <a:avLst/>
          </a:prstGeom>
        </p:spPr>
      </p:pic>
    </p:spTree>
    <p:extLst>
      <p:ext uri="{BB962C8B-B14F-4D97-AF65-F5344CB8AC3E}">
        <p14:creationId xmlns:p14="http://schemas.microsoft.com/office/powerpoint/2010/main" val="9783491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Stochastic Gradient Descent</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AutoShape 2" descr="data:image/png;base64,iVBORw0KGgoAAAANSUhEUgAAA0cAAAIwCAYAAABN6hBOAAAAOnRFWHRTb2Z0d2FyZQBNYXRwbG90bGliIHZlcnNpb24zLjEwLjAsIGh0dHBzOi8vbWF0cGxvdGxpYi5vcmcvlHJYcgAAAAlwSFlzAAAPYQAAD2EBqD+naQAA7d5JREFUeJzs3Xd0FNX7BvBndtNISCchlFBCCR0R6S30KijSe1FsqFjBRlGQpuhPv4gN6U0FpEmVqoDShEiTFgJICJCQhJK2e39/xF2y2U2yu7nJ7myezzk5x70zO/PO5iHmzczcUYQQAkRERERERMWcxtEFEBEREREROQM2R0RERERERGBzREREREREBIDNEREREREREQA2R0RERERERADYHBEREREREQFgc0RERERERASAzREREREREREANkdE5CR27tyJyZMnY//+/Y4uhYiIiIopRQghHF0EUXFw/PhxrF27FlWrVsWQIUMcXY5TuX79OurUqYNy5crh4MGD8Pb2dnRJNtu/fz+2bduG2rVro2/fvo4uh4iIiOzA5oioiOh0Ojz55JPYuHEjNmzYgO7duzu6JKfRo0cP/P777zh8+DCqVKni6HJsdu3aNTRo0AAeHh44cOAAwsPDHV0SERER2YGX1RFZoVKlSlAUBQsXLsxzvaioKCiKgsmTJ5st02q1WLlyJRo1aoRhw4bh8uXLhVOsk1u7di00Gg00Gg0mTJiA06dPo1SpUvjhhx9U2RhlZmZiwIABSEtLwy+//FIkjdHp06fx2muvoUGDBggODoa7uzuCg4PRrFkzvP322zh9+nSh1+AMFi5cCEVR8v2qVKmSo0stFqz9OUkFY8i1s1i3bh0URcEnn3xS4G0tXboUiqLgyy+/lFAZkX3YHBEVIW9vb2zcuBGBgYHo168f0tPTHV1SkYqOjsawYcPw6quvYtmyZfj4449x/PhxLFy4EB07djRbf8SIEU7/y9Y777yDP/74A6tXr0a9evVyXW/y5Mm5Ns7WyszMxKuvvoo6derg008/RWxsLBo1aoR+/fqhadOmuHTpEmbMmIE6dergf//7n937URsfHx8MHz48168+ffpI2c/u3buhKAqioqKkbI9I7dLS0vDaa68hPDwcL774YoG3N2jQINStWxfvv/8+EhISJFRIZDs3RxdAVNyEhIRgy5YtWLp0KU6ePIkGDRo4uqQikZGRgQ8//BDPPvssPv74YwBAamoqvvzyS7Rp0wZlypRxcIW2S05ORsmSJfHzzz+jQ4cOhb6/IUOGYNWqVfDz88P//d//YejQodBqtcblQghs374db7/9Ns6fP1/o9TiLUqVKOXUDTeSqvvjiC1y8eBFz586Fl5dXgben0WgwadIk9OnTB1OnTsWcOXMkVElkGzZHRA5QtWrVAp1BUCN3d3f88MMPJmMjR47EyJEjHVRRwfn5+WHixIlFsq/vv/8eq1atgru7O7Zt24YmTZqYraMoCjp16oS2bdvi8OHDRVIXERVPOp0OX3zxBby8vDB48GBp2+3ZsydCQkIwf/58fPDBByhZsqS0bRNZg5fVERWBjIwMLF26FIMHD0aNGjXg5+eHEiVKIDIyEi+//DL+/fdfi+8z3MO0e/duHDx4EN27d0dwcDB8fX3Rpk0b7Nu3z7juli1b0L59ewQGBqJkyZLo2LEjjh49anOt2a9nX7p0KRo3boySJUsiJCQEAwcORGxsLICssxT/+9//8Mgjj8DHxwelSpXCiBEjEB8fX+Djj4mJgaIoWLRoEYCsJir7PSTWNpaGeyBiYmKwefNmREVFwd/fH4GBgejRoweio6ON6y5fvhzNmjWDr68vAgIC0Lt3b1y4cMHidtesWYOnn34aderUQWBgILy8vFC5cmWMGjUKZ8+etfiZTpkyBQAwZcoUk2MZMWJEvschhMC0adMAAM8//7zFxig7d3d3NGvWzPg6++Vg9+/fx8SJE1GzZk14e3ub3Y+zcuVKtG/fHkFBQfD09ETFihUxatQo/PPPPxb3df36dbzyyiuoXr06vLy84O3tjfDwcLRv3954hjC7HTt24PHHH0fp0qXh7u6OwMBAVKtWDUOGDMHevXvz/SxkyH6J482bN/Hiiy8iPDwcHh4eCA8Px0svvYQ7d+6YvCcqKgpt27YFAOzZsyfXe5qyXwr6999/o3///ihTpgy0Wq1JbhMSEvDOO++gdu3a8Pb2hq+vLxo2bIhZs2bhwYMHZjXn/B6+8847qFq1Kry8vFC2bFmMHj0a165dM3nPrl27oCgKatSogdzmXkpNTUVwcDAURcGpU6fs+0AL4OrVq3jppZdQrVo1eHl5wd/fHy1atMDXX38NnU5n8T0//vgjOnToYHK/Xa1atfDMM8/gxIkTJusmJSXhvffeQ926deHj4wNPT0+ULVsWLVq0wMSJE5GRkVEUh1lkbM2Vwbp169CqVSv4+vrC398fbdq0waZNm4w/iy3dt7d+/XrExsbiiSeegL+/v8myixcvIiAgABqNBps3bzZ777///ovQ0FAoioJVq1aZLHN3d8egQYOQnJyMJUuW2PdBEBWEIKJ8VaxYUQAQCxYsyHO9Nm3aCABi0qRJJuNXrlwRAIS/v79o2rSp6Nu3r+jWrZsoW7asACBCQkLEuXPnct3eG2+8Idzc3ESDBg1E//79xSOPPCIACE9PT/H777+L//3vf0Kj0YjmzZuLfv36ierVqwsAomTJkha3mxcAAoCYMGGCcHNzE+3atRN9+vQRFSpUEABEeHi4SEhIEP369RNeXl6iS5cu4sknnxShoaECgKhXr55IS0sr0PHfvHlTDB8+XFSpUkUAEC1atBDDhw83fq1du9aqYzF83yZMmCAURREtWrQw+XwCAgLE+fPnxZtvvmlyrOHh4QKAKFu2rEhISDDbrlarFd7e3uKxxx4TvXv3Fo8//rioVKmSACB8fHzE77//brL+8OHDRf369QUAUb9+fZNj+fbbb/M9juPHjxu/L0eOHLHq2LPbtWuXACCaNGkiGjVqJHx8fETXrl1F//79RYcOHYQQQuj1ejFs2DABwPhZDBgwwPhZeXt7i82bN5ts9/r168bvYYUKFUSvXr1E//79RatWrURQUJDw9/c3WX/hwoVCURShKIpo0qSJ6N+/v+jZs6d49NFHhVarFa+88opNx7VgwQIBQFSsWNGm902aNEkAEKNGjRLly5cXpUuXFr179xbdunUT/v7+AoBo1KiRSE9PN75n+vTponPnzgKAKF26tMn38PXXXzeuN3z4cAFAPPPMM8LT01NUqlRJ9OvXTzz++OPi448/FkIIceHCBWM2Q0JCxFNPPSV69uwpfH19BQDx6KOPmuXO8D1s1qyZaNq0qfD29hbdunUTffv2FWXKlBEARFhYmPjnn39M3le3bl0BQGzbts3iZ/H9998LAKJt27bGMUPWdu3aZdPnau3PSYM///xTBAUFGfPTv39/0aVLF+Hl5SUAiM6dO5v9LJkyZYoxo61btxYDBw4U3bp1E3Xq1BGKoohPP/3UuO69e/dEnTp1jJ/z448/LgYMGCCioqJEWFiYACASExNtOkZnYPj+5GRProQQYubMmcZtNmnSRAwcOFA0atRIABBvvfVWrv/GDD8vvvvuO4t1rl69WgAQpUqVEleuXDGOZ2ZmilatWgkA4oUXXrD43o0bNwoAolOnTlZ+KkTysDkiskJBm6Pk5GSxbt06s//Rp6eni7ffflsAEN26dct1e4qiiCVLlpgse+211wQAERkZKUqWLCl27NhhXJaZmSmeeuopAUA8/fTTNh2r4X+SwcHB4q+//jKO379/X7Rs2VIAEHXr1hVVqlQRMTExxuU3b94UVatWFQDE0qVLpRy/4RdNa3/ZysnwffP09DT7fPr27SsAiDp16pgd671790Tz5s0FADF16lSz7S5cuFAkJyebjOl0OvHxxx8LAKJ27dpCr9ebLDf8Qp4zG9aYP3++ACA8PDxERkaGze83/GJtaF6vX79uts68efOMv8gcO3bMOK7X6421BwQEiPj4eOMywy+qY8aMMTve9PR0k89cCCEqV64sAIh9+/aZ7f/GjRvi6NGjNh1XQZsjAGLEiBEiNTXVuCw2NlaUK1dOABDLly83eZ/hc2zTpk2u2zZk1tCU63Q6s3WaNGkiAIiePXuKu3fvGsfj4+PFo48+KgCIQYMGWdw3AFG1alVx+fJl47IHDx4Y/703bdrU5H3ffvutcV+WNGzYUAAQq1evNo4VRXOUmppqXP+5554zaUQvXLhg/GPDO++8Y/KeEiVKiJIlS4ozZ86YbTMmJkacPn3a+HrRokUCgOjatavJ9oXI+ve6e/dus59Jecn+vbXly9bPMT+5NUf25Oro0aNCq9UKrVYr1qxZY7Lshx9+EBqNJtd/Y4Y/Ip08eTLXWl955RXjH7gMP7vGjx9vbNay/9vL7vbt20JRFOHt7W3T94hIBjZHRFYw/E/c2i9bfwEuW7as0Gg0Zr9wG5qjvn37mr3n9u3bxv29+eabZsuPHDkiAIjKlSvbVIthm3PnzjVbtmbNGuPyTZs2mS3/5JNPBAAxcuRIm/aZ2/HLao4sfT5Hjx7N81gNf/XM/hd1azz22GMWf2EoSHM0Y8YM45kBe2T/xXrv3r0W1zGcpfv888/Nlun1elGvXj0BQEybNs04/sILLwgAZr9U5cbb29vsbFJBGJqj/L5ynpEyfC/Kly8v7t27Z7Zdw+c9atQok3FbmqPq1auLzMxMs+X79u0TQNaZuLi4OLPlhw8fFgCERqMx+Wt79u/hzz//bPa+GzduCG9vbwHA5Mzl/fv3RXBwsNBoNCZ/zBBCiAMHDggg62xw9lojIyNFZGSk+OOPP3I9TktsaY6WLFkigKyzs5Z+Qf7pp58EAOHr6ysePHgghMj6Jd/Q4Ftj1qxZAoCYM2eOTceRm2+//dbkjKG1X9kbNhksNUf25mrUqFECgBg4cKDFffXp08dic3Tz5k3j9izl3CA9Pd3YtL311lti06ZNQlEU4e/vLy5cuJDncRrOiB4/fjzP9Yhk44QMRDZo0aIFqlatmuvyLVu24MaNG7kuP378OH799VdcunQJ9+7dg16vB5A1RbNer8f58+ctzl7XrVs3s7GgoCAEBwfj9u3bFpdXq1YNAHK9nyk/eW3Tzc0NnTp1snmf9h5/QeV1LPktz+1YUlJSsHv3bly4cAEpKSnG+yPS0tIAAGfPnkWtWrUKXLtMoaGhaNWqldn41atXjfdXDR8+3Gy5oigYOXIkXn31VezatQvvvPMOAKBx48b48ssvMWHCBAgh0KlTpzxvnm7cuDF2796NYcOG4ZVXXkGDBg2g0RT81lcfH588p+tu3LixxfH27dvD29vbbLxmzZoAYHYPjy2eeOIJk5kEDXbv3g0A6NKlC0qXLm22vGHDhqhfvz6OHz+OPXv2mN3oHhAQgJ49e5q9LzQ0FF26dMGaNWuwe/duNG/eHABQokQJjBkzBtOnT8e8efMwY8YM43vmzp0LAHjuuedMaj1z5oztB2wjw+cwYMAAeHp6mi3v3bs3AgMDkZiYiCNHjqBFixYICQlBpUqVcOLECbz++usYPXp0nv/GGjVqBACYNWsWgoOD0aNHDwQFBdld89NPP42nn37a7vcXJntztWfPHgDIdUKFwYMH46effjIbN/x/zt/f32LODdzd3bFq1So8+uijmD17Nr766isIITB//nxERETkeUzBwcG4fv16nv9PJSoMbI6IbPD000/neQN9VFSUxR/k9+7dw9ChQ7F27do8t5+cnGxxvEKFChbHS5Ysidu3b1tc7uvrC+DhL+u2srRNwy++ZcqUgZub+Y8Pwz5TU1NNxgt6/AWV17Hktjy3YwGAadOmYdq0aXne4CzzWEJCQgBk3Wyt0+ny/GUkL7k9DNXQBAQHB8PPz8/iOoYH9GZvGIYOHYrt27dj2bJleOqpp6DValGrVi20bNkSffr0Qbt27Uy28eWXX6JHjx5YsmQJlixZAl9fXzRq1Ajt2rXD0KFDTb4PP//8M37++WezOp5++mm0bNnSZMzeqbxz+3dl+Awsfe+tld9nXbly5VzfW6VKFRw/ftxic2aYZMQSwzavXr1qMv7CCy9g9uzZmD9/PiZPngwvLy/cvHkTP/74Izw9PfHMM89Yc0hS5fc5KIqCypUrIzEx0eRzWLx4Mfr06YM5c+Zgzpw5CAoKQpMmTdCxY0cMHToUpUqVMq4bFRWF8ePHY/bs2Rg+fDgURUG1atXQokUL9OrVC48//riU5lyWW7du4Y033jAbr1GjBiZMmJDne+3NlSErueU1t/GkpCQAyPXnRXYVK1bEF198gcGDByM5ORnPP/88nnrqqXzfZ9h2YmJivusSycTmiKgIvP3221i7di1q1KiBGTNmoFGjRihVqhQ8PDwAAM2bN8eBAwdynVEqv/+BF8b/4PPapq37K+jxF5TMz+/bb7/Fe++9h7CwMMyfPx/NmzdH6dKljc/4GDRoEFasWCH1WBo2bAgASE9Px/Hjx/Hoo4/atZ0SJUpIqwnI+tyWLl2Kd955B5s2bcLvv/+O33//HfPmzcO8efPw+OOPY+3atcZmrmbNmjh79iy2bduGnTt3Yv/+/di3bx927tyJDz74APPnz8eQIUMAAH/99ZdxtsLsoqKizJqjgtRfWGR/1rbImb3y5cujd+/e+OGHH7Bq1SoMHz4c3333HdLS0jB06FBj860GrVq1QkxMDDZt2oQ9e/Zg//792Lp1KzZv3oxJkyZh7dq1aN++vXH9GTNm4LnnnsOGDRvw22+/4ffff8eCBQuwYMECNGrUCLt27YKPj49V+/7uu+/w22+/2VzzhAkTUKNGjXzXu3v3rsXMt2nTJt/mqKBya7hzGw8ICABg3R+BhBBYtmyZ8fXRo0eRkZEBd3f3PN9naMACAwPz3QeRTGyOiIqA4fk+q1atQr169cyWnzt3rqhLKlKudPyGX16+/vpri5c3Fcax1KtXD5UrV8alS5ewaNEiu5uj3JQrVw4AcPv2bSQnJ1v8a/DFixdN1s2uVq1aqFWrFt58800IIbBz504MGjQIGzZswOLFi02eZeXm5oZu3boZL2VMTk7GnDlzMGXKFDz77LN48skn4ePjg8mTJ7vks8AMn5/h87Qkr886JiYm1/cZlpUvX95s2csvv4wffvgBc+fOxZAhQ/DVV18BAMaOHWtt6VJZ8zlcunTJZF2DEiVKoE+fPsZLKW/evIn33nsP33zzDUaNGoXLly+brF+pUiW89NJLeOmllwAAhw4dwpAhQ3Do0CHMmjXLOM1+fn777TeLzUt+RowYYVVzVKlSJbv/qGJvrsqVK4eLFy8iJibG4iWKueUtNDQUAHDnzp18z2bPnDkTv/zyC2rWrImAgAAcOHAA48ePz/cBr7dv3wYAi5cJEhUm5zmfTOTCEhISAGRdXpDT1q1bcevWraIuqUjZe/yGM0uZmZmFV5yNDM9xsnQsJ0+exF9//WXxfQU5FkVRjPf5zJs3D3/++Wee62dmZuLgwYNWb798+fLGy+YsXZ4mhDCOG571k1et7du3x6BBgwAg18/DwM/PD5MnT0ZAQADu37+f6/OUnIGMPEZFRQHI/f7EY8eO4a+//oJGo0Hr1q3Nlt+5cwcbNmwwG7958ya2bNliso/sWrRogYYNG+LQoUN47733EBsbi0aNGuV6P1ZhM9S4atUqi5cvrl27FomJicbn9OQlJCQEs2bNAgDExsbmexlWo0aN8MILLwDIP5/ZLVy4ECJrIiubvix9P2SzN1eG/16+fLnF7eY2XqpUKYSHh0MIkec9avv27cN7770Hb29v/Pjjj1i1ahWCgoLw6aefYt26dbm+7/bt24iLi4O3t7fxHkCiosLmiKgIGH64f/HFFybjZ8+exXPPPeeIkoqUvcdv+Av4yZMnC684G1WvXh1A1s3shgklgKyHoQ4bNizXX5wLeixPP/00+vTpg4yMDHTs2BGLFi0ye0im4axN8+bNsXLlSpu2b7jX4cMPP8Tx48dNtjl16lT89ddfCAgIMLk/ZfHixThy5IjZtgyTVQAPm8j79+9jzpw5uHnzptn6+/btw507d6DVai2e9XAWhtrOnTtn98NDW7ZsiSZNmuDBgwd49tlncf/+feOyW7du4dlnnwWQNVFBeHi4xW28/vrrJvcVpaWl4cUXX8S9e/fQuHFjtGjRwuL7XnnlFQAwTsqQ21mjGjVqoEaNGvk24QXRt29fVKhQAf/++y9ee+01k383ly5dwuuvvw4AeOmll4yXrF6+fBnfffedxUu5DA1jYGCg8czn2rVrsXfvXpN/p0DWQ6kNjaSlP3Kokb25Gjt2LDQaDVauXGnWrKxZswarV6/OdZ+GP5QcOHDA4vKbN29i4MCB0Ol0mDt3LmrXro3w8HAsWrTIOMlLbmem9u/fbzyu/C6/I5KuqKbFI1Kzgj7naPXq1UJRFAFkPSNowIABol27dsLd3V20a9fO+EydnM/DMGwvt+dkGOq6dOmSxeXI5XkYecnrPZcuXcr1mRdC5D7Vsb3Hf/z4caHRaIRGoxEdOnQQI0eOFKNHjxbr1q2z6lgK8vnkdqy///67cHd3F/jveTP9+vUTXbp0ESVKlBC1a9cWTz75pMWsxMXFCR8fH+MzP0aMGCFGjx4tvv/+e6uORYisaXHHjh1r/CyDg4NFly5dxKBBg0T37t2NU99qtVqT6cmtmYJar9eLoUOHCiDrAZvt27cXAwcOFJGRkQKAKFGihPjll19M3tOrVy/jdMzdunUTgwcPNnmQap06dYzTsycmJhqn/q1fv77o06ePGDhwoGjWrJnxeCZOnGj1ZyHEw6m8fXx88p1OOfuU3flNq57X52WYqj0yMlIMHjxYjB49WowfP9643Jrp57M/rDM0NFT06dNH9OrVS/j5+Rmf/5LXQ2CbNGkivL29RY8ePUS/fv2MD+INDQ21+Pwfg7S0NFG6dGkBZD0kNLdnzBj+Xdj7nKOIiAjRpEmTXL8MDzLO/hDYihUriv79+4tu3brl+hDYY8eOCQDC3d1dNGrUSPTr10/069dPNGjQQABZz4PL/kBSwzN2SpUqJTp27CgGDx4sevbsaXxgdbly5UymtVaL3H5u2ZMrIYT46KOPjNts2rSpGDRokGjcuLEAIF5//XUBQFSrVs3sfYZHO/Tr189smU6nE506dRIAxPDhw82WG7bbuHFjs2dQCSHEyy+/LACIL7/80spPhUgeNkdEVihocySEEHv37hXt27cXpUqVEt7e3qJOnTpi2rRpIi0tLdcmyFWaIyHsO34hhFi7dq1o0aKF8PX1Nf4Sbe2zggqjORJCiL/++ks8/vjjokyZMsLLy0tUq1ZNvPXWWyI5OTnPX4737t0rOnToIAIDA40PV7T0i0N+Tp48KV555RVRv359ERAQINzc3ERgYKBo0qSJeOedd8Q///xjsr41zZHB8uXLRVRUlAgICBDu7u4iPDxcjBgxwuIv3Xv37hXjxo0TjRs3FmFhYcLDw0OEhYWJZs2aiS+++MLkQZQZGRniq6++EgMHDhQ1atQQ/v7+okSJEqJKlSriqaeeEr/++qvNn4O1zzkCIBITE43vK0hzdPnyZTFo0CBRpkwZ4ebmZpYRa5/Ndfv2bfH222+LmjVrCi8vL+Ht7S0aNGggZsyYIe7fv59nTXfv3hVvvvmmqFy5svDw8BClS5cWI0aMELGxsfl+Zv379xcAxNtvv53rOgVtjvL7yr7d2NhY8eKLL4qIiAjh4eEhfH19RbNmzcS8efPMHnicnJwsPvvsM/Hkk0+KatWqiZIlSwofHx9RvXp1MWzYMHH48GGT9Y8dOyYmTJggWrZsKcqVKyc8PDxESEiIaNiwofjoo4/ErVu3bDo+Z5HXzy1bc2WwZs0a0aJFC+Hj4yN8fX1Fy5Ytxc8//yz27t1rbMpzyszMFBUqVBBeXl5mTdeHH34oAIhatWpZfJZYenq6aNq0qQAgxo0bZ7asVKlSws/PT6SkpFjzkRBJpQhRSNNDERERkRS7d+9G27Zt0aZNG+Mli7a6c+cOypcvj9TUVFy6dCnXy/aIDD744ANMmjQJL730Ej7//HOz5R9//DHefPNNfP7558YJLwpq9erV6NOnD1599dV8J20gKgy854iIiKgYmD59Ou7du4d+/fqxMSKjc+fOWZzEYv369Zg+fToURbH4cGgg656wiIgIzJo1q0DPBTPQ6/WYMmUKgoKC8N577xV4e0T24FTeRERELmr//v34/vvvcenSJezcuRPe3t6YOnWqo8siJ7Js2TJ89NFHaNCgAcLDw5GRkYGzZ8/i7NmzAIDJkyfnOmOgp6cn5syZgyeeeAL/+9//LD7E1hbLly9HdHQ05s6di6CgoAJti8hebI6IiIhc1D///IP58+ejRIkSaNq0KWbOnImIiAhHl0VOpEuXLjh37hwOHjyI06dPIzU1FcHBwXj88cfxwgsvoEuXLnm+v1evXtIeej1kyBDjg6CJHMUp7zmaPHmy2UPZIiMj85xLn4iIiIiIqCCc9sxR7dq1sWPHDuNrNzenLZWIiIiIiFyA03Ycbm5uCAsLc3QZRERERERUTDhtc3Tu3DmULVsWXl5eaNasGaZPn44KFSpYXDctLQ1paWnG13q9HgkJCQgODoaiKEVVMhERERERORkhBFJSUlC2bFloNHlP1u2U9xxt3rwZd+/eRWRkJK5fv44pU6bg2rVr+Pvvv+Hr62u2vqV7lIiIiIiIiAyuXLmC8uXL57mOUzZHOd25cwcVK1bEnDlzMHr0aLPlOc8cJSUloUKFCrh48SICAgIAAIqiQKPRQK/Xm8yqYhjX6XQm28xtXKPRQFEUi+NA1lkra8a1Wi2EEBbHc9aY2ziPqWiOKTMzEydPnkTNmjWh1Wpd4phc8fukhmPS6XRmWVL7MVmqncdUNMeUnp6O06dPG/PkCsfkit8ntRxTZmamMU9ubm4ucUyu+H1SwzFlz5JWq3WKY0pOTkalSpVw584d+Pv7Iy9Oe1lddgEBAahevTrOnz9vcbmnpyc8PT0tvi8wMLCwyyMXp9Pp4Ovri8DAQOMvtET2YJZIJuaJZGKeSBZnzJKhDmtut8n7ojsncffuXVy4cAFlypSx6X35XVNIZA2NRoPIyEjmiQqMWSKZmCeSiXkiWdSeJaes+o033sCePXsQExOD/fv348knn4RWq8XAgQMdXRoVUx4eHo4ugVwEs0QyMU8kE/NEsqg5S07ZHF29ehUDBw5EZGQk+vXrh+DgYBw8eBAhISE2bSfntZBE9tDr9YiOjmaeqMCYJZKJeSKZmCeSRe1Zcsp7jlauXOnoEoiIiIiIqJhxyjNHRERERERERY3NEREREREREVTynCNbJScnw9/f36q5zInyY5jL3zCXPpG9mCWSiXkimZgnksUZs2ToDZKSkuDn55fnujxzRGSF9PR0R5dALoJZIpmYJ5KJeSJZ1Jwll26O1DpLBjkXvV6Ps2fPMk9UYMwSycQ8kUzME8mi9iy5dHNERERERERkLTZHREREREREYHNEZBWtVuvoEshFMEskE/NEMjFPJIuas+TSs9VZMyMFERERERG5Ls5W9x8X7PvIAYQQSE5OZp6owJglkol5IpmYJ5JF7Vly6eZIrbNkkHPR6/W4ePEi80QFxiyRTMwTycQ8kSxqz5JLN0dERERERETWYnNEREREREQENkdEVvHy8nJ0CeQimCWSiXkimZgnkkXNWeJsdURERERE5LI4W91/1HojGDkXvV6P27dvM09UYMwSycQ8kUzME8mi9iy5dHPkgifFyAGEELhy5QrzRAXGLJFMzBPJxDyRLGrPkks3R0RERERERNZic0RERERERAQ2R0RW8fX1dXQJ5CKYJZKJeSKZmCeSRc1Z4mx1RERERETksjhb3X/UOksGORe9Xo+4uDjmiQqMWSKZmCeSiXkiWdSeJZdujlzwpBg5gBACcXFxzBMVGLNEMjFPJBPzRLKoPUsu3RwRERERERFZi80RERERERERXLw5UhTF0SWQC1AUBUFBQcwTFRizRDIxTyQT80SyqD1LnK2OiIiIiIhcFmer+4/ZLBkXLwLbtgHffQdMnAj89ptjCiNV0ev1iI2NVe2sK+Q8mCWSiXkimZgnkkXtWXJzdAGFyeyk2MsvA5s2PXzt7g60bFm0RZHqCCGQkJCAcuXKOboUUjlmiWRinkgm5olkUXuWXPrMkZnwcNPXsbGOqYOIiIiIiJxO8WqOKlQwfX3limPqICIiIiIip+PSzZHZLBk8c0R2UBQFYWFhqp11hZwHs0QyMU8kE/NEsqg9Sy59z5FGk6P3s3TmSAhApd88KhoajQZhYWGOLoNcALNEMjFPJBPzRLKoPUsufeZIp9OZDuQ8c3T3LnDnTpHVQ+qk0+lw4cIF8zwR2YhZIpmYJ5KJeSJZ1J4ll26OzJQrZ36WiPcdkRVSUlIcXQK5CGaJZGKeSCbmiWRRc5aKV3Pk4QHkPM3H+46IiIiIiAjFrTkCOGMdERERERFZ5NLNkcVZMjhjHdlIURSEh4erdtYVch7MEsnEPJFMzBPJovYsFa/Z6gDzM0dsjigfGo0GwcHBji6DXACzRDIxTyQT80SyqD1LLn3myOIsGTnPHPGyOsqHTqfDmTNnVDvrCjkPZolkYp5IJuaJZFF7lly6ObKIZ47IDqmpqY4ugVwEs0QyMU8kE/NEsqg5S8WvOcp55ujaNUClnS0REREREclT/JqjnGeOMjOBuDjH1EJERERERE7DpZsjixMyhIRkPe8oO953RHnQaDSIiIiwnCciGzBLJBPzRDIxTySL2rOkzqqtZHEKQY2G03mTTRRFgZ+fn2qnpCTnwSyRTMwTycQ8kSxqz5JLN0e5zpLBGevIBjqdDtHR0aqddYWcB7NEMjFPJBPzRLKoPUsu3RzlijPWkY3U+g+cnA+zRDIxTyQT80SyqDlLxbM54pkjIiIiIiLKoXg2RzxzREREREREObh0c5TrLBk8c0Q20Gg0iIyMVO2sK+Q8mCWSiXkimZgnkkXtWVJn1QWV88xRfDyg4if5UuHzyDn9O5GdmCWSiXkimZgnkkXNWXLp5kiv11tekPPMEQBcvVq4xZBq6fV6REdH554nIisxSyQT80QyMU8ki9qz5NLNUa78/AB/f9Mx3ndERERERFSsFc/mCOB9R0REREREZKL4NkecsY6IiIiIiLJx6eYoz1kyeOaIrKTRaFC3bl3VzrpCzoNZIpmYJ5KJeSJZ1J4ldVYtA88ckQ3S09MdXQK5CGaJZGKeSCbmiWRRc5ZcujnKc5YMnjkiK+n1epw9e1a1s66Q82CWSCbmiWRinkgWtWfJpZujPFk6cySEY2ohIiIiIiKHK77NUc4zR3fvAklJjqmFiIiIiIgcrvg2R+XKAYpiOsb7jigXWq3W0SWQi2CWSCbmiWRinkgWNWdJEcL1riVLTk6Gv78/kpKS4Ofnl/uKZcoAcXEPX2/cCHTvXvgFEhERERFRkbC6N4CLnznKt+/jjHVkBSEEkpOT888TUT6YJZKJeSKZmCeSRe1ZcunmKN9ZMjhjHVlBr9fj4sWLqp11hZwHs0QyMU8kE/NEsqg9Sy7dHOWLZ46IiIiIiOg/xbs54pkjIiIiIiL6T/FujnjmiKzk5eXl6BLIRTBLJBPzRDIxTySLmrNUvGer+/NPoEmTh6/d3YEHDwAVTz9IREREREQPcba6/+R7I1jOM0cZGcCNG4VXEKmSXq/H7du3VXtjITkPZolkYp5IJuaJZFF7lly6Ocr3pFhoaNbZoux43xHlIITAlStXVDslJTkPZolkYp5IJuaJZFF7lly6OcqXRmM+KQPvOyIiIiIiKpaKd3MEcMY6IiIiIiICwOaIM9aRVXx9fR1dArkIZolkYp5IJuaJZFFzltwcXUBh0loz6xwvq6N8aLVaVKlSxdFlkAtglkgm5olkYp5IFrVnyaXPHFk1S0bOM0e8rI5y0Ov1iIuLU+2sK+Q8mCWSiXkimZgnkkXtWXLp5siqWTJ45ojyIYRAXFycamddIefBLJFMzBPJxDyRLGrPkks3R1bJeeYoPh5ITXVMLURERERE5DBsjnKeOQKAq1eLvg4iIiIiInIol26OFEXJfyV/f8DPz3SM9x1RNoqiICgoyLo8EeWBWSKZmCeSiXkiWdSeJZdujjQaKw+P9x1RHjQaDSpUqGB9nohywSyRTMwTycQ8kSxqz5I6q7aS1bNkcMY6yoNer0dsbKxqZ10h58EskUzME8nEPJEsas+SSzdHVs+SwTNHlAchBBISElQ76wo5D2aJZGKeSCbmiWRRe5acvjmaMWMGFEXBuHHjCm8nPHNERERERFTsOXVzdOjQIXz99deoV69e4e6IZ46IiIiIiIo9p22O7t69i8GDB+Pbb79FYGCgXduwepaMnGeOYmMBlZ4KJPkURUFYWJhqZ10h58EskUzME8nEPJEsas+Sm6MLyM2LL76I7t27o0OHDpg6dWqe66alpSEtLc34Ojk5GUDWNY86nQ5A1jdKo9FAr9ebXAOpKAo0Oc8c3b0LfWIiNEFBxvcbaDQaKIpicRwwnwQit3GtVgshhMXxnDXmNp7nMWk0ZjXmNs5jyvuYFEVBSEiISZ7Ufkyu+H1SwzFZypLaj8lS7TymojkmIYRJnlzhmFzx+6SmYzLkSa/Xu8wx5Vc7j6lwjin7zyZnOKacy/PilM3RypUrcfToURw6dMiq9adPn44pU6aYjf/999/w9fUFAAQFBaFChQq4evUqEhISjOuEhYUhrHx5s/cmnzyJgFatcO7cOaSmphrHIyIi4Ofnh1OnTpl80JGRkfDw8EB0dLTJdurWrYv09HScPXvWOKbValG3bl2kpKTg4sWLxnEvLy/UqFEDiYmJuJLtvidfX19UqVIF8fHxiIuLM47neUxhYYiJiUFKSopxPDw8HMHBwTwmG48pKSkJJ06cgK+vLxRFcYljcsXvkxqOSavV4uDBg8YsucIxueL3SS3HdPbsWdy6dcuYJ1c4Jlf8PqnlmG7fvo2UlBT4+vqiTJkyLnFMrvh9UsMxxcbGGrPk5+fnFMd09+5dWEsRTjaVxJUrV/DYY49h+/btxnuNoqKi8Mgjj+Czzz6z+B5LZ47Cw8Nx8+ZN4yV5+XWoIiwMyo0bxnH9+vXQPP44/5LAY0JmZiaio6NRu3ZtaLValzgmV/w+qeGYdDqdWZbUfkyWaucxFc0xpaen4+TJk8Y8ucIxueL3SS3HlJmZacyTm5ubSxyTK36f1HBM2bOk1Wqd4piSk5MRFBSEpKQk+Pn5IS9Od+boyJEjiI+Px6OPPmoc0+l02Lt3L/73v/8hLS3N+EuFgaenJzw9Pc22ZfiGZGf4sHJSKlQAsjVHmmvXjNuwRMa4oigWx3Or0dbxwqw9t3FXPSbDcWVfrvZjcsXvk7MfU25Zymt9Zz8mW8d5THKPyVKe1H5MhTXOY8p7PHueDOup/ZgKq0Zbx4vbMVn62eToY8ptuSVO1xy1b9/e7LTeyJEjUaNGDYwfP96mg7NJeDiQ/TI+zlhHRERERFSsOF1z5Ovrizp16piM+fj4IDg42Gw8P4Zr+q3CZx1RLhRFQXh4uG15IrKAWSKZmCeSiXkiWdSeJadrjmTK7VSdRXzWEeVCo9EgODjY0WWQC2CWSCbmiWRinkgWtWfJaZ9zlN3u3btznYwhL7ZM28czR5QbnU6HM2fO2JYnIguYJZKJeSKZmCeSRe1ZUkVzVCRynjm6cgXIyHBMLeR0sk8bSVQQzBLJxDyRTMwTyaLmLLE5Mqhe3fR1ZiZw8qRjaiEiIiIioiLH5sggMBCoXNl07OhRx9RCVESOHTuGqVOnmjxojYiIiKi4cunmyKYJGQCgYUPT10eOyCuGVEuj0SAiIsL2PDm5GzduoGfPnggLC4Ovr6+jyykWXDVL5BjME8nEPJEsas+SOqu2ks1TCGZ78CwAnjkiAFk58vPzK/CUlKmpqZg2bRq2bdsmqbKCOXLkCGbNmoWnn37a0aUUG7KyRAQwTyQX80SyqD1LLt0c2TxLRs7m6PjxrHuPqNi5f/8+bt26hVu3bqFChQro2rUrbt26VaBtvvrqq1ixYgWaNGkiqcqC6datGwYOHOjoMooVnU6H6Oho1c7gQ86FeSKZmCeSRe1ZcunmyGY5m6MHD4AzZxxTSzG3cOFCKIpi/PLy8kLZsmXRuXNnfP7554V+j8ysWbMQEhKCkJAQXLlyBVu2bMFjjz1m9/Z+/PFHrF+/Hr/88gv8/f0lVpo11b2iKPjpp59MxtPT09GjRw9oNBp8//33AMw/15xfBw8eNL7fMJbbmaV3333XuE5BG8fiRK3/syDnxDyRTMwTyaLmLLn0Q2BtFhKSNaV39mccHT0K1KnjuJqKuQ8++ACVK1dGRkYG4uLisHv3bowbNw5z5szB+vXrUa9evULZ77Bhw9CyZUsAwJAhQxAREYEZM2bYtS0hBK5evYrNmzejQs7naRWSjIwM9OnTB7/88gu+/fZbjBo1ymS54XPNqWrVqiavvby8sHr1anz55Zfw8PAwWbZixQp4eXmperpOIiIiouzYHOXUsKFpc3TkCDBsmOPqKea6du1qcsbm7bffxs6dO9GjRw/07NkTp0+fRokSJazaVkZGBoKCgvDvv//mOwFBREQEIiIiAGQ1CKVKlUKLFi3sOgZFUfDqq6/a9V57ZGRkoF+/fti4cSO+/vprjB492mydnJ9rbrp06YL169dj8+bN6NWrl3F8//79uHTpEp566imsXr1aav1EREREjuLSl9XZNUsGJ2Vweu3atcP777+Py5cvY+nSpcbxqKgoREVFma3ftm1bKIqCGzduQKfT4cGDBxa3K4TA1KlTUb58eXh7e6Nt27Y4+d+zrvz9/U3ydPHiRfTt2xdBQUHw9vZG06ZNsWnTJpPtpaenY+LEiWjYsCH8/f3h4+ODVq1aYdeuXSbrxcTEQFEUfPzxx/jmm29QpUoVeHp6olGjRjh06JBNn01mZiYGDBiAdevWYd68eXjmmWdsen9O5cqVQ+vWrbF8+XKT8WXLlqFu3bqow7OqNtFoNIiMjFTtDD7kXJgnkol5IlnUniV1Vl2Yck7nfewYoNc7phbK1dChQwHAqpnfSpUqBQAIDw9HZGQkQkJCLK43ceJEvP/++6hfvz5mz56NiIgIdOrUCffu3TP5B37jxg00b94cW7duxQsvvIBp06YhNTUVPXv2xNq1a43rJScn49tvv0VUVBRmzpyJSZMm4caNG+jcuTP++usvs/0vX74cs2fPxrPPPoupU6ciJiYGvXv3RkZGhlWfSWZmJgYOHIi1a9di7ty5ePbZZ3NdNykpyTjhhOHr9u3bFtcdNGgQNmzYgLt37xr38+OPP2LQoEFW1UWmcl6eSFQQzBPJxDyRLKrOknBBSUlJAoBISEiw/c3XrwsBmH6dPi2/SMrTggULBABx6NChXNfx9/cXDRo0ML5u06aNaNOmjdl6w4cPFxUrVhQxMTHiwYMHFrcVHx8vPDw8RPfu3YVerzeOv/POOwKAePzxx0VmZqYQQohx48YJAGLfvn3G9VJSUkTlypVFpUqVhE6nE0IIkZmZKVJTU032k5CQIEJCQsSoUaOMY5cuXRIARHBwsElm161bJwCIDRs25PoZCCHErl27BABRsWJFAUDMnTs313UNn6ulL09PT5N1AYgXX3xRJCQkCA8PD7FkyRIhhBCbNm0SiqKImJgYMWnSJAFA3Lx5M88aKUtmZqY4duyYMUtEBcE8kUzME8nijFky9AZJSUn5rsszRzmFhQFlypiO8dI6p1SyZEmbZq2rWLEivLy8LC7bsWMH0tPT8dJLL5nMyz9u3DizdX/55Rc0btzYOGGDoZYxY8YgJiYGp06dAgBotVp4enoa10lPT0eJEiXQvHlzHLWQqf79+yMwMND4ulWrVgCyLuGzxo0bN+Dm5mZxooWc5s6di+3bt5t8bd682eK6gYGB6NKlC1asWAEg6wxX8+bNUbFiRavqIiIiIlILNkeW5Ly07sgRx9RBebp7926+EytY6/LlywCAatWqmYyHhISYNCyGdSMjI822UbNmTZNtAcCqVavQtGlT+Pv7w9PTEyVKlMC6deuQlJRk9v6cM9kZ9puYmGjVMcyaNQsVKlRAnz598Pvvv+e5buPGjdGhQweTr7Zt2+a6/qBBg7B9+3bExsbi559/5iV1RERE5JLYHFnCSRmc3tWrV5GUlGQy9XRuT2J21Fz7K1euxIABA1C5cmUsXLgQv/32Gw4cOIBOnTpBb+E+Nq1Wa3E7Qgir9lemTBls374d/v7+6N69O44fP16g+rPr2bMnPD09MXz4cKSlpaFfv37Stk1ERETkLFy6ObJ7loycZ46OHuWkDE5myZIlAIDOnTsbxwIDA3Hnzh2zdbOfycmN4RKxc+fOmYzfvHkTiYmJCAwMNOapYsWKOHv2rNk2zvz3wGDDtlatWoWqVatixYoVePLJJ9GiRQs0bdq0UB9gGxERga1bt0Kj0aBz585mx2OvEiVK4IknnsDu3bvRsWNH4yQXZBuNRoO6deuqdgYfci7ME8nEPJEsas+SOqsubDnPHCUnA1be90GFb+fOnfjwww9RuXJlDB482DhepUoVnDlzBjdv3jSOHT9+PN9LzACgQ4cOcHd3xxdffGFypuazzz4DAJMzPd26dcOff/6JAwcOGMfu3buHb775BpUqVUKtWrUAZJ3J0uv1Ju/dv38/Dh48aPtB26Bu3brYtGkT7t69i44dO+LatWtStvvGG29g0qRJeP/996Vsr7hKT093dAnkQpgnkol5IlnUnCWXfgispUuXrFKuHBAaCsTHPxw7ehTIdgkXFY3NmzfjzJkzyMzMxI0bN7Bz505s374dFStWxPr1600mWBg1ahTmzJmDTp064emnn0Z8fDy++uor1KpVK9+zNSEhIXjjjTcwffp09OjRA926dcOxY8ewefNmlCpVCklJSdDr9dBqtZgwYQJWrFiBrl274uWXX0ZQUBAWLVqES5cuYfXq1ca/lHTv3h1r167Fk08+ie7du+PixYv4+uuvUbt27UI9ewQAzZo1w5o1a/D444+jY8eO2LdvH4KDg43LDZ9rTs2bNzc+/Dan+vXro379+oVWc3Gg1+tx9uxZ1K1bN9fLKImsxTyRTMwTyaL2LLl0c2Q3Rck6e7Rly8OxI0cA3mdR5CZOnAgga778oKAg1K1bF5999hlGjhxpNhlDzZo1sXjxYkycOBGvvfYaatWqhcWLF2PFihXYvXt3vvuaOnUqvLy88NVXX2HXrl1o0qQJtm3bhu7du5usV7p0aezfvx/jx4/HF198gdTUVNSrVw8bNmwwWXfUqFGIi4vDN998g23btqF27dpYsWIFVq5caVU9BdWpUycsWbIEAwcORNeuXfHrr78alxk+15wWLFiQa3NERERE5OoUYe3d3iqSnJwMf39/JCQkmM00ZrV33wU++ujh6w4dgO3b5RRIqqLT6RAdHa3av4CQ82CWSCbmiWRinkgWZ8ySoTdISkqCn59fnuvynqPcWJrO2/X6SJcVFRWFqKgoadtzln/cpH7MEsnEPJFMzBPJouYsuXRzVKBvTM5JGRITAStmPSPXo9VqneqvH6RezBLJxDyRTMwTyaL2LLl0c1SgKwYrVgSCgkzH+DBY1di2bRu2bdsmZVtCCCQnJxcsT0Rglkgu5olkYp5IFrVnyaWbI7tnqwMeTsqQHR8GqxoeHh7w8PCQsi29Xo+LFy8WLE9EYJZILuaJZGKeSBa1Z8nu2ep27dqFX3/9Fb///juuXr2KW7duwdvbGyEhIahbty7atGmDHj16ICwsTGa9RathQ2DHjoev2RwREREREbksm84c3bt3D9OnT0dERAQ6dOiAjz76CHv27MG1a9fg4+OD1NRU/P3331i2bBnGjBmDihUrok+fPlY9hNMp5TxzxEkZitysWbNQo0YN1f71gVzDli1bULJkSZMHDBMREZHrsbo5+uqrr1C1alW8++678PPzw4cffohff/0VSUlJuH//Pq5evYrbt28jIyMDZ86cwaJFi9CvXz9s27YNrVu3Ru/evXHp0qXCPBb5cjZHN28C1645ppZiKDk5GTNnzsT48eOND1YFAEVRjF8ajQZly5ZFp06dpD47aP369Xj00Ufh5eWFypUr49tvv0VmZqZV7502bRp69uyJ0qVLQ1EUTJ48WVpdMuzevRuKouCnn35ydCkFotfrsXDhQvTs2RPh4eHw8fFBnTp1MHXqVKSmplq1jY8++ghNmzZFSEgIvLy8UK1aNYwbN86sCerSpQuqVq2K6dOnF7ju7A8uJioo5olkYp5IFjVnyernHLm7u2PgwIF46623UKdOHat38ODBAyxbtgzTp0/H8OHDc334pEy2zGWeJyGAwEAgKenh2M8/A716FbhGyt9nn32GSZMm4caNGyb/yBRFQceOHTFs2DAIIXDp0iV8+eWXiI+Px6ZNm9C1a9cC7Xfz5s3o3r07oqKiMHDgQERHR2Pu3LkYM2YM5s2bl+/7FUVBWFgY6tevj61bt2LSpElO1SDt3r0bbdu2xY8//og+ffo4uhy73b17F76+vmjatCl69OiB0NBQHDhwAIsWLULr1q2xc+dOKIqS5zaeeuophISEoEaNGvD19cXp06fx7bffIjQ0FH/99Rd8fHyM686bNw9vvPEG4uLizB5ATERERM7Lpt5AWOns2bPWrmpRZmamuHjxYoG2Ya2kpCQBQCQmJhZ8Y1FRQmS1SVlfEycWfJtklXr16okhQ4aYjQMQL774osnYiRMnBADRqVOnAu+3Vq1aon79+iIjI0MIIYROpxOvvfaaUBRFnD59Ot/3X7p0SQghxM2bNwUAMWnSpALXdOXKFZGQkFDg7QghxK5duwQA8eOPP0rZnqOkpaWJ33//3Wx8ypQpAoDYvn27Xdv96aefBACxYsUKk/EbN24IrVYr5s+fb9d2hcjK0q1bt4ROp7N7G0QGzBPJxDyRLM6YJUNvkJSUlO+6Vl9WV716dXubNQBZc55Xrly5QNuwlZBxf5Clh8FSobt06RJOnDiBDh06WLV+3bp1UapUqQJfunnq1CmcOnUKY8aMgZtb1nwlQgh07twZQgirLkWrVKlSgWqwZMeOHShbtiwGDx6MXbt2Fcn0mBcvXkTfvn0RFBQEb29vNG3aFJs2bTJb74svvkDt2rXh7e2NwMBAPPbYY1i+fLlxeUpKCsaNG4dKlSrB09MToaGh6NixI44WcIITDw8PNG/e3Gz8ySefBACcPn3aru0avn937twxGQ8NDUW9evWwbt06u7YLZGXpypUrqp3elJwL80QyMU8ki9qzZPdsdR988AGioqLQunXrXNfZt28fdu3aVSSX0hUaTuftEPv37wcAPJrz889FYmIiEhMTUbVqVeNYUlISMjIy8n2vl5cXSpYsCQA4duwYAOCxxx4zWSc0NBTly5c3Li9qnTp1wksvvYQlS5Zg+fLliIiIwKhRozBixAiUK1dO+v5u3LiB5s2b4/79+3j55ZcRHByMRYsWoWfPnvjpp5+MDci3336Ll19+GX369MErr7yC1NRUnDhxAn/88QcGDRoEAHjuuefw008/YezYsahVqxZu376N3377DadPnzZ+f+/fv4/79+/nW5dWq0VgYGCe68TFxQEASpUqZdWxCiFw+/ZtZGZm4ty5c5gwYQK0Wi2ioqLM1m3YsCF+/vlnq7ZLREREKmTv6SlFUcSUKVPyXGfq1KlCo9HYuwu7GU6dSbkM6fRp08vqACH+/bfg26U8vffeewKASElJMVsGQIwePVrcvHlTxMfHiz/++EO0b99eABCffPKJcb02bdoIAPl+DR8+3Pie2bNnCwAiNjbWOJaZmSmOHTsmHnvsMdG0aVOrj0HmZXUGGRkZYt26deKJJ54Q7u7uQqvVim7duok1a9aI9PR0q7ZhzWV148aNEwDEvn37jGMpKSmicuXKolKlSsZT5b169RK1a9fOc3/+/v5ml0HmNGnSJKu+VxUrVsz3+Dp06CD8/Pysvqz2+vXrJvsoX768WLVqlcV1P/roIwFA3Lhxw6pt52TIUmZmpl3vJ8qOeSKZmCeSxRmzZMtldXafObJGeno6tFptYe6i8FWvDpQsCdy9+3Ds6FGge3fH1VQM3L59G25ubsYzOjnNnz8f8+fPN7728vLCa6+9hnHjxhnHPvnkEyQmJua7r7Jlyxr/+8GDBwAAT09Pk3V8fX3h5eWFlJQUWw5DOjc3N/Ts2RM9e/ZEfHw8lixZggULFqB3794IDQ3FsGHD8NFHH8Hd3b1A+/nll1/QuHFjtGzZ0jhWsmRJjBkzBm+//TZOnTqFOnXqICAgAFevXsWhQ4fQqFEji9sKCAjAH3/8gX///dfks85u2LBhJvvKTYkSJfJc/tFHH2HHjh348ssvERAQkO/2ACAoKAjbt29Hamoqjh07hjVr1uBu9n/v2RjOWt26dQuhoaFWbT8nTuZAMjFPJBPzRLKoOUsFao7ymgkqPT0d+/bts/sXCBmkNGYaDfDII8Bvvz0cY3PkcL169cLYsWOhKAp8fX1Ru3Ztk5nFgKxLoGxl+OU7LS3NOKbValGlShWkpaXl+8t5QaSnpyMhIcFkLCQkJNcch4aG4vXXX8czzzyD119/Hd999x0+/vhjvPvuu1Y3Brm5fPkymjRpYjZes2ZN4/I6depg/Pjx2LFjBxo3boyqVauiU6dOGDRoEFq0aGF8z6xZszB8+HCEh4ejYcOG6NatG4YNG4aIiAjjOhERESav7bFq1Sq89957GD16NJ5//nmr3+fh4WG8t61Hjx5o3749WrRogdDQUPTo0cNkXfHf9dP5zYKXG0OWiGRgnkgm5olkUXuWbGqOcv7y8umnn2LBggVm6+l0Oty6dQupqal45plnClZhAUh7cGjDhqbNESdlKHTBwcHIzMxESkqKxb8+lC9fPt/JGhISEpCenp7vvkqUKAF/f38AQJkyZQAA169fR3h4OICsHMXHx+P69eto3LixrYditf3796Nt27YmY5cuXbI4wYMQArt378b333+P1atXIzU1Fe3bt8fTTz9dsOnrbVSzZk2cPXsWGzduxJYtW7B69Wp8+eWXmDhxIqZMmQIA6NevH1q1aoW1a9di27ZtmD17NmbOnIk1a9YYp12/e/durmdrstNqtQgJCTEb3759O4YNG4bu3bvjq6++KtAxNW/eHGXKlMGyZcvMmiPDmUhr72fKyZCl0NBQk2d3EdmDeSKZmCeSRe1Zsqk50uv1xr+YKooCIYTFmSjc3d1Ru3ZttGvXDu+//76cSu1gqTa7cFKGIlejRg0AWc1BvXr17NpG7969sWfPnnzXGz58OBYuXAgAeOSRRwAAhw8fNjZCQgicOHECV69exZgxY+yqxRr169fH9u3bTcbCwsJMXsfExGDRokVYuHAhYmJiUL58ebz++usYPXq01FnyKlasiLNnz5qNnzlzxrjcwMfHB/3790f//v2Rnp6O3r17Y9q0aXj77beNz6cqU6YMXnjhBbzwwguIj4/Ho48+imnTphmbo48//tjYTOVXV0xMjMnYH3/8gSeffBKPPfYYfvjhB+MsgwWRmpqKpOzPN/vPpUuXUKpUKYsNmjWEEIiLi7P7/UTZMU8kE/NEsqg9Szb9FpH9lxKNRoNXX31V3TPRWSvn5VlXrgA3bwIq/aarQbNmzQBkNSn2Nkf23HNUu3Zt1KhRA9988w2effZZ4yVtP/74IxRFMXloalJSEq5fv44yZcoYzzwVRGBgYK5nw6Kjo/Hqq69i586dcHNzQ48ePTB37lx07ty5UO7r69atGz777DMcOHDA+L24d+8evvnmG1SqVAm1atUCkHVvWHBwsPF9Hh4eqFWrFjZv3oyMjAy4u7vj7t27Jp9PaGgoypYta3Lpor33HJ0+fRrdu3dHpUqVsHHjxjwvezxz5gy8vb1RoUIF4/EoigJvb2+T9VavXo3ExESzGQsB4MiRI8bPg4iIiFyP3X9ivXTpUoHva1CNyEigRAngv5v1AWRdWteli+NqcnERERGoU6cOduzYgVGjRtm1DXvuOQKA2bNno2fPnujUqRMGDBiA6OhofP/99xg9erTxnhsAWLt2LUaOHIkFCxZgxIgRxvElS5bg8uXLxqmp9+7di6lTpwIAhg4danLWxVpHjhzB1atXMXPmTAwfPlzKvXyrV682ngnKbvjw4ZgwYQJWrFiBrl274uWXX0ZQUBAWLVqES5cuYfXq1cbT5J06dUJYWBhatGiB0qVL4/Tp0/jf//6H7t27w9fXF3fu3EH58uXRp08f1K9fHyVLlsSOHTtw6NAhfPLJJ8Z92nPPUUpKCjp37ozExES8+eabZs9gqlKlikkjU7NmTbRp0wa7d+8GAJw7dw4dOnRA//79UaNGDWg0Ghw+fBhLly5FpUqV8Morr5hsLz4+HidOnMCLL75oU51ERESkIoU2Z54DGabrs3YqX6s0a2Y6nfdbb8nbNlk0Z84cUbJkSXH//n2TcQD5Tg1dUGvXrhWPPPKI8PT0FOXLlxcvvfSSSE1NNVlnwYIFAoBYsGCByXheU4jv2rXLrnru3r1r55GYM0zlnduXYfruCxcuiD59+oiAgADh5eUlGjduLDZu3Giyra+//lq0bt1aBAcHC09PT1GlShXx5ptvGqfKTEtLE2+++aaoX7++8PX1FT4+PqJ+/friyy+/LPBxXLp0yeop2oXIyk2bNm2Mr2/evCnGjBkjatSoIXx8fISHh4eoVq2aGDdunLh586bZ/ubNmye8vb1FcnKy3TXrdDpx+fJlp3pqOKkX80QyMU8kizNmyZapvBUhCnZjzoEDB7Bjxw78+++/JpfJGCiKYjLlclFITk6Gv78/kpKS5N2c/t57wLRpD1/Xrw/89ZecbZNFSUlJiIiIwKxZszB69GhHl0PFXIMGDRAVFYVPP/3U0aUQERGRDWzpDexujjIzMzFw4ECsWbMGQgjjBA3GDf/3WlEU6HQ6e3ZhN8MHkJiYKO/Sv337gNatTcf+/Rf4b3YzKhwzZ87EggULcOrUKYfNeKLX63H16lWUL19elbOuUMFt2bIFffr0wcWLFwt0SSOzRDIxTyQT80SyOGOWbGmO7K74k08+werVqzFy5EgcPnwYQgiMGzcOBw4cwMyZMxEQEIC+ffviwoUL9u6iwAp4UsxU06ZAzimlt22Tt32yaPz48Thz5oxD/3EJIZCQkCA3T6QqXbp0wd27dwt8rxezRDIxTyQT80SyqD1Ldv/GuWzZMtSpUwffffcdHv1vquuAgAA0adIEb775Jvbu3YuNGzdi69at0op1KHd3IOdMYq5ybEREREREZH9zdP78eURFRRlfK4qCjIwM4+vatWvj8ccfx7x58wAAH3zwAT788EMkJCTYX62jde5s+nr7dkDWg2aJiIiIiMih7G6OPDw8TJ4PUrJkScTHx5usU7FiRZw7dw4AMHnyZEyePBm3bt2yd5c2MzywVpqczdGtW3wgbDGgKArCwsLk54mKHWaJZGKeSCbmiWRRe5bsfs5ReHg4rly5Ynxdo0YN7N271zgJAwAcPHgQQUFBAIBdu3YBgPEBjEVB+n0qlSoB1asD//zzcGzrVsDCwyLJdWg0GoSFhTm6DHIBzBLJxDyRTMwTyaL2LNndPbRp08bYDAFA//79cfbsWfTo0QNz587FwIED8dtvv6HLfw9KbdOmDdq0aQMvLy85lVuhUGbJy3n2iPcduTydTocLFy4U+ayL5HqYJZKJeSKZmCeSRe1ZsvvM0ahRo6DT6XDt2jWUL18eL730Enbv3o2NGzdi8+bNAIDGjRtjxowZ0op1Cp07A1988fD1gQNAcjIg63lK5JRSUlIcXQK5CGaJZGKeSCbmiWRRc5bsbo4effRR42QLAODu7o7169fj8OHDuHDhAipWrIjGjRs7zfzm0kRFAR4eQHp61uvMTGDnTuCJJxxZFRERERERFZD0zuWxxx5D//790bRpU9drjADAxwdo2dJ0jJfW2ezWrVsYO3YsfvzxRzx48MDR5RARERERyW+OnEmhzZJh6b4jlT7oylEWLFiAuXPnol+/fggODsbgwYOxceNGpBvOyDkRRVEQHh6u2llXyHkwSyQT80QyMU8ki9qzpIgCPL721KlT+N///odDhw7hzp07Fm+8UhQFFy5cKFCRtkpOToa/vz+SkpLgVxj3Ap04AdSvbzr2zz9AtWry9+Wi6tWrh+joaONrNzc3ZGZmwt/fH7t27UKDBg0cWB0RERERuQpbegO7zxzt2bMHDRs2xFdffYXjx48jNTUVQgizL70DH5JaaLNk1K0LlCljOrZlS+HsywWdPXvWpDECgMzMTABAUlKSQzNjiU6nw5kzZ1Q76wo5D2aJZGKeSCbmiWRRe5bsbo4mTJiAzMxMfPfdd3jw4AGuXLmCS5cuWfxyOYoCdOpkOsb7jqy2cuVKaLVai8sqVaqERx99tIgryl9qaqqjSyAXwSyRTMwTycQ8kSxqzpLdzdHx48cxYMAAjBo1KtdfdF1azvuOdu0C0tIcU4uKCCGwdOlSi39N0Gq1GDp0qGqvUSUiIiIidbO7OfLx8UFoaKjMWtSlY8esM0gG9+8Dv//uuHpU4vjx4zh//rzFZTqdDgMGDCjiioiIiIiIstjdHHXr1g379u2TWYt0hTqVeKlSQMOGpmO8tC5feV1SV6tWLdSqVauIK8qfRqNBRESEa05NT0WKWSKZmCeSiXkiWdSeJburnj17Nu7cuYOXX34Z9+/fl1mTNIV+eZalKb0pV3ldUqfRaDB06FAHVJU/RVHg5+fHy/2owJglkol5IpmYJ5JF7Vmyeirvdu3amY3duXMHx48fh4+PD6pXr25xajxFUfDrr78WvFIbGKbrS0hIQGBgYOHtaN8+oHVr07Hr14GwsMLbp4odOHAAzZs3z3X5xYsXUbly5SKsyDo6nQ6nTp1CrVq1iuf9dSQNs0QyMU8kE/NEsjhjlmyZytvN2o3u3r0712V3797F0aNHLS5Ta9dolaZNAV9fICXl4di2bcCwYY6ryYmtWLHC+Dyj7BRFwaOPPuqUjZGBWqejJOfDLJFMzBPJxDyRLGrOktWX1en1eru+1Pzh5MvdHejQwXSMl9ZZpNPpsGLFCrPGyMBZL6kjIiIiouJDnXdKOZOc9x1t2wY42UNMncGePXtw69atXJf37du3CKshIiIiIjInrTm6ePEijh07hosXL8raZIEVySwZOZujW7eAY8cKf78qY7ikLieNRoOWLVuibNmyDqjKOhqNBpGRkaqddYWcB7NEMjFPJBPzRLKoPUsFqjopKQmvvPIKAgMDUa1aNTz22GOoVq0aAgMDMW7cOCQlJcmq03lVqgRUr246xkvrTKSnp+OHH36weEmdXq/HkCFDHFCVbTw8PBxdArkIZolkYp5IJuaJZFFzluxujuLj49G4cWN88cUXUBQFbdq0Qb9+/dCmTRsoioLPP/8cjRs3Rnx8vMx6baIvqsvbcp49WreuaParEtu3b0dycrLFZVqtFk899VQRV2QbvV6P6OjoossTuSxmiWRinkgm5olkUXuW7G6O3n77bZw7dw4TJkzAlStXsHPnTqxYsQI7d+7ElStXMH78eJw7dw7vvPOOzHqdU/fupq///BM4d84xtTih5cuXW7ykTqvVomPHjggODnZAVUREREREpuxujjZs2IB27drho48+go+Pj8kyHx8fTJ8+HVFRUVi/fn2Bi3R67dsDISGmY8uXO6YWJ3P//n2sXbvW4iV1Op0OgwYNckBVRERERETm7G6O7t27h6ZNm+a5TrNmzXD//n17d6Eebm7AgAGmY0uXAtY9X9elbdq0CQ8ePLC4zMPDA7169SriioiIiIiILLO7OapTpw5iYmLyXCcmJgZ16tSxdxcFVqSzZOScVOD8+azL64q55cuXW3w6slarRffu3fN9SrEz0Gg0qFu3rmpnXSHnwSyRTMwTycQ8kSxqz5LdVb/zzjv46aefsGPHDovLt23bhp9++gnvvvuu3cWpSqNGQNWqpmPLljmmFieRnJyMTZs2WXwQsNouqUtPT3d0CeQimCWSiXkimZgnkkXNWTK/S95KSUlJ6NSpEzp37oyOHTuiZcuWKF26NG7cuIF9+/Zhx44d6NGjBxITE7F48WKT9w4bNqzAhVujSGfJUJSss0eTJz8cW7kS+OQTwN296OpwIj///DMyMjIsLitRogS655zIwknp9XqcPXsWdevWtXgWjMhazBLJxDyRTMwTyaL2LNndHI0YMQKKokAIgW3btmHbtm1m62zYsAEbN240vhZCQFGUImuOitzgwabN0c2bwPbtQLduDivJkZYtWwatVmt25sjNzQ29e/dGiRIlHFQZEREREZE5u5ujBQsWyKzDNVStCjRpAvzxx8OxZcuKZXN069Yt/PrrrxYvqcvMzMTAgQMdUBURERERUe7sbo6GDx8usw7XMWSIaXO0di2QkgL4+jquJgdYvXq1xcYIAPz8/NCxY8cirqhg1HhamJwTs0QyMU8kE/NEsqg5S+qcRsJKDvnG9OsHZN/vgwfAzz8XfR0OtmzZMouzlLi5uaFfv37w8PBwQFX20Wq1qr1ulpwLs0QyMU8kE/NEsqg9Sy7dHAlHPGcoNBTo3Nl0rJjNWnft2jX89ttvFifEyMzMVNUsdUBWjpKTkx2TJ3IpzBLJxDyRTMwTyaL2LLl0c1Sks9Vll/OZR9u3A3FxjqnFAX788UcoimJxWalSpdC6desirqhg9Ho9Ll686Lg8kctglkgm5olkYp5IFrVnyaWbI4fp2RPw8Xn4Wq/Pmta7mFiyZInFvxa4ublh4MCBqj3NSkRERESujc1RYfDxAXr3Nh0rJpfWXbx4EUePHrXYHKnxkjoiIiIiKj7YHBWWnJfWHT4MnD3rmFqK0MqVKy1OxAAA5cuXR5MmTYq4Ijm8vLwcXQK5CGaJZGKeSCbmiWRRc5Zcujly6OVb7doBpUubjhWDs0dLly61eI2pVqvFkCFDcr0XyZlptVrUqFGDlwNSgTFLJBPzRDIxTySL2rNkd3N06tQpfP7557h586bF5fHx8fj8889x+vRpm7c9b9481KtXD35+fvDz80OzZs2wefNmm7fj0BvB3NyAnA86XboUUOnMHdY4efJkrt9vnU6HAQMGFHFFcuj1ety+fVu1NxaS82CWSCbmiWRinkgWtWfJ7uZoxowZmDlzJoKDgy0uDw4OxuzZszFr1iybt12+fHnMmDEDR44cweHDh9GuXTv06tULJ0+etGk7Dp9CcPBg09eXLgEHDjimliKwcuXKXP9KULVqVdSrV6+IK5JDCIErV644Pk+keswSycQ8kUzME8mi9izZ3Rzt27cP7du3z/X+Eq1Wi/bt22Pv3r02b/vxxx9Ht27dUK1aNVSvXh3Tpk1DyZIlcfDgQXvLdYyGDYHISNMxF720TgiBpUuXQqfTmS3TarUYOnSoKi+pIyIiIqLiw83eN8bFxSE8PDzPdcqVK4fr16/buwsAWZdj/fjjj7h37x6aNWtmcZ20tDSkpaUZXycnJxvfa/hlXVEUaDQa6PV6k07WMJ7zl/rcxjUaDRRFsTgOmF/Kpxk8GMrEicbXYtUq6GfPhtbbG0IIs/W1Wq1ZjbmNO+yYLIwfPnwYMTExsESn06Fv375m23f2YzLUKISAEMJkW2r9PmU/JlfJnpqOyVKW1H5MlmrnMRXdMWXPk6scU84aeUxFc0zZ8+Qqx+SK3yc1HFPOn03OcEyW/nifG7ubIx8fH8THx+e5Tnx8vN2zVURHR6NZs2ZITU1FyZIlsXbtWtSqVcviutOnT8eUKVPMxk+fPg1fX18AQFBQECpUqICrV68iISHBuE5YWBjCwsIQExODlJQU43h4eDiCg4Nx7tw5pKamGscjIiLg5+eHU6dOmXzQkZGR8PDwQHR0tEkNdQcMgDZbc6Tcvo1/P/0U4e++i5SUFFy8eNG4zMvLCzVq1EBiYiKuXLliHPf19UWVKlUQHx+PuGwPk3XYMdWti/T0dJzNNvvel19+CTc3N2RmZiKnunXrIjQ01GQ7ajgmrVaLunXr4u7du0hJScHJkyehKIqqv0+GY3Kl7KnpmLRarUmWXOGYXPH7pJZjOn/+vEmeXOGYXPH7pJZjun37tjFPZcqUcYljcsXvkxqOKTY21pglPz8/pzimu3fvwlqKsPOCwE6dOuHYsWM4d+4cAgICzJYnJiaiWrVqeOSRR7Bjxw6bt5+eno7Y2FgkJSXhp59+wnfffYc9e/ZYbJAsnTkKDw9HQkIC/Pz8ADi4627fHsquXcYx0aABlCNHICysr8a/JOj1eoSHh+PGjRvISaPRYMaMGXj99ddVdUzZayxuf/HhMfGYeEw8Jh4Tj4nHxGNypWNKTk5GUFAQkpKSjL1BbuxujtatW4cnn3wS9evXx//93/+hdevWxmV79uzBK6+8gujoaKxevRpPPPGEPbsw0aFDB1SpUgVff/11vusmJyfD398fiYmJFhu3Ird+PdCrl+nYnj1Ats9Mzfbt22fy/c/p8uXLqFChQhFWJJder0d8fDxCQ0ON/9iI7MEskUzME8nEPJEszpglQ29gTXNkd8W9evXCq6++iuPHj6Nt27bw9vZGREQEvL290a5dO5w4cQJvvPGGlMYIyPqgs58dsobTzJLRvTtQpYrp2KefOqaWQrBixQq4uZlfoakoCpo0aaLqxgjIylFcXJzz5IlUi1kimZgnkol5IlnUnqUCtXOffPIJ1q9fj86dO8PHxwdXr15FyZIl0bVrV2zatAkzZ860a7tvv/029u7di5iYGERHR+Ptt9/G7t27MTjn1NhqodUCL79sOrZuHZDtWk21yszMxMqVKy3eawQAQ4YMKeKKiIiIiIjsY/OEDPv27cPKlSvh5eWFXr16oUePHujRo4fUouLj4zFs2DBcv34d/v7+qFevHrZu3YqOHTtK3U+RGjkSeP994L+Z9CAE8MUXqj+DtHPnTiQmJua6vE+fPkVYDRERERGR/Ww+c3TlyhX4+Pjg7Nmz6NChA65evSq9qPnz5yMmJgZpaWmIj4/Hjh077GqMnOq5Or6+wOjRpmPz5z9sllQqt0vqNBoNoqKiEBYW5oCq5FIUBUFBQc6VJ1IlZolkYp5IJuaJZFF7luyekCEmJgYRERH4+++/c51i21FsuemqSF26BFStCmSf3eOzz4BXXnFYSQWRlpaGUqVK5To94nfffYfRORtCIiIiIqIiVCQTMlSpUgWKoqBu3brQarW5flk6q1BUck4x6HCVKwM5J6j4v/8DbHgwlTPZsmVLro2Rm5sbevfuXcQVFQ69Xo/Y2FjnyxOpDrNEMjFPJBPzRLKoPUtWNUe//fab2Vjp0qXRoEEDtG7d2uSrfv368Pb2hhAC9erVQ6tWraQXbS2nnCVj3DjT15cuARs2OKSUglq+fLnF5ler1aJz584IDAx0QFXyCSGQkJDgnHkiVWGWSCbmiWRinkgWtWfJqtM6nTp1wuLFi01urv/3339zXf/+/fuYMGECtmzZgu3btxe8SlfSsiXw6KPA0aMPxz77zPyMkpO7d+8e1q9fb3GWOp1Oh0GDBjmgKiIiIiIi+1l15mjo0KEYMGAAPrVyZjVvb298/vnn8Pf3x1tvvVWgAl2OopifPdqzBzh2zCHl2GvDhg1ITU21uMzT0xM9e/Ys4oqIiIiIiArGqubo66+/xuLFizFp0iR89913Vm+8VatW2Lhxo93FFZTTzpLRvz+Qcxa3//s/x9Rip2XLlkGr1ZqNu7m5oWfPnihZsqQDqiociqIgLCzMefNEqsEskUzME8nEPJEsas+S1RMyDBo0CIcPH4a/v7/VG79582auN+wXBY2mQM+4LTweHsCLL5qOrVgBxMU5ph4bJSYmYsuWLdBZmEgiMzPT5S6p02g0CAsLc948kWowSyQT80QyMU8ki9qzZFPV1atXR9++ffNdT6/XY8mSJVi1ahUeeeQRe2srMEu/vDuNZ58FPD0fvk5PB+bNc1w9Nli7dq3Fe40AwMfHB126dCniigqXTqfDhQsXnDtPpArMEsnEPJFMzBPJovYs2T3PdkREhMXxzMxMxMfHIyMjA+7u7pg+fbrdxbm0kBBgyJCsB8EazJsHvP024OXluLqssGzZMmg0GrMpGt3c3PDUU0/By8nrt0dKSoqjSyAXwSyRTMwTycQ8kSxqzpLd57v0ej2EEGZf7u7uqFOnDsaMGYMjR46gTZs2Mut1LTkf/nrzJrB4sWNqsVJ8fDx27dplce56V7ykjoiIiIiKD7vPHMXExEgso5iqWxdo3x749deHY1OnAsOHm15y50R+/PHHXJcFBASgXbt2RVgNEREREZE86rxTykqqmCVjwgTT11euAN9845harLBs2TKLn6ubmxv69+8Pd3d3B1RVuBRFQXh4uDryRE6NWSKZmCeSiXkiWdSeJUWo9fG1eUhOToa/vz+SkpLg5+fn6HLyJgTQtm3Ws44MSpcGLlwAfHwcV5cFV65cQYUKFXJdvmfPHrRu3boIKyIiIiIiypstvYFNl9WNGjXK5mIURcH87JMOFCFVzJKhKFmX0rVq9XDsxg1g7lzAyR6gu2rVKosTMQBA6dKl0bJlSwdUVfh0Oh3OnTuHatWqWXy2E5G1mCWSiXkimZgnkkXtWbKpOVq4cCEURYEtJ5sc2RypRsuWQJcuwJYtD8dmzsya7tuG50oVtqVLl1psjNzc3DB48GDVzmdvjdTUVEeXQC6CWSKZmCeSiXkiWdScJZsnZHBzc0O3bt0wfPhwlClTpjBqKp6mTjVtjhISgE8/BSZPdlhJ2Z07dw7Hjx+3uCwzMxMDBgwo4oqIiIiIiOSyqTmaO3cuvv/+e6xbtw6bNm1Cly5dMHr0aPTo0UOVp82cSsOGwJNPAmvXPhybMwd46SUgONhxdf1n5cqV0Gq1Fi9VrFChAh577DEHVEVEREREJI9N10E9//zzOHToEI4fP44XXngBBw8eRO/evVGuXDm8+eabOHXqVGHVaRfVXeb14YdZ9yAZpKQAs2Y5rp7/CCGwZMkSi42RVqvF0KFDVTsjiTU0Gg0iIiLUlydyOswSycQ8kUzME8mi9iwVaLa6jIwM/Pzzz/j++++xfft2CCHQuHFjjB49GoMGDYK3t7fMWq2mqtnqchoyBFi27OHrEiWyZq5z4CWMJ06cQP369XNdHh0djTp16hRhRURERERE1rGlNyhQS+fu7o6+ffti8+bNiI2NxYcffojY2Fg8++yz2LFjR0E2LYUqZqvLafJkIPslig8eANOnO6wc4OEldZbUqFHD5RsjnU6H6OhodeaJnAqzRDIxTyQT80SyqD1LUs53paenY9++fdizZw9u3LgBIQS8vLxkbLr4qVoVGDnSdOzrr4HYWIeUI4TA0qVLLQZco9FgyJAhDqiq6Kn1Hzg5H2aJZGKeSCbmiWRRc5YK1BwdO3YML730EsqWLYuBAwfixIkTeP3113H69Gl06tRJVo3Fz/vvAx4eD1+npwMffOCQUv78809cuXLF4jK9Xo/+/fsXcUVERERERIXD5uYoISEBn3/+ORo0aIDHHnsMX3/9NVq2bImff/4ZV69excyZMxEZGVkYtRYfFSpkPeMou4ULgXPniryUlStXws3NfFJDRVHQoEEDVK1atchrIiIiIiIqDDZNyNCvXz9s2LAB6enpiIyMxMiRIzFs2DCULl26MGu0meGmqzt37sDfiR6iapO4OCAiIuueI4P+/YGVK4usBJ1OhzJlyuDmzZtmyzQaDWbPno3XXnutyOpxFCEEUlNT4eXl5dKz8lHhY5ZIJuaJZGKeSBZnzJItEzLY1BxpNBq4u7uja9euaN68udUFvfXWW1avK4NLNEcAMH68+VTeu3cDbdoUye53796Ntm3bWlymKAquXLmCcuXKFUktjiSEgF6vh0ajcZp/5KROzBLJxDyRTMwTyeKMWSrU5sj4RkWBNW9VFKXIb8oyfAAJCQkIDAws0n1Ldft21gQNd+48HKtTBzh6FHB3L/TdjxkzBgsWLEBmZqbJuKIoaN68OX777bdCr8EZGGZdqVu3Lh92TAXCLJFMzBPJxDyRLM6YJVuaI/ObSfKwYMGCAhVGNgoOBqZOBcaOfTj299/A//4HvPpqoe46IyMDq1atMmuMDAYPHlyo+yciIiIiKmo2NUfDhw8vrDooN889B3z3HfDXXw/HJk0CBgwo1AfD7tixA8nJyRaXKYqCPn36FNq+iYiIiIgcQcpzjqgQabXA3LmmYykpQCHfx7V8+XKLs9RpNBq0a9cOISEhhbp/IiIiIqKiZvU9R/fu3YOPj0+BdiZjG9ZwmQkZshsxAli0yHRs716gVSvpu3rw4AFKlSqF+/fvW1y+YMECjBgxQvp+nZUz3lhI6sQskUzME8nEPJEszpglW+45svrMUeXKlTF79mzcu3fP5oIOHDiALl26YM6cOTa/l/4zcyaQs9F78UUgl3uCCuKXX37JtTFyc3PDk08+KX2fzi49Pd3RJZCLYJZIJuaJZGKeSBY1Z8nq5mjQoEF47733EBYWhuHDh2PDhg0Wn38DAJmZmThy5AhmzJiBunXromXLlrh27Rq6du0qrXBr6PX6It1foSpdGvjgA9Ox6Gjgyy+l72r58uUWZxfRarXo1q2b65yNs5Jer8fZs2ddK0/kEMwSycQ8kUzME8mi9ixZPSHDZ599hhdffBEffvghfvjhByxduhQAUK5cOZQuXRoBAQFITU1FQkICLl26hLS0NAghUKtWLXz77bcYMWKEyVTgZIcXXgDmzwdOnHg49v77WQ+HlfQg3pSUFGzcuNHi9Os6nY6z1BERERGRy7KpW6lWrRoWL16Ma9eu4f/+7//Qs2dPpKWl4ciRI/j111/x+++/4/z586hZsyZeeeUV7NmzB3///TdGjRrFxkgGN7esabyzS062a3KGixcvokuXLpg5cyYuX75sHF+3bl2up0K9vLzQvXt3m/dFRERERKQGNk3lbRAUFISxY8di7H/P38nIyMDt27dRokSJYnfJVZFr1QoYOhRYsuTh2OLFwJgxQIsWVm8mNjYWW7duxdatWzFhwgQ0atQIQ4YMwdq1a6HVas3OHLm5ueGJJ54okgk1nJGzPMSM1I9ZIpmYJ5KJeSJZ1Jwlq2erUxNbZqRQpbg4IDIy66yRQf36wOHDWWeXrBAbG4uKFSsaXxtmE8krDuvXr8fjjz9uX81ERERERA5QKLPVqZEL9n1ZwsKAKVNMx44fB2bMsHoT5cqVM3mOkRAiz8/L19cXnTp1srlUVyCEQHJysuvmiYoMs0QyMU8kE/NEsqg9Sy7dHKl1lgyrjB0L1KljOvbBB8Bff1n1dq1Wi3Llylm1rqIoePDgAQYNGoTVq1fjwYMHNharbnq9HhcvXnTtPFGRYJZIJuaJZGKeSBa1Z8mlmyOX5uYGfPcdkH2ii4wMYPhwwMq55atVq2bVekIIZGZmYt26dejTpw9KlSqFoUOH4tixY/ZUTkRERETklNgcqVmTJsCECaZjJ06YPw8pF1WrVoW7u7vVuzNM0nD//n0sXboUH374odXvJSIiIiJydmyO1G7iRKBePdOx6dOBP/7I960RERF2nfLUarWIjIzEvHnzbH6vWnl5eTm6BHIRzBLJxDyRTMwTyaLmLLl0c6TmaQSt5ukJLFpkOkudXp91eV0+9wZFRERYfNhrXrRaLWrUqIF9+/ahtKQHzzo7wzEXizxRoWKWSCbmiWRinkgWtWepUJqjtLQ0ZGRkFMambaLWG8Fs9sgjwKRJpmNnzwLvvZfn2ypXrmzTbrRaLWrXro29e/ciJCTExiLVS6/X4/bt28UnT1RomCWSiXkimZgnkkXtWbK7Odq7dy8mTpyIO3fuGMdu376Nrl27omTJkvD398eEnPfDFDG1TiFolwkTgMceMx379FNg375c3xIREWH15rVaLerXr489e/YgKCjI3ipVSQiBK1euFK88UaFglkgm5olkYp5IFrVnye7m6OOPP8by5csREBBgHHv99dexdetWVK5cGQEBAZg9ezZ++OEHGXVSftzcsi6v8/R8OCYEMGIEcPeuxbcEBATA19c3301rtVo0bNgQO3fuNPl+ExERERG5Erubo2PHjqFly5bG16mpqfjhhx/QqVMn/PPPPzh79iwqVKhQrG7ad7hatYBp00zHLl4E3nor17dUqlQpz01qtVo0adIEO3bsgL+/v4QiiYiIiIick93N0e3bt00eInrgwAGkpqZi5MiRAABfX1/06NEDZ8+eLXiVZL1x44AWLUzH5s0DtmyxuHpkZCQ0Gssx0Gg0aNGiBbZt22bVGSZXVtyPn+Rhlkgm5olkYp5IFjVnye7mqESJEkhJSTG+3rVrFxRFQZs2bYxjJUuWRGJiYsEqLAC1zpJRIFotsHAh4O1tOj50KHDtmtnqERERFj8njUaDqKgobN68GT4+PoVUrDpotVpUqVKleOaJpGKWSCbmiWRinkgWtWfJ7uaoatWq2LJlC9LS0pCeno6VK1eiVq1aCAsLM64TGxuL0NBQKYXaQ62zZBRY1arA7NmmY7duAQMGADlmEaxcuTIyMzNNxjQaDTp06IBNmzbBO2eTVQzp9XrExcUV3zyRNMwSycQ8kUzME8mi9izZ3Rw988wzOH/+PKpWrYqaNWviwoULxkvqDI4cOYJatWoVuEh7qXWWDCmefx7o1ct07LffzKb3joiIMPmcNBoNunbtivXr16v6AV4yCSEQFxdXvPNEUjBLJBPzRDIxTySL2rNkd3M0evRovPnmm3jw4AGSkpLw/PPPY9y4ccblBw4cwD///IP27dvLqJNspSjAggVAzgkXZs0CNmwwvsw+nbeiKOjZsyfWrFkDz+yz3hERERERFQNu9r5RURTMnDkTM2fOtLi8YcOGSExMLPb3qzhUYCDw449ZEzSkpz8cHz4cOHoUqFQJFSpUgKIoEELgqaeewvLly+Hu7u64momIiIiIHMTu5ig/Hh4e8PDwKKzNW0VRFIfu3yk89hgwZw4wduzDscREiL59sXfaNPx7+zZq1qyJhg0b4vvvv4ebW6FFQrUURUFQUBDzRAXGLJFMzBPJxDyRLGrPkt2X1UVHR+P7779HcnKycezBgwd4/vnnUa5cOVStWhVfffWVlCLtldsU1cXOCy8A/fqZDCmHD+N4584YNGgQTp06hV27dmH9+vUOKtC5aTQaVKhQgXmiAmOWSCbmiWRinkgWtWfJ7qqnTp2K999/32Qe83feeQdff/01UlJScOXKFbz44ovYvn27lELtodZZMqRTFODbb4Fq1UyGXwbQ57//vnbtGvr06YM1a9YUeXnOTq/XIzY2lnmiAmOWSCbmiWRinkgWtWfJ7ubozz//RNu2bY2nzDIzM7FgwQI0btwY8fHxuHTpEkJCQvB///d/0oq1lVpnySgUfn7QrVyJ1BzD8wFUxcPPaty4cdDpdEVdnVMTQiAhIYF5ogJjlkgm5olkYp5IFrVnye7m6ObNmwgPDze+PnToEJKTk/Hcc8/By8sLZcuWRa9evXD8+HEphVLB7UtOxos5xvwArAFQEllhvnLlCvbt21f0xREREREROZjdzZGbmxvS0tKMr3fv3g1FUdC2bVvjWHBwMG7dulWwCkma69ev43sAC3OM1wWwAg/DcP369aIsi4iIiIjIKdjdHFWqVAm7du0yvv7xxx9RuXJlVKxY0Th27do1BAcHF6zCAlDrLBmFpUyZMgCAFwH8nWNZDwAzc6xHWRRFQVhYGPNEBcYskUzME8nEPJEsas+S3c3R0KFDcfz4cTRp0gStW7fG8ePHMWjQIJN1Tpw4gWo5JgEoSmqdJaOwtGrVCuXLl8cDRUFPADnP6b0B4I3AQLRq1coB1TkvjUaDsLAw5okKjFkimZgnkol5IlnUniW7qx47diz69u2Lw4cP47fffkPXrl3xzjvvGJefPHkSx48fR7t27aQUag9OLGBKq9UaJ8iIURQ8CSA9xzozk5Oh5T1HJnQ6HS5cuMA8UYExSyQT80QyMU8ki9qzZHdz5OnpiVWrViExMRFJSUnYuHEjvLy8jMtLly6NY8eO4eWXX5ZSKMnRu3dv/PTTTyhXrhx+AzAmx3KNTgc89RRw/rwjynNaKSkpji6BXASzRDIxTyQT80SyqDlLBT7f5efnZ/KsI4NSpUqhfv368Pf3L+guSLLevXsjJiYGu3btQuflyxHbv7/pCgkJwOOPA3fuOKQ+IiIiIiJHcCvoBu7du4eff/4Zf/31F5KTk+Hn54dHHnkETzzxBHx8fGTUSIVAq9UiKioq60W/fsCDB8D69Q9XOHMma/yXXwC3AseEiIiIiMjpFei33tWrV2PMmDG4c+eOyYOeFEVBQEAAvv32W/Tu3bvARdpLrbNkFDmtFli2DGjRAjhx4uH49u3AuHHAF18AxfizVBQF4eHhzBMVGLNEMjFPJBPzRLKoPUuKsPPxtfv370ebNm2g1WoxfPhwtG3bFmXKlEFcXBx27dqFRYsWQafTYc+ePWjWrJnsuvOUnJwMf39/JCUlwc/Pr0j3rWqxsUDjxsCNG6bjM2YA48c7piYiIiIiogKwpTewuznq0aMHdu/ejd9//x3169c3W37ixAk0b94cbdu2xYYNG+zZhd0MH0BCQgICAwOLdN+qd/AgEBUFZHvALwDgu++A0aMdUpKj6XQ6nDt3DtWqVYNWq3V0OaRizBLJxDyRTMwTyeKMWbKlObJ7QoYDBw6gf//+FhsjAKhXrx769euH/fv327sLcoSmTYEFC8zHx4wB1q4t+nqcRGpqqqNLIBfBLJFMzBPJxDyRLGrOkt3N0f3791G6dOk81yldujTu379v7y7IUQYOBObMMR3T67PGd+1yTE1ERERERIXM7uaoUqVK2L59e57r/Prrr6hUqZK9uyBHevVV4O23TcfS0oBevYCjRx1TExERERFRIbK7OerXrx+OHDmC4cOH499//zVZdv36dYwYMQJHjhxB/5zP0ClCGk2BH+NUvE2bBjzzjOlYSgrQpQvwzz+OqckBNBoNIiIimCcqMGaJZGKeSCbmiWRRe5bsnpDh/v37aNu2LQ4dOgQPDw9UrVoVpUuXxo0bN3D+/Hmkp6ejcePG2LVrF0qUKCG77jxxtjqJdLqs5x2tWWM6XrEi8PvvQLlyjqmLiIiIiMgKRTIhg7e3N/bu3YvJkyejfPnyOHXqFHbt2oVTp06hfPnymDJlCvbs2VPkjVF2Op3OYft2GYZnILVtazp++TLQuTOQkOCYuoqQTqdDdHQ080QFxiyRTMwTycQ8kSxqz1KBznd5enpi4sSJOH/+PJKSknDlyhUkJSXh/PnzeP/99+Hp6SmrTnIkLy/g55+BRx81HT95EujUCUhMdEhZRUmt/8DJ+TBLJBPzRDIxTySLmrMk7WJAX19flCtXDr6+vsaxkSNHws3NTdYuyJH8/IDNm4Hq1U3HjxwBOnYsFg0SEREREbm2Qr9Tys5bmsgZhYYC27aZ32d05EjWGaQ7dxxSFhERERGRDOqcRsJKap0lw6lVrJj1rKOyZU3HDx/OOoPkgg2SRqNBZGQk80QFxiyRTMwTycQ8kSxqz5I6qybHqlYN2L27WDVIHh4eji6BXASzRDIxTyQT80SyqDlLLt0c6fV6R5fguqpVy/0MkotdYqfX6xEdHc08UYExSyQT80QyMU8ki9qz5NLNERWy6tWzGqQyZUzHDx3KmubbhRokIiIiInJ9bI6oYKpXz7rELmeD9OefWZfY3brlkLKIiIiIiGxl0zzb3t7eNm08IyPDpvVJpQwNUlQUcP36w/HDh4HWrbNmuCtf3lHVERERERFZRRE2zLVdqVIlKIpi804uXbpk0/rTp0/HmjVrcObMGZQoUQLNmzfHzJkzERkZadX7k5OT4e/vjzt37sDf39/meslOZ88CbduaNkgAUKECsH27+TOSVEIIAb1eD41GY1f+iQyYJZKJeSKZmCeSxRmzZOgNkpKS4Ofnl+e6NjVHRaVLly4YMGAAGjVqhMzMTLzzzjv4+++/cerUKfj4+OT7fjZHDvTPP1mX08XGmo6HhABbtwINGjimrgIQQiA1NRVeXl5O84+c1IlZIpmYJ5KJeSJZnDFLqm+Ocrp58yZCQ0OxZ88etG7d2mx5Wloa0tLSjK+Tk5MRHh6OmzdvIjAwEACgKAo0Gg30er3Jg2kN4zqdzmSbuY0bumBL44D5DHm5jWu1WmNnnXM8Z425jTvtMV2+DE3XrlDOnDFZLvz8oF+3DmjVSlXHlJmZiejoaNSuXRtarTbX2tV0TC6bPSc/Jp1OZ5YltR+Tpdp5TEVzTOnp6Th58qQxT65wTK74fVLLMWVmZhrz5Obm5hLH5IrfJzUcU/YsabVapzim5ORkBAUFWdUc2XTPkaMkJSUBAIKCgiwunz59OqZMmWI2fvr0afj6+hrfW6FCBVy9ehUJCQnGdcLCwhAWFoaYmBikpKQYx8PDwxEcHIxz584hNTXVOB4REQE/Pz+cOnXK5BsRGRkJDw8PREdHm9RQt25dpKen4+zZs8YxrVaLunXrIiUlBRcvXjSOe3l5oUaNGkhMTMSVK1eM476+vqhSpQri4+MRFxdnHHfaY7pzB9ovv0SVsWPhfeqUcR0lORlKly6ImT0bols31RzT3bt3kZCQgJMnT0JRFNf5Prli9pz8mLRarUmWXOGYXPH7pJZjOn/+vEmeXOGYXPH7pJZjun37tjFPZcqUcYljcsXvkxqOKTY21pglPz8/pzimu3fvwlpOf+ZIr9ejZ8+euHPnDn777TeL6/DMkZMeU0oKNE8+CWX3bpP1hFYLsWABNEOHquKYeOaIx8QzR8Xr+6SWY+KZIx4TzxwVv++TGo6JZ44K2Ysvvoi///4718YIADw9PeHp6Wk2bviGZGf4sCytW9TjiqJYHM+tRlvHHX5MAQHA5s3AgAHAunUP19HpoAwbBly/Ds2bbwIW6ne2Y3JzczPLk8t8n6yokcdUuFnKa31nPyZbx3lMco/JUp7UfkyFNc5jyns8e54M66n9mAqrRlvHi9sxWfrZ5Ohjym25JU595mjs2LFYt24d9u7di8qVK1v9PltuuqIikJkJPPMMsHCh+bIxY4C5cwE3p+/TiYiIiEiFbOkNnPIhsEIIjB07FmvXrsXOnTttaoxyboecgJsbMH8+8Oqr5su++Qbo0QNITi76uqwkhEBycjLzRAXGLJFMzBPJxDyRLGrPklM2Ry+++CKWLl2K5cuXw9fXF3FxcYiLi8ODBw9s2k7OayHJgTQa4JNPgNmzzZdt3Qq0bAlkuynRmej1ely8eJF5ogJjlkgm5olkYp5IFrVnySmbo3nz5iEpKQlRUVEoU6aM8WvVqlWOLo0KQlGAN94AfvwR8PIyXRYdDTRtChw75pjaiIiIiKjYs/pGj9j/HupZrlw5aLVa42trVKhQwez9eVHraTiyUp8+QPnyQM+ewM2bD8f//TfrGUirVgHduzuuPiIiIiIqlqxujipVqgRFUXD69GlUr17d+Do/iqIgMzMTlSpVgkajwalTp1C9evUCFU0uoGlT4OBBoFs3INv8+bh3L6tpmjMHePnlrLNNTsAr55kuIjsxSyQT80QyMU8ki5qzZHVzNGzYMCiKAn9/f5PX9r6/KNgybR85QEQEsH8/0Ls3sGfPw3G9Hhg3LusSu6++Mr8Er4hptVrUqFHDoTWQa2CWSCbmiWRinkgWtWfJqafytpdhur7ExEQEBAQ4uhzKT1oa8PTTwNKl5ssaNwbWrAHKlSv6uv6j1+uRmJiIwMDAXOfjJ7IGs0QyMU8kE/NEsjhjlopkKu/Fixdj69at9r69SLhg3+eaPD2BxYuByZPNl/35J9CwYdYZJgcRQuDKlSvMExUYs0QyMU8kE/NEsqg9S3Y3R6NHj8aWLVtk1kLFmaIAkyYBq1cDPj6my27cAKKigG+/dUhpRERERFQ82N0clSlTBpmZmTJrIcq6/+jgwaz7kbLLyADGjAFeeAFIT3dMbURERETk0uxujnr27Int27cjLS1NZj1EQJ06wKFDQKdO5svmzQPatweuXSvSknx9fYt0f+S6mCWSiXkimZgnkkXNWbJ7QoakpCS0a9cOYWFhmDVrFmrXri27NrvZctMVObHMTODtt4GPPzZfFhICLFsGdOxY9HURERERkWrY0hvY3RxFREQgLS0NcXFxALLmMw8NDTWb3ltRFFy4cMGeXdiNs9W5mGXLsmazS001HVcUYOJE4P33gUKctl2v1yM+Ph6hoaFOM+sKqROzRDIxTyQT80SyOGOWimS2Or1eDw8PD1SoUAEVKlRAaGgogKwZKrJ/6fV6e3dRYGqdJYNyGDwY+P13oFIl03EhgClTgC5dgPj4Qtu9EAJxcXHMExUYs0QyMU8kE/NEsqg9S1Y/BDanmJgYiWUQ5ePRR4GjR4Hhw4ENG0yX7dgBNGgArFwJtGrlmPqIiIiISPWc41wXkTUCA4F164BZs8wvo/v3X6Bt26xlDjxbSURERETqZXdzFBERgc8//zzPdebOnYuInFMyF6Gc9z+RC1AU4M03gd27gbJlTZfpdMD48UDXrsD16xJ3qSAoKIh5ogJjlkgm5olkYp5IFrVnye7mKCYmBnfu3MlznTt37uDy5cv27qLAnOUmMCoELVsCx44BHTqYL9u2DahXz/zyOztpNBpUqFCBeaICY5ZIJuaJZGKeSBa1Z6lQq05KSoKnp2dh7iJPjpwMgopAaCiwZUvWpAw5/zpx6xbQsyfw4ovAgwcF2o1er0dsbCzzRAXGLJFMzBPJxDyRLGrPkk0TMuzdu9fkdUxMjNkYAOh0Oly5cgXLli1D9erVC1ZhAah1lgyygVabNZ13y5bA0KFZ9x5l9+WXWZfgrViRdTbJDkIIJCQkoFy5cgWvl4o1ZolkYp5IJuaJZFF7lmxqjqKioozXDyqKgkWLFmHRokUW1xVCQFEUzJgxo+BVEuWnXTvgxAngmWeAtWtNl506BTRqBMycCbz8MqDS07xEREREVLhsao4mTpwIRVEghMAHH3yANm3aICoqymw9rVaLoKAgtG3bFjVr1pRVK1HegoOB1auB774Dxo0D7t9/uCw9HXj1VWDTJmD+fKBCBYeVSURERETOSRF2XnvWtm1bjBw5EsOGDZNdU4EZnoKbmJiIgIAAR5dDjnD2LDBwYNakDTn5+QGffQaMGGF+r5IFzvikZ1InZolkYp5IJuaJZHHGLBl6g6SkJPj5+eW5rt3NkTOz5QMgF5aWBrz3HvDxx5aX9+gBfPMNUKZM0dZFREREREXGlt7AOdq5QqLT6RxdAjmSpycwezawfTtQvrz58o0bgdq1geXLgTz+RqDT6XDhwgXmiQqMWSKZmCeSiXkiWdSeJZdujogAZD0LKToaGD7cfFliIjB4MNC3LxAfn+smUlJSCrFAKk6YJZKJeSKZmCeSRc1ZYnNExUNAALBwIbBuHVC6tPny1auzziItW5bnWSQiIiIicl1sjqh46dkTOHkS6N/ffNmtW8CQIUD37sDly0VfGxERERE5lEs3R4oVM5FRMRQcDKxcCaxalfXfOW3enHUW6YsvAJ0OiqIgPDyceaICY5ZIJuaJZGKeSBa1Z4mz1VHxduMG8Pzz5g+ONWjaNOu5SbVrF21dRERERCQFZ6v7j1pnyaAiVLo0sGZN1j1HYWHmyw8ehGjQALfGjoUu+0Nlieyg0+lw5swZ/mwiKZgnkol5IlnUniW3grxZp9Phhx9+wI4dO/Dvv/8iLS3NbB1FUfDrr78WZDdEha93b6BdO+Ctt4BvvzVZpGRkoNTcuRDbtgFffpk1+x2RnVJTUx1dArkQ5olkYp5IFjVnyarm6Nq1ayhXrpzJ2L1799CpUyccPHgQQggoioLsV+gZXqv1ekMqhgICsh4KO3AgMGYMcP68yWLl3DmgY8esyRzmzAHKlnVMnURERERUKKy6rK5Zs2Y4deqUydjUqVNx4MABTJ8+HadPn4YQAps3b8bly5exYMEClC9fHgMHDkR6enqhFE5UaNq2BU6cAMaPB7Ra8+WrVgE1agD/939AZmbR10dEREREhcKq5igkJAQtW7bE3r17jWNr1qxBs2bN8NZbbyEgIADAw9kphg8fjoMHD2Lr1q2YNWtWoRRuDY3GpW+posJUogQwYwZw+DBEkybmy1NSgHHjgEaNgIMHi7w8UieNRoOIiAj+bCIpmCeSiXkiWdSeJauqPnDgAPr164fOnTtj+/btAIDY2Fg0+e+XRu1/f13Pfs9RmTJl0KdPHyxatEh2zVbjJX1UYI88AmX/fuDrr4HAQPPlf/0FNGsGPP00EB9f5OWRuiiKAj8/P/5sIimYJ5KJeSJZ1J4lq5ojDw8PfPXVV/j+++/x999/AwB8fHyMHaGvry8URcG1a9dM3ufn54fY2FjJJVtPrbNkkHPRCYHoZs2gO3UKGDHC8krz5wPVqmXdi8RLSSkXOp0O0dHR/NlEUjBPJBPzRLKoPUs2ne8aOHAgXn31VQBAxYoVjY2Pp6cnqlWrhnXr1hnX1ev12Lp1K8qUKSOxXCLH0Ol0QEgIsGABsHcvUKeO+UrJycDrrwP16gFbthR9kaQKav2fBTkn5olkYp5IFjVnye6LAdu3b4/du3cbD37EiBHYunUr2rVrh/Hjx6Np06b4+++/0adPH2nFEjmFVq2Ao0eBjz8GfHzMl589C3TtCvTsaTbjHRERERE5L7ubo2eeeQavv/46bt++DQB44403MHToUOzevRuzZ8/G4cOH0a9fP0yePFlWrUTOw9096yzRP/8AQ4daXmfDBqBWraxZ75KSirY+IiIiIrKZIrI/nEiCuLg4XL58GZUrV0ZoaKjMTVstOTkZ/v7+uHPnDvz9/R1SA7kOIQRSU1Ph5eWV+82FBw4AL78MHD5seXmpUsDkyVnPT3J3L7RayblZlSUiKzFPJBPzRLI4Y5YMvUFSUhL8/PzyXFf6HHthYWFo0qSJwxojosLg4eGR9wrNmgF//AF8/z1gKfu3bgFjxwJ16wLr1wNy/yZBKpJvlohswDyRTMwTyaLmLKlzAnIr6fV6R5dALkCv1yM6Ojr/PGk0wMiRWZfavf464OZmvs7Zs0CvXkC7dsCRI4VTMDktq7NEZAXmiWRinkgWtWfJwm9vlrVr1w6KomDRokUoX7482rVrZ9X7FEXBr7/+aneBRKrj7581WcOYMVn3G/38s/k6u3cDjz0GDBkCTJ0KVKxY1FUSERERUQ5WN0e7d++Goii4f/++8bU1nOVaQ6IiV706sHYtsGcP8MYblu9HWroU+OEH4PnngXffzZounIiIiIgcwurL6vR6PXQ6HapXr258bc2Xmuc5J5KiTZus+5GWLQMqVDBfnp4O/N//ARERwJQpQEpK0ddIRERERPJnq3MGnK2OZBJCQK/XQ6PRFPxMaGpqViP00UdZD421JCQEeO894NlnAU/Pgu2PnIrULFGxxzyRTMwTyeKMWXLobHVErig9PV3Ohry8su5DOn8eeOUVy9N637yZtSwyEli0CMjMlLNvcgrSskQE5onkYp5IFjVnyeYzR9evX8eDBw9QqVIlaDRZvdWePXuwZ88es3UfeeQR9OzZU06lNjB0hwkJCQgMDCzy/ZNr0el0iI6ORt26daHVauVuPCYGmDQJWLIk9+m9q1fPekZSv36A7P1TkSrULFGxwzyRTMwTyeKMWbLlzJHVEzIAwK1btxAZGYlmzZph69atxvHdu3djypQpZuv7+vriwoULKFWqlC27ISo+KlXKOjv05pvAO+8AGzaYr/PPP8CgQcC0aVlNUu/eWdOGExEREZFUNv2GtXjxYty7dw8zZ840W6YoClasWGH8+vLLL5GSkoIlS5ZIK5bIZdWpk/Vw2N9+A1q2tLzOyZNA377Ao4/yQbJERA6k1+vxySefYMuWLY4uhYgks6k52rJlC2rXro1HHnnE4vL+/fsbv5577jk0btwYv/zyi4w6iRyqyE4Lt2gB7N0LbNqU1QRZcvx41oNkGzcGNm5kk6QyznKJAbkG5skxJk+ejGXLlqFZs2aOLkUq5olkUXOWbGqOoqOjbfpBUK9ePZw8edLmomRR8zeGnIdWqy3a62YVBejWLeu5SGvXAnXrWl7v8GHg8ceBhg2z1lPpk6iLkyLPErk05qno7N+/HyVLlkTp0qVx4cIFuLu7Y8uWLS41Iy7zRLKoPUs2NUcJCQkIDQ01G4+KisLEiRPNxkNDQ5GQkGB/dQXkgrOUkwMIIZCcnFz0eVIU4IkngL/+AlatAmrWtLzesWNZ9yE98kjWA2X5bDGn5bAskUtinorG/fv3MWLECCxcuBBDhgzB+PHj8f7771v8fUjNmCeSRe1Zsqk58vLywr1798zG27Rpg0mTJpmN379/H54OfE6Lnn9JJwn0ej0uXrzouDxpNFkz1UVHA0uXAlWrWl4vOhro3z/rTNOyZZwC3Ak5PEvkUlw5T6mpqZg2bRq2bdvm6FJw6tQpvPvuu+jTpw9mzpyJRo0aIS4uztFlSefKeaKipfYs2dQclS9fHidOnLB6/ePHj6N8+fI2F0VEFmi1wODBwOnTwOLFWVN8W3L6NDBkCFCjBvD111kPniUiKiT379/HrVu3cOvWLVSoUAEDBw5EYmJigbb56quvYsWKFWjSpImkKu332GOPYfjw4QAANzc3jB8/HmFhYQ6uiogKi03NUatWrbB3715cunQp33UvXLiAvXv3onXr1nYXR0QWuLkBQ4cCp04BK1YAtWpZXu/CBeC554CICODjj4GUlKKtk4iKxKJFi6AoivHLy8sLZcuWRefOnfH5558jpZD/7c+aNQshISEICQnBlStXsHLlSjRo0MDu7f34449Yv349fvnlF6n39FSqVMnkc8rta+HChcb33Lt3Dx9++CHq1asHb29v+Pv7o1WrVli8eLHJJUMjRoywatsjRoyQdjxEVDhses7R888/j2+++Qb9+/fHli1bEBQUZHG9hIQEDBw4EHq9Hs8995yUQokcycvLy9ElmNNqgQEDsi65W7MG+PBDwNKZ3evXs56j9NFHwNixwMsvA3z2mMM4ZZZItbLn6YMPPkDlypWRkZGBuLg47N69G+PGjcOcOXOwfv161KtXr1BqGDZsGFr+9wiCIUOGoH79+hbvQ7aGEAJXr17F5s2bUaFCBZll4rPPPsPdu3eNr3/55ResWLECn376qcnzGJs3bw4AuHHjBtq3b4/Tp09jwIABGDt2LFJTU7F69WoMHz4cv/zyC5YtWwatVotnn30WHTp0MG7j0qVLmDhxIsaMGYNWrVoZx6tUqSL1mGTjzyeSRdVZEjZ6/fXXhaIoonTp0mLSpEli165d4uzZs+Ls2bNi165dYuLEiSIsLEwoiiLeeOMNWzcvRVJSkgAgkpKSHLJ/IofQ6YT4+WchHntMiKwJvi1/lSghxEsvCXHxoqMrJiIJFixYIACIQ4cOmS379ddfRYkSJUTFihXF/fv3rd5menq6KFmypEhOTraplooVK4rhw4fb9B5HmT17tgAgLl26ZHF5586dhUajEevWrTNb9sYbbwgAYsaMGRbfe+jQIQFALFiwQGLFRGQvW3oDmy6rA4DZs2dj/PjxuH37Nj788EO0b98eNWvWRM2aNdG+fXt8+OGHuHnzJiZMmIBZs2bJ7eRspNYbwci56PV63L592/nzpNFkPf/ozz+B7duBdu0sr/fgAfDFF1kTOwwYkDUlOBUJ1WSJVMGaPLVr1w7vv/8+Ll++jKVLlxrHo6KiEBUVZbZ+27ZtoSgKbty4AZ1OhwcPHljcrhACU6dORfny5eHt7Y22bdvm+uiOixcvom/fvggKCoK3tzeaNm2KTZs2mayTnp6OiRMnomHDhvD394ePjw9atWqFXbt2mawXExMDRVHw8ccf45tvvkGVKlXg6emJRo0a4dChQ7l+DrY6ePAgtm7dihEjRqBnz55my6dPn45q1aph5syZuX5GasOfTySL2rNkc3OkKAqmT5+OU6dOYcKECYiKikKNGjVQo0YNtGnTBu+88w5Onz6Njz76CIqiFEbNVhMqnUKQnIsQAleuXFFPnhQF6NAB+PVX4I8/sqYDt0Svz5oivFEjoG3brAfPqvQHmVqoLkvk1Ax5ys/QoUMBwKqZ3wyXl4WHhyMyMhIhISEW15s4cSLef/991K9fH7Nnz0ZERAQ6depkNqPtjRs30Lx5c2zduhUvvPACpk2bhtTUVPTs2RNr1641rpecnIxvv/0WUVFRmDlzJiZNmoQbN26gc+fO+Ouvv8z2v3z5csyePRvPPvsspk6dipiYGPTu3RsZGRn5HqM1NmzYACDrkkFL3NzcMGjQICQmJuL333+Xsk9H488nkkXtWbLpnqPsqlWrhmnTpsmshYhka9w46wGxp04BM2cCy5dbnuJ79+6sr1q1gNdfBwYNAtR8vTARGZUvXx7+/v64cOFCvuv6+PigYsWK2LNnD0qXLm3xj5w3b97ErFmz0L17d2zYsMG4zrvvvouPPvrIZN0ZM2bgxo0b2Ldvn/G+pGeeeQb16tXDa6+9hl69ekGj0SAwMBAxMTEmj/945plnEBkZiS+++ALz58832W5sbCzOnTuHwMBAAEBkZCR69eqFrVu3okePHrZ9QBacOnUKAFC/fv1c1zEsO336tMn9RkSkbjafOSIiFapVC1i0CDh/Hnj1VaBkScvrnToFjB4NVKwITJ4M3LhRpGUSUeEoWbKkTbPWVaxYMdcbqnfs2IH09HS89NJLJs3TuHHjzNb95Zdf0LhxY2NjZKhlzJgxiImJMTYhWq3WpDFKT09HiRIl0Lx5cxw9etRsu/379zc2RgCMkx5cvHjR6mPMi+Gz8vX1zXUdw7Lk5GQp+yQi58DmiMgKef0PUlUqVgTmzAFiY4Hp04EyZSyvFx8PTJkCVKgAjBwJHD9etHW6MJfJEjkFa/N09+5dadm7fPkygKwrSLILCQkxaVgM60ZGRppto2bNmibbAoBVq1ahadOm8Pf3h6enJ0qUKIF169YhKSnJ7P05Z7Iz7Legz1cyMHxWeTWU1jRQauNKx0KOpeYsuXRzpNVqHV0CuQCtVosqVaq4Vp4CA4EJE4BLl4Dvv8/9WUnp6cDChcAjj2RN8LB+PaDTFWWlLsUls0QOY8iTRpP3/8qvXr2KpKQkVK1a1TiW2z3BOgf9+165ciUGDBiAypUrY+HChfjtt99w4MABdOrUyeJN3bn9G5J1j4OhecvrwfeGZbVy+/mpMvz5RLKoPUsu3RypdZYMci56vR5xcXGumSdPz6wzQ9HRwMaNuc9wBwC7dmXNhle9OvDJJ4Ckv9AWJy6dJSpy1uZpyZIlAIDOnTsbxwIDA3Hnzh2zdbOfyclNxYoVAQDnzp0zGb9586bZmZuKFSvi7NmzZts4c+aMybZWrVqFqlWrYsWKFXjyySfRokULNG3atNAfYJsbw31Lixcvtrhcp9Nh+fLlCAwMRIsWLYqytELDn08ki9qz5NLNkVpnySDnIoRAXFyca+dJowG6d8+a4e74cWDUqKzGyZKLF4E33gDKlweefTarsSKrFIssUZEx5CkvO3fuxIcffojKlStj8ODBxvEqVargzJkzuHnzpnHs+PHjVs281qFDB7i7u+OLL74wyfJnn31mtm63bt3w559/4sCBA8axe/fu4ZtvvkGlSpWMZ10URYFerzf5ZWr//v04ePBgvvUUhubNm6NDhw5YsGABNm7caLb83XffxT///IO33noLJUqUcECF8vHnE8mi9izZPVsdEbmoevWA+fOz7kn66ivgyy8tT8xw/z7wzTdZX23aAGPHZk0b7sYfK0SOsHnzZpw5cwaZmZm4ceMGdv5/e/cd18T9xgH8k7BRpsiQKSoiKCoq7o0Dt3VQrZa6Z9VaB7VVsNq6qj+trdZRxdE66qq2DlxoHa11DxBUQEFlKFtlJd/fH9cEYhJIIGTxvF+ve6F3l7vv5Z4cebjvPd9z53D69Gm4u7vj6NGjEgUWxo4dizVr1qBnz54YP3480tLS8NNPP8HHx6fcuzW1a9fGnDlzsGzZMvTr1w99+vTBrVu3cOLECXEpcJHQ0FDs2bMHQUFBmDFjBmxtbbFjxw4kJCTg4MGD4i6Bffv2xeHDhzF48GD07dsX8fHx2LRpE3x9fTV292jnzp3o3r07Bg4ciJEjR6Jjx44oKCjAoUOHEBUVheDgYMydO1cjbSOEVB36FkMIkc3eHli0CJg/nxsP6X//A2SMNwIAuHCBm5ydgYkTgfHjgTp11NpcQqq7RYsWAQCMjY1ha2uLJk2aYO3atRgzZozUw9GNGjXCzp07sWjRIsyePRs+Pj7YuXMn9uzZg6ioqHL3tXTpUpiamuKnn37C+fPn0bp1a0RGRqJv374S6zk4OODKlSuYP38+1q9fj/z8fPj5+eHYsWMS644dOxYpKSnYvHkzIiMj4evriz179mDv3r0KtacqODk54dq1a1i9ejV+++03HDx4EIaGhvDz80NERAQ+/vhjjY/nSAhRPR7T1XteZcjJyYGVlRUyMzNhbW2t6eYQHScUCpGcnAwXF5dyH3zWa4wBV64A69cDBw/KHi9JxMCAu4s0ZQr3HBN9gQBAsURUi+KJqBLFE1EVbYwlUW6QnZ0NS0vLMtfV6+RIkTeAEFIBz58DmzZxU1pa2es2bAhMngyEhHBV8gghWqVLly4AoLE7NIQQUtWUyQ20I52rIrpaJYNoF6FQiGfPnlE8lebsDHz9NTde0u7dQOvW8teNjeUGnq1TB/jkE+DyZe4uVDVEsURUieKJqBLFE1EVXY8lvU6O9PCmGNEAxhgyMjIonmQxMQE++gj4+2/gxg3uWSNzc9nr5ucDO3YAHToAjRsD69YBGRnqba+GUSwRVVJVPEVGRiIyMlJFrSK6iq5PRFV0PZb0OjkihKiRvz+wZQvX5e7774H/BlGUKToamDWLu5s0ahRw8WK1vZtEiKYZGxvD2NhY080ghBCtQMkRIUS1rK2BTz8FHjwAoqKA4GDAyEj2ugUFwC+/cKXAvb2BFSuAly/V2VpCCCGEEDG9To6oxCZRBR6PB0dHR4onZfF4XNKzdy+QlMQlPvXry18/Lg4IDQVcXYEBA4DffweKitTXXjWgWCKq9H48rVy5Et7e3jrbz59olqquT6GhoWhd1nOoRO/p+u86vU6OtKV8INFtfD4fjo6OFE+V4eAAzJvHFWc4dw748ENAXjcegQA4dowrBe7iAsydC8TEqLW5VYViiahS6XjKycnBihUrMH/+fIn44vF44onP56NOnTro2bOnSivTHT16FP7+/jA1NYWbmxvCwsJQXFap/1IeP36MoUOHwsbGBubm5ujQoQPOnz+vsrZVVkREBHg8Hq5fv67ppqjElStX0KFDB5ibm8PR0REzZsxAXl4egPKvTxs3bsSwYcPg5uYGHo+HTz75ROZ6s2bNwp07d3D06NGqOgyi5XT9d51utlpBAoFA000gekAgEODJkycUT6rA5wNduwJ79nDPJq1ezZX6lictDfjuO8DHB2jTBti4EcjMVF97VYxiiahS6Xjatm0biouLMWLECKn1evTogV27dmHHjh2YPHky7t69i27duuHEiROVbsOJEycwaNAgWFtbY/369Rg0aBCWLl2KTz/9tNzXJiUloW3btrh06RLmzp2LZcuWIS8vDz179sTFixcr3TYi6fbt2+jevTvevn2LNWvWYPz48di8eTOGDRsGoPzr04oVK3Du3Dn4+vrC0NBQ7n4cHR0xcOBAfPfdd1VyHET76fzvOqaHsrOzGQCWkZGh6aYQPVBcXMxu3brFiouLNd0U/SQUMnbpEmNjxjBWowZjXGkG+ZOJCWPDhzN2/DhjRUWabr1SKJaIKpWOJz8/PzZq1CipdQCwadOmScy7e/cuA8B69uxZ6Tb4+Piwpk2bsqJSn8Uvv/yS8Xg8FhMTU+Zrp06dygwNDdnDhw/F8968ecNcXV2Zv79/hdv0+PFj9ubNmwq/vrTt27czAOzff/9VyfY0KSgoiDk5ObHs7GzxvC1btjAA7NSpU+VenxITE5lQKGSMMVajRg0WEhIid18HDhxgPB6PPXnyRKXHQHSDNv6uE+UGpeNfHr2+c0QI0QE8HtC+PbBtG1eMYetWoG1b+esXFAD79wN9+gBublx3vfv31ddeQrRMQkIC7t69i8DAQIXWb9KkCezs7JCQkFCp/UZHRyM6OhoTJ06UuJMwdepUMMZw4MCBMl//119/oXnz5mhY6u6xubk5BgwYgJs3b+LRo0cVateuXbvg5OSEyZMn499//63QNpR169YtBAUFwdLSEjVr1kT37t3x999/S6xTVFSExYsXo0GDBjA1NUWtWrXQoUMHnD59WrxOSkoKxowZAxcXF5iYmMDJyQkDBw5EYmJipdqXk5OD06dPY9SoURIDYH788ceoWbMm9u/fX+423N3dFX6GRBSLv//+e8UaTIgGyb8vSggh6mZhAYwbx03R0VzCtGsX171OlpcvgVWruKlZM2D0aGDECMDJSa3NJkSTrl69CgDw9/dXaP3MzExkZmaifqkCKdnZ2ShSoACKqakpatasCYBLCACgZcuWEuvUqVMHLi4u4uXyFBQUwMbGRmq++X9jpd24cQMNGjQot03vGzlyJNLS0rBnzx5s2rQJTZo0wbhx4zBq1CjUqlVL6e2V58GDB+jYsSMsLS0xb948GBkZYdOmTejSpQsuXLggLk4QHh6OZcuWYfz48QgICEBOTg6uX7+OmzdvokePHgCAIUOG4MGDB/j000/h4eGBtLQ0nD59Gs+ePYOHhwcAIC8vD/n5+eW2y8jICFZWVgCAe/fuobi4WOpcGRsbo1mzZuWeK2VZWVmhXr16uHz5Mj777DOVbpuQKlf1N7LUT3TrLDMzU9NNIXpAIBCwV69eMYFAoOmmVE+FhYwdO8bYkCGMGRuX3+2Oz2esVy/Gdu1iLC9P062XQLFEVEkUT19++SUDwHJzc6XWAcDGjRvH0tPTWVpaGvvnn39Y9+7dGQC2evVq8XqdO3dmAMqdSnelWrVqFQPAnj17JrXfVq1asTZt2pTZ/v79+zNra2uWk5MjMb9t27YMAPvuu++UfEckvXv3jv3yyy+se/fujMfjMRMTExYcHMwiIyMV/gwq0q1u0KBBzNjYWKIL2YsXL5iFhQXr1KmTeF7Tpk1Z37595W4nMzOTAWCrVq0qs00hISEKnavOnTuLX/Pbb78xAOzixYtS2xs2bBhzdHRU6vpUXrc6xhjr2bMna9SoUbnbIvpHG3/XKdOtTq/vHOlqlQyiXfh8fpX8tZEoyMgI6NePm16/5kqD79gByOsuIxQCp05xU40awODBwEcfAYGBQBkPEasDxRJRJVE8ZWRkwNDQUHxH530///wzfv75Z/H/TU1NMXv2bMyaNUs8b/Xq1chUoNhJnTp1xP9+9+4dAMDExERqPVNTU+Tk5JS5rSlTpuDYsWMIDg7GN998gxo1amDDhg3iynCi7VeUqakpRo4ciZEjR+Lp06eIiIhAREQE9u3bB3d3d0yaNAlffPFFpfYhEAgQGRmJQYMGwdPTUzzfyckJI0eOxJYtW5CTkwNLS0tYW1vjwYMHePTokcw7YmZmZjA2NkZUVBTGjRsn864aAMybNw+jRo0qt22lX1/euXr37p3Kr082NjYqvyNFdIOu/67T6+RIZ6tkEK0iEAjEv8wMDAw03ZzqrVYtYNo0bnrwgEuSfvkFePFC9vpv3gC7d3NT7drcgLQjR3KV7zQw/gLFElElUTwxxspcb+DAgZg+fTp4PB4sLCzg6+uLGjVqSKzTokULpfdvZmYGgOse9778/HzxcnmCgoKwfv16hIaGirsE1q9fH9988w3mzZsnN9kDuC/72dnZEvMcHR3lru/u7o6wsDBMnjwZEyZMwLFjx7BixYpKJ0fp6el4+/atxHNTIo0aNYJQKERSUhJ8fX3x9ddfY+DAgfDy8kLjxo3Ru3dvjB49Gn5+fgC4xGXFihX4/PPP4eDggDZt2qBfv374+OOPJY7Nx8cHPj4+SrVTkXOl6usTY0xnx7khlaPrv+vo1gohClCkfzdRM19fYOVK4Nkz4MwZICQEKOPLFNLTgR9+ANq1A+rVA778knuuSc0ologq5efnw9bWFsXFxcjNzZW5jouLCwIDA9G9e3cEBARIJUYAkJGRgZSUlHKn0gmJ03/P9r18+VJqey9fvpS4yyTP9OnTkZqaiitXruD69et4+PCh+DkZLy8vua/bt28fnJycJCZ5iouLcfToUQwePBiurq7i8uO//vprue1TpU6dOuHJkyfYtm0bGjdujK1bt8Lf3x9bt24VrzNr1izExcVh2bJlMDU1xcKFC9GoUSOJOzDZ2dkKnauMjAzxaxQ9V6q8PmVmZsLOzk5l2yO6RZd/12llcnTx4kX0798fderUAY/Hw5EjRzTdJEKItjIwALp3ByIigJQU7k5S797cmEryJCQA337LJVh+fty/nzxRW5MJUSVvb28AqFT1uQ8++EAq2ZA1zZw5U/yaZs2aAYDUAKkvXrxAcnKyeHl5atSogbZt26JFixYwMDDAmTNnYGZmhvbt28t9Ta9evXD69GmJ6X3R0dGYO3cuXFxcMHDgQERHR2PJkiVITk7G4cOH0adPH4XaV5batWvD3NwcsbGxUssePnwIPp8PV1dX8TxbW1uMGTMGe/bsQVJSEvz8/BAeHi7xunr16uHzzz9HZGQk7t+/j8LCQqxevVq8fObMmQqdqw8++ED8msaNG8PQ0FDqXBUWFuL27dsKnytlJCQkoFGjRirfLiFVTSu71b158wZNmzbF2LFjJT7chBBSpho1uG5zI0dyidL+/VyydO2a/Nfcu8dNX34JtGwJfPghMHw4UOoLDSHarE2bNgC4JEXURUtZFXnmyNfXF97e3ti8eTMmTZok7j6zceNG8Hg8DB06VLxudnY2Xr58CScnJ/GdIVmuXLmCQ4cOYcqUKWWuV9bdoqioKISGhuKff/6BmZkZhg4divHjx6NTp07lHp+yDAwM0LNnT/z+++9ITEwUV5RLTU3Fr7/+ig4dOohLZ79+/VriOYyaNWuifv36SEpKAgC8ffsWfD4fpqam4nXq1asHCwsLie5wFXnmyMrKCoGBgdi9ezcWLlwICwsLAFzZ87y8PPFAsKJ2PH/+HHZ2dhW+85OdnY0nT55gypQpFXo9IZqklclRUFAQgoKCKr0dKshAVIHP58PT05PiSdc4OgIzZnDT48fAnj1coiTjL7xi169z05w53NhLwcHAkCGAAt2DFEGxRFRJFE8WFhZo3Lgxzpw5g7Fjx1ZoWxV55ggAVq1ahQEDBqBnz5748MMPcf/+ffzwww8YP368xF2Dw4cPY8yYMdi+fTs++eQTAMDTp08xfPhwDBgwAI6Ojnjw4AF++ukn+Pn54dtvv61QewDgwoULKCoqwoYNGzBy5MgykyxFbdu2DSdPnpSaP3PmTCxduhSnT59Ghw4dMHXqVBgaGmLTpk0oKCjAypUrxev6+PigS5cuaNGiBWxtbXH9+nUcOHAA06dPBwDExcWhe/fuGD58OHx8fGBoaIjDhw8jNTUVH374ocR2lH3mCAC++eYbtGvXDp07d8bEiRORnJyM1atXo2fPnujduzcYY/D09MT169fRrVs3hIWFSdzVOnbsGO7cuQOAG7Pp7t27WLp0KQBgwIABEon5mTNnwBjDwIEDlW4n0X26/rtOK5MjZRUUFEj8VUVUIUcoFIqLMvB4PPD5fAiFQomHV0Xz3y/eIG8+n88Hj8eTOV+0T0XmGxgYgDEmc/77bZQ3n45JPccEcN0+Si/T9WPSx/NU5jHVrQssWAB88QVw6xYM9u0D27sXvOfPIdfly8Dly2AzZ4LXoQOEQ4aAffCBOFGq6DG9H0t0nuiYKnpMQqFQHE+ffPIJwsPD8e7dOxgbG0uszxiT2UZVHFNQUBAOHTqExYsX49NPP0Xt2rURGhqKRYsWibddeluinwKBADVq1ICjoyN++OEHZGRkwNnZGdOnT8eCBQtgbm4OgUBQofP0+eef46uvvhLPEwgEFT5PovU3btwIWUaPHo1GjRrhr7/+QmhoKJYtWwahUIiAgADs3LkTrVu3Frd9+vTpOHbsGCIjI1FQUAB3d3d8/fXXmDNnDgQCAVxcXPDhhx/i3Llz2LVrFwwNDdGwYUPs27cPH3zwgdR7oOwx+fv7IzIyEqGhofjss89gYWGBsWPHYvny5eL1378+ld7ngQMHsHPnTvH/b926JX4WytnZGX5+fuL19+/fj/bt28PT07PKYk/efLpGaMcxlY4lbTgmZYq08Vh5ZW40jMfj4fDhwxg0aJDcdcLDw7F48WKp+RcvXhTfOra1tYWbmxuePXsm8ZCio6MjHB0d8eTJE4mHWV1dXVGrVi08fPhQ4qEyT09PWFpa4t69exJvdMOGDWFsbIx79+5JtKFJkyYoLCyU6I9sYGCAJk2aICcnB/Hx8eL5pqam8Pb2xuvXr8W32QHAwsIC9erVEz9kKULHpJ5jysrKws2bN2FjYwMej6cXx6SP50npY3rxArknT8L61ClYnz4NIwW6FDEeD2+aNUNWjx4wHz0ato0bK3VMBgYGuHTpkjiWVH5M+nie6JjkHlN0dDRSUlJgY2ODvLw8DBw4EKtWrUJAQIDOHpM+niddOabXr18jMzMTNjY2cHJyqvAxpaamol+/fli2bBkmT55M56kaHtOzZ8/EsWRpaakVx5SXl4eOHTsiOztb3NVVHr1IjmTdOXJ1dUV6erq4z60uZt3lzadjUs8xFRcX4969e/D19RXfSdL1Y9LH81SpYyouBi8qCvz9+8EOHQIvKwvlYTweeO3aQTh4MNjgwYC7e7nHJBAIpGKJzhMdU0WPqbCwEA8ePBDH06pVqxAREYF79+5JdGfRpWPSx/OkK8dUXFwsjidDQ8MKH9MXX3yB8+fP4++//9b4MenjedKFYyodSwYGBlpxTDk5ObC1ta0+ydH7cnJyYGVlhYyMDLmDqBGiKNEX2iZNmuhkvX6ipMJCbgDZ334Dfv8dKGcgS7GWLYGhQ7lnlOrXl7kKxRJRJYonokoUT0RVtDGWRLmBIsmRbj4pRQghVcXYGOjfH9i5E0hLA44eBUaNAv7roivX9etAaCjQoAHQtCkQHg7cvQto99+fCCGEEFKKVt45ysvLw+PHjwEAzZs3x5o1a9C1a1dx/8TyiLLDrKwslVSpIdUbYwz5+fkwNTWl0b6rs/x8IDKSu6N09Kjid5Q8PYHBg4HBg8HatEF+YSHFElEJujYRVaJ4IqqijbGkzJ0jrUyOoqKi0LVrV6n5ISEhiIiIKPf1lBwRVRL1qxX1ayUEBQXAmTPAwYNc17tSD5OWhTk4gA0cCN6gQeB16waYmFRxQ4k+o2sTUSWKJ6Iq2hhLOp8cVRY9c0RUSRv7zhItUlQEXLgAHDgAHD7MdcVThIUF0Ls3MHAg0KcPQNcqoiS6NhFVongiqqKNsUTPHBFCiLoYGQGBgcBPPwEvXnCJ0qxZ4up1cuXmcl30Ro0C7O2B7t2B9euBp0/V0mxCCCGESKPkiBBCVMXAAOjUCfjf/4CEBODGDeCrrwBf37JfV1wMnDsHzJgBeHhwBR2++gr45x/gvVKphBCiD4RCITZv3owdO3ZouimESDDUdAMIIUQv8XiAvz83LVkCPHoE4cGDeLdnD8zv3QOvrB7Nd+9y0zffAA4OQL9+XAW9wECgRg31HQMhhFSBmJgYjBkzBv/88w/4fD6aNGkCf39/TTeLEAB6/swRFWQgqqCNDxYS3SSOpfR08P74gyvmcPo0V+BBEaamQNeuQN++3OThUaXtJdqNrk1EldQRT4WFhVi5ciUWL14MxhgEAgEMDAzQqFEj3Lx5E0ZGRlWyX6Je2nhtooIMlBwRFdLGkpREN8mMpTdvuBLhR44Af/4JvH6t+AZ9fbkkqV8/oG1bwJA6A1QndG0iqlTV8ZSWloYuXbrg4cOHeP+rJ4/Hw7fffovQ0FCV75eonzZem6ggw3+E1FefqIBQKERsbCzFE6k0mbFUowY3DtKOHUBqKvDXX8C8eYC3d/kbfPAAWLmSe87J3h4YMaJk8Fqi9+jaRFSpquMpLy8PcXFxUokRwH2ZXrRoEeLi4qpk30S9dP3apNfJESGE6BQDA6BDB2DFCiAmBnj0CFizhutKV1451MxMYO9eICQEcHQEAgKA8HCuqINAoJbmE0KIPJ6enggNDZV7J4ExhrFjx+rsF2qiPyg5IoQQbVW/PvDZZ1wlu/R0LvkZPRqoVavs1zEG/PsvsHgx0KYNlyyNGgX88gu3HUII0YCFCxeiXr16Mse+KS4uxuXLl7FlyxYNtIyQEpQcEaIAbRnEjOi+CseSjQ0QHMx1m0tNBa5cAb78kiv7XZ5Xr7jEaNQorvpdq1bAwoXA5ctcGXGis+jaRFSpquPJxMQEO3bsKPPu0Oeff47nz59XaTtI1dPla5NeF2RQ5KErQgjRecnJwIkTwPHjwJkzQF6e4q+1sgJ69AB69QJ69gTc3KqunYQQAmD69OnYuHGjzCTJ0NAQvXv3xtGjR7XmYX6i+6haHVWrIyrEGENubi4sLCzoQk0qRS2xVFgIXLrEJUrHj3PPLinD25tLknr1Ajp3pnGVtBhdm4gqqTOecnNz0bBhQ6Smpsq9i7Rv3z4MHz68SttBqoY2XpuoWt1/6KE+ogpCoRDx8fEUT6TS1BJLxsZAt27Ad98B0dFAQgKwYQMwYIBiic7Dh8D333Mlwm1tuW0tXw7cuAHQZ0Cr0LWJqJI648nCwgI///yz3H3xeDxMmTIFr5UZ2oBoDV2/Nul1ckQIIdWehwcwZQo34GxGBlfcYd48wM+v/NcWFgLnzwNffAG0bMmVCw8OBrZuBZ4+rfKmE0L0V1BQEEaMGCHz2RTGGLKzszFr1iz1N4xUe5QcEUJIdWFszJUFX7ECuHMHeP4c2LaNS3hsbct//evXwP79wIQJXNLl5QVMmwYcOsSVEieEECV8//33crteCQQC7N69G6dOndJAy0h1RskRIQowNTXVdBOIntCqWKpTBxgzhisRnpYGXLsGLF0KdOwIGBqW//pHj7gue0OGAHZ2XBW8L77gikK8e1f17SfaFU9E56k7nuzs7PDjjz/KHBgWAPh8PsaNG4c8ZYrMEK2gy9cmvS7IQNXqCCGkgnJygKgo4NQp4PRpLhFShokJ0L490L0799xSy5aKJVyEkGqFMYY+ffrg9OnTEMgYsJrP52P69OlYt26dBlpH9AVVq/vvDcjMzIS1tbWmm0N0nFAoRGZmJmxsbMDn081WUnE6HUtPn3JJ0unTwNmzXBc7ZVhYAJ06cYlSt27cM0+69h5oGZ2OJ6J1NBlPSUlJaNiwId7JuePM4/Fw5coVtGnTRq3tIhWjjdcmqlb3Hz3M+4gGMMaQlJRE8UQqTadjyd0dGD8e2LeP64J3/TqwbBkQGAgo0n0iNxf480/g88+B5s254g5DhwI//gg8eADo4nuiYTodT0TraDKeXF1d8d1338ldzufz8cknn6CwsFCNrSIVpevXJr1OjgghhFQBPh9o0QIIDeXuJGVmcneTFiwAWrdW7I7Q69fAwYPA9OlA48aAoyNXGOKnn4DYWEqWCKlmJk+ejLZt28JQRvdbgUCAuLg4LFu2TAMtI9UNJUeEEEIqx9SU6yr3zTfA339zic+RI8CMGYCvr2LbSEvjKuFNmcINROvsDIwYAWzaxI29RMkSIXqNz+dj27ZtcpczxrB06VI8ePBAja0i1RElR4QowMLCQtNNIHqiWsSStTUwcCCwbh1w/z6QkgLs2cOVAK9XT7FtvHzJVdGbPBlo1AhwcuLuLG3YwA1uS8kSgGoST0RtNB1P3t7eCA8Pl1naG+ASpDFjxsgs3EC0i6ZjqTL0uiADVasjhBAt9PQpNxhtVBQ3yGxSkvLbsLPjCjyIJj8/QMZgkoQQ3VJUVIRmzZohNjZWbhK0bt06zJgxQ80tI7qMqtVRtTqiQkKhEGlpabC3t9eaqitEN1EsycAYEB9fkiidPw+8eKH8dqysgA4dSpKlFi0AIyOVN1ebUDwRVdKmeLp+/ToCAgLkPtBvamqKhw8fwt3dXc0tI4rQplgSoWp1/9HDvI9oAGMMKSkpFE+k0iiWZODxuK5248YBu3cDyclcQYbNm4GPPuKePVJEdjZXDW/+fKBtWy5Z6tYNCAvjBqV986Zqj0MDKJ6IKmlTPLVs2RKfffaZ3C/WRUVFGD9+vFa0lUjTpliqCL1OjgghhOgYHg/w8uKeT9q9m+ty9/gxsHUrMHo04Oqq2HbevePuQn39NdCjB/ccVOvWXCnxI0eA9PSqPApCSCUtWbIELi4uMhMkgUCAM2fOYNeuXRpoGdF3lBwRQgjRXqXvLO3cyT2vFB8PREQAY8cC9esrtp3iYuDaNWDNGmDwYG6cJW9vbuymiAguAdPRv3ISoo/Mzc2xfft2CIVCuevMmDEDaWlpamwVqQ70OjmSV+2EEGXweDzY2tpSPJFKo1hSAR4PqFsXCAkBfv4ZePQIeP6cq4Y3ZQrg46P4tmJjuW2MGQM0aMBVxBsyhEug/vkH0PIBJymeiCppYzx169YNY8eOhYGcYit5eXmYPn26mltFyqONsaQMvS7IQNXqCCGkGnr9Grh0CfjrL266eZO7c6QsU1OgVSugfXugXTtuqlVL9e0lhMiVmZkJLy8vvH79Wu4zLEePHkX//v3V3DKiS6haHVWrIyokFAqRnJwst+8zIYqiWNKQN2+4wWn/+otLmq5eBd6+rdi2GjYsSZTateO65mnoXFI8EVXS5ng6dOgQhgwZInMZn89H7dq1ERsbCysrKzW3jMiijbFE1er+o4d5H9EAxhgyMjIonkilUSxpSI0aQPfuQHg4V7kuKwv491/gf//jutE5OCi+rdhYYPt2rmCEry93JykoCFiyhNt2Tk5VHYUUiieiStocTx988AEGDRoks3udUCjEq1evMH/+fA20jMiizbGkCENNN4AQQghRKyMjoGVLbpo1q2Sspb/+Aq5cAS5fBqKjFdtWVhZw8iQ3AdwzUb6+XDlx0eTlpbG7S4Toiw0bNuDs2bPIzc2VWiYQCLBp0yaMHDkSnTp10kDriD6h5IgQQkj1JqqIV68e8Mkn3LyMDK4r3uXL3HTtGlcevDyMAffvc9OWLdw8GxuujHibNtzPgADA1rbKDocQfeTk5IT//e9/GD9+vMzlBgYGGDNmDB48eABTU1M1t47oE3rmiJByaONIz0Q3USzpsKIi4M4d7s6SaEpKqvj2GjYsSZbatAGaNAEMlft7JcUTUSVdiCfGGLp27YpLly5BIBBILefz+Zg3bx6WLVumgdYREW2MJSrIQNXqCCGEVLXkZK64gyhZunWLS6IqwswMaNGCu6vUujU3ublxd7UIIWJPnjyBr68vCgoKZC7n8/m4ceMGmjVrpt6GEa1GydF/b0BGRgZsbGw03Ryi4wQCARITE+Hh4SF3rAVCFEGxpOfy87my4Vevcl3yrl7lxmCqKAeHkmQpIIB7RqrU7zSKJ6JKuhRPq1evxpw5c2QuMzAwgK+vL27cuAFDJe/GEtXQxlhSJjmiqCFEAbIeACWkIiiW9JipaUmJb5GkJC5J+ucfLmG6cQOQ8xdvKampwLFj3CTi5cUlSgEBQIsWyDMwADw8VHoYpPrSlevTzJkzsXv3bty7d0+qe51AIMC9e/ewZs0azJs3T0MtJLoSS7JQckQIIYRUFVdXbho+nPt/YSFw9y6XKImmJ08U315cHDft3g0DAE0MDcFr2pS7q9SqFTf5+Cj9/BIhusTQ0BA7duyAv7+/zOWMMSxcuBCDBw9GgwYN1Nw6ouvo6kkIIYSoi7FxSRnx6dO5ea9ecdXw/vmn5GdmpkKb4xcXc3ejbtwANm3iZpqbA82bc4mSKGmqX5/KiRO94ufnh/nz52PZsmUyx9MRCAQYN24cLly4AB49u0eUoNfPHFG1OqIKQqEQmZmZsLGx0ZqqK0Q3USwRhTAGPH7MJUn//MMNWHvrFnfXqaIsLbmCD6LErGVLoG5dKvhAxHTx+pSfn4/GjRsjMTFRZvU6ANi8eTMmTJig5pZVb9oYS1SQgarVEUII0Sei7njXrnHJ0rVrQEwMl0hVlI0NlzCJkqYWLbjnlyhhIjrk0qVL6Nixo9zlNWvWRGxsLOrUqaPGVhFtQ8kRVasjKiQQCPDo0SM0aNBAa6quEN1EsURUSZCZiefHjsHl5Uvwb9zgkqbExMpt1Na2JGFq0QLw96c7TNWELl+fpk6dik2bNkEoFEotMzAwQN++fXHkyBHqXqcm2hhLVK2OEBXLz8/XdBOInqBYIipjaYkMPz84f/QRIPoCkp4OXL/OJUqinykpim8zIwM4fZqbRKytuSRJlCz5+9MzTHpKV69Py5cvx+HDh5GWliaVIAkEAhw9ehQHDx7E0KFDNdTC6kdXYwmg5IgQQgjRH7VrA0FB3CTy4kVJsiSaXr1SfJtZWcC5c9wkYmEBNGvGJUrNm3M/GzWiKnlEIywtLbF161b069dP5nIej4fJkyejW7dusLW1VXPriK6hqxghhBCiz+rUAQYO5CaAe07p2TOuwt316yXV7l6/VnybubnAX39xk4ipKdCkCZcsiSY/P8DMTLXHQ4gMffv2xYcffojffvtNqjgDYwxZWVmYPXs2IiIiNNNAojP0+pmjrKwsWFlZabo5RMcxxpCbmwsLCwvqr0wqhWKJqJJK44kx4OnTkkSpIgmTLHw+4O0tmTA1a8Y920S0ij5cn9LT0+Hl5YXs7GyZ5b0BIDIyEj169FBzy6oXbYwlKshA1eoIIYSQymEMSEoCbt7kEiXRz9TUym/bzY1LkkTJUrNmgLs7FX4glfbLL79g1KhRMpfx+XzUqVMHDx8+RI0aNdTcMqJJlBxRtTqiQgKBANHR0fDx8dGaqitEN1EsEVXSSDwxxj3DdOsWN928yU3PnlV+29bWQNOmXKIk+unjA5iYVH7bpFz6cn1ijKF37944d+4ciouLpZbz+XzMmDED//vf/zTQuupBG2OJqtURomLyBpcjRFkUS0SV1B5PPB7g7MxNpR9+f/26JFkSJU5xccqNw5SVBVy4wE0ihoZcoYemTSUne3uVHRIpoQ/XJx6Phy1btsDb21tmciQUCrFu3TqMGDECAQEBGmhh9aDLsUTJESGEEEIqp1YtIDCQm0Ty8riBa2/fLkmY7t3jBrRVVHEx95p794Ddu0vmOzpyxR5KJ0wNGwJGRio7JKK73NzcsHLlSnz66acyl/P5fISEhODOnTswNjZWc+uItqPkiBBCCCGqV7Mm0K4dN4kUFQEPH3IJk2i6dQvIzFRu2ykp3BQZWTLP2LjkLpOfX8nk4KCCgyG6ZurUqdi9ezeuX78udRdDIBAgNjYWK1aswMKFCzXUQqKt9PqZI6pWR1SBMYb8/HyYmppqTdUVopsologq6U08MQYkJ3NJ0p07XMJ05w7w5Ilqtm9vz5UY9/Mr+enjQyXG36M38VRKTEwM/Pz8ZHavAwBDQ0PcvXsXjRo1UnPL9Js2xhIVZKDkiKgQYwxCoRB8Pl9rPuREN1EsEVXS+3jKyeG604nuMN29y/3/3bvKb5vPBxo04JKl0pOnJ7esGtLXeFqyZAnCwsJklvY2NDSEv78/rly5ojWFA/SBNsYSJUdUrY6okEAgwL1799CkSRO6eJJKoVgiqlQt40kgAB4/5hKlO3e46e5d1VTLAwBzc8DXtyRZatyY+1kNuubpazwVFhaiWbNmiIuLk1sk4Pvvv5f5fFJ2djZMTU1hQhUTlaKNsUTV6gghhBCifwwMuMILDRsCw4aVzM/M5O4q3b1bMt27B7x9q9z2374F/v2Xm0qrXZtLlN6faCxFrWdsbIwdO3agdevWcteZN28eBgwYAHd3dwBAcXEx1q5di6+++gqhoaEIDw9XU2uJNqDkiBBCCCG6zcYG6NSJm0QEAiA+viRREv188kS5EuMAkJ4OnD/PTaW5uXF3mkTJkq8vVxTC3Lzyx0RUplWrVpg1axbWrVsHoVAotby4uBgTJkzAqVOncPfuXXElOwCIjo5Wd3OJhlFyRAghhBD9Y2DAPVfUoAEwZEjJ/DdvgAcPJO8w3bvHjdWkrGfPuOnEiZJ5PB737JIoWRJNDRsCpqaVPy5SIUuWLMGBAwfw/PlzqQSpuLgYp0+fxuDBg/HHH39ILEtMTFRjK4k20OtnjqggA1EFbXywkOgmiiWiShRPKsQYkJpakiiJpuho1RSAALhCD/XrSyZMPj5c0qQFz7RUh3g6c+YMevToIXOZ6Jjf/1rs6OiIly9fVnnb9Ik2xhIVZKDkiKiQNpakJLqJYomoEsWTGggEQEICcP9+yXTvHhAbyy1TBVHS5ONTkjBp4E5TdYmnMWPGYNeuXXKLM7yPz+ejsLBQawoL6AJtjCVKjqhaHVEhbay6QnQTxRJRJYonDSoo4BKkBw+46f597mdFnmeSh8/nuuf5+HDPMfn4cJO3NzfAropVl3jKzMxEgwYNkJGRIbO8tyzPnz9HnTp1qrhl+kMbY4mq1RFCCCGEVBUTE24wWT8/yflv3wIxMSXJkmh6+lT5fQiFXNnyx4+Bo0cll7m5lSRNosSpUSPA1rbix1RNFBcXo1GjRrh06ZLCr0lOTqbkqBqh5IgQQgghRBXMzYEWLbiptNxcLmkqnTBFR1d8fCZRIYiTJyXn29uXJEylJ2dnrlBENcYYwy+//ILp06cjLy9PqdcmJycjICCgilpGtA0lR4QoQFtuCxPdR7FEVIniSUdYWAABAdxUmihpio4uSZgqeqcJANLSuOnCBcn5NWty3fFEyZLo3/XqAUZG4tX0NZ6ePXuGCRMmIDIyEjweT+HudAD3zFFycnIVtk4/6XIs6fUzR4r0KySEEEII0Sp5edwzTdHRkpMqn2kCAENDLkESJUyiqWFDwNpadfvRsD59+uBE6XLrSjAyMsLMmTOxatUqFbeKqBM9c/QfPcz7iAYwxpCbmwsLCwutqbpCdBPFElEliic9VrOm7O55795xSVNMTMkUHQ08egQUFSm/n+JibnuxsdLLHBwkkyXRT3d3bgwpHbJ27VoUFBTg3Llz4PP5MgeClUcgEOD58+dV2Dr9o+vXJr1OjpQJfkLkEQqFiI+P16qqK0Q3USwRVaJ4qobMzIBmzbiptKIiID6eS5QePixJnB4+5O5CVURqKje930XPxIQbWLdhQ8mkqWFDQEuHT/Hy8sKZM2dw5MgRfPrpp3j58qXC3xGFQiENBKskXb826XVyRAghhBCi94yMShKU0hgDkpMlkyXRlJJSsX0VFJSM+fQ+B4eSdjRsCHh5cT89PbkufBrE4/EwePBg9OrVCytWrMCyZcvAGENxcXG5r01KSlJDC4m2oOSIEEIIIUQf8XiAqys39ewpuSwzk+tO91+yxKKjUXDvHkySksCr6AC3ortNFy9Kzhc92+TlVZIwiX46OKi1kp65uTkWL16MkJAQzJo1C8eOHSu3q11qaiqEQiH4fL7a2kk0h5IjQhRgqsZRyol+o1giqkTxRCrMxgZo04abAAgFAiQ+eoQG7u4wePqUS5pEyVNMDPfvrKyK7ausZ5ssLEqSptJTgwZV2k3P09MTR48excmTJzFt2jQkJCTIfVa9qKgIr169gr29fZW1R9/o8rWJqtURQgghhJCyMQakp5ckTaLEKTaWe96pKp7zdnDgkqQGDUoSJi8voH597vkrFSksLMTatWsRFhaGoqIiCGTcObtx4wb8/f1Vtk+iXsrkBnqdHGVmZsJaj0pREs0QCoXIzMyEjY0N3VInlUKxRFSJ4omoUqXiqbCQKzMuSppKT69fV02DXVxKEqbSk6cnVzSiAp4/f445c+Zg7969MDAwkEiSfv/9dwwYMEBVrddr2nhtolLe/9HDvI9oAGMMSUlJlGiTSqNYIqpE8URUqVLxZGxcMsDs+16/BuLiSqbYWO7no0dAfn7FG5yczE3nzknO5/MBN7eSO0yipKl+faBuXa6tcjg7O2PPnj2YMmUKpkyZgujoaPGyZ8+eISoqCi9fvoSTkxM6duyok5XY1EHXr016nRwRQgghhBANqlULaNuWm0oTCoGkJC5JKp08xcUBCQkV76YnFAKJidwUGSm5jM8HPDxKkqb69UumunXFd5w6deqEO3fuYNOmTfjiiy+Qm5uLBQsWIDc3V7wpFxcXrFu3Dh988EHF2km0FiVHhBBCCCFEvfh8bkBZd3cgMFByWWEh9xyT6A5T6Z+VGZBVKOS2Gx8vO3FycxMnS4b162NavXpwmDcPIxYulEiMAK4L3tChQ3HgwAFKkPQMJUeEKMDCwkLTTSB6gmKJqBLFE1ElrYknY2NucFlvb+llb94Ajx+XJEylp7S0iu+z9B2nM2fEs4f+NyUDeAzgiegnY3gCYOGMGRg4cCB1sXuP1sRSBeh1QQaqVkcIIYQQUk1kZ3OJU+mESfT/V6+qbLeFVlYw9vbm7jrVqyc5qXkcJyIbVaujanVEhYRCIdLS0mBvb681VVeIbqJYIqpE8URUSe/jKStLMnF68oT7/+PHlbvjVJ4aNbgKeqUTJtH/3d0BI6Oq27eGaGMsUbW6/+hh3kc0gDGGlJQU1K5dW9NNITqOYomoEsUTUSW9jydra6BlS256X3Z2SbJUKnEqiI6GSWVLkb95A9y7x03vEz3n9H7S5OnJTTr6B35djyW9To4IIYQQQggpk5UV4O/PTaUYCgTwcnOD2YsX8ARQ/7+p3n8/XQFU6kmj0s85nT0rvdzWtiRRen9ydQUM6Wt8VaB3lRBCCCGEkPcYGBhg+fr1GDp0KO5BskcSj8eDMWM4+v336FmvXsmdpydPuCkhASgoqFwDMjK46fp1WY3juuV5enJlyN//WasWPetUQXqdHPEoKIgK8Hg82NraUjyRSqNYIqpE8URUieJJtg8++AAHDhzAzJkzkZycLJ7v4uKCtWvXoqe8Mt5CIVd2XJQslZ7i44HMzMo1TCAoKUsui4WFZLIkmjw9ubGezM0rt/8y6Hos6XVBBqpWRwghhBBCKksgEOCvv/7Cy5cv4eTkhI4dO1aufHdmZkmiVDppio/nBset6CC4inJwkEyaSk+urnpXKEJvqtX9+OOPWLVqFVJSUtC0aVOsX78eAQEB5b6OqtURVRIKhUhOToaLi4vWVF0huoliiagSxRNRJYonLVJYCDx7Jpk8JSSU/Pu9AWlVzsAAcHEpSZY8PCR/Ojlx68ihjbGkF9Xq9u3bh9mzZ+Onn35C69atsXbtWvTq1QuxsbGwt7dXaBtanPcRHcIYQ0ZGBpydnTXdFKLjKJaIKlE8EVWieNIixsbcmEn160svY4x7Dik+XjJhSkjgpqdPuS53lSEQcNt5+hSIipJebmTEPe9UOmkqNbHatXU6lrQ2OVqzZg0mTJiAMWPGAAB++ukn/Pnnn9i2bRtCQ0M13DpCCCGEEELUjMfjii3UqgW0aiW9vLiY65YnSpxESZRoUsWYTkVFJWNEycA3MYG3oyP4Xl7AuHFAcHDl96lGWpkcFRYW4saNG/jiiy/E8/h8PgIDA3H16lWp9QsKClBQqiJIdnY2ACArK0s8j8fjgc/nQygUSlUb4fP5ELyXZcubz+fzwePxZM4HuFuJisw3MDAAY0zm/PfbKG8+HZN6jqm4uBi5ubnIzMwU9y/W9WPSx/OkC8ckEAikYknXj0lW2+mY1HNMhYWFEvGkD8ekj+dJV46p9O86Q0NDvTgmfTxPCh2TjQ34tWpB0Ly59DG9fQvBf3eYeE+fAomJ4CUlie8U8fLyUGkFBcDTpyh8+hTCLl3Az8nR+HnKyckBoFivMq1Mjl69egWBQAAHBweJ+Q4ODnj48KHU+suWLcPixYul5nt6elZZGwkhhBBCCCFl+PJLbtISubm5sLKyKnMdrUyOlPXFF19g9uzZ4v9nZWXB3d0dz549K/cNIKQ8OTk5cHV1RVJSElU/JJVCsURUieKJqBLFE1EVbYwlxhhyc3NRp06dctfVyuTIzs4OBgYGSE1NlZifmpoKR0dHqfVNTExgYmIiNd/KykprTgrRfZaWlhRPRCUologqUTwRVaJ4IqqibbGk6A0T7aiv9x5jY2O0aNECZ8+eFc8TCoU4e/Ys2rZtq8GWEUIIIYQQQvSVVt45AoDZs2cjJCQELVu2REBAANauXYs3b96Iq9cRQgghhBBCiCppbXIUHByM9PR0LFq0CCkpKWjWrBlOnjwpVaRBFhMTE4SFhcnsakeIsiieiKpQLBFVongiqkTxRFRF12OJx2ikVEIIIYQQQgjRzmeOCCGEEEIIIUTdKDkihBBCCCGEEFByRAghhBBCCCEAKDkihBBCCCGEEACUHBFCCCGEEEIIAB1Ojn788Ud4eHjA1NQUrVu3xrVr18pc/7fffoO3tzdMTU3RpEkTHD9+XE0tJbpAmXjasmULOnbsCBsbG9jY2CAwMLDc+CPVh7LXJpG9e/eCx+Nh0KBBVdtAolOUjaesrCxMmzYNTk5OMDExgZeXF/2+I2LKxtPatWvRsGFDmJmZwdXVFZ999hny8/PV1FqirS5evIj+/fujTp064PF4OHLkSLmviYqKgr+/P0xMTFC/fn1ERERUeTsrSieTo3379mH27NkICwvDzZs30bRpU/Tq1QtpaWky179y5QpGjBiBcePG4datWxg0aBAGDRqE+/fvq7nlRBspG09RUVEYMWIEzp8/j6tXr8LV1RU9e/bE8+fP1dxyom2UjSWRxMREzJkzBx07dlRTS4kuUDaeCgsL0aNHDyQmJuLAgQOIjY3Fli1b4OzsrOaWE22kbDz9+uuvCA0NRVhYGGJiYvDzzz9j3759WLBggZpbTrTNmzdv0LRpU/z4448KrZ+QkIC+ffuia9euuH37NmbNmoXx48fj1KlTVdzSCmI6KCAggE2bNk38f4FAwOrUqcOWLVsmc/3hw4ezvn37Ssxr3bo1mzRpUpW2k+gGZePpfcXFxczCwoLt2LGjqppIdERFYqm4uJi1a9eObd26lYWEhLCBAweqoaVEFygbTxs3bmSenp6ssLBQXU0kOkTZeJo2bRrr1q2bxLzZs2ez9u3bV2k7iW4BwA4fPlzmOvPmzWO+vr4S84KDg1mvXr2qsGUVp3N3jgoLC3Hjxg0EBgaK5/H5fAQGBuLq1asyX3P16lWJ9QGgV69ectcn1UdF4ul9b9++RVFREWxtbauqmUQHVDSWvv76a9jb22PcuHHqaCbRERWJp6NHj6Jt27aYNm0aHBwc0LhxY3z77bcQCATqajbRUhWJp3bt2uHGjRvirnfx8fE4fvw4+vTpo5Y2E/2ha9/DDTXdAGW9evUKAoEADg4OEvMdHBzw8OFDma9JSUmRuX5KSkqVtZPohorE0/vmz5+POnXqSH3wSfVSkVi6dOkSfv75Z9y+fVsNLSS6pCLxFB8fj3PnzuGjjz7C8ePH8fjxY0ydOhVFRUUICwtTR7OJlqpIPI0cORKvXr1Chw4dwBhDcXExJk+eTN3qiNLkfQ/PycnBu3fvYGZmpqGWyaZzd44I0SbLly/H3r17cfjwYZiammq6OUSH5ObmYvTo0diyZQvs7Ow03RyiB4RCIezt7bF582a0aNECwcHB+PLLL/HTTz9pumlEB0VFReHbb7/Fhg0bcPPmTRw6dAh//vknlixZoummEVKldO7OkZ2dHQwMDJCamioxPzU1FY6OjjJf4+joqNT6pPqoSDyJfPfdd1i+fDnOnDkDPz+/qmwm0QHKxtKTJ0+QmJiI/v37i+cJhUIAgKGhIWJjY1GvXr2qbTTRWhW5Njk5OcHIyAgGBgbieY0aNUJKSgoKCwthbGxcpW0m2qsi8bRw4UKMHj0a48ePBwA0adIEb968wcSJE/Hll1+Cz6e/rxPFyPsebmlpqXV3jQAdvHNkbGyMFi1a4OzZs+J5QqEQZ8+eRdu2bWW+pm3bthLrA8Dp06flrk+qj4rEEwCsXLkSS5YswcmTJ9GyZUt1NJVoOWVjydvbG/fu3cPt27fF04ABA8TVfFxdXdXZfKJlKnJtat++PR4/fixOsgEgLi4OTk5OlBhVcxWJp7dv30olQKLEmzFWdY0lekfnvodruiJERezdu5eZmJiwiIgIFh0dzSZOnMisra1ZSkoKY4yx0aNHs9DQUPH6ly9fZoaGhuy7775jMTExLCwsjBkZGbF79+5p6hCIFlE2npYvX86MjY3ZgQMH2MuXL8VTbm6upg6BaAllY+l9VK2OlKZsPD179oxZWFiw6dOns9jYWPbHH38we3t7tnTpUk0dAtEiysZTWFgYs7CwYHv27GHx8fEsMjKS1atXjw0fPlxTh0C0RG5uLrt16xa7desWA8DWrFnDbt26xZ4+fcoYYyw0NJSNHj1avH58fDwzNzdnc+fOZTExMezHH39kBgYG7OTJk5o6hDLpZHLEGGPr169nbm5uzNjYmAUEBLC///5bvKxz584sJCREYv39+/czLy8vZmxszHx9fdmff/6p5hYTbaZMPLm7uzMAUlNYWJj6G060jrLXptIoOSLvUzaerly5wlq3bs1MTEyYp6cn++abb1hxcbGaW020lTLxVFRUxMLDw1m9evWYqakpc3V1ZVOnTmWZmZnqbzjRKufPn5f5PUgUPyEhIaxz585Sr2nWrBkzNjZmnp6ebPv27Wpvt6J4jNG9UUIIIYQQQgjRuWeOCCGEEEIIIaQqUHJECCGEEEIIIaDkiBBCCCGEEEIAUHJECCGEEEIIIQAoOSKEEEIIIYQQAJQcEUIIIYQQQggASo4IIYQQQgghBAAlR4QQQgjRIvfv30d4eDj+/fdfTTeFEFIN0SCwhBBCCNEKOTk5aNGiBdzd3XHixAkYGRlpukmEkGqG7hwRQqTExMTA3NwcM2fO1HRTCCHVyPjx42FmZoZDhw5RYkQI0QhKjgiphMePH8PKygqBgYEoKirSdHNUoqCgACNGjECnTp2wZs0aTTdHJqFQiHbt2oHH4+HEiRNVtp+zZ88iPDwcDx8+rLJ9kPLp4+dMHSZNmgQTExOcP39e001R2P79+3H37l1YWlpquilaJyUlBbVq1YK1tTWeP3+u6eYQorcoOSKkgvLz8zFs2DDUrVtXp//K+fLlS9SuXRt8Ph/h4eG4cuUK2rVrh3379sHAwEDTzZNp7dq1iIuLw5gxYzBx4kRkZ2cr9fouXbqAx+OVu15AQACOHDmCDz74AHl5eRVtrtL7rYzExETweDx88sknVbofde1bWz9n6jiXsij6Hv/yyy/YsmULIiIi0LVrV/U0jmDt2rUwNjZGYmKiyrc9ZcoUNGjQAH5+fpg4caLKt68uPB4PXbp0qdQ2zpw5Ax6Ph+PHj6umUYSUQskRqZbWr18PHo+Hjz/+WObyzMxMODs7w9zcHHFxcTLXmTFjBjIyMnD8+HGd/SsnYwwff/wxWrRogT/++APLly+HsbExNmzYACsrK4l1NfVl8H2PHz/GwoULsWPHDmzevBlubm6YPXt2lezLwsICx48fx5s3b3T6y0hVioqKAo/HA4/HQ926dQEAO3bsAI/HU8kXRH34nKlbTEwMJk2ahOXLl2PEiBFVvj8PDw9xDPB4PJiYmKB27doICAjAtGnTcOnSJZmvEyV6ZX1RlrfOJ598It7f1atXZb62d+/eZcbh7du3MXnyZPj4+MDS0hLGxsZwdHREjx49sHr1aqSnpyty+GKZmZlYsmQJxo4dCw8PD4llpd8fHo8HMzMzODg4oEOHDpgzZw7u3LlT5rZ//fVXXLhwAfv27cOePXtw7do17Ny5U6n2qSIpUYQ6flcEBgaiQ4cOmDdvHgQCQZXui1Q/lByRamn69Ono0qULdu3ahd9//11q+bRp0/DixQssX74cXl5eUsvT09Ph7OyMU6dOoU6dOupocpU4fvw4jIyMsG/fPvTp0wc//PAD1q9fr9W/bGJiYvDTTz+hb9++MDQ0xL59++Dm5qb03SNF1alTBydOnMDJkyexYcOGKtmHNvnxxx9x9+5dhdf38PBAWFgYwsLCxM+oNW3aFGFhYbC2tq5UW/Tlc6Zud+/exZo1azBv3jzxvDdv3iA8PFwld0DlEcXBvHnzEBwcDFNTU2zatAkdO3bEgAEDkJmZWSX7nT9/vlLrC4VCzJkzB82bN8fWrVvh6OiIsWPHYu7cuejfvz9evnyJOXPmoG7dukp1X/vf//6HjIwMzJ07V+ZyKysr8Xs0e/ZsDB48GIWFhVi9ejWaNWuGcePGoaCgQOZrMzIycPjwYbi7u8PZ2RmHDx9GVlaWUsetCg8ePMD3339fqW3ExMQondjJMm/ePDx48AB79+6t9LYIkcAIqaYSEhJYzZo1mb29PUtPTxfP/+233xgA1rVrVyYUCjXYQu3SuXNnpi+XDE0dizr2m5CQwACwkJCQCr1+6NChbPny5RrZty7RVAxV5j22s7Njf//9t8rb5O7uLve9SExMZN27d2cAWOfOnZlAIBAvEx1L586d5W5b3johISEMAKtXrx4DwI4ePSr12l69ejEALCEhQWJ+aGgoA8D8/f3Zo0ePZO73xo0bLDAwUO7y9xUVFTEnJyfWvn17mcsBMHd3d5nL7t27x5o1a8YAsFGjRim0v4oo771WxP3795mpqWmZ66jrs1FYWMjs7OxYhw4dqnxfpHqhO0ek2vLw8MDq1auRlpaGKVOmAABSU1MxZcoUWFhYYPv27VJdA86fP4+xY8eiYcOGqFmzJmrWrImWLVti8+bNcvcTHx+PiRMnom7dujAxMYG9vT26dOmCiIgIhdp58+ZNDB06FG5ubuLuKq1atcI333wjsV5ZXSY8PDykunnExcVh3rx58Pf3R61atWBqagovLy+EhoZK/XWZx+PhwoUL4n+LJkWeLRHtOzs7G1OmTIGTkxNq1KiBTp064ebNmwCAFy9eYNSoUbC3t4eZmRl69uyJR48eydze5cuX0bdvX9ja2sLU1BTe3t4ICwvD27dvy23L+4qKihAeHg4PDw+YmJjAy8tL5t2hiIgI8Hg8qXMmes9TU1MREhICOzs7mJmZoU2bNoiKiqr0fssiEAiwYsUK1K9fH6ampqhfvz6WLVsGoVAoc/2y4kN0Pp8+fYrHjx/D1NRUpfsGuLFrhg8fDnt7e5iYmKBu3bqYNWsWXr9+LbWusp+zip4HWRhj2L59Ozp27Ahra2uYm5ujQYMGmDRpEp49eya1vjLn8s2bNwgLC4O3tzdMTU1ha2uLvn374vLly0q1UZ6nT59i3LhxcHZ2hrGxMVxcXFCrVi3s2LED9+/fR25urvjcij6XWVlZmDRpEhwdHWFqaormzZtjz549KmkPALi7u+PYsWNo1KgRLly4gAMHDqhs2wB3t8rQ0BALFiwoM/5E4uLisGrVKtSuXRsnT55E/fr1Za7n7++P06dPS1035Tl58iRevnyJYcOGKdN8AEDjxo0RGRmJ2rVrY/fu3bh27ZrUOtu3b0fr1q3Fn4fWrVsr/DtE1PUVAC5cuCBxDRdtIzw8HDweT+bnRXT9mzp1Kq5fv17m9UGR3xVldZNMSEjA999/D29vb5iYmMDd3R2LFy+WeW6NjIwwaNAgXLp0CY8fP1bovSBEEYaabgAhmjRx4kQcOnQIBw4cwJ49e7B37168evUKP//8M9zd3aXWX7FiBeLj4xEQEIDBgwcjOzsbp06dwqRJkxAbG4vVq1dLrH/p0iX07dsXubm56NWrFz788ENkZmbi1q1bWLduXbnJxe3bt9GuXTsYGBhg4MCBcHd3R1ZWFqKjo7F582Z8+eWXFT72Q4cO4eeff0bXrl3RpUsXCIVC/P3331ixYgUuXLiAixcvih9+DwsLQ0REBJ4+fYqwsDDxNpo1a6bQvgoLC9GjRw/k5+cjODgYqamp2L9/PwIDA3HlyhX06tULTk5OGDVqFB4/foxjx46hb9++iImJkSgK8dtvv2HEiBEwMTFBcHAw7O3tERkZia+//hqnTp1CVFRUuV/sSxsxYgSuXbuGoKAgGBgYYP/+/Zg2bRqMjIwwYcIEhbaRlZWFDh06wMrKCqNHj0ZaWhr27duHXr164caNG2jcuHGV7HfixInYtm0b6tati2nTpiE/Px9r1qzBlStXFD5+ESMjIxQVFcHDwwPm5ubo1auXSvd96dIl9OrVC4WFhRg6dCg8PDxw9epVrFu3Dn/88Qf+/vtv2NnZiddX9nMGVOw8vE8oFCI4OBgHDhyAs7MzRowYAUtLSyQmJmL//v0ICgqCm5ubxGsUPZf5+fno1q0brl27Bn9/f8yaNQupqanYt28fTp06hT179lToi7VIXFwcOnTogPT0dPTv3x++vr548OABjh07Jr7OeHl5wdfXV/yawsJCBAYGIi8vD6NHj8abN2+wf/9+jBw5Eq9evcKnn35a4faUZmZmhjlz5mDcuHHYt28fhg8frpLtAkCDBg0wYcIEbNy4ETt27MCYMWPKXH/Hjh0QCASYNGkSateuXe72DQ0V+5p09uxZAECbNm0UWv99tWvXxuTJk7FkyRLs27cPAQEB4mUzZszA+vXr4ezsjHHjxgEADh48iDFjxoh/l5RF1PV18eLFcHd3l/i9o+g1HAA2btyIjRs3YuzYsXLXqezvirlz5+LChQvo168fevXqhSNHjiA8PByFhYVSfxAEgLZt22Lr1q04d+6c3ESXEKVp+tYVIZqWnJzMrK2tmYmJCQPA+vXrJ3fdpKQkqXnFxcWsb9++zMDAgD19+lQ8Pz8/nzk7OzM+n89OnDih0LbeN3v2bAaAHTlyRGrZq1evJP6PMrpMuLu7S3XpSE5OZgUFBVLrLl68mAFgu3fvlphf0a4Soi43w4YNY0VFReL5K1asYACYtbU1++yzzyS6ME6ZMoUBYAcPHhTPy87OZlZWVszExITduXNHPF8gELDg4GAGgH399dcKtUl0LK1bt2bZ2dni+Q8fPmSGhoasYcOGEutv376dAWDbt2+XmA+AAWBTp06V6C60detWBoBNmjSpUvuV5/z58wwAa9q0KcvLyxPPT05OZnZ2djK7XZUXH66uruzGjRvs5cuXKt23QCAQd306efKkxLbmzp3LALCxY8dKzFfmcyY6NmXOgzzr169nAFj37t3Z27dvJZa9ffuWvX79Wvx/Zc+l6HP10UcfScT6zZs3mbGxMbO2tmY5OTnltlFet7quXbsyAGzTpk0S8zdt2sQAMEtLS5abmyueL/pcdurUSeI6kJSUxOzs7JiJiQlLTk4utz2lt1WWJ0+eMADM1dVV6lgq063u6tWrLCUlhdWsWZO5uLiwd+/eideR1a1O9D6dPXtWoWNTVKtWrRifz2f5+fkyl6OMbnUiZ8+eZQBYx44dxfMuXLjAALBGjRqxrKws8fyMjAzm5eXFALCLFy8q1May3uuwsDAGgJ0/f15qmej6t2LFCnbjxg1WXFxc5n7K+11R1vmsW7cue/HihXh+eno6s7a2ZhYWFjJ/X925c4cBYB9//HGZbSJEGdStjlR7zs7OmD59OgoKCmBkZFRmFzkXFxfxv/Py8pCamor09HQMGTIEAoFAYjyR33//Hc+fP8eoUaPQu3fvMrdVHjMzM6l5tWrVUvj1soi63rxv+vTpALhSqar03XffSfwVVlRFq7i4GEuXLpXowihaVrqC0++//47s7GyMHTsWfn5+4vl8Ph8rV66EoaGhwt1MRJYtWyZRAa1hw4Zo3749YmNjkZubq9A2atSogRUrVoDPL7mchoSEwNDQEP/++2+V7Ff0MPOiRYtQo0YN8XxnZ+cKD9zL5/Ph7+8PR0dHle778uXLePLkCYKCgqTuSC1atAi2trb49ddfUVhYKJ6vzOdMpCLn4X0bNmyAgYEBNm7cKPWZMzMzg62trdRrFD2XO3bsgJGREZYvXy4R682bN0dISAiysrJw5MgRhdr5vmfPnuH8+fPw8fGRuvM4YcIENGrUCDk5OTILInz77bcS1wEXFxfMnDkTBQUF5T7oLqpS9/TpUwCS3ajerxAnKqjx6tWrihximRwcHDB79mwkJyeXWywgJSVFoj2lRUVFITw8XGJStFtmcnIyrK2tYWJiIjFf9H4AXLfH0u/R+2S9Rzt27ADAdXsrXUHUxsZGfGdG2eteRdnb28Pf379Kh3hYuHAhnJycxP+3s7PDwIEDkZubi9jYWKn1HRwcAHDvPyGqQt3qSLWXlpaGTZs2AeCeH/jjjz/kdm1KT0/HokWLcPjwYaSmpkotf/Hihfjfon7jPXv2rHDbhg8fjrVr12Lw4MEIDg5Gjx490KlTJzg7O1d4myLsv2crIiIicP/+fWRnZ0v06y59LJVlY2Mj1R1J9AuwQYMGMDc3l7msdBtu3boFADKfm3Fzc4Onpyfi4uKQm5sLCwsLhdrVokULqXmiL+ZZWVkKbcfLyws1a9aUmGdoaAgHBwe51aQqu19R0tixY0epZbLmqZKy+y7rvImeJYqMjERsbCyaNGkCQLnPmUhFzkNpeXl5iImJQf369dGgQYNy1xdR5Fzm5OQgPj4ejRo1kvlHka5du2LLli24ffs2Ro8erfC+RW7fvg0A6Ny5s9SXbh6Ph06dOiEmJga3b9+Gq6ureJmhoSHatm0rtT3ReRSdO3lmzZqFrKwsrF27FtnZ2RLdqCpbqVBZc+bMwcaNG7F8+XJMmDABNjY2Sm8jKioKixcvlpqvSPnr169fyzy3ovdk8eLFsLKywqxZs5RqU1mfH9H4VaLzrw/K+zy9T/QHi6pIukn1RckRqfYmT56M9PR0LF++HN999x0+//xz9OrVS+rL/Lt379CpUyfx4KMdOnSAnZ0dDA0NcefOHYSGhkqUYRWVlq5MItO6dWtERUXh22+/xa+//ort27cDAFq1aoUVK1ZUanDHGTNm4IcffoCrqysGDBgAJycn8V89Fy9eLLekbEXIGp9GdBeprGVFRUXieTk5OQBK/lL4PicnJ8TFxSEnJ0fh5KisfStazlze2DuGhoZyt1HZ/WZnZ4PP50s8pyMi7/1RFWX3rch5K72esp8zkYqch/ePC1D+86rIuVT2PVBWedsX3Q18f/t2dnYSd9pERNsprzy+6It+REQEsrOzER4eLnddUUJb+jkf0b7LKqQgWiarnaVZWFhg4cKFmDFjBpYtW4aVK1fKXM/BwQExMTF48eIFvL29JZaJ7hYBwN69e5UaI8rMzAz5+flS80XbW7x4MaytrZV+j3JycsDn82U+H+Xg4AAej1fhuNFGyl4b3717BwBSf2AjpDIoOSLV2q5du3D48GH069cP8+fPh4eHBz788EOMGzcOp0+fllj3yJEjePjwIb766issWbJEYllaWprUtkV/OVVmnAxZOnbsiBMnTuDdu3f4559/cOzYMWzYsAF9+/bF/fv34enpCYD7C3FxcbHMbWRnZ0t0yUhLS8OPP/4IPz8/XL16VeIXS0pKisy/nmqa6JemrDsJQEl3meowUKiVlRWEQiFevXol9aVJ3vujTHyoct/KnjdlP2eqIjr+yn5eZanq2C1v+6L572//1atXEAqFUomHaH1FY0IRou5prVq1Es8TbV9WxcLSbVS0LZMnT8a6deuwfv16ucUk2rVrh6ioKJw/fx7dunVTtPnlql27dqW7dsl6jywtLSEUCpGeng57e3uJ9dPS0sAYU8k1TxQDsq4RVTWGnCpkZGQAgELFNQhRFD1zRKqt58+fY8aMGbC1tRU/ZxQcHIyhQ4fizJkz4q52IqJ+9bKqEcl6BkJUbSgyMlIl7TUzM0OXLl2wevVqLFiwAO/evZNI4GxsbGR+sUtMTJTqjhAfHw/GGAIDA6X+4vbXX3/J3L+on7mmBoht3rw5AMh8BiApKQlPnjyBp6enwneNdFnTpk0ByD5X8s6fMvGhyn2Xdd7evHmD69evw8zMDA0bNgSg/OdMVWrWrAkfHx8kJCTILSNfUZaWlvD09MTjx49lngPRe6NM5bDSRK+7ePEiGGMSyxhjuHjxosztFxcX4+rVq1LbE51H0bmrrHfv3okrDAYHB4vnW1lZwdXVFXFxcXITJFH7Sj9nKI+RkRGWLl2K/Px8LFq0SOY6ISEh4PP52Lx5s0q7YjVp0gT5+fkyy70rIj09Xfw7p/R7VNbnR9m44fP5cq/fom6IsuKzvO6V71Pn7wrRc0iiLrmEqAIlR6TaGjduHLKysvDDDz9IPAC6YcMG1K5dG3PnzhV/UQOAunXrAoDUHaWLFy9i165dUtsfMGAAXFxcsHv3bpw6dUpquSJ/ob569arMrhqiv+yWLlvdqlUrJCYmiseYALhSvbNnz5Z6vahM+ZUrVyS6tCQnJ+OLL76Q2RZR3+6kpKRy210VBg4cCCsrK2zfvh0PHjwQz2eMYf78+SguLlZo3CV9IHou5euvv8abN2/E858/fy63rK8y8aHKfbdv3x716tXDiRMnpIp8LF26FK9fv8aIESPERQGU/Zyp0rRp0yAQCDB16lRxdx2R/Px88V+pKyIkJARFRUX44osvJBKYu3fvIiIiAlZWVhg0aFCFtu3m5oauXbviwYMH2LZtm8Sybdu2ITo6Gt26dZN43khkwYIFEsUwkpOTsW7dOpiYmODDDz+sUHtKe/bsGfr374/o6Gh07twZQ4cOlVgeEhKC4uJizJ07VyqxS05OxqpVq2BgYICPPvpIof0FBwejRYsW2LlzJ+Li4qSWe3l5Yd68eUhLS0NQUJDc8XGU+YMBwD3vBQD//POPUq8DgAcPHqBnz55IS0vD6NGjJe4chYSEAOC65ZXuPpednS2+wy9apzy2trZy726J9rlz506J3wlXr17FL7/8otTxqPN3hej9Fr3/hKgCdasj1dKmTZtw6tQpDB06VKpfee3atbFx40YMHToUY8eOxZkzZ8Dj8dCvXz94enpi3bp1ePjwIZo3b46EhAQcPHgQw4YNk6rsZGJigv3796N3794ICgpC79690bRpU+Tk5OD27dt4+/ZtuX+RW7FiBc6fP49OnTqhbt26MDU1xc2bN3H27Fl4enpi8ODB4nVnz56NyMhI9OnTByNGjIC5uTlOnz4Na2trieQP4J5xGDJkCA4ePIiWLVuie/fuSE1NxR9//IHu3bvjyZMnUm3p1q0bDhw4gCFDhiAoKAimpqZo2rQp+vfvr+zbXyGWlpbYsmULRowYgdatWyM4OBi1a9fGmTNncOPGDQQEBGDu3LlqaYumde3aFWPGjMH27dvRpEkTDB48GAUFBdi3bx/atGmDP/74Q+o1ysSHKvfN5/MRERGBXr16oU+fPhg2bBjc3d1x9epVREVFoV69eli+fLl4fWU/Z6o0ZcoUXLhwAfv370eDBg0wYMAAWFpa4tmzZzh16hR+/vnnCicw8+bNw59//oldu3YhJiYG3bt3F4/FVFxcjC1btlTqrufGjRvRoUMHTJgwAceOHYOPjw+io6Nx9OhR8TXtfU5OTnjz5g38/PzQv39/8ThHr1+/xvfff6/081ei52kEAgGysrJw9+5dXL58GQKBAP369cPOnTulCkYsWLAAZ86cwfbt23H16lX06NEDlpaWePr0KX7//Xfk5eVh9erV8PLyUqgNPB4Py5cvR48ePZCQkCBznW+++QaFhYVYs2YNvL290alTJzRt2hTm5uZIS0vD3bt3ce3aNdSsWVPhuzIDBw7E7Nmzcfr0abnjVWVlZYnfo+LiYrx+/Ro3b97Ev//+C8YYxo4dKzWAcKdOnfDpp59i/fr1aNy4MYYMGQLGGA4ePIjk5GTMmDEDnTp1UqiN3bp1w/79+zFo0CA0b94cBgYGGDBgAPz8/NCmTRu0b98e586dQ9u2bdGpUyfxOejfvz8OHz6s0D5E+1HX74rTp0/DxsZG4feAEIVoqoY4IZoSHx/Patasyezt7Vl6errc9UaMGMEAsB9//FE8LzExkQ0bNozZ29szc3Nz1qpVK7Z//37x2C9hYWFS23n8+DEbN24cc3FxYUZGRsze3p516dKF7dy5s9y2njx5kn388cesYcOGzMLCgtWsWZP5+PiwBQsWyGz7b7/9xpo0acKMjY2Zo6Mj+/TTT1lubq7McY5yc3PZ559/zjw8PJiJiQlr0KABW7JkCSssLJQ5DkVRURGbN28ec3NzY4aGhjLHWpFF1r5FZO2HMfljuTDG2MWLF1lQUBCztrZmxsbGzMvLiy1cuFBizJ3ylDUOh2i8jdJjo5Q1zpEyY0spu9+yFBcXs2XLljFPT09mbGzMPD092bfffsseP34s971TJj5Uve+7d++yoUOHMjs7O2ZkZMTc3d3ZzJkzZcaxsp8zZc9DWYRCIdu6dStr06YNq1GjBjM3N2cNGjRgkydPZs+ePROvV5FzmZeXxxYuXMi8vLzEYxsFBQWxv/76S+H2lfXZSExMZGPGjGFOTk7M0NCQOTk5sTFjxrDExESpdUXvS0ZGBps4cSJzcHBgJiYmrGnTpuzXX39VuD2ibeG/saYAMGNjY2ZnZ8datmzJpkyZUu7x5efns9WrV7OAgABmaWnJDA0NmaOjIxs0aBA7d+6czNeUHudIlp49e4rbI+8zdfPmTTZx4kTm7e3NatasyYyMjJiDgwPr1q0bW7VqFUtNTVXqfQgKCmI2NjYyxzoq/f4AYCYmJsze3p61a9eOzZ49m92+fbvMbW/bto21atWKmZubiz8T27ZtU6p9L1++ZMOHD2d2dnaMz+dLXdNevXrFPv74Y2Zra8vMzMxYmzZt2KlTp+Re/+Qp73eFrM9rWdc/eWMwJSQkMB6Px2bNmqXYG0CIgniMvXcfmxBCCCF6zcPDAwCkxiMiFXf27FkEBgZi9+7dCncDJBX31VdfYeXKlYiJiUG9evU03RyiR+iZI0IIqWbCw8PB4/EUHuCSEFK+7t27o3fv3li6dGmZ5ckrQ94AslWxH0XGd9KUzMxMrF+/HlOmTKHEiKgcJUeEEEIIISqwbt06BAcHV0lJeFIiISEBn332mdyqhIRUBnWrI4SQaubVq1d49eoV3NzcaPDEaoq61ekm0dAQPXv2rNL9PHz4EObm5lKDoRNSHVByRAghhBBCCCGgbnWEEEIIIYQQAoCSI0IIIYQQQggBQMkRIYQQQgghhACg5IgQQgghhBBCAFByRAghhBBCCCEAKDkihBBCCCGEEACUHBFCCCGEEEIIAEqOCCGEEEIIIQQA8H/bBVlpRswEug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p:cNvSpPr txBox="1"/>
          <p:nvPr/>
        </p:nvSpPr>
        <p:spPr>
          <a:xfrm>
            <a:off x="483080" y="930803"/>
            <a:ext cx="11050437" cy="1015663"/>
          </a:xfrm>
          <a:prstGeom prst="rect">
            <a:avLst/>
          </a:prstGeom>
          <a:noFill/>
        </p:spPr>
        <p:txBody>
          <a:bodyPr wrap="square" rtlCol="0">
            <a:spAutoFit/>
          </a:bodyPr>
          <a:lstStyle/>
          <a:p>
            <a:pPr algn="just">
              <a:lnSpc>
                <a:spcPct val="150000"/>
              </a:lnSpc>
            </a:pPr>
            <a:r>
              <a:rPr lang="en-US" sz="2000" dirty="0">
                <a:latin typeface="Arial" panose="020B0604020202020204" pitchFamily="34" charset="0"/>
                <a:cs typeface="Arial" panose="020B0604020202020204" pitchFamily="34" charset="0"/>
              </a:rPr>
              <a:t>Để tối ưu hàm mất mát, sử dụng Stochastic Gradient Descent để cập nhật trọng số w ngay sau khi tính lỗi của mỗi mẫu:</a:t>
            </a:r>
            <a:endParaRPr lang="vi-VN" sz="2000"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3870773" y="2103546"/>
            <a:ext cx="3219450" cy="1143000"/>
          </a:xfrm>
          <a:prstGeom prst="rect">
            <a:avLst/>
          </a:prstGeom>
        </p:spPr>
      </p:pic>
      <p:sp>
        <p:nvSpPr>
          <p:cNvPr id="12" name="TextBox 11"/>
          <p:cNvSpPr txBox="1"/>
          <p:nvPr/>
        </p:nvSpPr>
        <p:spPr>
          <a:xfrm>
            <a:off x="483080" y="3348330"/>
            <a:ext cx="11050437" cy="1420325"/>
          </a:xfrm>
          <a:prstGeom prst="rect">
            <a:avLst/>
          </a:prstGeom>
          <a:noFill/>
        </p:spPr>
        <p:txBody>
          <a:bodyPr wrap="square" rtlCol="0">
            <a:spAutoFit/>
          </a:bodyPr>
          <a:lstStyle/>
          <a:p>
            <a:pPr algn="just">
              <a:lnSpc>
                <a:spcPct val="150000"/>
              </a:lnSpc>
            </a:pPr>
            <a:r>
              <a:rPr lang="en-US" sz="2000" dirty="0">
                <a:latin typeface="Arial" panose="020B0604020202020204" pitchFamily="34" charset="0"/>
                <a:cs typeface="Arial" panose="020B0604020202020204" pitchFamily="34" charset="0"/>
              </a:rPr>
              <a:t>Ưu điểm:</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Tốc độ hội tụ nhanh</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Tiết kiệm chi phí tính toán &amp; Bộ nhớ </a:t>
            </a:r>
          </a:p>
        </p:txBody>
      </p:sp>
    </p:spTree>
    <p:extLst>
      <p:ext uri="{BB962C8B-B14F-4D97-AF65-F5344CB8AC3E}">
        <p14:creationId xmlns:p14="http://schemas.microsoft.com/office/powerpoint/2010/main" val="31882491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AutoShape 2" descr="data:image/png;base64,iVBORw0KGgoAAAANSUhEUgAAA0cAAAIwCAYAAABN6hBOAAAAOnRFWHRTb2Z0d2FyZQBNYXRwbG90bGliIHZlcnNpb24zLjEwLjAsIGh0dHBzOi8vbWF0cGxvdGxpYi5vcmcvlHJYcgAAAAlwSFlzAAAPYQAAD2EBqD+naQAA7d5JREFUeJzs3Xd0FNX7BvBndtNISCchlFBCCR0R6S30KijSe1FsqFjBRlGQpuhPv4gN6U0FpEmVqoDShEiTFgJICJCQhJK2e39/xF2y2U2yu7nJ7myezzk5x70zO/PO5iHmzczcUYQQAkRERERERMWcxtEFEBEREREROQM2R0RERERERGBzREREREREBIDNEREREREREQA2R0RERERERADYHBEREREREQFgc0RERERERASAzREREREREREANkdE5CR27tyJyZMnY//+/Y4uhYiIiIopRQghHF0EUXFw/PhxrF27FlWrVsWQIUMcXY5TuX79OurUqYNy5crh4MGD8Pb2dnRJNtu/fz+2bduG2rVro2/fvo4uh4iIiOzA5oioiOh0Ojz55JPYuHEjNmzYgO7duzu6JKfRo0cP/P777zh8+DCqVKni6HJsdu3aNTRo0AAeHh44cOAAwsPDHV0SERER2YGX1RFZoVKlSlAUBQsXLsxzvaioKCiKgsmTJ5st02q1WLlyJRo1aoRhw4bh8uXLhVOsk1u7di00Gg00Gg0mTJiA06dPo1SpUvjhhx9U2RhlZmZiwIABSEtLwy+//FIkjdHp06fx2muvoUGDBggODoa7uzuCg4PRrFkzvP322zh9+nSh1+AMFi5cCEVR8v2qVKmSo0stFqz9OUkFY8i1s1i3bh0URcEnn3xS4G0tXboUiqLgyy+/lFAZkX3YHBEVIW9vb2zcuBGBgYHo168f0tPTHV1SkYqOjsawYcPw6quvYtmyZfj4449x/PhxLFy4EB07djRbf8SIEU7/y9Y777yDP/74A6tXr0a9evVyXW/y5Mm5Ns7WyszMxKuvvoo6derg008/RWxsLBo1aoR+/fqhadOmuHTpEmbMmIE6dergf//7n937URsfHx8MHz48168+ffpI2c/u3buhKAqioqKkbI9I7dLS0vDaa68hPDwcL774YoG3N2jQINStWxfvv/8+EhISJFRIZDs3RxdAVNyEhIRgy5YtWLp0KU6ePIkGDRo4uqQikZGRgQ8//BDPPvssPv74YwBAamoqvvzyS7Rp0wZlypRxcIW2S05ORsmSJfHzzz+jQ4cOhb6/IUOGYNWqVfDz88P//d//YejQodBqtcblQghs374db7/9Ns6fP1/o9TiLUqVKOXUDTeSqvvjiC1y8eBFz586Fl5dXgben0WgwadIk9OnTB1OnTsWcOXMkVElkGzZHRA5QtWrVAp1BUCN3d3f88MMPJmMjR47EyJEjHVRRwfn5+WHixIlFsq/vv/8eq1atgru7O7Zt24YmTZqYraMoCjp16oS2bdvi8OHDRVIXERVPOp0OX3zxBby8vDB48GBp2+3ZsydCQkIwf/58fPDBByhZsqS0bRNZg5fVERWBjIwMLF26FIMHD0aNGjXg5+eHEiVKIDIyEi+//DL+/fdfi+8z3MO0e/duHDx4EN27d0dwcDB8fX3Rpk0b7Nu3z7juli1b0L59ewQGBqJkyZLo2LEjjh49anOt2a9nX7p0KRo3boySJUsiJCQEAwcORGxsLICssxT/+9//8Mgjj8DHxwelSpXCiBEjEB8fX+Djj4mJgaIoWLRoEYCsJir7PSTWNpaGeyBiYmKwefNmREVFwd/fH4GBgejRoweio6ON6y5fvhzNmjWDr68vAgIC0Lt3b1y4cMHidtesWYOnn34aderUQWBgILy8vFC5cmWMGjUKZ8+etfiZTpkyBQAwZcoUk2MZMWJEvschhMC0adMAAM8//7zFxig7d3d3NGvWzPg6++Vg9+/fx8SJE1GzZk14e3ub3Y+zcuVKtG/fHkFBQfD09ETFihUxatQo/PPPPxb3df36dbzyyiuoXr06vLy84O3tjfDwcLRv3954hjC7HTt24PHHH0fp0qXh7u6OwMBAVKtWDUOGDMHevXvz/SxkyH6J482bN/Hiiy8iPDwcHh4eCA8Px0svvYQ7d+6YvCcqKgpt27YFAOzZsyfXe5qyXwr6999/o3///ihTpgy0Wq1JbhMSEvDOO++gdu3a8Pb2hq+vLxo2bIhZs2bhwYMHZjXn/B6+8847qFq1Kry8vFC2bFmMHj0a165dM3nPrl27oCgKatSogdzmXkpNTUVwcDAURcGpU6fs+0AL4OrVq3jppZdQrVo1eHl5wd/fHy1atMDXX38NnU5n8T0//vgjOnToYHK/Xa1atfDMM8/gxIkTJusmJSXhvffeQ926deHj4wNPT0+ULVsWLVq0wMSJE5GRkVEUh1lkbM2Vwbp169CqVSv4+vrC398fbdq0waZNm4w/iy3dt7d+/XrExsbiiSeegL+/v8myixcvIiAgABqNBps3bzZ777///ovQ0FAoioJVq1aZLHN3d8egQYOQnJyMJUuW2PdBEBWEIKJ8VaxYUQAQCxYsyHO9Nm3aCABi0qRJJuNXrlwRAIS/v79o2rSp6Nu3r+jWrZsoW7asACBCQkLEuXPnct3eG2+8Idzc3ESDBg1E//79xSOPPCIACE9PT/H777+L//3vf0Kj0YjmzZuLfv36ierVqwsAomTJkha3mxcAAoCYMGGCcHNzE+3atRN9+vQRFSpUEABEeHi4SEhIEP369RNeXl6iS5cu4sknnxShoaECgKhXr55IS0sr0PHfvHlTDB8+XFSpUkUAEC1atBDDhw83fq1du9aqYzF83yZMmCAURREtWrQw+XwCAgLE+fPnxZtvvmlyrOHh4QKAKFu2rEhISDDbrlarFd7e3uKxxx4TvXv3Fo8//rioVKmSACB8fHzE77//brL+8OHDRf369QUAUb9+fZNj+fbbb/M9juPHjxu/L0eOHLHq2LPbtWuXACCaNGkiGjVqJHx8fETXrl1F//79RYcOHYQQQuj1ejFs2DABwPhZDBgwwPhZeXt7i82bN5ts9/r168bvYYUKFUSvXr1E//79RatWrURQUJDw9/c3WX/hwoVCURShKIpo0qSJ6N+/v+jZs6d49NFHhVarFa+88opNx7VgwQIBQFSsWNGm902aNEkAEKNGjRLly5cXpUuXFr179xbdunUT/v7+AoBo1KiRSE9PN75n+vTponPnzgKAKF26tMn38PXXXzeuN3z4cAFAPPPMM8LT01NUqlRJ9OvXTzz++OPi448/FkIIceHCBWM2Q0JCxFNPPSV69uwpfH19BQDx6KOPmuXO8D1s1qyZaNq0qfD29hbdunUTffv2FWXKlBEARFhYmPjnn39M3le3bl0BQGzbts3iZ/H9998LAKJt27bGMUPWdu3aZdPnau3PSYM///xTBAUFGfPTv39/0aVLF+Hl5SUAiM6dO5v9LJkyZYoxo61btxYDBw4U3bp1E3Xq1BGKoohPP/3UuO69e/dEnTp1jJ/z448/LgYMGCCioqJEWFiYACASExNtOkZnYPj+5GRProQQYubMmcZtNmnSRAwcOFA0atRIABBvvfVWrv/GDD8vvvvuO4t1rl69WgAQpUqVEleuXDGOZ2ZmilatWgkA4oUXXrD43o0bNwoAolOnTlZ+KkTysDkiskJBm6Pk5GSxbt06s//Rp6eni7ffflsAEN26dct1e4qiiCVLlpgse+211wQAERkZKUqWLCl27NhhXJaZmSmeeuopAUA8/fTTNh2r4X+SwcHB4q+//jKO379/X7Rs2VIAEHXr1hVVqlQRMTExxuU3b94UVatWFQDE0qVLpRy/4RdNa3/ZysnwffP09DT7fPr27SsAiDp16pgd671790Tz5s0FADF16lSz7S5cuFAkJyebjOl0OvHxxx8LAKJ27dpCr9ebLDf8Qp4zG9aYP3++ACA8PDxERkaGze83/GJtaF6vX79uts68efOMv8gcO3bMOK7X6421BwQEiPj4eOMywy+qY8aMMTve9PR0k89cCCEqV64sAIh9+/aZ7f/GjRvi6NGjNh1XQZsjAGLEiBEiNTXVuCw2NlaUK1dOABDLly83eZ/hc2zTpk2u2zZk1tCU63Q6s3WaNGkiAIiePXuKu3fvGsfj4+PFo48+KgCIQYMGWdw3AFG1alVx+fJl47IHDx4Y/703bdrU5H3ffvutcV+WNGzYUAAQq1evNo4VRXOUmppqXP+5554zaUQvXLhg/GPDO++8Y/KeEiVKiJIlS4ozZ86YbTMmJkacPn3a+HrRokUCgOjatavJ9oXI+ve6e/dus59Jecn+vbXly9bPMT+5NUf25Oro0aNCq9UKrVYr1qxZY7Lshx9+EBqNJtd/Y4Y/Ip08eTLXWl955RXjH7gMP7vGjx9vbNay/9vL7vbt20JRFOHt7W3T94hIBjZHRFYw/E/c2i9bfwEuW7as0Gg0Zr9wG5qjvn37mr3n9u3bxv29+eabZsuPHDkiAIjKlSvbVIthm3PnzjVbtmbNGuPyTZs2mS3/5JNPBAAxcuRIm/aZ2/HLao4sfT5Hjx7N81gNf/XM/hd1azz22GMWf2EoSHM0Y8YM45kBe2T/xXrv3r0W1zGcpfv888/Nlun1elGvXj0BQEybNs04/sILLwgAZr9U5cbb29vsbFJBGJqj/L5ynpEyfC/Kly8v7t27Z7Zdw+c9atQok3FbmqPq1auLzMxMs+X79u0TQNaZuLi4OLPlhw8fFgCERqMx+Wt79u/hzz//bPa+GzduCG9vbwHA5Mzl/fv3RXBwsNBoNCZ/zBBCiAMHDggg62xw9lojIyNFZGSk+OOPP3I9TktsaY6WLFkigKyzs5Z+Qf7pp58EAOHr6ysePHgghMj6Jd/Q4Ftj1qxZAoCYM2eOTceRm2+//dbkjKG1X9kbNhksNUf25mrUqFECgBg4cKDFffXp08dic3Tz5k3j9izl3CA9Pd3YtL311lti06ZNQlEU4e/vLy5cuJDncRrOiB4/fjzP9Yhk44QMRDZo0aIFqlatmuvyLVu24MaNG7kuP378OH799VdcunQJ9+7dg16vB5A1RbNer8f58+ctzl7XrVs3s7GgoCAEBwfj9u3bFpdXq1YNAHK9nyk/eW3Tzc0NnTp1snmf9h5/QeV1LPktz+1YUlJSsHv3bly4cAEpKSnG+yPS0tIAAGfPnkWtWrUKXLtMoaGhaNWqldn41atXjfdXDR8+3Gy5oigYOXIkXn31VezatQvvvPMOAKBx48b48ssvMWHCBAgh0KlTpzxvnm7cuDF2796NYcOG4ZVXXkGDBg2g0RT81lcfH588p+tu3LixxfH27dvD29vbbLxmzZoAYHYPjy2eeOIJk5kEDXbv3g0A6NKlC0qXLm22vGHDhqhfvz6OHz+OPXv2mN3oHhAQgJ49e5q9LzQ0FF26dMGaNWuwe/duNG/eHABQokQJjBkzBtOnT8e8efMwY8YM43vmzp0LAHjuuedMaj1z5oztB2wjw+cwYMAAeHp6mi3v3bs3AgMDkZiYiCNHjqBFixYICQlBpUqVcOLECbz++usYPXp0nv/GGjVqBACYNWsWgoOD0aNHDwQFBdld89NPP42nn37a7vcXJntztWfPHgDIdUKFwYMH46effjIbN/x/zt/f32LODdzd3bFq1So8+uijmD17Nr766isIITB//nxERETkeUzBwcG4fv16nv9PJSoMbI6IbPD000/neQN9VFSUxR/k9+7dw9ChQ7F27do8t5+cnGxxvEKFChbHS5Ysidu3b1tc7uvrC+DhL+u2srRNwy++ZcqUgZub+Y8Pwz5TU1NNxgt6/AWV17Hktjy3YwGAadOmYdq0aXne4CzzWEJCQgBk3Wyt0+ny/GUkL7k9DNXQBAQHB8PPz8/iOoYH9GZvGIYOHYrt27dj2bJleOqpp6DValGrVi20bNkSffr0Qbt27Uy28eWXX6JHjx5YsmQJlixZAl9fXzRq1Ajt2rXD0KFDTb4PP//8M37++WezOp5++mm0bNnSZMzeqbxz+3dl+Awsfe+tld9nXbly5VzfW6VKFRw/ftxic2aYZMQSwzavXr1qMv7CCy9g9uzZmD9/PiZPngwvLy/cvHkTP/74Izw9PfHMM89Yc0hS5fc5KIqCypUrIzEx0eRzWLx4Mfr06YM5c+Zgzpw5CAoKQpMmTdCxY0cMHToUpUqVMq4bFRWF8ePHY/bs2Rg+fDgURUG1atXQokUL9OrVC48//riU5lyWW7du4Y033jAbr1GjBiZMmJDne+3NlSErueU1t/GkpCQAyPXnRXYVK1bEF198gcGDByM5ORnPP/88nnrqqXzfZ9h2YmJivusSycTmiKgIvP3221i7di1q1KiBGTNmoFGjRihVqhQ8PDwAAM2bN8eBAwdynVEqv/+BF8b/4PPapq37K+jxF5TMz+/bb7/Fe++9h7CwMMyfPx/NmzdH6dKljc/4GDRoEFasWCH1WBo2bAgASE9Px/Hjx/Hoo4/atZ0SJUpIqwnI+tyWLl2Kd955B5s2bcLvv/+O33//HfPmzcO8efPw+OOPY+3atcZmrmbNmjh79iy2bduGnTt3Yv/+/di3bx927tyJDz74APPnz8eQIUMAAH/99ZdxtsLsoqKizJqjgtRfWGR/1rbImb3y5cujd+/e+OGHH7Bq1SoMHz4c3333HdLS0jB06FBj860GrVq1QkxMDDZt2oQ9e/Zg//792Lp1KzZv3oxJkyZh7dq1aN++vXH9GTNm4LnnnsOGDRvw22+/4ffff8eCBQuwYMECNGrUCLt27YKPj49V+/7uu+/w22+/2VzzhAkTUKNGjXzXu3v3rsXMt2nTJt/mqKBya7hzGw8ICABg3R+BhBBYtmyZ8fXRo0eRkZEBd3f3PN9naMACAwPz3QeRTGyOiIqA4fk+q1atQr169cyWnzt3rqhLKlKudPyGX16+/vpri5c3Fcax1KtXD5UrV8alS5ewaNEiu5uj3JQrVw4AcPv2bSQnJ1v8a/DFixdN1s2uVq1aqFWrFt58800IIbBz504MGjQIGzZswOLFi02eZeXm5oZu3boZL2VMTk7GnDlzMGXKFDz77LN48skn4ePjg8mTJ7vks8AMn5/h87Qkr886JiYm1/cZlpUvX95s2csvv4wffvgBc+fOxZAhQ/DVV18BAMaOHWtt6VJZ8zlcunTJZF2DEiVKoE+fPsZLKW/evIn33nsP33zzDUaNGoXLly+brF+pUiW89NJLeOmllwAAhw4dwpAhQ3Do0CHMmjXLOM1+fn777TeLzUt+RowYYVVzVKlSJbv/qGJvrsqVK4eLFy8iJibG4iWKueUtNDQUAHDnzp18z2bPnDkTv/zyC2rWrImAgAAcOHAA48ePz/cBr7dv3wYAi5cJEhUm5zmfTOTCEhISAGRdXpDT1q1bcevWraIuqUjZe/yGM0uZmZmFV5yNDM9xsnQsJ0+exF9//WXxfQU5FkVRjPf5zJs3D3/++Wee62dmZuLgwYNWb798+fLGy+YsXZ4mhDCOG571k1et7du3x6BBgwAg18/DwM/PD5MnT0ZAQADu37+f6/OUnIGMPEZFRQHI/f7EY8eO4a+//oJGo0Hr1q3Nlt+5cwcbNmwwG7958ya2bNliso/sWrRogYYNG+LQoUN47733EBsbi0aNGuV6P1ZhM9S4atUqi5cvrl27FomJicbn9OQlJCQEs2bNAgDExsbmexlWo0aN8MILLwDIP5/ZLVy4ECJrIiubvix9P2SzN1eG/16+fLnF7eY2XqpUKYSHh0MIkec9avv27cN7770Hb29v/Pjjj1i1ahWCgoLw6aefYt26dbm+7/bt24iLi4O3t7fxHkCiosLmiKgIGH64f/HFFybjZ8+exXPPPeeIkoqUvcdv+Av4yZMnC684G1WvXh1A1s3shgklgKyHoQ4bNizXX5wLeixPP/00+vTpg4yMDHTs2BGLFi0ye0im4axN8+bNsXLlSpu2b7jX4cMPP8Tx48dNtjl16lT89ddfCAgIMLk/ZfHixThy5IjZtgyTVQAPm8j79+9jzpw5uHnzptn6+/btw507d6DVai2e9XAWhtrOnTtn98NDW7ZsiSZNmuDBgwd49tlncf/+feOyW7du4dlnnwWQNVFBeHi4xW28/vrrJvcVpaWl4cUXX8S9e/fQuHFjtGjRwuL7XnnlFQAwTsqQ21mjGjVqoEaNGvk24QXRt29fVKhQAf/++y9ee+01k383ly5dwuuvvw4AeOmll4yXrF6+fBnfffedxUu5DA1jYGCg8czn2rVrsXfvXpN/p0DWQ6kNjaSlP3Kokb25Gjt2LDQaDVauXGnWrKxZswarV6/OdZ+GP5QcOHDA4vKbN29i4MCB0Ol0mDt3LmrXro3w8HAsWrTIOMlLbmem9u/fbzyu/C6/I5KuqKbFI1Kzgj7naPXq1UJRFAFkPSNowIABol27dsLd3V20a9fO+EydnM/DMGwvt+dkGOq6dOmSxeXI5XkYecnrPZcuXcr1mRdC5D7Vsb3Hf/z4caHRaIRGoxEdOnQQI0eOFKNHjxbr1q2z6lgK8vnkdqy///67cHd3F/jveTP9+vUTXbp0ESVKlBC1a9cWTz75pMWsxMXFCR8fH+MzP0aMGCFGjx4tvv/+e6uORYisaXHHjh1r/CyDg4NFly5dxKBBg0T37t2NU99qtVqT6cmtmYJar9eLoUOHCiDrAZvt27cXAwcOFJGRkQKAKFGihPjll19M3tOrVy/jdMzdunUTgwcPNnmQap06dYzTsycmJhqn/q1fv77o06ePGDhwoGjWrJnxeCZOnGj1ZyHEw6m8fXx88p1OOfuU3flNq57X52WYqj0yMlIMHjxYjB49WowfP9643Jrp57M/rDM0NFT06dNH9OrVS/j5+Rmf/5LXQ2CbNGkivL29RY8ePUS/fv2MD+INDQ21+Pwfg7S0NFG6dGkBZD0kNLdnzBj+Xdj7nKOIiAjRpEmTXL8MDzLO/hDYihUriv79+4tu3brl+hDYY8eOCQDC3d1dNGrUSPTr10/069dPNGjQQABZz4PL/kBSwzN2SpUqJTp27CgGDx4sevbsaXxgdbly5UymtVaL3H5u2ZMrIYT46KOPjNts2rSpGDRokGjcuLEAIF5//XUBQFSrVs3sfYZHO/Tr189smU6nE506dRIAxPDhw82WG7bbuHFjs2dQCSHEyy+/LACIL7/80spPhUgeNkdEVihocySEEHv37hXt27cXpUqVEt7e3qJOnTpi2rRpIi0tLdcmyFWaIyHsO34hhFi7dq1o0aKF8PX1Nf4Sbe2zggqjORJCiL/++ks8/vjjokyZMsLLy0tUq1ZNvPXWWyI5OTnPX4737t0rOnToIAIDA40PV7T0i0N+Tp48KV555RVRv359ERAQINzc3ERgYKBo0qSJeOedd8Q///xjsr41zZHB8uXLRVRUlAgICBDu7u4iPDxcjBgxwuIv3Xv37hXjxo0TjRs3FmFhYcLDw0OEhYWJZs2aiS+++MLkQZQZGRniq6++EgMHDhQ1atQQ/v7+okSJEqJKlSriqaeeEr/++qvNn4O1zzkCIBITE43vK0hzdPnyZTFo0CBRpkwZ4ebmZpYRa5/Ndfv2bfH222+LmjVrCi8vL+Ht7S0aNGggZsyYIe7fv59nTXfv3hVvvvmmqFy5svDw8BClS5cWI0aMELGxsfl+Zv379xcAxNtvv53rOgVtjvL7yr7d2NhY8eKLL4qIiAjh4eEhfH19RbNmzcS8efPMHnicnJwsPvvsM/Hkk0+KatWqiZIlSwofHx9RvXp1MWzYMHH48GGT9Y8dOyYmTJggWrZsKcqVKyc8PDxESEiIaNiwofjoo4/ErVu3bDo+Z5HXzy1bc2WwZs0a0aJFC+Hj4yN8fX1Fy5Ytxc8//yz27t1rbMpzyszMFBUqVBBeXl5mTdeHH34oAIhatWpZfJZYenq6aNq0qQAgxo0bZ7asVKlSws/PT6SkpFjzkRBJpQhRSNNDERERkRS7d+9G27Zt0aZNG+Mli7a6c+cOypcvj9TUVFy6dCnXy/aIDD744ANMmjQJL730Ej7//HOz5R9//DHefPNNfP7558YJLwpq9erV6NOnD1599dV8J20gKgy854iIiKgYmD59Ou7du4d+/fqxMSKjc+fOWZzEYv369Zg+fToURbH4cGgg656wiIgIzJo1q0DPBTPQ6/WYMmUKgoKC8N577xV4e0T24FTeRERELmr//v34/vvvcenSJezcuRPe3t6YOnWqo8siJ7Js2TJ89NFHaNCgAcLDw5GRkYGzZ8/i7NmzAIDJkyfnOmOgp6cn5syZgyeeeAL/+9//LD7E1hbLly9HdHQ05s6di6CgoAJti8hebI6IiIhc1D///IP58+ejRIkSaNq0KWbOnImIiAhHl0VOpEuXLjh37hwOHjyI06dPIzU1FcHBwXj88cfxwgsvoEuXLnm+v1evXtIeej1kyBDjg6CJHMUp7zmaPHmy2UPZIiMj85xLn4iIiIiIqCCc9sxR7dq1sWPHDuNrNzenLZWIiIiIiFyA03Ycbm5uCAsLc3QZRERERERUTDhtc3Tu3DmULVsWXl5eaNasGaZPn44KFSpYXDctLQ1paWnG13q9HgkJCQgODoaiKEVVMhERERERORkhBFJSUlC2bFloNHlP1u2U9xxt3rwZd+/eRWRkJK5fv44pU6bg2rVr+Pvvv+Hr62u2vqV7lIiIiIiIiAyuXLmC8uXL57mOUzZHOd25cwcVK1bEnDlzMHr0aLPlOc8cJSUloUKFCrh48SICAgIAAIqiQKPRQK/Xm8yqYhjX6XQm28xtXKPRQFEUi+NA1lkra8a1Wi2EEBbHc9aY2ziPqWiOKTMzEydPnkTNmjWh1Wpd4phc8fukhmPS6XRmWVL7MVmqncdUNMeUnp6O06dPG/PkCsfkit8ntRxTZmamMU9ubm4ucUyu+H1SwzFlz5JWq3WKY0pOTkalSpVw584d+Pv7Iy9Oe1lddgEBAahevTrOnz9vcbmnpyc8PT0tvi8wMLCwyyMXp9Pp4Ovri8DAQOMvtET2YJZIJuaJZGKeSBZnzJKhDmtut8n7ojsncffuXVy4cAFlypSx6X35XVNIZA2NRoPIyEjmiQqMWSKZmCeSiXkiWdSeJaes+o033sCePXsQExOD/fv348knn4RWq8XAgQMdXRoVUx4eHo4ugVwEs0QyMU8kE/NEsqg5S07ZHF29ehUDBw5EZGQk+vXrh+DgYBw8eBAhISE2bSfntZBE9tDr9YiOjmaeqMCYJZKJeSKZmCeSRe1Zcsp7jlauXOnoEoiIiIiIqJhxyjNHRERERERERY3NEREREREREVTynCNbJScnw9/f36q5zInyY5jL3zCXPpG9mCWSiXkimZgnksUZs2ToDZKSkuDn55fnujxzRGSF9PR0R5dALoJZIpmYJ5KJeSJZ1Jwll26O1DpLBjkXvV6Ps2fPMk9UYMwSycQ8kUzME8mi9iy5dHNERERERERkLTZHREREREREYHNEZBWtVuvoEshFMEskE/NEMjFPJIuas+TSs9VZMyMFERERERG5Ls5W9x8X7PvIAYQQSE5OZp6owJglkol5IpmYJ5JF7Vly6eZIrbNkkHPR6/W4ePEi80QFxiyRTMwTycQ8kSxqz5JLN0dERERERETWYnNEREREREQENkdEVvHy8nJ0CeQimCWSiXkimZgnkkXNWeJsdURERERE5LI4W91/1HojGDkXvV6P27dvM09UYMwSycQ8kUzME8mi9iy5dHPkgifFyAGEELhy5QrzRAXGLJFMzBPJxDyRLGrPkks3R0RERERERNZic0RERERERAQ2R0RW8fX1dXQJ5CKYJZKJeSKZmCeSRc1Z4mx1RERERETksjhb3X/UOksGORe9Xo+4uDjmiQqMWSKZmCeSiXkiWdSeJZdujlzwpBg5gBACcXFxzBMVGLNEMjFPJBPzRLKoPUsu3RwRERERERFZi80RERERERERXLw5UhTF0SWQC1AUBUFBQcwTFRizRDIxTyQT80SyqD1LnK2OiIiIiIhcFmer+4/ZLBkXLwLbtgHffQdMnAj89ptjCiNV0ev1iI2NVe2sK+Q8mCWSiXkimZgnkkXtWXJzdAGFyeyk2MsvA5s2PXzt7g60bFm0RZHqCCGQkJCAcuXKOboUUjlmiWRinkgm5olkUXuWXPrMkZnwcNPXsbGOqYOIiIiIiJxO8WqOKlQwfX3limPqICIiIiIip+PSzZHZLBk8c0R2UBQFYWFhqp11hZwHs0QyMU8kE/NEsqg9Sy59z5FGk6P3s3TmSAhApd88KhoajQZhYWGOLoNcALNEMjFPJBPzRLKoPUsufeZIp9OZDuQ8c3T3LnDnTpHVQ+qk0+lw4cIF8zwR2YhZIpmYJ5KJeSJZ1J4ll26OzJQrZ36WiPcdkRVSUlIcXQK5CGaJZGKeSCbmiWRRc5aKV3Pk4QHkPM3H+46IiIiIiAjFrTkCOGMdERERERFZ5NLNkcVZMjhjHdlIURSEh4erdtYVch7MEsnEPJFMzBPJovYsFa/Z6gDzM0dsjigfGo0GwcHBji6DXACzRDIxTyQT80SyqD1LLn3myOIsGTnPHPGyOsqHTqfDmTNnVDvrCjkPZolkYp5IJuaJZFF7lly6ObKIZ47IDqmpqY4ugVwEs0QyMU8kE/NEsqg5S8WvOcp55ujaNUClnS0REREREclT/JqjnGeOMjOBuDjH1EJERERERE7DpZsjixMyhIRkPe8oO953RHnQaDSIiIiwnCciGzBLJBPzRDIxTySL2rOkzqqtZHEKQY2G03mTTRRFgZ+fn2qnpCTnwSyRTMwTycQ8kSxqz5JLN0e5zpLBGevIBjqdDtHR0aqddYWcB7NEMjFPJBPzRLKoPUsu3RzlijPWkY3U+g+cnA+zRDIxTyQT80SyqDlLxbM54pkjIiIiIiLKoXg2RzxzREREREREObh0c5TrLBk8c0Q20Gg0iIyMVO2sK+Q8mCWSiXkimZgnkkXtWVJn1QWV88xRfDyg4if5UuHzyDn9O5GdmCWSiXkimZgnkkXNWXLp5kiv11tekPPMEQBcvVq4xZBq6fV6REdH554nIisxSyQT80QyMU8ki9qz5NLNUa78/AB/f9Mx3ndERERERFSsFc/mCOB9R0REREREZKL4NkecsY6IiIiIiLJx6eYoz1kyeOaIrKTRaFC3bl3VzrpCzoNZIpmYJ5KJeSJZ1J4ldVYtA88ckQ3S09MdXQK5CGaJZGKeSCbmiWRRc5ZcujnKc5YMnjkiK+n1epw9e1a1s66Q82CWSCbmiWRinkgWtWfJpZujPFk6cySEY2ohIiIiIiKHK77NUc4zR3fvAklJjqmFiIiIiIgcrvg2R+XKAYpiOsb7jigXWq3W0SWQi2CWSCbmiWRinkgWNWdJEcL1riVLTk6Gv78/kpKS4Ofnl/uKZcoAcXEPX2/cCHTvXvgFEhERERFRkbC6N4CLnznKt+/jjHVkBSEEkpOT888TUT6YJZKJeSKZmCeSRe1ZcunmKN9ZMjhjHVlBr9fj4sWLqp11hZwHs0QyMU8kE/NEsqg9Sy7dHOWLZ46IiIiIiOg/xbs54pkjIiIiIiL6T/FujnjmiKzk5eXl6BLIRTBLJBPzRDIxTySLmrNUvGer+/NPoEmTh6/d3YEHDwAVTz9IREREREQPcba6/+R7I1jOM0cZGcCNG4VXEKmSXq/H7du3VXtjITkPZolkYp5IJuaJZFF7lly6Ocr3pFhoaNbZoux43xHlIITAlStXVDslJTkPZolkYp5IJuaJZFF7lly6OcqXRmM+KQPvOyIiIiIiKpaKd3MEcMY6IiIiIiICwOaIM9aRVXx9fR1dArkIZolkYp5IJuaJZFFzltwcXUBh0loz6xwvq6N8aLVaVKlSxdFlkAtglkgm5olkYp5IFrVnyaXPHFk1S0bOM0e8rI5y0Ov1iIuLU+2sK+Q8mCWSiXkimZgnkkXtWXLp5siqWTJ45ojyIYRAXFycamddIefBLJFMzBPJxDyRLGrPkks3R1bJeeYoPh5ITXVMLURERERE5DBsjnKeOQKAq1eLvg4iIiIiInIol26OFEXJfyV/f8DPz3SM9x1RNoqiICgoyLo8EeWBWSKZmCeSiXkiWdSeJZdujjQaKw+P9x1RHjQaDSpUqGB9nohywSyRTMwTycQ8kSxqz5I6q7aS1bNkcMY6yoNer0dsbKxqZ10h58EskUzME8nEPJEsas+SSzdHVs+SwTNHlAchBBISElQ76wo5D2aJZGKeSCbmiWRRe5acvjmaMWMGFEXBuHHjCm8nPHNERERERFTsOXVzdOjQIXz99deoV69e4e6IZ46IiIiIiIo9p22O7t69i8GDB+Pbb79FYGCgXduwepaMnGeOYmMBlZ4KJPkURUFYWJhqZ10h58EskUzME8nEPJEsas+Sm6MLyM2LL76I7t27o0OHDpg6dWqe66alpSEtLc34Ojk5GUDWNY86nQ5A1jdKo9FAr9ebXAOpKAo0Oc8c3b0LfWIiNEFBxvcbaDQaKIpicRwwnwQit3GtVgshhMXxnDXmNp7nMWk0ZjXmNs5jyvuYFEVBSEiISZ7Ufkyu+H1SwzFZypLaj8lS7TymojkmIYRJnlzhmFzx+6SmYzLkSa/Xu8wx5Vc7j6lwjin7zyZnOKacy/PilM3RypUrcfToURw6dMiq9adPn44pU6aYjf/999/w9fUFAAQFBaFChQq4evUqEhISjOuEhYUhrHx5s/cmnzyJgFatcO7cOaSmphrHIyIi4Ofnh1OnTpl80JGRkfDw8EB0dLTJdurWrYv09HScPXvWOKbValG3bl2kpKTg4sWLxnEvLy/UqFEDiYmJuJLtvidfX19UqVIF8fHxiIuLM47neUxhYYiJiUFKSopxPDw8HMHBwTwmG48pKSkJJ06cgK+vLxRFcYljcsXvkxqOSavV4uDBg8YsucIxueL3SS3HdPbsWdy6dcuYJ1c4Jlf8PqnlmG7fvo2UlBT4+vqiTJkyLnFMrvh9UsMxxcbGGrPk5+fnFMd09+5dWEsRTjaVxJUrV/DYY49h+/btxnuNoqKi8Mgjj+Czzz6z+B5LZ47Cw8Nx8+ZN4yV5+XWoIiwMyo0bxnH9+vXQPP44/5LAY0JmZiaio6NRu3ZtaLValzgmV/w+qeGYdDqdWZbUfkyWaucxFc0xpaen4+TJk8Y8ucIxueL3SS3HlJmZacyTm5ubSxyTK36f1HBM2bOk1Wqd4piSk5MRFBSEpKQk+Pn5IS9Od+boyJEjiI+Px6OPPmoc0+l02Lt3L/73v/8hLS3N+EuFgaenJzw9Pc22ZfiGZGf4sHJSKlQAsjVHmmvXjNuwRMa4oigWx3Or0dbxwqw9t3FXPSbDcWVfrvZjcsXvk7MfU25Zymt9Zz8mW8d5THKPyVKe1H5MhTXOY8p7PHueDOup/ZgKq0Zbx4vbMVn62eToY8ptuSVO1xy1b9/e7LTeyJEjUaNGDYwfP96mg7NJeDiQ/TI+zlhHRERERFSsOF1z5Ovrizp16piM+fj4IDg42Gw8P4Zr+q3CZx1RLhRFQXh4uG15IrKAWSKZmCeSiXkiWdSeJadrjmTK7VSdRXzWEeVCo9EgODjY0WWQC2CWSCbmiWRinkgWtWfJaZ9zlN3u3btznYwhL7ZM28czR5QbnU6HM2fO2JYnIguYJZKJeSKZmCeSRe1ZUkVzVCRynjm6cgXIyHBMLeR0sk8bSVQQzBLJxDyRTMwTyaLmLLE5Mqhe3fR1ZiZw8qRjaiEiIiIioiLH5sggMBCoXNl07OhRx9RCVESOHTuGqVOnmjxojYiIiKi4cunmyKYJGQCgYUPT10eOyCuGVEuj0SAiIsL2PDm5GzduoGfPnggLC4Ovr6+jyykWXDVL5BjME8nEPJEsas+SOqu2ks1TCGZ78CwAnjkiAFk58vPzK/CUlKmpqZg2bRq2bdsmqbKCOXLkCGbNmoWnn37a0aUUG7KyRAQwTyQX80SyqD1LLt0c2TxLRs7m6PjxrHuPqNi5f/8+bt26hVu3bqFChQro2rUrbt26VaBtvvrqq1ixYgWaNGkiqcqC6datGwYOHOjoMooVnU6H6Oho1c7gQ86FeSKZmCeSRe1ZcunmyGY5m6MHD4AzZxxTSzG3cOFCKIpi/PLy8kLZsmXRuXNnfP7554V+j8ysWbMQEhKCkJAQXLlyBVu2bMFjjz1m9/Z+/PFHrF+/Hr/88gv8/f0lVpo11b2iKPjpp59MxtPT09GjRw9oNBp8//33AMw/15xfBw8eNL7fMJbbmaV3333XuE5BG8fiRK3/syDnxDyRTMwTyaLmLLn0Q2BtFhKSNaV39mccHT0K1KnjuJqKuQ8++ACVK1dGRkYG4uLisHv3bowbNw5z5szB+vXrUa9evULZ77Bhw9CyZUsAwJAhQxAREYEZM2bYtS0hBK5evYrNmzejQs7naRWSjIwM9OnTB7/88gu+/fZbjBo1ymS54XPNqWrVqiavvby8sHr1anz55Zfw8PAwWbZixQp4eXmperpOIiIiouzYHOXUsKFpc3TkCDBsmOPqKea6du1qcsbm7bffxs6dO9GjRw/07NkTp0+fRokSJazaVkZGBoKCgvDvv//mOwFBREQEIiIiAGQ1CKVKlUKLFi3sOgZFUfDqq6/a9V57ZGRkoF+/fti4cSO+/vprjB492mydnJ9rbrp06YL169dj8+bN6NWrl3F8//79uHTpEp566imsXr1aav1EREREjuLSl9XZNUsGJ2Vweu3atcP777+Py5cvY+nSpcbxqKgoREVFma3ftm1bKIqCGzduQKfT4cGDBxa3K4TA1KlTUb58eXh7e6Nt27Y4+d+zrvz9/U3ydPHiRfTt2xdBQUHw9vZG06ZNsWnTJpPtpaenY+LEiWjYsCH8/f3h4+ODVq1aYdeuXSbrxcTEQFEUfPzxx/jmm29QpUoVeHp6olGjRjh06JBNn01mZiYGDBiAdevWYd68eXjmmWdsen9O5cqVQ+vWrbF8+XKT8WXLlqFu3bqow7OqNtFoNIiMjFTtDD7kXJgnkol5IlnUniV1Vl2Yck7nfewYoNc7phbK1dChQwHAqpnfSpUqBQAIDw9HZGQkQkJCLK43ceJEvP/++6hfvz5mz56NiIgIdOrUCffu3TP5B37jxg00b94cW7duxQsvvIBp06YhNTUVPXv2xNq1a43rJScn49tvv0VUVBRmzpyJSZMm4caNG+jcuTP++usvs/0vX74cs2fPxrPPPoupU6ciJiYGvXv3RkZGhlWfSWZmJgYOHIi1a9di7ty5ePbZZ3NdNykpyTjhhOHr9u3bFtcdNGgQNmzYgLt37xr38+OPP2LQoEFW1UWmcl6eSFQQzBPJxDyRLKrOknBBSUlJAoBISEiw/c3XrwsBmH6dPi2/SMrTggULBABx6NChXNfx9/cXDRo0ML5u06aNaNOmjdl6w4cPFxUrVhQxMTHiwYMHFrcVHx8vPDw8RPfu3YVerzeOv/POOwKAePzxx0VmZqYQQohx48YJAGLfvn3G9VJSUkTlypVFpUqVhE6nE0IIkZmZKVJTU032k5CQIEJCQsSoUaOMY5cuXRIARHBwsElm161bJwCIDRs25PoZCCHErl27BABRsWJFAUDMnTs313UNn6ulL09PT5N1AYgXX3xRJCQkCA8PD7FkyRIhhBCbNm0SiqKImJgYMWnSJAFA3Lx5M88aKUtmZqY4duyYMUtEBcE8kUzME8nijFky9AZJSUn5rsszRzmFhQFlypiO8dI6p1SyZEmbZq2rWLEivLy8LC7bsWMH0tPT8dJLL5nMyz9u3DizdX/55Rc0btzYOGGDoZYxY8YgJiYGp06dAgBotVp4enoa10lPT0eJEiXQvHlzHLWQqf79+yMwMND4ulWrVgCyLuGzxo0bN+Dm5mZxooWc5s6di+3bt5t8bd682eK6gYGB6NKlC1asWAEg6wxX8+bNUbFiRavqIiIiIlILNkeW5Ly07sgRx9RBebp7926+EytY6/LlywCAatWqmYyHhISYNCyGdSMjI822UbNmTZNtAcCqVavQtGlT+Pv7w9PTEyVKlMC6deuQlJRk9v6cM9kZ9puYmGjVMcyaNQsVKlRAnz598Pvvv+e5buPGjdGhQweTr7Zt2+a6/qBBg7B9+3bExsbi559/5iV1RERE5JLYHFnCSRmc3tWrV5GUlGQy9XRuT2J21Fz7K1euxIABA1C5cmUsXLgQv/32Gw4cOIBOnTpBb+E+Nq1Wa3E7Qgir9lemTBls374d/v7+6N69O44fP16g+rPr2bMnPD09MXz4cKSlpaFfv37Stk1ERETkLFy6ObJ7loycZ46OHuWkDE5myZIlAIDOnTsbxwIDA3Hnzh2zdbOfycmN4RKxc+fOmYzfvHkTiYmJCAwMNOapYsWKOHv2rNk2zvz3wGDDtlatWoWqVatixYoVePLJJ9GiRQs0bdq0UB9gGxERga1bt0Kj0aBz585mx2OvEiVK4IknnsDu3bvRsWNH4yQXZBuNRoO6deuqdgYfci7ME8nEPJEsas+SOqsubDnPHCUnA1be90GFb+fOnfjwww9RuXJlDB482DhepUoVnDlzBjdv3jSOHT9+PN9LzACgQ4cOcHd3xxdffGFypuazzz4DAJMzPd26dcOff/6JAwcOGMfu3buHb775BpUqVUKtWrUAZJ3J0uv1Ju/dv38/Dh48aPtB26Bu3brYtGkT7t69i44dO+LatWtStvvGG29g0qRJeP/996Vsr7hKT093dAnkQpgnkol5IlnUnCWXfgispUuXrFKuHBAaCsTHPxw7ehTIdgkXFY3NmzfjzJkzyMzMxI0bN7Bz505s374dFStWxPr1600mWBg1ahTmzJmDTp064emnn0Z8fDy++uor1KpVK9+zNSEhIXjjjTcwffp09OjRA926dcOxY8ewefNmlCpVCklJSdDr9dBqtZgwYQJWrFiBrl274uWXX0ZQUBAWLVqES5cuYfXq1ca/lHTv3h1r167Fk08+ie7du+PixYv4+uuvUbt27UI9ewQAzZo1w5o1a/D444+jY8eO2LdvH4KDg43LDZ9rTs2bNzc+/Dan+vXro379+oVWc3Gg1+tx9uxZ1K1bN9fLKImsxTyRTMwTyaL2LLl0c2Q3Rck6e7Rly8OxI0cA3mdR5CZOnAgga778oKAg1K1bF5999hlGjhxpNhlDzZo1sXjxYkycOBGvvfYaatWqhcWLF2PFihXYvXt3vvuaOnUqvLy88NVXX2HXrl1o0qQJtm3bhu7du5usV7p0aezfvx/jx4/HF198gdTUVNSrVw8bNmwwWXfUqFGIi4vDN998g23btqF27dpYsWIFVq5caVU9BdWpUycsWbIEAwcORNeuXfHrr78alxk+15wWLFiQa3NERERE5OoUYe3d3iqSnJwMf39/JCQkmM00ZrV33wU++ujh6w4dgO3b5RRIqqLT6RAdHa3av4CQ82CWSCbmiWRinkgWZ8ySoTdISkqCn59fnuvynqPcWJrO2/X6SJcVFRWFqKgoadtzln/cpH7MEsnEPJFMzBPJouYsuXRzVKBvTM5JGRITAStmPSPXo9VqneqvH6RezBLJxDyRTMwTyaL2LLl0c1SgKwYrVgSCgkzH+DBY1di2bRu2bdsmZVtCCCQnJxcsT0Rglkgu5olkYp5IFrVnyaWbI7tnqwMeTsqQHR8GqxoeHh7w8PCQsi29Xo+LFy8WLE9EYJZILuaJZGKeSBa1Z8nu2ep27dqFX3/9Fb///juuXr2KW7duwdvbGyEhIahbty7atGmDHj16ICwsTGa9RathQ2DHjoev2RwREREREbksm84c3bt3D9OnT0dERAQ6dOiAjz76CHv27MG1a9fg4+OD1NRU/P3331i2bBnGjBmDihUrok+fPlY9hNMp5TxzxEkZitysWbNQo0YN1f71gVzDli1bULJkSZMHDBMREZHrsbo5+uqrr1C1alW8++678PPzw4cffohff/0VSUlJuH//Pq5evYrbt28jIyMDZ86cwaJFi9CvXz9s27YNrVu3Ru/evXHp0qXCPBb5cjZHN28C1645ppZiKDk5GTNnzsT48eOND1YFAEVRjF8ajQZly5ZFp06dpD47aP369Xj00Ufh5eWFypUr49tvv0VmZqZV7502bRp69uyJ0qVLQ1EUTJ48WVpdMuzevRuKouCnn35ydCkFotfrsXDhQvTs2RPh4eHw8fFBnTp1MHXqVKSmplq1jY8++ghNmzZFSEgIvLy8UK1aNYwbN86sCerSpQuqVq2K6dOnF7ju7A8uJioo5olkYp5IFjVnyernHLm7u2PgwIF46623UKdOHat38ODBAyxbtgzTp0/H8OHDc334pEy2zGWeJyGAwEAgKenh2M8/A716FbhGyt9nn32GSZMm4caNGyb/yBRFQceOHTFs2DAIIXDp0iV8+eWXiI+Px6ZNm9C1a9cC7Xfz5s3o3r07oqKiMHDgQERHR2Pu3LkYM2YM5s2bl+/7FUVBWFgY6tevj61bt2LSpElO1SDt3r0bbdu2xY8//og+ffo4uhy73b17F76+vmjatCl69OiB0NBQHDhwAIsWLULr1q2xc+dOKIqS5zaeeuophISEoEaNGvD19cXp06fx7bffIjQ0FH/99Rd8fHyM686bNw9vvPEG4uLizB5ATERERM7Lpt5AWOns2bPWrmpRZmamuHjxYoG2Ya2kpCQBQCQmJhZ8Y1FRQmS1SVlfEycWfJtklXr16okhQ4aYjQMQL774osnYiRMnBADRqVOnAu+3Vq1aon79+iIjI0MIIYROpxOvvfaaUBRFnD59Ot/3X7p0SQghxM2bNwUAMWnSpALXdOXKFZGQkFDg7QghxK5duwQA8eOPP0rZnqOkpaWJ33//3Wx8ypQpAoDYvn27Xdv96aefBACxYsUKk/EbN24IrVYr5s+fb9d2hcjK0q1bt4ROp7N7G0QGzBPJxDyRLM6YJUNvkJSUlO+6Vl9WV716dXubNQBZc55Xrly5QNuwlZBxf5Clh8FSobt06RJOnDiBDh06WLV+3bp1UapUqQJfunnq1CmcOnUKY8aMgZtb1nwlQgh07twZQgirLkWrVKlSgWqwZMeOHShbtiwGDx6MXbt2Fcn0mBcvXkTfvn0RFBQEb29vNG3aFJs2bTJb74svvkDt2rXh7e2NwMBAPPbYY1i+fLlxeUpKCsaNG4dKlSrB09MToaGh6NixI44WcIITDw8PNG/e3Gz8ySefBACcPn3aru0avn937twxGQ8NDUW9evWwbt06u7YLZGXpypUrqp3elJwL80QyMU8ki9qzZPdsdR988AGioqLQunXrXNfZt28fdu3aVSSX0hUaTuftEPv37wcAPJrz889FYmIiEhMTUbVqVeNYUlISMjIy8n2vl5cXSpYsCQA4duwYAOCxxx4zWSc0NBTly5c3Li9qnTp1wksvvYQlS5Zg+fLliIiIwKhRozBixAiUK1dO+v5u3LiB5s2b4/79+3j55ZcRHByMRYsWoWfPnvjpp5+MDci3336Ll19+GX369MErr7yC1NRUnDhxAn/88QcGDRoEAHjuuefw008/YezYsahVqxZu376N3377DadPnzZ+f+/fv4/79+/nW5dWq0VgYGCe68TFxQEASpUqZdWxCiFw+/ZtZGZm4ty5c5gwYQK0Wi2ioqLM1m3YsCF+/vlnq7ZLREREKmTv6SlFUcSUKVPyXGfq1KlCo9HYuwu7GU6dSbkM6fRp08vqACH+/bfg26U8vffeewKASElJMVsGQIwePVrcvHlTxMfHiz/++EO0b99eABCffPKJcb02bdoIAPl+DR8+3Pie2bNnCwAiNjbWOJaZmSmOHTsmHnvsMdG0aVOrj0HmZXUGGRkZYt26deKJJ54Q7u7uQqvVim7duok1a9aI9PR0q7ZhzWV148aNEwDEvn37jGMpKSmicuXKolKlSsZT5b169RK1a9fOc3/+/v5ml0HmNGnSJKu+VxUrVsz3+Dp06CD8/Pysvqz2+vXrJvsoX768WLVqlcV1P/roIwFA3Lhxw6pt52TIUmZmpl3vJ8qOeSKZmCeSxRmzZMtldXafObJGeno6tFptYe6i8FWvDpQsCdy9+3Ds6FGge3fH1VQM3L59G25ubsYzOjnNnz8f8+fPN7728vLCa6+9hnHjxhnHPvnkEyQmJua7r7Jlyxr/+8GDBwAAT09Pk3V8fX3h5eWFlJQUWw5DOjc3N/Ts2RM9e/ZEfHw8lixZggULFqB3794IDQ3FsGHD8NFHH8Hd3b1A+/nll1/QuHFjtGzZ0jhWsmRJjBkzBm+//TZOnTqFOnXqICAgAFevXsWhQ4fQqFEji9sKCAjAH3/8gX///dfks85u2LBhJvvKTYkSJfJc/tFHH2HHjh348ssvERAQkO/2ACAoKAjbt29Hamoqjh07hjVr1uBu9n/v2RjOWt26dQuhoaFWbT8nTuZAMjFPJBPzRLKoOUsFao7ymgkqPT0d+/bts/sXCBmkNGYaDfDII8Bvvz0cY3PkcL169cLYsWOhKAp8fX1Ru3Ztk5nFgKxLoGxl+OU7LS3NOKbValGlShWkpaXl+8t5QaSnpyMhIcFkLCQkJNcch4aG4vXXX8czzzyD119/Hd999x0+/vhjvPvuu1Y3Brm5fPkymjRpYjZes2ZN4/I6depg/Pjx2LFjBxo3boyqVauiU6dOGDRoEFq0aGF8z6xZszB8+HCEh4ejYcOG6NatG4YNG4aIiAjjOhERESav7bFq1Sq89957GD16NJ5//nmr3+fh4WG8t61Hjx5o3749WrRogdDQUPTo0cNkXfHf9dP5zYKXG0OWiGRgnkgm5olkUXuWbGqOcv7y8umnn2LBggVm6+l0Oty6dQupqal45plnClZhAUh7cGjDhqbNESdlKHTBwcHIzMxESkqKxb8+lC9fPt/JGhISEpCenp7vvkqUKAF/f38AQJkyZQAA169fR3h4OICsHMXHx+P69eto3LixrYditf3796Nt27YmY5cuXbI4wYMQArt378b333+P1atXIzU1Fe3bt8fTTz9dsOnrbVSzZk2cPXsWGzduxJYtW7B69Wp8+eWXmDhxIqZMmQIA6NevH1q1aoW1a9di27ZtmD17NmbOnIk1a9YYp12/e/durmdrstNqtQgJCTEb3759O4YNG4bu3bvjq6++KtAxNW/eHGXKlMGyZcvMmiPDmUhr72fKyZCl0NBQk2d3EdmDeSKZmCeSRe1Zsqk50uv1xr+YKooCIYTFmSjc3d1Ru3ZttGvXDu+//76cSu1gqTa7cFKGIlejRg0AWc1BvXr17NpG7969sWfPnnzXGz58OBYuXAgAeOSRRwAAhw8fNjZCQgicOHECV69exZgxY+yqxRr169fH9u3bTcbCwsJMXsfExGDRokVYuHAhYmJiUL58ebz++usYPXq01FnyKlasiLNnz5qNnzlzxrjcwMfHB/3790f//v2Rnp6O3r17Y9q0aXj77beNz6cqU6YMXnjhBbzwwguIj4/Ho48+imnTphmbo48//tjYTOVXV0xMjMnYH3/8gSeffBKPPfYYfvjhB+MsgwWRmpqKpOzPN/vPpUuXUKpUKYsNmjWEEIiLi7P7/UTZMU8kE/NEsqg9Szb9FpH9lxKNRoNXX31V3TPRWSvn5VlXrgA3bwIq/aarQbNmzQBkNSn2Nkf23HNUu3Zt1KhRA9988w2effZZ4yVtP/74IxRFMXloalJSEq5fv44yZcoYzzwVRGBgYK5nw6Kjo/Hqq69i586dcHNzQ48ePTB37lx07ty5UO7r69atGz777DMcOHDA+L24d+8evvnmG1SqVAm1atUCkHVvWHBwsPF9Hh4eqFWrFjZv3oyMjAy4u7vj7t27Jp9PaGgoypYta3Lpor33HJ0+fRrdu3dHpUqVsHHjxjwvezxz5gy8vb1RoUIF4/EoigJvb2+T9VavXo3ExESzGQsB4MiRI8bPg4iIiFyP3X9ivXTpUoHva1CNyEigRAngv5v1AWRdWteli+NqcnERERGoU6cOduzYgVGjRtm1DXvuOQKA2bNno2fPnujUqRMGDBiA6OhofP/99xg9erTxnhsAWLt2LUaOHIkFCxZgxIgRxvElS5bg8uXLxqmp9+7di6lTpwIAhg4danLWxVpHjhzB1atXMXPmTAwfPlzKvXyrV682ngnKbvjw4ZgwYQJWrFiBrl274uWXX0ZQUBAWLVqES5cuYfXq1cbT5J06dUJYWBhatGiB0qVL4/Tp0/jf//6H7t27w9fXF3fu3EH58uXRp08f1K9fHyVLlsSOHTtw6NAhfPLJJ8Z92nPPUUpKCjp37ozExES8+eabZs9gqlKlikkjU7NmTbRp0wa7d+8GAJw7dw4dOnRA//79UaNGDWg0Ghw+fBhLly5FpUqV8Morr5hsLz4+HidOnMCLL75oU51ERESkIoU2Z54DGabrs3YqX6s0a2Y6nfdbb8nbNlk0Z84cUbJkSXH//n2TcQD5Tg1dUGvXrhWPPPKI8PT0FOXLlxcvvfSSSE1NNVlnwYIFAoBYsGCByXheU4jv2rXLrnru3r1r55GYM0zlnduXYfruCxcuiD59+oiAgADh5eUlGjduLDZu3Giyra+//lq0bt1aBAcHC09PT1GlShXx5ptvGqfKTEtLE2+++aaoX7++8PX1FT4+PqJ+/friyy+/LPBxXLp0yeop2oXIyk2bNm2Mr2/evCnGjBkjatSoIXx8fISHh4eoVq2aGDdunLh586bZ/ubNmye8vb1FcnKy3TXrdDpx+fJlp3pqOKkX80QyMU8kizNmyZapvBUhCnZjzoEDB7Bjxw78+++/JpfJGCiKYjLlclFITk6Gv78/kpKS5N2c/t57wLRpD1/Xrw/89ZecbZNFSUlJiIiIwKxZszB69GhHl0PFXIMGDRAVFYVPP/3U0aUQERGRDWzpDexujjIzMzFw4ECsWbMGQgjjBA3GDf/3WlEU6HQ6e3ZhN8MHkJiYKO/Sv337gNatTcf+/Rf4b3YzKhwzZ87EggULcOrUKYfNeKLX63H16lWUL19elbOuUMFt2bIFffr0wcWLFwt0SSOzRDIxTyQT80SyOGOWbGmO7K74k08+werVqzFy5EgcPnwYQgiMGzcOBw4cwMyZMxEQEIC+ffviwoUL9u6iwAp4UsxU06ZAzimlt22Tt32yaPz48Thz5oxD/3EJIZCQkCA3T6QqXbp0wd27dwt8rxezRDIxTyQT80SyqD1Ldv/GuWzZMtSpUwffffcdHv1vquuAgAA0adIEb775Jvbu3YuNGzdi69at0op1KHd3IOdMYq5ybEREREREZH9zdP78eURFRRlfK4qCjIwM4+vatWvj8ccfx7x58wAAH3zwAT788EMkJCTYX62jde5s+nr7dkDWg2aJiIiIiMih7G6OPDw8TJ4PUrJkScTHx5usU7FiRZw7dw4AMHnyZEyePBm3bt2yd5c2MzywVpqczdGtW3wgbDGgKArCwsLk54mKHWaJZGKeSCbmiWRRe5bsfs5ReHg4rly5Ynxdo0YN7N271zgJAwAcPHgQQUFBAIBdu3YBgPEBjEVB+n0qlSoB1asD//zzcGzrVsDCwyLJdWg0GoSFhTm6DHIBzBLJxDyRTMwTyaL2LNndPbRp08bYDAFA//79cfbsWfTo0QNz587FwIED8dtvv6HLfw9KbdOmDdq0aQMvLy85lVuhUGbJy3n2iPcduTydTocLFy4U+ayL5HqYJZKJeSKZmCeSRe1ZsvvM0ahRo6DT6XDt2jWUL18eL730Enbv3o2NGzdi8+bNAIDGjRtjxowZ0op1Cp07A1988fD1gQNAcjIg63lK5JRSUlIcXQK5CGaJZGKeSCbmiWRRc5bsbo4effRR42QLAODu7o7169fj8OHDuHDhAipWrIjGjRs7zfzm0kRFAR4eQHp61uvMTGDnTuCJJxxZFRERERERFZD0zuWxxx5D//790bRpU9drjADAxwdo2dJ0jJfW2ezWrVsYO3YsfvzxRzx48MDR5RARERERyW+OnEmhzZJh6b4jlT7oylEWLFiAuXPnol+/fggODsbgwYOxceNGpBvOyDkRRVEQHh6u2llXyHkwSyQT80QyMU8ki9qzpIgCPL721KlT+N///odDhw7hzp07Fm+8UhQFFy5cKFCRtkpOToa/vz+SkpLgVxj3Ap04AdSvbzr2zz9AtWry9+Wi6tWrh+joaONrNzc3ZGZmwt/fH7t27UKDBg0cWB0RERERuQpbegO7zxzt2bMHDRs2xFdffYXjx48jNTUVQgizL70DH5JaaLNk1K0LlCljOrZlS+HsywWdPXvWpDECgMzMTABAUlKSQzNjiU6nw5kzZ1Q76wo5D2aJZGKeSCbmiWRRe5bsbo4mTJiAzMxMfPfdd3jw4AGuXLmCS5cuWfxyOYoCdOpkOsb7jqy2cuVKaLVai8sqVaqERx99tIgryl9qaqqjSyAXwSyRTMwTycQ8kSxqzpLdzdHx48cxYMAAjBo1KtdfdF1azvuOdu0C0tIcU4uKCCGwdOlSi39N0Gq1GDp0qGqvUSUiIiIidbO7OfLx8UFoaKjMWtSlY8esM0gG9+8Dv//uuHpU4vjx4zh//rzFZTqdDgMGDCjiioiIiIiIstjdHHXr1g379u2TWYt0hTqVeKlSQMOGpmO8tC5feV1SV6tWLdSqVauIK8qfRqNBRESEa05NT0WKWSKZmCeSiXkiWdSeJburnj17Nu7cuYOXX34Z9+/fl1mTNIV+eZalKb0pV3ldUqfRaDB06FAHVJU/RVHg5+fHy/2owJglkol5IpmYJ5JF7Vmyeirvdu3amY3duXMHx48fh4+PD6pXr25xajxFUfDrr78WvFIbGKbrS0hIQGBgYOHtaN8+oHVr07Hr14GwsMLbp4odOHAAzZs3z3X5xYsXUbly5SKsyDo6nQ6nTp1CrVq1iuf9dSQNs0QyMU8kE/NEsjhjlmyZytvN2o3u3r0712V3797F0aNHLS5Ta9dolaZNAV9fICXl4di2bcCwYY6ryYmtWLHC+Dyj7BRFwaOPPuqUjZGBWqejJOfDLJFMzBPJxDyRLGrOktWX1en1eru+1Pzh5MvdHejQwXSMl9ZZpNPpsGLFCrPGyMBZL6kjIiIiouJDnXdKOZOc9x1t2wY42UNMncGePXtw69atXJf37du3CKshIiIiIjInrTm6ePEijh07hosXL8raZIEVySwZOZujW7eAY8cKf78qY7ikLieNRoOWLVuibNmyDqjKOhqNBpGRkaqddYWcB7NEMjFPJBPzRLKoPUsFqjopKQmvvPIKAgMDUa1aNTz22GOoVq0aAgMDMW7cOCQlJcmq03lVqgRUr246xkvrTKSnp+OHH36weEmdXq/HkCFDHFCVbTw8PBxdArkIZolkYp5IJuaJZFFzluxujuLj49G4cWN88cUXUBQFbdq0Qb9+/dCmTRsoioLPP/8cjRs3Rnx8vMx6baIvqsvbcp49WreuaParEtu3b0dycrLFZVqtFk899VQRV2QbvV6P6OjoossTuSxmiWRinkgm5olkUXuW7G6O3n77bZw7dw4TJkzAlStXsHPnTqxYsQI7d+7ElStXMH78eJw7dw7vvPOOzHqdU/fupq///BM4d84xtTih5cuXW7ykTqvVomPHjggODnZAVUREREREpuxujjZs2IB27drho48+go+Pj8kyHx8fTJ8+HVFRUVi/fn2Bi3R67dsDISGmY8uXO6YWJ3P//n2sXbvW4iV1Op0OgwYNckBVRERERETm7G6O7t27h6ZNm+a5TrNmzXD//n17d6Eebm7AgAGmY0uXAtY9X9elbdq0CQ8ePLC4zMPDA7169SriioiIiIiILLO7OapTpw5iYmLyXCcmJgZ16tSxdxcFVqSzZOScVOD8+azL64q55cuXW3w6slarRffu3fN9SrEz0Gg0qFu3rmpnXSHnwSyRTMwTycQ8kSxqz5LdVb/zzjv46aefsGPHDovLt23bhp9++gnvvvuu3cWpSqNGQNWqpmPLljmmFieRnJyMTZs2WXwQsNouqUtPT3d0CeQimCWSiXkimZgnkkXNWTK/S95KSUlJ6NSpEzp37oyOHTuiZcuWKF26NG7cuIF9+/Zhx44d6NGjBxITE7F48WKT9w4bNqzAhVujSGfJUJSss0eTJz8cW7kS+OQTwN296OpwIj///DMyMjIsLitRogS655zIwknp9XqcPXsWdevWtXgWjMhazBLJxDyRTMwTyaL2LNndHI0YMQKKokAIgW3btmHbtm1m62zYsAEbN240vhZCQFGUImuOitzgwabN0c2bwPbtQLduDivJkZYtWwatVmt25sjNzQ29e/dGiRIlHFQZEREREZE5u5ujBQsWyKzDNVStCjRpAvzxx8OxZcuKZXN069Yt/PrrrxYvqcvMzMTAgQMdUBURERERUe7sbo6GDx8usw7XMWSIaXO0di2QkgL4+jquJgdYvXq1xcYIAPz8/NCxY8cirqhg1HhamJwTs0QyMU8kE/NEsqg5S+qcRsJKDvnG9OsHZN/vgwfAzz8XfR0OtmzZMouzlLi5uaFfv37w8PBwQFX20Wq1qr1ulpwLs0QyMU8kE/NEsqg9Sy7dHAlHPGcoNBTo3Nl0rJjNWnft2jX89ttvFifEyMzMVNUsdUBWjpKTkx2TJ3IpzBLJxDyRTMwTyaL2LLl0c1Sks9Vll/OZR9u3A3FxjqnFAX788UcoimJxWalSpdC6desirqhg9Ho9Ll686Lg8kctglkgm5olkYp5IFrVnyaWbI4fp2RPw8Xn4Wq/Pmta7mFiyZInFvxa4ublh4MCBqj3NSkRERESujc1RYfDxAXr3Nh0rJpfWXbx4EUePHrXYHKnxkjoiIiIiKj7YHBWWnJfWHT4MnD3rmFqK0MqVKy1OxAAA5cuXR5MmTYq4Ijm8vLwcXQK5CGaJZGKeSCbmiWRRc5Zcujly6OVb7doBpUubjhWDs0dLly61eI2pVqvFkCFDcr0XyZlptVrUqFGDlwNSgTFLJBPzRDIxTySL2rNkd3N06tQpfP7557h586bF5fHx8fj8889x+vRpm7c9b9481KtXD35+fvDz80OzZs2wefNmm7fj0BvB3NyAnA86XboUUOnMHdY4efJkrt9vnU6HAQMGFHFFcuj1ety+fVu1NxaS82CWSCbmiWRinkgWtWfJ7uZoxowZmDlzJoKDgy0uDw4OxuzZszFr1iybt12+fHnMmDEDR44cweHDh9GuXTv06tULJ0+etGk7Dp9CcPBg09eXLgEHDjimliKwcuXKXP9KULVqVdSrV6+IK5JDCIErV644Pk+keswSycQ8kUzME8mi9izZ3Rzt27cP7du3z/X+Eq1Wi/bt22Pv3r02b/vxxx9Ht27dUK1aNVSvXh3Tpk1DyZIlcfDgQXvLdYyGDYHISNMxF720TgiBpUuXQqfTmS3TarUYOnSoKi+pIyIiIqLiw83eN8bFxSE8PDzPdcqVK4fr16/buwsAWZdj/fjjj7h37x6aNWtmcZ20tDSkpaUZXycnJxvfa/hlXVEUaDQa6PV6k07WMJ7zl/rcxjUaDRRFsTgOmF/Kpxk8GMrEicbXYtUq6GfPhtbbG0IIs/W1Wq1ZjbmNO+yYLIwfPnwYMTExsESn06Fv375m23f2YzLUKISAEMJkW2r9PmU/JlfJnpqOyVKW1H5MlmrnMRXdMWXPk6scU84aeUxFc0zZ8+Qqx+SK3yc1HFPOn03OcEyW/nifG7ubIx8fH8THx+e5Tnx8vN2zVURHR6NZs2ZITU1FyZIlsXbtWtSqVcviutOnT8eUKVPMxk+fPg1fX18AQFBQECpUqICrV68iISHBuE5YWBjCwsIQExODlJQU43h4eDiCg4Nx7tw5pKamGscjIiLg5+eHU6dOmXzQkZGR8PDwQHR0tEkNdQcMgDZbc6Tcvo1/P/0U4e++i5SUFFy8eNG4zMvLCzVq1EBiYiKuXLliHPf19UWVKlUQHx+PuGwPk3XYMdWti/T0dJzNNvvel19+CTc3N2RmZiKnunXrIjQ01GQ7ajgmrVaLunXr4u7du0hJScHJkyehKIqqv0+GY3Kl7KnpmLRarUmWXOGYXPH7pJZjOn/+vEmeXOGYXPH7pJZjun37tjFPZcqUcYljcsXvkxqOKTY21pglPz8/pzimu3fvwlqKsPOCwE6dOuHYsWM4d+4cAgICzJYnJiaiWrVqeOSRR7Bjxw6bt5+eno7Y2FgkJSXhp59+wnfffYc9e/ZYbJAsnTkKDw9HQkIC/Pz8ADi4627fHsquXcYx0aABlCNHICysr8a/JOj1eoSHh+PGjRvISaPRYMaMGXj99ddVdUzZayxuf/HhMfGYeEw8Jh4Tj4nHxGNypWNKTk5GUFAQkpKSjL1BbuxujtatW4cnn3wS9evXx//93/+hdevWxmV79uzBK6+8gujoaKxevRpPPPGEPbsw0aFDB1SpUgVff/11vusmJyfD398fiYmJFhu3Ird+PdCrl+nYnj1Ats9Mzfbt22fy/c/p8uXLqFChQhFWJJder0d8fDxCQ0ON/9iI7MEskUzME8nEPJEszpglQ29gTXNkd8W9evXCq6++iuPHj6Nt27bw9vZGREQEvL290a5dO5w4cQJvvPGGlMYIyPqgs58dsobTzJLRvTtQpYrp2KefOqaWQrBixQq4uZlfoakoCpo0aaLqxgjIylFcXJzz5IlUi1kimZgnkol5IlnUnqUCtXOffPIJ1q9fj86dO8PHxwdXr15FyZIl0bVrV2zatAkzZ860a7tvv/029u7di5iYGERHR+Ptt9/G7t27MTjn1NhqodUCL79sOrZuHZDtWk21yszMxMqVKy3eawQAQ4YMKeKKiIiIiIjsY/OEDPv27cPKlSvh5eWFXr16oUePHujRo4fUouLj4zFs2DBcv34d/v7+qFevHrZu3YqOHTtK3U+RGjkSeP994L+Z9CAE8MUXqj+DtHPnTiQmJua6vE+fPkVYDRERERGR/Ww+c3TlyhX4+Pjg7Nmz6NChA65evSq9qPnz5yMmJgZpaWmIj4/Hjh077GqMnOq5Or6+wOjRpmPz5z9sllQqt0vqNBoNoqKiEBYW5oCq5FIUBUFBQc6VJ1IlZolkYp5IJuaJZFF7luyekCEmJgYRERH4+++/c51i21FsuemqSF26BFStCmSf3eOzz4BXXnFYSQWRlpaGUqVK5To94nfffYfRORtCIiIiIqIiVCQTMlSpUgWKoqBu3brQarW5flk6q1BUck4x6HCVKwM5J6j4v/8DbHgwlTPZsmVLro2Rm5sbevfuXcQVFQ69Xo/Y2FjnyxOpDrNEMjFPJBPzRLKoPUtWNUe//fab2Vjp0qXRoEEDtG7d2uSrfv368Pb2hhAC9erVQ6tWraQXbS2nnCVj3DjT15cuARs2OKSUglq+fLnF5ler1aJz584IDAx0QFXyCSGQkJDgnHkiVWGWSCbmiWRinkgWtWfJqtM6nTp1wuLFi01urv/3339zXf/+/fuYMGECtmzZgu3btxe8SlfSsiXw6KPA0aMPxz77zPyMkpO7d+8e1q9fb3GWOp1Oh0GDBjmgKiIiIiIi+1l15mjo0KEYMGAAPrVyZjVvb298/vnn8Pf3x1tvvVWgAl2OopifPdqzBzh2zCHl2GvDhg1ITU21uMzT0xM9e/Ys4oqIiIiIiArGqubo66+/xuLFizFp0iR89913Vm+8VatW2Lhxo93FFZTTzpLRvz+Qcxa3//s/x9Rip2XLlkGr1ZqNu7m5oWfPnihZsqQDqiociqIgLCzMefNEqsEskUzME8nEPJEsas+S1RMyDBo0CIcPH4a/v7/VG79582auN+wXBY2mQM+4LTweHsCLL5qOrVgBxMU5ph4bJSYmYsuWLdBZmEgiMzPT5S6p02g0CAsLc948kWowSyQT80QyMU8ki9qzZFPV1atXR9++ffNdT6/XY8mSJVi1ahUeeeQRe2srMEu/vDuNZ58FPD0fvk5PB+bNc1w9Nli7dq3Fe40AwMfHB126dCniigqXTqfDhQsXnDtPpArMEsnEPJFMzBPJovYs2T3PdkREhMXxzMxMxMfHIyMjA+7u7pg+fbrdxbm0kBBgyJCsB8EazJsHvP024OXluLqssGzZMmg0GrMpGt3c3PDUU0/By8nrt0dKSoqjSyAXwSyRTMwTycQ8kSxqzpLd57v0ej2EEGZf7u7uqFOnDsaMGYMjR46gTZs2Mut1LTkf/nrzJrB4sWNqsVJ8fDx27dplce56V7ykjoiIiIiKD7vPHMXExEgso5iqWxdo3x749deHY1OnAsOHm15y50R+/PHHXJcFBASgXbt2RVgNEREREZE86rxTykqqmCVjwgTT11euAN9845harLBs2TKLn6ubmxv69+8Pd3d3B1RVuBRFQXh4uDryRE6NWSKZmCeSiXkiWdSeJUWo9fG1eUhOToa/vz+SkpLg5+fn6HLyJgTQtm3Ws44MSpcGLlwAfHwcV5cFV65cQYUKFXJdvmfPHrRu3boIKyIiIiIiypstvYFNl9WNGjXK5mIURcH87JMOFCFVzJKhKFmX0rVq9XDsxg1g7lzAyR6gu2rVKosTMQBA6dKl0bJlSwdUVfh0Oh3OnTuHatWqWXy2E5G1mCWSiXkimZgnkkXtWbKpOVq4cCEURYEtJ5sc2RypRsuWQJcuwJYtD8dmzsya7tuG50oVtqVLl1psjNzc3DB48GDVzmdvjdTUVEeXQC6CWSKZmCeSiXkiWdScJZsnZHBzc0O3bt0wfPhwlClTpjBqKp6mTjVtjhISgE8/BSZPdlhJ2Z07dw7Hjx+3uCwzMxMDBgwo4oqIiIiIiOSyqTmaO3cuvv/+e6xbtw6bNm1Cly5dMHr0aPTo0UOVp82cSsOGwJNPAmvXPhybMwd46SUgONhxdf1n5cqV0Gq1Fi9VrFChAh577DEHVEVEREREJI9N10E9//zzOHToEI4fP44XXngBBw8eRO/evVGuXDm8+eabOHXqVGHVaRfVXeb14YdZ9yAZpKQAs2Y5rp7/CCGwZMkSi42RVqvF0KFDVTsjiTU0Gg0iIiLUlydyOswSycQ8kUzME8mi9iwVaLa6jIwM/Pzzz/j++++xfft2CCHQuHFjjB49GoMGDYK3t7fMWq2mqtnqchoyBFi27OHrEiWyZq5z4CWMJ06cQP369XNdHh0djTp16hRhRURERERE1rGlNyhQS+fu7o6+ffti8+bNiI2NxYcffojY2Fg8++yz2LFjR0E2LYUqZqvLafJkIPslig8eANOnO6wc4OEldZbUqFHD5RsjnU6H6OhodeaJnAqzRDIxTyQT80SyqD1LUs53paenY9++fdizZw9u3LgBIQS8vLxkbLr4qVoVGDnSdOzrr4HYWIeUI4TA0qVLLQZco9FgyJAhDqiq6Kn1Hzg5H2aJZGKeSCbmiWRRc5YK1BwdO3YML730EsqWLYuBAwfixIkTeP3113H69Gl06tRJVo3Fz/vvAx4eD1+npwMffOCQUv78809cuXLF4jK9Xo/+/fsXcUVERERERIXD5uYoISEBn3/+ORo0aIDHHnsMX3/9NVq2bImff/4ZV69excyZMxEZGVkYtRYfFSpkPeMou4ULgXPniryUlStXws3NfFJDRVHQoEEDVK1atchrIiIiIiIqDDZNyNCvXz9s2LAB6enpiIyMxMiRIzFs2DCULl26MGu0meGmqzt37sDfiR6iapO4OCAiIuueI4P+/YGVK4usBJ1OhzJlyuDmzZtmyzQaDWbPno3XXnutyOpxFCEEUlNT4eXl5dKz8lHhY5ZIJuaJZGKeSBZnzJItEzLY1BxpNBq4u7uja9euaN68udUFvfXWW1avK4NLNEcAMH68+VTeu3cDbdoUye53796Ntm3bWlymKAquXLmCcuXKFUktjiSEgF6vh0ajcZp/5KROzBLJxDyRTMwTyeKMWSrU5sj4RkWBNW9VFKXIb8oyfAAJCQkIDAws0n1Ldft21gQNd+48HKtTBzh6FHB3L/TdjxkzBgsWLEBmZqbJuKIoaN68OX777bdCr8EZGGZdqVu3Lh92TAXCLJFMzBPJxDyRLM6YJVuaI/ObSfKwYMGCAhVGNgoOBqZOBcaOfTj299/A//4HvPpqoe46IyMDq1atMmuMDAYPHlyo+yciIiIiKmo2NUfDhw8vrDooN889B3z3HfDXXw/HJk0CBgwo1AfD7tixA8nJyRaXKYqCPn36FNq+iYiIiIgcQcpzjqgQabXA3LmmYykpQCHfx7V8+XKLs9RpNBq0a9cOISEhhbp/IiIiIqKiZvU9R/fu3YOPj0+BdiZjG9ZwmQkZshsxAli0yHRs716gVSvpu3rw4AFKlSqF+/fvW1y+YMECjBgxQvp+nZUz3lhI6sQskUzME8nEPJEszpglW+45svrMUeXKlTF79mzcu3fP5oIOHDiALl26YM6cOTa/l/4zcyaQs9F78UUgl3uCCuKXX37JtTFyc3PDk08+KX2fzi49Pd3RJZCLYJZIJuaJZGKeSBY1Z8nq5mjQoEF47733EBYWhuHDh2PDhg0Wn38DAJmZmThy5AhmzJiBunXromXLlrh27Rq6du0qrXBr6PX6It1foSpdGvjgA9Ox6Gjgyy+l72r58uUWZxfRarXo1q2b65yNs5Jer8fZs2ddK0/kEMwSycQ8kUzME8mi9ixZPSHDZ599hhdffBEffvghfvjhByxduhQAUK5cOZQuXRoBAQFITU1FQkICLl26hLS0NAghUKtWLXz77bcYMWKEyVTgZIcXXgDmzwdOnHg49v77WQ+HlfQg3pSUFGzcuNHi9Os6nY6z1BERERGRy7KpW6lWrRoWL16Ma9eu4f/+7//Qs2dPpKWl4ciRI/j111/x+++/4/z586hZsyZeeeUV7NmzB3///TdGjRrFxkgGN7esabyzS062a3KGixcvokuXLpg5cyYuX75sHF+3bl2up0K9vLzQvXt3m/dFRERERKQGNk3lbRAUFISxY8di7H/P38nIyMDt27dRokSJYnfJVZFr1QoYOhRYsuTh2OLFwJgxQIsWVm8mNjYWW7duxdatWzFhwgQ0atQIQ4YMwdq1a6HVas3OHLm5ueGJJ54okgk1nJGzPMSM1I9ZIpmYJ5KJeSJZ1Jwlq2erUxNbZqRQpbg4IDIy66yRQf36wOHDWWeXrBAbG4uKFSsaXxtmE8krDuvXr8fjjz9uX81ERERERA5QKLPVqZEL9n1ZwsKAKVNMx44fB2bMsHoT5cqVM3mOkRAiz8/L19cXnTp1srlUVyCEQHJysuvmiYoMs0QyMU8kE/NEsqg9Sy7dHKl1lgyrjB0L1KljOvbBB8Bff1n1dq1Wi3Llylm1rqIoePDgAQYNGoTVq1fjwYMHNharbnq9HhcvXnTtPFGRYJZIJuaJZGKeSBa1Z8mlmyOX5uYGfPcdkH2ii4wMYPhwwMq55atVq2bVekIIZGZmYt26dejTpw9KlSqFoUOH4tixY/ZUTkRERETklNgcqVmTJsCECaZjJ06YPw8pF1WrVoW7u7vVuzNM0nD//n0sXboUH374odXvJSIiIiJydmyO1G7iRKBePdOx6dOBP/7I960RERF2nfLUarWIjIzEvHnzbH6vWnl5eTm6BHIRzBLJxDyRTMwTyaLmLLl0c6TmaQSt5ukJLFpkOkudXp91eV0+9wZFRERYfNhrXrRaLWrUqIF9+/ahtKQHzzo7wzEXizxRoWKWSCbmiWRinkgWtWepUJqjtLQ0ZGRkFMambaLWG8Fs9sgjwKRJpmNnzwLvvZfn2ypXrmzTbrRaLWrXro29e/ciJCTExiLVS6/X4/bt28UnT1RomCWSiXkimZgnkkXtWbK7Odq7dy8mTpyIO3fuGMdu376Nrl27omTJkvD398eEnPfDFDG1TiFolwkTgMceMx379FNg375c3xIREWH15rVaLerXr489e/YgKCjI3ipVSQiBK1euFK88UaFglkgm5olkYp5IFrVnye7m6OOPP8by5csREBBgHHv99dexdetWVK5cGQEBAZg9ezZ++OEHGXVSftzcsi6v8/R8OCYEMGIEcPeuxbcEBATA19c3301rtVo0bNgQO3fuNPl+ExERERG5Erubo2PHjqFly5bG16mpqfjhhx/QqVMn/PPPPzh79iwqVKhQrG7ad7hatYBp00zHLl4E3nor17dUqlQpz01qtVo0adIEO3bsgL+/v4QiiYiIiIick93N0e3bt00eInrgwAGkpqZi5MiRAABfX1/06NEDZ8+eLXiVZL1x44AWLUzH5s0DtmyxuHpkZCQ0Gssx0Gg0aNGiBbZt22bVGSZXVtyPn+Rhlkgm5olkYp5IFjVnye7mqESJEkhJSTG+3rVrFxRFQZs2bYxjJUuWRGJiYsEqLAC1zpJRIFotsHAh4O1tOj50KHDtmtnqERERFj8njUaDqKgobN68GT4+PoVUrDpotVpUqVKleOaJpGKWSCbmiWRinkgWtWfJ7uaoatWq2LJlC9LS0pCeno6VK1eiVq1aCAsLM64TGxuL0NBQKYXaQ62zZBRY1arA7NmmY7duAQMGADlmEaxcuTIyMzNNxjQaDTp06IBNmzbBO2eTVQzp9XrExcUV3zyRNMwSycQ8kUzME8mi9izZ3Rw988wzOH/+PKpWrYqaNWviwoULxkvqDI4cOYJatWoVuEh7qXWWDCmefx7o1ct07LffzKb3joiIMPmcNBoNunbtivXr16v6AV4yCSEQFxdXvPNEUjBLJBPzRDIxTySL2rNkd3M0evRovPnmm3jw4AGSkpLw/PPPY9y4ccblBw4cwD///IP27dvLqJNspSjAggVAzgkXZs0CNmwwvsw+nbeiKOjZsyfWrFkDz+yz3hERERERFQNu9r5RURTMnDkTM2fOtLi8YcOGSExMLPb3qzhUYCDw449ZEzSkpz8cHz4cOHoUqFQJFSpUgKIoEELgqaeewvLly+Hu7u64momIiIiIHMTu5ig/Hh4e8PDwKKzNW0VRFIfu3yk89hgwZw4wduzDscREiL59sXfaNPx7+zZq1qyJhg0b4vvvv4ebW6FFQrUURUFQUBDzRAXGLJFMzBPJxDyRLGrPkt2X1UVHR+P7779HcnKycezBgwd4/vnnUa5cOVStWhVfffWVlCLtldsU1cXOCy8A/fqZDCmHD+N4584YNGgQTp06hV27dmH9+vUOKtC5aTQaVKhQgXmiAmOWSCbmiWRinkgWtWfJ7qqnTp2K999/32Qe83feeQdff/01UlJScOXKFbz44ovYvn27lELtodZZMqRTFODbb4Fq1UyGXwbQ57//vnbtGvr06YM1a9YUeXnOTq/XIzY2lnmiAmOWSCbmiWRinkgWtWfJ7ubozz//RNu2bY2nzDIzM7FgwQI0btwY8fHxuHTpEkJCQvB///d/0oq1lVpnySgUfn7QrVyJ1BzD8wFUxcPPaty4cdDpdEVdnVMTQiAhIYF5ogJjlkgm5olkYp5IFrVnye7m6ObNmwgPDze+PnToEJKTk/Hcc8/By8sLZcuWRa9evXD8+HEphVLB7UtOxos5xvwArAFQEllhvnLlCvbt21f0xREREREROZjdzZGbmxvS0tKMr3fv3g1FUdC2bVvjWHBwMG7dulWwCkma69ev43sAC3OM1wWwAg/DcP369aIsi4iIiIjIKdjdHFWqVAm7du0yvv7xxx9RuXJlVKxY0Th27do1BAcHF6zCAlDrLBmFpUyZMgCAFwH8nWNZDwAzc6xHWRRFQVhYGPNEBcYskUzME8nEPJEsas+S3c3R0KFDcfz4cTRp0gStW7fG8ePHMWjQIJN1Tpw4gWo5JgEoSmqdJaOwtGrVCuXLl8cDRUFPADnP6b0B4I3AQLRq1coB1TkvjUaDsLAw5okKjFkimZgnkol5IlnUniW7qx47diz69u2Lw4cP47fffkPXrl3xzjvvGJefPHkSx48fR7t27aQUag9OLGBKq9UaJ8iIURQ8CSA9xzozk5Oh5T1HJnQ6HS5cuMA8UYExSyQT80QyMU8ki9qzZHdz5OnpiVWrViExMRFJSUnYuHEjvLy8jMtLly6NY8eO4eWXX5ZSKMnRu3dv/PTTTyhXrhx+AzAmx3KNTgc89RRw/rwjynNaKSkpji6BXASzRDIxTyQT80SyqDlLBT7f5efnZ/KsI4NSpUqhfv368Pf3L+guSLLevXsjJiYGu3btQuflyxHbv7/pCgkJwOOPA3fuOKQ+IiIiIiJHcCvoBu7du4eff/4Zf/31F5KTk+Hn54dHHnkETzzxBHx8fGTUSIVAq9UiKioq60W/fsCDB8D69Q9XOHMma/yXXwC3AseEiIiIiMjpFei33tWrV2PMmDG4c+eOyYOeFEVBQEAAvv32W/Tu3bvARdpLrbNkFDmtFli2DGjRAjhx4uH49u3AuHHAF18AxfizVBQF4eHhzBMVGLNEMjFPJBPzRLKoPUuKsPPxtfv370ebNm2g1WoxfPhwtG3bFmXKlEFcXBx27dqFRYsWQafTYc+ePWjWrJnsuvOUnJwMf39/JCUlwc/Pr0j3rWqxsUDjxsCNG6bjM2YA48c7piYiIiIiogKwpTewuznq0aMHdu/ejd9//x3169c3W37ixAk0b94cbdu2xYYNG+zZhd0MH0BCQgICAwOLdN+qd/AgEBUFZHvALwDgu++A0aMdUpKj6XQ6nDt3DtWqVYNWq3V0OaRizBLJxDyRTMwTyeKMWbKlObJ7QoYDBw6gf//+FhsjAKhXrx769euH/fv327sLcoSmTYEFC8zHx4wB1q4t+nqcRGpqqqNLIBfBLJFMzBPJxDyRLGrOkt3N0f3791G6dOk81yldujTu379v7y7IUQYOBObMMR3T67PGd+1yTE1ERERERIXM7uaoUqVK2L59e57r/Prrr6hUqZK9uyBHevVV4O23TcfS0oBevYCjRx1TExERERFRIbK7OerXrx+OHDmC4cOH499//zVZdv36dYwYMQJHjhxB/5zP0ClCGk2BH+NUvE2bBjzzjOlYSgrQpQvwzz+OqckBNBoNIiIimCcqMGaJZGKeSCbmiWRRe5bsnpDh/v37aNu2LQ4dOgQPDw9UrVoVpUuXxo0bN3D+/Hmkp6ejcePG2LVrF0qUKCG77jxxtjqJdLqs5x2tWWM6XrEi8PvvQLlyjqmLiIiIiMgKRTIhg7e3N/bu3YvJkyejfPnyOHXqFHbt2oVTp06hfPnymDJlCvbs2VPkjVF2Op3OYft2GYZnILVtazp++TLQuTOQkOCYuoqQTqdDdHQ080QFxiyRTMwTycQ8kSxqz1KBznd5enpi4sSJOH/+PJKSknDlyhUkJSXh/PnzeP/99+Hp6SmrTnIkLy/g55+BRx81HT95EujUCUhMdEhZRUmt/8DJ+TBLJBPzRDIxTySLmrMk7WJAX19flCtXDr6+vsaxkSNHws3NTdYuyJH8/IDNm4Hq1U3HjxwBOnYsFg0SEREREbm2Qr9Tys5bmsgZhYYC27aZ32d05EjWGaQ7dxxSFhERERGRDOqcRsJKap0lw6lVrJj1rKOyZU3HDx/OOoPkgg2SRqNBZGQk80QFxiyRTMwTycQ8kSxqz5I6qybHqlYN2L27WDVIHh4eji6BXASzRDIxTyQT80SyqDlLLt0c6fV6R5fguqpVy/0MkotdYqfX6xEdHc08UYExSyQT80QyMU8ki9qz5NLNERWy6tWzGqQyZUzHDx3KmubbhRokIiIiInJ9bI6oYKpXz7rELmeD9OefWZfY3brlkLKIiIiIiGxl0zzb3t7eNm08IyPDpvVJpQwNUlQUcP36w/HDh4HWrbNmuCtf3lHVERERERFZRRE2zLVdqVIlKIpi804uXbpk0/rTp0/HmjVrcObMGZQoUQLNmzfHzJkzERkZadX7k5OT4e/vjzt37sDf39/meslOZ88CbduaNkgAUKECsH27+TOSVEIIAb1eD41GY1f+iQyYJZKJeSKZmCeSxRmzZOgNkpKS4Ofnl+e6NjVHRaVLly4YMGAAGjVqhMzMTLzzzjv4+++/cerUKfj4+OT7fjZHDvTPP1mX08XGmo6HhABbtwINGjimrgIQQiA1NRVeXl5O84+c1IlZIpmYJ5KJeSJZnDFLqm+Ocrp58yZCQ0OxZ88etG7d2mx5Wloa0tLSjK+Tk5MRHh6OmzdvIjAwEACgKAo0Gg30er3Jg2kN4zqdzmSbuY0bumBL44D5DHm5jWu1WmNnnXM8Z425jTvtMV2+DE3XrlDOnDFZLvz8oF+3DmjVSlXHlJmZiejoaNSuXRtarTbX2tV0TC6bPSc/Jp1OZ5YltR+Tpdp5TEVzTOnp6Th58qQxT65wTK74fVLLMWVmZhrz5Obm5hLH5IrfJzUcU/YsabVapzim5ORkBAUFWdUc2XTPkaMkJSUBAIKCgiwunz59OqZMmWI2fvr0afj6+hrfW6FCBVy9ehUJCQnGdcLCwhAWFoaYmBikpKQYx8PDwxEcHIxz584hNTXVOB4REQE/Pz+cOnXK5BsRGRkJDw8PREdHm9RQt25dpKen4+zZs8YxrVaLunXrIiUlBRcvXjSOe3l5oUaNGkhMTMSVK1eM476+vqhSpQri4+MRFxdnHHfaY7pzB9ovv0SVsWPhfeqUcR0lORlKly6ImT0bols31RzT3bt3kZCQgJMnT0JRFNf5Prli9pz8mLRarUmWXOGYXPH7pJZjOn/+vEmeXOGYXPH7pJZjun37tjFPZcqUcYljcsXvkxqOKTY21pglPz8/pzimu3fvwlpOf+ZIr9ejZ8+euHPnDn777TeL6/DMkZMeU0oKNE8+CWX3bpP1hFYLsWABNEOHquKYeOaIx8QzR8Xr+6SWY+KZIx4TzxwVv++TGo6JZ44K2Ysvvoi///4718YIADw9PeHp6Wk2bviGZGf4sCytW9TjiqJYHM+tRlvHHX5MAQHA5s3AgAHAunUP19HpoAwbBly/Ds2bbwIW6ne2Y3JzczPLk8t8n6yokcdUuFnKa31nPyZbx3lMco/JUp7UfkyFNc5jyns8e54M66n9mAqrRlvHi9sxWfrZ5Ohjym25JU595mjs2LFYt24d9u7di8qVK1v9PltuuqIikJkJPPMMsHCh+bIxY4C5cwE3p+/TiYiIiEiFbOkNnPIhsEIIjB07FmvXrsXOnTttaoxyboecgJsbMH8+8Oqr5su++Qbo0QNITi76uqwkhEBycjLzRAXGLJFMzBPJxDyRLGrPklM2Ry+++CKWLl2K5cuXw9fXF3FxcYiLi8ODBw9s2k7OayHJgTQa4JNPgNmzzZdt3Qq0bAlkuynRmej1ely8eJF5ogJjlkgm5olkYp5IFrVnySmbo3nz5iEpKQlRUVEoU6aM8WvVqlWOLo0KQlGAN94AfvwR8PIyXRYdDTRtChw75pjaiIiIiKjYs/pGj9j/HupZrlw5aLVa42trVKhQwez9eVHraTiyUp8+QPnyQM+ewM2bD8f//TfrGUirVgHduzuuPiIiIiIqlqxujipVqgRFUXD69GlUr17d+Do/iqIgMzMTlSpVgkajwalTp1C9evUCFU0uoGlT4OBBoFs3INv8+bh3L6tpmjMHePnlrLNNTsAr55kuIjsxSyQT80QyMU8ki5qzZHVzNGzYMCiKAn9/f5PX9r6/KNgybR85QEQEsH8/0Ls3sGfPw3G9Hhg3LusSu6++Mr8Er4hptVrUqFHDoTWQa2CWSCbmiWRinkgWtWfJqafytpdhur7ExEQEBAQ4uhzKT1oa8PTTwNKl5ssaNwbWrAHKlSv6uv6j1+uRmJiIwMDAXOfjJ7IGs0QyMU8kE/NEsjhjlopkKu/Fixdj69at9r69SLhg3+eaPD2BxYuByZPNl/35J9CwYdYZJgcRQuDKlSvMExUYs0QyMU8kE/NEsqg9S3Y3R6NHj8aWLVtk1kLFmaIAkyYBq1cDPj6my27cAKKigG+/dUhpRERERFQ82N0clSlTBpmZmTJrIcq6/+jgwaz7kbLLyADGjAFeeAFIT3dMbURERETk0uxujnr27Int27cjLS1NZj1EQJ06wKFDQKdO5svmzQPatweuXSvSknx9fYt0f+S6mCWSiXkimZgnkkXNWbJ7QoakpCS0a9cOYWFhmDVrFmrXri27NrvZctMVObHMTODtt4GPPzZfFhICLFsGdOxY9HURERERkWrY0hvY3RxFREQgLS0NcXFxALLmMw8NDTWb3ltRFFy4cMGeXdiNs9W5mGXLsmazS001HVcUYOJE4P33gUKctl2v1yM+Ph6hoaFOM+sKqROzRDIxTyQT80SyOGOWimS2Or1eDw8PD1SoUAEVKlRAaGgogKwZKrJ/6fV6e3dRYGqdJYNyGDwY+P13oFIl03EhgClTgC5dgPj4Qtu9EAJxcXHMExUYs0QyMU8kE/NEsqg9S1Y/BDanmJgYiWUQ5ePRR4GjR4Hhw4ENG0yX7dgBNGgArFwJtGrlmPqIiIiISPWc41wXkTUCA4F164BZs8wvo/v3X6Bt26xlDjxbSURERETqZXdzFBERgc8//zzPdebOnYuInFMyF6Gc9z+RC1AU4M03gd27gbJlTZfpdMD48UDXrsD16xJ3qSAoKIh5ogJjlkgm5olkYp5IFrVnye7mKCYmBnfu3MlznTt37uDy5cv27qLAnOUmMCoELVsCx44BHTqYL9u2DahXz/zyOztpNBpUqFCBeaICY5ZIJuaJZGKeSBa1Z6lQq05KSoKnp2dh7iJPjpwMgopAaCiwZUvWpAw5/zpx6xbQsyfw4ovAgwcF2o1er0dsbCzzRAXGLJFMzBPJxDyRLGrPkk0TMuzdu9fkdUxMjNkYAOh0Oly5cgXLli1D9erVC1ZhAah1lgyygVabNZ13y5bA0KFZ9x5l9+WXWZfgrViRdTbJDkIIJCQkoFy5cgWvl4o1ZolkYp5IJuaJZFF7lmxqjqKioozXDyqKgkWLFmHRokUW1xVCQFEUzJgxo+BVEuWnXTvgxAngmWeAtWtNl506BTRqBMycCbz8MqDS07xEREREVLhsao4mTpwIRVEghMAHH3yANm3aICoqymw9rVaLoKAgtG3bFjVr1pRVK1HegoOB1auB774Dxo0D7t9/uCw9HXj1VWDTJmD+fKBCBYeVSURERETOSRF2XnvWtm1bjBw5EsOGDZNdU4EZnoKbmJiIgIAAR5dDjnD2LDBwYNakDTn5+QGffQaMGGF+r5IFzvikZ1InZolkYp5IJuaJZHHGLBl6g6SkJPj5+eW5rt3NkTOz5QMgF5aWBrz3HvDxx5aX9+gBfPMNUKZM0dZFREREREXGlt7AOdq5QqLT6RxdAjmSpycwezawfTtQvrz58o0bgdq1geXLgTz+RqDT6XDhwgXmiQqMWSKZmCeSiXkiWdSeJZdujogAZD0LKToaGD7cfFliIjB4MNC3LxAfn+smUlJSCrFAKk6YJZKJeSKZmCeSRc1ZYnNExUNAALBwIbBuHVC6tPny1auzziItW5bnWSQiIiIicl1sjqh46dkTOHkS6N/ffNmtW8CQIUD37sDly0VfGxERERE5lEs3R4oVM5FRMRQcDKxcCaxalfXfOW3enHUW6YsvAJ0OiqIgPDyceaICY5ZIJuaJZGKeSBa1Z4mz1VHxduMG8Pzz5g+ONWjaNOu5SbVrF21dRERERCQFZ6v7j1pnyaAiVLo0sGZN1j1HYWHmyw8ehGjQALfGjoUu+0Nlieyg0+lw5swZ/mwiKZgnkol5IlnUniW3grxZp9Phhx9+wI4dO/Dvv/8iLS3NbB1FUfDrr78WZDdEha93b6BdO+Ctt4BvvzVZpGRkoNTcuRDbtgFffpk1+x2RnVJTUx1dArkQ5olkYp5IFjVnyarm6Nq1ayhXrpzJ2L1799CpUyccPHgQQggoioLsV+gZXqv1ekMqhgICsh4KO3AgMGYMcP68yWLl3DmgY8esyRzmzAHKlnVMnURERERUKKy6rK5Zs2Y4deqUydjUqVNx4MABTJ8+HadPn4YQAps3b8bly5exYMEClC9fHgMHDkR6enqhFE5UaNq2BU6cAMaPB7Ra8+WrVgE1agD/939AZmbR10dEREREhcKq5igkJAQtW7bE3r17jWNr1qxBs2bN8NZbbyEgIADAw9kphg8fjoMHD2Lr1q2YNWtWoRRuDY3GpW+posJUogQwYwZw+DBEkybmy1NSgHHjgEaNgIMHi7w8UieNRoOIiAj+bCIpmCeSiXkiWdSeJauqPnDgAPr164fOnTtj+/btAIDY2Fg0+e+XRu1/f13Pfs9RmTJl0KdPHyxatEh2zVbjJX1UYI88AmX/fuDrr4HAQPPlf/0FNGsGPP00EB9f5OWRuiiKAj8/P/5sIimYJ5KJeSJZ1J4lq5ojDw8PfPXVV/j+++/x999/AwB8fHyMHaGvry8URcG1a9dM3ufn54fY2FjJJVtPrbNkkHPRCYHoZs2gO3UKGDHC8krz5wPVqmXdi8RLSSkXOp0O0dHR/NlEUjBPJBPzRLKoPUs2ne8aOHAgXn31VQBAxYoVjY2Pp6cnqlWrhnXr1hnX1ev12Lp1K8qUKSOxXCLH0Ol0QEgIsGABsHcvUKeO+UrJycDrrwP16gFbthR9kaQKav2fBTkn5olkYp5IFjVnye6LAdu3b4/du3cbD37EiBHYunUr2rVrh/Hjx6Np06b4+++/0adPH2nFEjmFVq2Ao0eBjz8GfHzMl589C3TtCvTsaTbjHRERERE5L7ubo2eeeQavv/46bt++DQB44403MHToUOzevRuzZ8/G4cOH0a9fP0yePFlWrUTOw9096yzRP/8AQ4daXmfDBqBWraxZ75KSirY+IiIiIrKZIrI/nEiCuLg4XL58GZUrV0ZoaKjMTVstOTkZ/v7+uHPnDvz9/R1SA7kOIQRSU1Ph5eWV+82FBw4AL78MHD5seXmpUsDkyVnPT3J3L7RayblZlSUiKzFPJBPzRLI4Y5YMvUFSUhL8/PzyXFf6HHthYWFo0qSJwxojosLg4eGR9wrNmgF//AF8/z1gKfu3bgFjxwJ16wLr1wNy/yZBKpJvlohswDyRTMwTyaLmLKlzAnIr6fV6R5dALkCv1yM6Ojr/PGk0wMiRWZfavf464OZmvs7Zs0CvXkC7dsCRI4VTMDktq7NEZAXmiWRinkgWtWfJwm9vlrVr1w6KomDRokUoX7482rVrZ9X7FEXBr7/+aneBRKrj7581WcOYMVn3G/38s/k6u3cDjz0GDBkCTJ0KVKxY1FUSERERUQ5WN0e7d++Goii4f/++8bU1nOVaQ6IiV706sHYtsGcP8MYblu9HWroU+OEH4PnngXffzZounIiIiIgcwurL6vR6PXQ6HapXr258bc2Xmuc5J5KiTZus+5GWLQMqVDBfnp4O/N//ARERwJQpQEpK0ddIRERERPJnq3MGnK2OZBJCQK/XQ6PRFPxMaGpqViP00UdZD421JCQEeO894NlnAU/Pgu2PnIrULFGxxzyRTMwTyeKMWXLobHVErig9PV3Ohry8su5DOn8eeOUVy9N637yZtSwyEli0CMjMlLNvcgrSskQE5onkYp5IFjVnyeYzR9evX8eDBw9QqVIlaDRZvdWePXuwZ88es3UfeeQR9OzZU06lNjB0hwkJCQgMDCzy/ZNr0el0iI6ORt26daHVauVuPCYGmDQJWLIk9+m9q1fPekZSv36A7P1TkSrULFGxwzyRTMwTyeKMWbLlzJHVEzIAwK1btxAZGYlmzZph69atxvHdu3djypQpZuv7+vriwoULKFWqlC27ISo+KlXKOjv05pvAO+8AGzaYr/PPP8CgQcC0aVlNUu/eWdOGExEREZFUNv2GtXjxYty7dw8zZ840W6YoClasWGH8+vLLL5GSkoIlS5ZIK5bIZdWpk/Vw2N9+A1q2tLzOyZNA377Ao4/yQbJERA6k1+vxySefYMuWLY4uhYgks6k52rJlC2rXro1HHnnE4vL+/fsbv5577jk0btwYv/zyi4w6iRyqyE4Lt2gB7N0LbNqU1QRZcvx41oNkGzcGNm5kk6QyznKJAbkG5skxJk+ejGXLlqFZs2aOLkUq5olkUXOWbGqOoqOjbfpBUK9ePZw8edLmomRR8zeGnIdWqy3a62YVBejWLeu5SGvXAnXrWl7v8GHg8ceBhg2z1lPpk6iLkyLPErk05qno7N+/HyVLlkTp0qVx4cIFuLu7Y8uWLS41Iy7zRLKoPUs2NUcJCQkIDQ01G4+KisLEiRPNxkNDQ5GQkGB/dQXkgrOUkwMIIZCcnFz0eVIU4IkngL/+AlatAmrWtLzesWNZ9yE98kjWA2X5bDGn5bAskUtinorG/fv3MWLECCxcuBBDhgzB+PHj8f7771v8fUjNmCeSRe1Zsqk58vLywr1798zG27Rpg0mTJpmN379/H54OfE6Lnn9JJwn0ej0uXrzouDxpNFkz1UVHA0uXAlWrWl4vOhro3z/rTNOyZZwC3Ak5PEvkUlw5T6mpqZg2bRq2bdvm6FJw6tQpvPvuu+jTpw9mzpyJRo0aIS4uztFlSefKeaKipfYs2dQclS9fHidOnLB6/ePHj6N8+fI2F0VEFmi1wODBwOnTwOLFWVN8W3L6NDBkCFCjBvD111kPniUiKiT379/HrVu3cOvWLVSoUAEDBw5EYmJigbb56quvYsWKFWjSpImkKu332GOPYfjw4QAANzc3jB8/HmFhYQ6uiogKi03NUatWrbB3715cunQp33UvXLiAvXv3onXr1nYXR0QWuLkBQ4cCp04BK1YAtWpZXu/CBeC554CICODjj4GUlKKtk4iKxKJFi6AoivHLy8sLZcuWRefOnfH5558jpZD/7c+aNQshISEICQnBlStXsHLlSjRo0MDu7f34449Yv349fvnlF6n39FSqVMnkc8rta+HChcb33Lt3Dx9++CHq1asHb29v+Pv7o1WrVli8eLHJJUMjRoywatsjRoyQdjxEVDhses7R888/j2+++Qb9+/fHli1bEBQUZHG9hIQEDBw4EHq9Hs8995yUQokcycvLy9ElmNNqgQEDsi65W7MG+PBDwNKZ3evXs56j9NFHwNixwMsvA3z2mMM4ZZZItbLn6YMPPkDlypWRkZGBuLg47N69G+PGjcOcOXOwfv161KtXr1BqGDZsGFr+9wiCIUOGoH79+hbvQ7aGEAJXr17F5s2bUaFCBZll4rPPPsPdu3eNr3/55ResWLECn376qcnzGJs3bw4AuHHjBtq3b4/Tp09jwIABGDt2LFJTU7F69WoMHz4cv/zyC5YtWwatVotnn30WHTp0MG7j0qVLmDhxIsaMGYNWrVoZx6tUqSL1mGTjzyeSRdVZEjZ6/fXXhaIoonTp0mLSpEli165d4uzZs+Ls2bNi165dYuLEiSIsLEwoiiLeeOMNWzcvRVJSkgAgkpKSHLJ/IofQ6YT4+WchHntMiKwJvi1/lSghxEsvCXHxoqMrJiIJFixYIACIQ4cOmS379ddfRYkSJUTFihXF/fv3rd5menq6KFmypEhOTraplooVK4rhw4fb9B5HmT17tgAgLl26ZHF5586dhUajEevWrTNb9sYbbwgAYsaMGRbfe+jQIQFALFiwQGLFRGQvW3oDmy6rA4DZs2dj/PjxuH37Nj788EO0b98eNWvWRM2aNdG+fXt8+OGHuHnzJiZMmIBZs2bJ7eRspNYbwci56PV63L592/nzpNFkPf/ozz+B7duBdu0sr/fgAfDFF1kTOwwYkDUlOBUJ1WSJVMGaPLVr1w7vv/8+Ll++jKVLlxrHo6KiEBUVZbZ+27ZtoSgKbty4AZ1OhwcPHljcrhACU6dORfny5eHt7Y22bdvm+uiOixcvom/fvggKCoK3tzeaNm2KTZs2mayTnp6OiRMnomHDhvD394ePjw9atWqFXbt2mawXExMDRVHw8ccf45tvvkGVKlXg6emJRo0a4dChQ7l+DrY6ePAgtm7dihEjRqBnz55my6dPn45q1aph5syZuX5GasOfTySL2rNkc3OkKAqmT5+OU6dOYcKECYiKikKNGjVQo0YNtGnTBu+88w5Onz6Njz76CIqiFEbNVhMqnUKQnIsQAleuXFFPnhQF6NAB+PVX4I8/sqYDt0Svz5oivFEjoG3brAfPqvQHmVqoLkvk1Ax5ys/QoUMBwKqZ3wyXl4WHhyMyMhIhISEW15s4cSLef/991K9fH7Nnz0ZERAQ6depkNqPtjRs30Lx5c2zduhUvvPACpk2bhtTUVPTs2RNr1641rpecnIxvv/0WUVFRmDlzJiZNmoQbN26gc+fO+Ouvv8z2v3z5csyePRvPPvsspk6dipiYGPTu3RsZGRn5HqM1NmzYACDrkkFL3NzcMGjQICQmJuL333+Xsk9H488nkkXtWbLpnqPsqlWrhmnTpsmshYhka9w46wGxp04BM2cCy5dbnuJ79+6sr1q1gNdfBwYNAtR8vTARGZUvXx7+/v64cOFCvuv6+PigYsWK2LNnD0qXLm3xj5w3b97ErFmz0L17d2zYsMG4zrvvvouPPvrIZN0ZM2bgxo0b2Ldvn/G+pGeeeQb16tXDa6+9hl69ekGj0SAwMBAxMTEmj/945plnEBkZiS+++ALz58832W5sbCzOnTuHwMBAAEBkZCR69eqFrVu3okePHrZ9QBacOnUKAFC/fv1c1zEsO336tMn9RkSkbjafOSIiFapVC1i0CDh/Hnj1VaBkScvrnToFjB4NVKwITJ4M3LhRpGUSUeEoWbKkTbPWVaxYMdcbqnfs2IH09HS89NJLJs3TuHHjzNb95Zdf0LhxY2NjZKhlzJgxiImJMTYhWq3WpDFKT09HiRIl0Lx5cxw9etRsu/379zc2RgCMkx5cvHjR6mPMi+Gz8vX1zXUdw7Lk5GQp+yQi58DmiMgKef0PUlUqVgTmzAFiY4Hp04EyZSyvFx8PTJkCVKgAjBwJHD9etHW6MJfJEjkFa/N09+5dadm7fPkygKwrSLILCQkxaVgM60ZGRppto2bNmibbAoBVq1ahadOm8Pf3h6enJ0qUKIF169YhKSnJ7P05Z7Iz7Legz1cyMHxWeTWU1jRQauNKx0KOpeYsuXRzpNVqHV0CuQCtVosqVaq4Vp4CA4EJE4BLl4Dvv8/9WUnp6cDChcAjj2RN8LB+PaDTFWWlLsUls0QOY8iTRpP3/8qvXr2KpKQkVK1a1TiW2z3BOgf9+165ciUGDBiAypUrY+HChfjtt99w4MABdOrUyeJN3bn9G5J1j4OhecvrwfeGZbVy+/mpMvz5RLKoPUsu3RypdZYMci56vR5xcXGumSdPz6wzQ9HRwMaNuc9wBwC7dmXNhle9OvDJJ4Ckv9AWJy6dJSpy1uZpyZIlAIDOnTsbxwIDA3Hnzh2zdbOfyclNxYoVAQDnzp0zGb9586bZmZuKFSvi7NmzZts4c+aMybZWrVqFqlWrYsWKFXjyySfRokULNG3atNAfYJsbw31Lixcvtrhcp9Nh+fLlCAwMRIsWLYqytELDn08ki9qz5NLNkVpnySDnIoRAXFyca+dJowG6d8+a4e74cWDUqKzGyZKLF4E33gDKlweefTarsSKrFIssUZEx5CkvO3fuxIcffojKlStj8ODBxvEqVargzJkzuHnzpnHs+PHjVs281qFDB7i7u+OLL74wyfJnn31mtm63bt3w559/4sCBA8axe/fu4ZtvvkGlSpWMZ10URYFerzf5ZWr//v04ePBgvvUUhubNm6NDhw5YsGABNm7caLb83XffxT///IO33noLJUqUcECF8vHnE8mi9izZPVsdEbmoevWA+fOz7kn66ivgyy8tT8xw/z7wzTdZX23aAGPHZk0b7sYfK0SOsHnzZpw5cwaZmZm4ceMGdv5/e/cd18T9xgH8k7BRpsiQKSoiKCoq7o0Dt3VQrZa6Z9VaB7VVsNq6qj+trdZRxdE66qq2DlxoHa11DxBUQEFlKFtlJd/fH9cEYhJIIGTxvF+ve6F3l7vv5Z4cebjvPd9z53D69Gm4u7vj6NGjEgUWxo4dizVr1qBnz54YP3480tLS8NNPP8HHx6fcuzW1a9fGnDlzsGzZMvTr1w99+vTBrVu3cOLECXEpcJHQ0FDs2bMHQUFBmDFjBmxtbbFjxw4kJCTg4MGD4i6Bffv2xeHDhzF48GD07dsX8fHx2LRpE3x9fTV292jnzp3o3r07Bg4ciJEjR6Jjx44oKCjAoUOHEBUVheDgYMydO1cjbSOEVB36FkMIkc3eHli0CJg/nxsP6X//A2SMNwIAuHCBm5ydgYkTgfHjgTp11NpcQqq7RYsWAQCMjY1ha2uLJk2aYO3atRgzZozUw9GNGjXCzp07sWjRIsyePRs+Pj7YuXMn9uzZg6ioqHL3tXTpUpiamuKnn37C+fPn0bp1a0RGRqJv374S6zk4OODKlSuYP38+1q9fj/z8fPj5+eHYsWMS644dOxYpKSnYvHkzIiMj4evriz179mDv3r0KtacqODk54dq1a1i9ejV+++03HDx4EIaGhvDz80NERAQ+/vhjjY/nSAhRPR7T1XteZcjJyYGVlRUyMzNhbW2t6eYQHScUCpGcnAwXF5dyH3zWa4wBV64A69cDBw/KHi9JxMCAu4s0ZQr3HBN9gQBAsURUi+KJqBLFE1EVbYwlUW6QnZ0NS0vLMtfV6+RIkTeAEFIBz58DmzZxU1pa2es2bAhMngyEhHBV8gghWqVLly4AoLE7NIQQUtWUyQ20I52rIrpaJYNoF6FQiGfPnlE8lebsDHz9NTde0u7dQOvW8teNjeUGnq1TB/jkE+DyZe4uVDVEsURUieKJqBLFE1EVXY8lvU6O9PCmGNEAxhgyMjIonmQxMQE++gj4+2/gxg3uWSNzc9nr5ucDO3YAHToAjRsD69YBGRnqba+GUSwRVVJVPEVGRiIyMlJFrSK6iq5PRFV0PZb0OjkihKiRvz+wZQvX5e7774H/BlGUKToamDWLu5s0ahRw8WK1vZtEiKYZGxvD2NhY080ghBCtQMkRIUS1rK2BTz8FHjwAoqKA4GDAyEj2ugUFwC+/cKXAvb2BFSuAly/V2VpCCCGEEDG9To6oxCZRBR6PB0dHR4onZfF4XNKzdy+QlMQlPvXry18/Lg4IDQVcXYEBA4DffweKitTXXjWgWCKq9H48rVy5Et7e3jrbz59olqquT6GhoWhd1nOoRO/p+u86vU6OtKV8INFtfD4fjo6OFE+V4eAAzJvHFWc4dw748ENAXjcegQA4dowrBe7iAsydC8TEqLW5VYViiahS6XjKycnBihUrMH/+fIn44vF44onP56NOnTro2bOnSivTHT16FP7+/jA1NYWbmxvCwsJQXFap/1IeP36MoUOHwsbGBubm5ujQoQPOnz+vsrZVVkREBHg8Hq5fv67ppqjElStX0KFDB5ibm8PR0REzZsxAXl4egPKvTxs3bsSwYcPg5uYGHo+HTz75ROZ6s2bNwp07d3D06NGqOgyi5XT9d51utlpBAoFA000gekAgEODJkycUT6rA5wNduwJ79nDPJq1ezZX6lictDfjuO8DHB2jTBti4EcjMVF97VYxiiahS6Xjatm0biouLMWLECKn1evTogV27dmHHjh2YPHky7t69i27duuHEiROVbsOJEycwaNAgWFtbY/369Rg0aBCWLl2KTz/9tNzXJiUloW3btrh06RLmzp2LZcuWIS8vDz179sTFixcr3TYi6fbt2+jevTvevn2LNWvWYPz48di8eTOGDRsGoPzr04oVK3Du3Dn4+vrC0NBQ7n4cHR0xcOBAfPfdd1VyHET76fzvOqaHsrOzGQCWkZGh6aYQPVBcXMxu3brFiouLNd0U/SQUMnbpEmNjxjBWowZjXGkG+ZOJCWPDhzN2/DhjRUWabr1SKJaIKpWOJz8/PzZq1CipdQCwadOmScy7e/cuA8B69uxZ6Tb4+Piwpk2bsqJSn8Uvv/yS8Xg8FhMTU+Zrp06dygwNDdnDhw/F8968ecNcXV2Zv79/hdv0+PFj9ubNmwq/vrTt27czAOzff/9VyfY0KSgoiDk5ObHs7GzxvC1btjAA7NSpU+VenxITE5lQKGSMMVajRg0WEhIid18HDhxgPB6PPXnyRKXHQHSDNv6uE+UGpeNfHr2+c0QI0QE8HtC+PbBtG1eMYetWoG1b+esXFAD79wN9+gBublx3vfv31ddeQrRMQkIC7t69i8DAQIXWb9KkCezs7JCQkFCp/UZHRyM6OhoTJ06UuJMwdepUMMZw4MCBMl//119/oXnz5mhY6u6xubk5BgwYgJs3b+LRo0cVateuXbvg5OSEyZMn499//63QNpR169YtBAUFwdLSEjVr1kT37t3x999/S6xTVFSExYsXo0GDBjA1NUWtWrXQoUMHnD59WrxOSkoKxowZAxcXF5iYmMDJyQkDBw5EYmJipdqXk5OD06dPY9SoURIDYH788ceoWbMm9u/fX+423N3dFX6GRBSLv//+e8UaTIgGyb8vSggh6mZhAYwbx03R0VzCtGsX171OlpcvgVWruKlZM2D0aGDECMDJSa3NJkSTrl69CgDw9/dXaP3MzExkZmaifqkCKdnZ2ShSoACKqakpatasCYBLCACgZcuWEuvUqVMHLi4u4uXyFBQUwMbGRmq++X9jpd24cQMNGjQot03vGzlyJNLS0rBnzx5s2rQJTZo0wbhx4zBq1CjUqlVL6e2V58GDB+jYsSMsLS0xb948GBkZYdOmTejSpQsuXLggLk4QHh6OZcuWYfz48QgICEBOTg6uX7+OmzdvokePHgCAIUOG4MGDB/j000/h4eGBtLQ0nD59Gs+ePYOHhwcAIC8vD/n5+eW2y8jICFZWVgCAe/fuobi4WOpcGRsbo1mzZuWeK2VZWVmhXr16uHz5Mj777DOVbpuQKlf1N7LUT3TrLDMzU9NNIXpAIBCwV69eMYFAoOmmVE+FhYwdO8bYkCGMGRuX3+2Oz2esVy/Gdu1iLC9P062XQLFEVEkUT19++SUDwHJzc6XWAcDGjRvH0tPTWVpaGvvnn39Y9+7dGQC2evVq8XqdO3dmAMqdSnelWrVqFQPAnj17JrXfVq1asTZt2pTZ/v79+zNra2uWk5MjMb9t27YMAPvuu++UfEckvXv3jv3yyy+se/fujMfjMRMTExYcHMwiIyMV/gwq0q1u0KBBzNjYWKIL2YsXL5iFhQXr1KmTeF7Tpk1Z37595W4nMzOTAWCrVq0qs00hISEKnavOnTuLX/Pbb78xAOzixYtS2xs2bBhzdHRU6vpUXrc6xhjr2bMna9SoUbnbIvpHG3/XKdOtTq/vHOlqlQyiXfh8fpX8tZEoyMgI6NePm16/5kqD79gByOsuIxQCp05xU40awODBwEcfAYGBQBkPEasDxRJRJVE8ZWRkwNDQUHxH530///wzfv75Z/H/TU1NMXv2bMyaNUs8b/Xq1chUoNhJnTp1xP9+9+4dAMDExERqPVNTU+Tk5JS5rSlTpuDYsWMIDg7GN998gxo1amDDhg3iynCi7VeUqakpRo4ciZEjR+Lp06eIiIhAREQE9u3bB3d3d0yaNAlffPFFpfYhEAgQGRmJQYMGwdPTUzzfyckJI0eOxJYtW5CTkwNLS0tYW1vjwYMHePTokcw7YmZmZjA2NkZUVBTGjRsn864aAMybNw+jRo0qt22lX1/euXr37p3Kr082NjYqvyNFdIOu/67T6+RIZ6tkEK0iEAjEv8wMDAw03ZzqrVYtYNo0bnrwgEuSfvkFePFC9vpv3gC7d3NT7drcgLQjR3KV7zQw/gLFElElUTwxxspcb+DAgZg+fTp4PB4sLCzg6+uLGjVqSKzTokULpfdvZmYGgOse9778/HzxcnmCgoKwfv16hIaGirsE1q9fH9988w3mzZsnN9kDuC/72dnZEvMcHR3lru/u7o6wsDBMnjwZEyZMwLFjx7BixYpKJ0fp6el4+/atxHNTIo0aNYJQKERSUhJ8fX3x9ddfY+DAgfDy8kLjxo3Ru3dvjB49Gn5+fgC4xGXFihX4/PPP4eDggDZt2qBfv374+OOPJY7Nx8cHPj4+SrVTkXOl6usTY0xnx7khlaPrv+vo1gohClCkfzdRM19fYOVK4Nkz4MwZICQEKOPLFNLTgR9+ANq1A+rVA778knuuSc0ologq5efnw9bWFsXFxcjNzZW5jouLCwIDA9G9e3cEBARIJUYAkJGRgZSUlHKn0gmJ03/P9r18+VJqey9fvpS4yyTP9OnTkZqaiitXruD69et4+PCh+DkZLy8vua/bt28fnJycJCZ5iouLcfToUQwePBiurq7i8uO//vprue1TpU6dOuHJkyfYtm0bGjdujK1bt8Lf3x9bt24VrzNr1izExcVh2bJlMDU1xcKFC9GoUSOJOzDZ2dkKnauMjAzxaxQ9V6q8PmVmZsLOzk5l2yO6RZd/12llcnTx4kX0798fderUAY/Hw5EjRzTdJEKItjIwALp3ByIigJQU7k5S797cmEryJCQA337LJVh+fty/nzxRW5MJUSVvb28AqFT1uQ8++EAq2ZA1zZw5U/yaZs2aAYDUAKkvXrxAcnKyeHl5atSogbZt26JFixYwMDDAmTNnYGZmhvbt28t9Ta9evXD69GmJ6X3R0dGYO3cuXFxcMHDgQERHR2PJkiVITk7G4cOH0adPH4XaV5batWvD3NwcsbGxUssePnwIPp8PV1dX8TxbW1uMGTMGe/bsQVJSEvz8/BAeHi7xunr16uHzzz9HZGQk7t+/j8LCQqxevVq8fObMmQqdqw8++ED8msaNG8PQ0FDqXBUWFuL27dsKnytlJCQkoFGjRirfLiFVTSu71b158wZNmzbF2LFjJT7chBBSpho1uG5zI0dyidL+/VyydO2a/Nfcu8dNX34JtGwJfPghMHw4UOoLDSHarE2bNgC4JEXURUtZFXnmyNfXF97e3ti8eTMmTZok7j6zceNG8Hg8DB06VLxudnY2Xr58CScnJ/GdIVmuXLmCQ4cOYcqUKWWuV9bdoqioKISGhuKff/6BmZkZhg4divHjx6NTp07lHp+yDAwM0LNnT/z+++9ITEwUV5RLTU3Fr7/+ig4dOohLZ79+/VriOYyaNWuifv36SEpKAgC8ffsWfD4fpqam4nXq1asHCwsLie5wFXnmyMrKCoGBgdi9ezcWLlwICwsLAFzZ87y8PPFAsKJ2PH/+HHZ2dhW+85OdnY0nT55gypQpFXo9IZqklclRUFAQgoKCKr0dKshAVIHP58PT05PiSdc4OgIzZnDT48fAnj1coiTjL7xi169z05w53NhLwcHAkCGAAt2DFEGxRFRJFE8WFhZo3Lgxzpw5g7Fjx1ZoWxV55ggAVq1ahQEDBqBnz5748MMPcf/+ffzwww8YP368xF2Dw4cPY8yYMdi+fTs++eQTAMDTp08xfPhwDBgwAI6Ojnjw4AF++ukn+Pn54dtvv61QewDgwoULKCoqwoYNGzBy5MgykyxFbdu2DSdPnpSaP3PmTCxduhSnT59Ghw4dMHXqVBgaGmLTpk0oKCjAypUrxev6+PigS5cuaNGiBWxtbXH9+nUcOHAA06dPBwDExcWhe/fuGD58OHx8fGBoaIjDhw8jNTUVH374ocR2lH3mCAC++eYbtGvXDp07d8bEiRORnJyM1atXo2fPnujduzcYY/D09MT169fRrVs3hIWFSdzVOnbsGO7cuQOAG7Pp7t27WLp0KQBgwIABEon5mTNnwBjDwIEDlW4n0X26/rtOK5MjZRUUFEj8VUVUIUcoFIqLMvB4PPD5fAiFQomHV0Xz3y/eIG8+n88Hj8eTOV+0T0XmGxgYgDEmc/77bZQ3n45JPccEcN0+Si/T9WPSx/NU5jHVrQssWAB88QVw6xYM9u0D27sXvOfPIdfly8Dly2AzZ4LXoQOEQ4aAffCBOFGq6DG9H0t0nuiYKnpMQqFQHE+ffPIJwsPD8e7dOxgbG0uszxiT2UZVHFNQUBAOHTqExYsX49NPP0Xt2rURGhqKRYsWibddeluinwKBADVq1ICjoyN++OEHZGRkwNnZGdOnT8eCBQtgbm4OgUBQofP0+eef46uvvhLPEwgEFT5PovU3btwIWUaPHo1GjRrhr7/+QmhoKJYtWwahUIiAgADs3LkTrVu3Frd9+vTpOHbsGCIjI1FQUAB3d3d8/fXXmDNnDgQCAVxcXPDhhx/i3Llz2LVrFwwNDdGwYUPs27cPH3zwgdR7oOwx+fv7IzIyEqGhofjss89gYWGBsWPHYvny5eL1378+ld7ngQMHsHPnTvH/b926JX4WytnZGX5+fuL19+/fj/bt28PT07PKYk/efLpGaMcxlY4lbTgmZYq08Vh5ZW40jMfj4fDhwxg0aJDcdcLDw7F48WKp+RcvXhTfOra1tYWbmxuePXsm8ZCio6MjHB0d8eTJE4mHWV1dXVGrVi08fPhQ4qEyT09PWFpa4t69exJvdMOGDWFsbIx79+5JtKFJkyYoLCyU6I9sYGCAJk2aICcnB/Hx8eL5pqam8Pb2xuvXr8W32QHAwsIC9erVEz9kKULHpJ5jysrKws2bN2FjYwMej6cXx6SP50npY3rxArknT8L61ClYnz4NIwW6FDEeD2+aNUNWjx4wHz0ato0bK3VMBgYGuHTpkjiWVH5M+nie6JjkHlN0dDRSUlJgY2ODvLw8DBw4EKtWrUJAQIDOHpM+niddOabXr18jMzMTNjY2cHJyqvAxpaamol+/fli2bBkmT55M56kaHtOzZ8/EsWRpaakVx5SXl4eOHTsiOztb3NVVHr1IjmTdOXJ1dUV6erq4z60uZt3lzadjUs8xFRcX4969e/D19RXfSdL1Y9LH81SpYyouBi8qCvz9+8EOHQIvKwvlYTweeO3aQTh4MNjgwYC7e7nHJBAIpGKJzhMdU0WPqbCwEA8ePBDH06pVqxAREYF79+5JdGfRpWPSx/OkK8dUXFwsjidDQ8MKH9MXX3yB8+fP4++//9b4MenjedKFYyodSwYGBlpxTDk5ObC1ta0+ydH7cnJyYGVlhYyMDLmDqBGiKNEX2iZNmuhkvX6ipMJCbgDZ334Dfv8dKGcgS7GWLYGhQ7lnlOrXl7kKxRJRJYonokoUT0RVtDGWRLmBIsmRbj4pRQghVcXYGOjfH9i5E0hLA44eBUaNAv7roivX9etAaCjQoAHQtCkQHg7cvQto99+fCCGEEFKKVt45ysvLw+PHjwEAzZs3x5o1a9C1a1dx/8TyiLLDrKwslVSpIdUbYwz5+fkwNTWl0b6rs/x8IDKSu6N09Kjid5Q8PYHBg4HBg8HatEF+YSHFElEJujYRVaJ4IqqijbGkzJ0jrUyOoqKi0LVrV6n5ISEhiIiIKPf1lBwRVRL1qxX1ayUEBQXAmTPAwYNc17tSD5OWhTk4gA0cCN6gQeB16waYmFRxQ4k+o2sTUSWKJ6Iq2hhLOp8cVRY9c0RUSRv7zhItUlQEXLgAHDgAHD7MdcVThIUF0Ls3MHAg0KcPQNcqoiS6NhFVongiqqKNsUTPHBFCiLoYGQGBgcBPPwEvXnCJ0qxZ4up1cuXmcl30Ro0C7O2B7t2B9euBp0/V0mxCCCGESKPkiBBCVMXAAOjUCfjf/4CEBODGDeCrrwBf37JfV1wMnDsHzJgBeHhwBR2++gr45x/gvVKphBCiD4RCITZv3owdO3ZouimESDDUdAMIIUQv8XiAvz83LVkCPHoE4cGDeLdnD8zv3QOvrB7Nd+9y0zffAA4OQL9+XAW9wECgRg31HQMhhFSBmJgYjBkzBv/88w/4fD6aNGkCf39/TTeLEAB6/swRFWQgqqCNDxYS3SSOpfR08P74gyvmcPo0V+BBEaamQNeuQN++3OThUaXtJdqNrk1EldQRT4WFhVi5ciUWL14MxhgEAgEMDAzQqFEj3Lx5E0ZGRlWyX6Je2nhtooIMlBwRFdLGkpREN8mMpTdvuBLhR44Af/4JvH6t+AZ9fbkkqV8/oG1bwJA6A1QndG0iqlTV8ZSWloYuXbrg4cOHeP+rJ4/Hw7fffovQ0FCV75eonzZem6ggw3+E1FefqIBQKERsbCzFE6k0mbFUowY3DtKOHUBqKvDXX8C8eYC3d/kbfPAAWLmSe87J3h4YMaJk8Fqi9+jaRFSpquMpLy8PcXFxUokRwH2ZXrRoEeLi4qpk30S9dP3apNfJESGE6BQDA6BDB2DFCiAmBnj0CFizhutKV1451MxMYO9eICQEcHQEAgKA8HCuqINAoJbmE0KIPJ6enggNDZV7J4ExhrFjx+rsF2qiPyg5IoQQbVW/PvDZZ1wlu/R0LvkZPRqoVavs1zEG/PsvsHgx0KYNlyyNGgX88gu3HUII0YCFCxeiXr16Mse+KS4uxuXLl7FlyxYNtIyQEpQcEaIAbRnEjOi+CseSjQ0QHMx1m0tNBa5cAb78kiv7XZ5Xr7jEaNQorvpdq1bAwoXA5ctcGXGis+jaRFSpquPJxMQEO3bsKPPu0Oeff47nz59XaTtI1dPla5NeF2RQ5KErQgjRecnJwIkTwPHjwJkzQF6e4q+1sgJ69AB69QJ69gTc3KqunYQQAmD69OnYuHGjzCTJ0NAQvXv3xtGjR7XmYX6i+6haHVWrIyrEGENubi4sLCzoQk0qRS2xVFgIXLrEJUrHj3PPLinD25tLknr1Ajp3pnGVtBhdm4gqqTOecnNz0bBhQ6Smpsq9i7Rv3z4MHz68SttBqoY2XpuoWt1/6KE+ogpCoRDx8fEUT6TS1BJLxsZAt27Ad98B0dFAQgKwYQMwYIBiic7Dh8D333Mlwm1tuW0tXw7cuAHQZ0Cr0LWJqJI648nCwgI///yz3H3xeDxMmTIFr5UZ2oBoDV2/Nul1ckQIIdWehwcwZQo34GxGBlfcYd48wM+v/NcWFgLnzwNffAG0bMmVCw8OBrZuBZ4+rfKmE0L0V1BQEEaMGCHz2RTGGLKzszFr1iz1N4xUe5QcEUJIdWFszJUFX7ECuHMHeP4c2LaNS3hsbct//evXwP79wIQJXNLl5QVMmwYcOsSVEieEECV8//33crteCQQC7N69G6dOndJAy0h1RskRIQowNTXVdBOIntCqWKpTBxgzhisRnpYGXLsGLF0KdOwIGBqW//pHj7gue0OGAHZ2XBW8L77gikK8e1f17SfaFU9E56k7nuzs7PDjjz/KHBgWAPh8PsaNG4c8ZYrMEK2gy9cmvS7IQNXqCCGkgnJygKgo4NQp4PRpLhFShokJ0L490L0799xSy5aKJVyEkGqFMYY+ffrg9OnTEMgYsJrP52P69OlYt26dBlpH9AVVq/vvDcjMzIS1tbWmm0N0nFAoRGZmJmxsbMDn081WUnE6HUtPn3JJ0unTwNmzXBc7ZVhYAJ06cYlSt27cM0+69h5oGZ2OJ6J1NBlPSUlJaNiwId7JuePM4/Fw5coVtGnTRq3tIhWjjdcmqlb3Hz3M+4gGMMaQlJRE8UQqTadjyd0dGD8e2LeP64J3/TqwbBkQGAgo0n0iNxf480/g88+B5s254g5DhwI//gg8eADo4nuiYTodT0TraDKeXF1d8d1338ldzufz8cknn6CwsFCNrSIVpevXJr1OjgghhFQBPh9o0QIIDeXuJGVmcneTFiwAWrdW7I7Q69fAwYPA9OlA48aAoyNXGOKnn4DYWEqWCKlmJk+ejLZt28JQRvdbgUCAuLg4LFu2TAMtI9UNJUeEEEIqx9SU6yr3zTfA339zic+RI8CMGYCvr2LbSEvjKuFNmcINROvsDIwYAWzaxI29RMkSIXqNz+dj27ZtcpczxrB06VI8ePBAja0i1RElR4QowMLCQtNNIHqiWsSStTUwcCCwbh1w/z6QkgLs2cOVAK9XT7FtvHzJVdGbPBlo1AhwcuLuLG3YwA1uS8kSgGoST0RtNB1P3t7eCA8Pl1naG+ASpDFjxsgs3EC0i6ZjqTL0uiADVasjhBAt9PQpNxhtVBQ3yGxSkvLbsLPjCjyIJj8/QMZgkoQQ3VJUVIRmzZohNjZWbhK0bt06zJgxQ80tI7qMqtVRtTqiQkKhEGlpabC3t9eaqitEN1EsycAYEB9fkiidPw+8eKH8dqysgA4dSpKlFi0AIyOVN1ebUDwRVdKmeLp+/ToCAgLkPtBvamqKhw8fwt3dXc0tI4rQplgSoWp1/9HDvI9oAGMMKSkpFE+k0iiWZODxuK5248YBu3cDyclcQYbNm4GPPuKePVJEdjZXDW/+fKBtWy5Z6tYNCAvjBqV986Zqj0MDKJ6IKmlTPLVs2RKfffaZ3C/WRUVFGD9+vFa0lUjTpliqCL1OjgghhOgYHg/w8uKeT9q9m+ty9/gxsHUrMHo04Oqq2HbevePuQn39NdCjB/ccVOvWXCnxI0eA9PSqPApCSCUtWbIELi4uMhMkgUCAM2fOYNeuXRpoGdF3lBwRQgjRXqXvLO3cyT2vFB8PREQAY8cC9esrtp3iYuDaNWDNGmDwYG6cJW9vbuymiAguAdPRv3ISoo/Mzc2xfft2CIVCuevMmDEDaWlpamwVqQ70OjmSV+2EEGXweDzY2tpSPJFKo1hSAR4PqFsXCAkBfv4ZePQIeP6cq4Y3ZQrg46P4tmJjuW2MGQM0aMBVxBsyhEug/vkH0PIBJymeiCppYzx169YNY8eOhYGcYit5eXmYPn26mltFyqONsaQMvS7IQNXqCCGkGnr9Grh0CfjrL266eZO7c6QsU1OgVSugfXugXTtuqlVL9e0lhMiVmZkJLy8vvH79Wu4zLEePHkX//v3V3DKiS6haHVWrIyokFAqRnJwst+8zIYqiWNKQN2+4wWn/+otLmq5eBd6+rdi2GjYsSZTateO65mnoXFI8EVXS5ng6dOgQhgwZInMZn89H7dq1ERsbCysrKzW3jMiijbFE1er+o4d5H9EAxhgyMjIonkilUSxpSI0aQPfuQHg4V7kuKwv491/gf//jutE5OCi+rdhYYPt2rmCEry93JykoCFiyhNt2Tk5VHYUUiieiStocTx988AEGDRoks3udUCjEq1evMH/+fA20jMiizbGkCENNN4AQQghRKyMjoGVLbpo1q2Sspb/+Aq5cAS5fBqKjFdtWVhZw8iQ3AdwzUb6+XDlx0eTlpbG7S4Toiw0bNuDs2bPIzc2VWiYQCLBp0yaMHDkSnTp10kDriD6h5IgQQkj1JqqIV68e8Mkn3LyMDK4r3uXL3HTtGlcevDyMAffvc9OWLdw8GxuujHibNtzPgADA1rbKDocQfeTk5IT//e9/GD9+vMzlBgYGGDNmDB48eABTU1M1t47oE3rmiJByaONIz0Q3USzpsKIi4M4d7s6SaEpKqvj2GjYsSZbatAGaNAEMlft7JcUTUSVdiCfGGLp27YpLly5BIBBILefz+Zg3bx6WLVumgdYREW2MJSrIQNXqCCGEVLXkZK64gyhZunWLS6IqwswMaNGCu6vUujU3ublxd7UIIWJPnjyBr68vCgoKZC7n8/m4ceMGmjVrpt6GEa1GydF/b0BGRgZsbGw03Ryi4wQCARITE+Hh4SF3rAVCFEGxpOfy87my4Vevcl3yrl7lxmCqKAeHkmQpIIB7RqrU7zSKJ6JKuhRPq1evxpw5c2QuMzAwgK+vL27cuAFDJe/GEtXQxlhSJjmiqCFEAbIeACWkIiiW9JipaUmJb5GkJC5J+ucfLmG6cQOQ8xdvKampwLFj3CTi5cUlSgEBQIsWyDMwADw8VHoYpPrSlevTzJkzsXv3bty7d0+qe51AIMC9e/ewZs0azJs3T0MtJLoSS7JQckQIIYRUFVdXbho+nPt/YSFw9y6XKImmJ08U315cHDft3g0DAE0MDcFr2pS7q9SqFTf5+Cj9/BIhusTQ0BA7duyAv7+/zOWMMSxcuBCDBw9GgwYN1Nw6ouvo6kkIIYSoi7FxSRnx6dO5ea9ecdXw/vmn5GdmpkKb4xcXc3ejbtwANm3iZpqbA82bc4mSKGmqX5/KiRO94ufnh/nz52PZsmUyx9MRCAQYN24cLly4AB49u0eUoNfPHFG1OqIKQqEQmZmZsLGx0ZqqK0Q3USwRhTAGPH7MJUn//MMNWHvrFnfXqaIsLbmCD6LErGVLoG5dKvhAxHTx+pSfn4/GjRsjMTFRZvU6ANi8eTMmTJig5pZVb9oYS1SQgarVEUII0Sei7njXrnHJ0rVrQEwMl0hVlI0NlzCJkqYWLbjnlyhhIjrk0qVL6Nixo9zlNWvWRGxsLOrUqaPGVhFtQ8kRVasjKiQQCPDo0SM0aNBAa6quEN1EsURUSZCZiefHjsHl5Uvwb9zgkqbExMpt1Na2JGFq0QLw96c7TNWELl+fpk6dik2bNkEoFEotMzAwQN++fXHkyBHqXqcm2hhLVK2OEBXLz8/XdBOInqBYIipjaYkMPz84f/QRIPoCkp4OXL/OJUqinykpim8zIwM4fZqbRKytuSRJlCz5+9MzTHpKV69Py5cvx+HDh5GWliaVIAkEAhw9ehQHDx7E0KFDNdTC6kdXYwmg5IgQQgjRH7VrA0FB3CTy4kVJsiSaXr1SfJtZWcC5c9wkYmEBNGvGJUrNm3M/GzWiKnlEIywtLbF161b069dP5nIej4fJkyejW7dusLW1VXPriK6hqxghhBCiz+rUAQYO5CaAe07p2TOuwt316yXV7l6/VnybubnAX39xk4ipKdCkCZcsiSY/P8DMTLXHQ4gMffv2xYcffojffvtNqjgDYwxZWVmYPXs2IiIiNNNAojP0+pmjrKwsWFlZabo5RMcxxpCbmwsLCwvqr0wqhWKJqJJK44kx4OnTkkSpIgmTLHw+4O0tmTA1a8Y920S0ij5cn9LT0+Hl5YXs7GyZ5b0BIDIyEj169FBzy6oXbYwlKshA1eoIIYSQymEMSEoCbt7kEiXRz9TUym/bzY1LkkTJUrNmgLs7FX4glfbLL79g1KhRMpfx+XzUqVMHDx8+RI0aNdTcMqJJlBxRtTqiQgKBANHR0fDx8dGaqitEN1EsEVXSSDwxxj3DdOsWN928yU3PnlV+29bWQNOmXKIk+unjA5iYVH7bpFz6cn1ijKF37944d+4ciouLpZbz+XzMmDED//vf/zTQuupBG2OJqtURomLyBpcjRFkUS0SV1B5PPB7g7MxNpR9+f/26JFkSJU5xccqNw5SVBVy4wE0ihoZcoYemTSUne3uVHRIpoQ/XJx6Phy1btsDb21tmciQUCrFu3TqMGDECAQEBGmhh9aDLsUTJESGEEEIqp1YtIDCQm0Ty8riBa2/fLkmY7t3jBrRVVHEx95p794Ddu0vmOzpyxR5KJ0wNGwJGRio7JKK73NzcsHLlSnz66acyl/P5fISEhODOnTswNjZWc+uItqPkiBBCCCGqV7Mm0K4dN4kUFQEPH3IJk2i6dQvIzFRu2ykp3BQZWTLP2LjkLpOfX8nk4KCCgyG6ZurUqdi9ezeuX78udRdDIBAgNjYWK1aswMKFCzXUQqKt9PqZI6pWR1SBMYb8/HyYmppqTdUVopsologq6U08MQYkJ3NJ0p07XMJ05w7w5Ilqtm9vz5UY9/Mr+enjQyXG36M38VRKTEwM/Pz8ZHavAwBDQ0PcvXsXjRo1UnPL9Js2xhIVZKDkiKgQYwxCoRB8Pl9rPuREN1EsEVXS+3jKyeG604nuMN29y/3/3bvKb5vPBxo04JKl0pOnJ7esGtLXeFqyZAnCwsJklvY2NDSEv78/rly5ojWFA/SBNsYSJUdUrY6okEAgwL1799CkSRO6eJJKoVgiqlQt40kgAB4/5hKlO3e46e5d1VTLAwBzc8DXtyRZatyY+1kNuubpazwVFhaiWbNmiIuLk1sk4Pvvv5f5fFJ2djZMTU1hQhUTlaKNsUTV6gghhBCifwwMuMILDRsCw4aVzM/M5O4q3b1bMt27B7x9q9z2374F/v2Xm0qrXZtLlN6faCxFrWdsbIwdO3agdevWcteZN28eBgwYAHd3dwBAcXEx1q5di6+++gqhoaEIDw9XU2uJNqDkiBBCCCG6zcYG6NSJm0QEAiA+viRREv188kS5EuMAkJ4OnD/PTaW5uXF3mkTJkq8vVxTC3Lzyx0RUplWrVpg1axbWrVsHoVAotby4uBgTJkzAqVOncPfuXXElOwCIjo5Wd3OJhlFyRAghhBD9Y2DAPVfUoAEwZEjJ/DdvgAcPJO8w3bvHjdWkrGfPuOnEiZJ5PB737JIoWRJNDRsCpqaVPy5SIUuWLMGBAwfw/PlzqQSpuLgYp0+fxuDBg/HHH39ILEtMTFRjK4k20OtnjqggA1EFbXywkOgmiiWiShRPKsQYkJpakiiJpuho1RSAALhCD/XrSyZMPj5c0qQFz7RUh3g6c+YMevToIXOZ6Jjf/1rs6OiIly9fVnnb9Ik2xhIVZKDkiKiQNpakJLqJYomoEsWTGggEQEICcP9+yXTvHhAbyy1TBVHS5ONTkjBp4E5TdYmnMWPGYNeuXXKLM7yPz+ejsLBQawoL6AJtjCVKjqhaHVEhbay6QnQTxRJRJYonDSoo4BKkBw+46f597mdFnmeSh8/nuuf5+HDPMfn4cJO3NzfAropVl3jKzMxEgwYNkJGRIbO8tyzPnz9HnTp1qrhl+kMbY4mq1RFCCCGEVBUTE24wWT8/yflv3wIxMSXJkmh6+lT5fQiFXNnyx4+Bo0cll7m5lSRNosSpUSPA1rbix1RNFBcXo1GjRrh06ZLCr0lOTqbkqBqh5IgQQgghRBXMzYEWLbiptNxcLmkqnTBFR1d8fCZRIYiTJyXn29uXJEylJ2dnrlBENcYYwy+//ILp06cjLy9PqdcmJycjICCgilpGtA0lR4QoQFtuCxPdR7FEVIniSUdYWAABAdxUmihpio4uSZgqeqcJANLSuOnCBcn5NWty3fFEyZLo3/XqAUZG4tX0NZ6ePXuGCRMmIDIyEjweT+HudAD3zFFycnIVtk4/6XIs6fUzR4r0KySEEEII0Sp5edwzTdHRkpMqn2kCAENDLkESJUyiqWFDwNpadfvRsD59+uBE6XLrSjAyMsLMmTOxatUqFbeKqBM9c/QfPcz7iAYwxpCbmwsLCwutqbpCdBPFElEliic9VrOm7O55795xSVNMTMkUHQ08egQUFSm/n+JibnuxsdLLHBwkkyXRT3d3bgwpHbJ27VoUFBTg3Llz4PP5MgeClUcgEOD58+dV2Dr9o+vXJr1OjpQJfkLkEQqFiI+P16qqK0Q3USwRVaJ4qobMzIBmzbiptKIiID6eS5QePixJnB4+5O5CVURqKje930XPxIQbWLdhQ8mkqWFDQEuHT/Hy8sKZM2dw5MgRfPrpp3j58qXC3xGFQiENBKskXb826XVyRAghhBCi94yMShKU0hgDkpMlkyXRlJJSsX0VFJSM+fQ+B4eSdjRsCHh5cT89PbkufBrE4/EwePBg9OrVCytWrMCyZcvAGENxcXG5r01KSlJDC4m2oOSIEEIIIUQf8XiAqys39ewpuSwzk+tO91+yxKKjUXDvHkySksCr6AC3ortNFy9Kzhc92+TlVZIwiX46OKi1kp65uTkWL16MkJAQzJo1C8eOHSu3q11qaiqEQiH4fL7a2kk0h5IjQhRgqsZRyol+o1giqkTxRCrMxgZo04abAAgFAiQ+eoQG7u4wePqUS5pEyVNMDPfvrKyK7ausZ5ssLEqSptJTgwZV2k3P09MTR48excmTJzFt2jQkJCTIfVa9qKgIr169gr29fZW1R9/o8rWJqtURQgghhJCyMQakp5ckTaLEKTaWe96pKp7zdnDgkqQGDUoSJi8voH597vkrFSksLMTatWsRFhaGoqIiCGTcObtx4wb8/f1Vtk+iXsrkBnqdHGVmZsJaj0pREs0QCoXIzMyEjY0N3VInlUKxRFSJ4omoUqXiqbCQKzMuSppKT69fV02DXVxKEqbSk6cnVzSiAp4/f445c+Zg7969MDAwkEiSfv/9dwwYMEBVrddr2nhtolLe/9HDvI9oAGMMSUlJlGiTSqNYIqpE8URUqVLxZGxcMsDs+16/BuLiSqbYWO7no0dAfn7FG5yczE3nzknO5/MBN7eSO0yipKl+faBuXa6tcjg7O2PPnj2YMmUKpkyZgujoaPGyZ8+eISoqCi9fvoSTkxM6duyok5XY1EHXr016nRwRQgghhBANqlULaNuWm0oTCoGkJC5JKp08xcUBCQkV76YnFAKJidwUGSm5jM8HPDxKkqb69UumunXFd5w6deqEO3fuYNOmTfjiiy+Qm5uLBQsWIDc3V7wpFxcXrFu3Dh988EHF2km0FiVHhBBCCCFEvfh8bkBZd3cgMFByWWEh9xyT6A5T6Z+VGZBVKOS2Gx8vO3FycxMnS4b162NavXpwmDcPIxYulEiMAK4L3tChQ3HgwAFKkPQMJUeEKMDCwkLTTSB6gmKJqBLFE1ElrYknY2NucFlvb+llb94Ajx+XJEylp7S0iu+z9B2nM2fEs4f+NyUDeAzgiegnY3gCYOGMGRg4cCB1sXuP1sRSBeh1QQaqVkcIIYQQUk1kZ3OJU+mESfT/V6+qbLeFVlYw9vbm7jrVqyc5qXkcJyIbVaujanVEhYRCIdLS0mBvb681VVeIbqJYIqpE8URUSe/jKStLMnF68oT7/+PHlbvjVJ4aNbgKeqUTJtH/3d0BI6Oq27eGaGMsUbW6/+hh3kc0gDGGlJQU1K5dW9NNITqOYomoEsUTUSW9jydra6BlS256X3Z2SbJUKnEqiI6GSWVLkb95A9y7x03vEz3n9H7S5OnJTTr6B35djyW9To4IIYQQQggpk5UV4O/PTaUYCgTwcnOD2YsX8ARQ/7+p3n8/XQFU6kmj0s85nT0rvdzWtiRRen9ydQUM6Wt8VaB3lRBCCCGEkPcYGBhg+fr1GDp0KO5BskcSj8eDMWM4+v336FmvXsmdpydPuCkhASgoqFwDMjK46fp1WY3juuV5enJlyN//WasWPetUQXqdHPEoKIgK8Hg82NraUjyRSqNYIqpE8URUieJJtg8++AAHDhzAzJkzkZycLJ7v4uKCtWvXoqe8Mt5CIVd2XJQslZ7i44HMzMo1TCAoKUsui4WFZLIkmjw9ubGezM0rt/8y6Hos6XVBBqpWRwghhBBCKksgEOCvv/7Cy5cv4eTkhI4dO1aufHdmZkmiVDppio/nBset6CC4inJwkEyaSk+urnpXKEJvqtX9+OOPWLVqFVJSUtC0aVOsX78eAQEB5b6OqtURVRIKhUhOToaLi4vWVF0huoliiagSxRNRJYonLVJYCDx7Jpk8JSSU/Pu9AWlVzsAAcHEpSZY8PCR/Ojlx68ihjbGkF9Xq9u3bh9mzZ+Onn35C69atsXbtWvTq1QuxsbGwt7dXaBtanPcRHcIYQ0ZGBpydnTXdFKLjKJaIKlE8EVWieNIixsbcmEn160svY4x7Dik+XjJhSkjgpqdPuS53lSEQcNt5+hSIipJebmTEPe9UOmkqNbHatXU6lrQ2OVqzZg0mTJiAMWPGAAB++ukn/Pnnn9i2bRtCQ0M13DpCCCGEEELUjMfjii3UqgW0aiW9vLiY65YnSpxESZRoUsWYTkVFJWNEycA3MYG3oyP4Xl7AuHFAcHDl96lGWpkcFRYW4saNG/jiiy/E8/h8PgIDA3H16lWp9QsKClBQqiJIdnY2ACArK0s8j8fjgc/nQygUSlUb4fP5ELyXZcubz+fzwePxZM4HuFuJisw3MDAAY0zm/PfbKG8+HZN6jqm4uBi5ubnIzMwU9y/W9WPSx/OkC8ckEAikYknXj0lW2+mY1HNMhYWFEvGkD8ekj+dJV46p9O86Q0NDvTgmfTxPCh2TjQ34tWpB0Ly59DG9fQvBf3eYeE+fAomJ4CUlie8U8fLyUGkFBcDTpyh8+hTCLl3Az8nR+HnKyckBoFivMq1Mjl69egWBQAAHBweJ+Q4ODnj48KHU+suWLcPixYul5nt6elZZGwkhhBBCCCFl+PJLbtISubm5sLKyKnMdrUyOlPXFF19g9uzZ4v9nZWXB3d0dz549K/cNIKQ8OTk5cHV1RVJSElU/JJVCsURUieKJqBLFE1EVbYwlxhhyc3NRp06dctfVyuTIzs4OBgYGSE1NlZifmpoKR0dHqfVNTExgYmIiNd/KykprTgrRfZaWlhRPRCUologqUTwRVaJ4IqqibbGk6A0T7aiv9x5jY2O0aNECZ8+eFc8TCoU4e/Ys2rZtq8GWEUIIIYQQQvSVVt45AoDZs2cjJCQELVu2REBAANauXYs3b96Iq9cRQgghhBBCiCppbXIUHByM9PR0LFq0CCkpKWjWrBlOnjwpVaRBFhMTE4SFhcnsakeIsiieiKpQLBFVongiqkTxRFRF12OJx2ikVEIIIYQQQgjRzmeOCCGEEEIIIUTdKDkihBBCCCGEEFByRAghhBBCCCEAKDkihBBCCCGEEACUHBFCCCGEEEIIAB1Ojn788Ud4eHjA1NQUrVu3xrVr18pc/7fffoO3tzdMTU3RpEkTHD9+XE0tJbpAmXjasmULOnbsCBsbG9jY2CAwMLDc+CPVh7LXJpG9e/eCx+Nh0KBBVdtAolOUjaesrCxMmzYNTk5OMDExgZeXF/2+I2LKxtPatWvRsGFDmJmZwdXVFZ999hny8/PV1FqirS5evIj+/fujTp064PF4OHLkSLmviYqKgr+/P0xMTFC/fn1ERERUeTsrSieTo3379mH27NkICwvDzZs30bRpU/Tq1QtpaWky179y5QpGjBiBcePG4datWxg0aBAGDRqE+/fvq7nlRBspG09RUVEYMWIEzp8/j6tXr8LV1RU9e/bE8+fP1dxyom2UjSWRxMREzJkzBx07dlRTS4kuUDaeCgsL0aNHDyQmJuLAgQOIjY3Fli1b4OzsrOaWE22kbDz9+uuvCA0NRVhYGGJiYvDzzz9j3759WLBggZpbTrTNmzdv0LRpU/z4448KrZ+QkIC+ffuia9euuH37NmbNmoXx48fj1KlTVdzSCmI6KCAggE2bNk38f4FAwOrUqcOWLVsmc/3hw4ezvn37Ssxr3bo1mzRpUpW2k+gGZePpfcXFxczCwoLt2LGjqppIdERFYqm4uJi1a9eObd26lYWEhLCBAweqoaVEFygbTxs3bmSenp6ssLBQXU0kOkTZeJo2bRrr1q2bxLzZs2ez9u3bV2k7iW4BwA4fPlzmOvPmzWO+vr4S84KDg1mvXr2qsGUVp3N3jgoLC3Hjxg0EBgaK5/H5fAQGBuLq1asyX3P16lWJ9QGgV69ectcn1UdF4ul9b9++RVFREWxtbauqmUQHVDSWvv76a9jb22PcuHHqaCbRERWJp6NHj6Jt27aYNm0aHBwc0LhxY3z77bcQCATqajbRUhWJp3bt2uHGjRvirnfx8fE4fvw4+vTpo5Y2E/2ha9/DDTXdAGW9evUKAoEADg4OEvMdHBzw8OFDma9JSUmRuX5KSkqVtZPohorE0/vmz5+POnXqSH3wSfVSkVi6dOkSfv75Z9y+fVsNLSS6pCLxFB8fj3PnzuGjjz7C8ePH8fjxY0ydOhVFRUUICwtTR7OJlqpIPI0cORKvXr1Chw4dwBhDcXExJk+eTN3qiNLkfQ/PycnBu3fvYGZmpqGWyaZzd44I0SbLly/H3r17cfjwYZiammq6OUSH5ObmYvTo0diyZQvs7Ow03RyiB4RCIezt7bF582a0aNECwcHB+PLLL/HTTz9pumlEB0VFReHbb7/Fhg0bcPPmTRw6dAh//vknlixZoummEVKldO7OkZ2dHQwMDJCamioxPzU1FY6OjjJf4+joqNT6pPqoSDyJfPfdd1i+fDnOnDkDPz+/qmwm0QHKxtKTJ0+QmJiI/v37i+cJhUIAgKGhIWJjY1GvXr2qbTTRWhW5Njk5OcHIyAgGBgbieY0aNUJKSgoKCwthbGxcpW0m2qsi8bRw4UKMHj0a48ePBwA0adIEb968wcSJE/Hll1+Cz6e/rxPFyPsebmlpqXV3jQAdvHNkbGyMFi1a4OzZs+J5QqEQZ8+eRdu2bWW+pm3bthLrA8Dp06flrk+qj4rEEwCsXLkSS5YswcmTJ9GyZUt1NJVoOWVjydvbG/fu3cPt27fF04ABA8TVfFxdXdXZfKJlKnJtat++PR4/fixOsgEgLi4OTk5OlBhVcxWJp7dv30olQKLEmzFWdY0lekfnvodruiJERezdu5eZmJiwiIgIFh0dzSZOnMisra1ZSkoKY4yx0aNHs9DQUPH6ly9fZoaGhuy7775jMTExLCwsjBkZGbF79+5p6hCIFlE2npYvX86MjY3ZgQMH2MuXL8VTbm6upg6BaAllY+l9VK2OlKZsPD179oxZWFiw6dOns9jYWPbHH38we3t7tnTpUk0dAtEiysZTWFgYs7CwYHv27GHx8fEsMjKS1atXjw0fPlxTh0C0RG5uLrt16xa7desWA8DWrFnDbt26xZ4+fcoYYyw0NJSNHj1avH58fDwzNzdnc+fOZTExMezHH39kBgYG7OTJk5o6hDLpZHLEGGPr169nbm5uzNjYmAUEBLC///5bvKxz584sJCREYv39+/czLy8vZmxszHx9fdmff/6p5hYTbaZMPLm7uzMAUlNYWJj6G060jrLXptIoOSLvUzaerly5wlq3bs1MTEyYp6cn++abb1hxcbGaW020lTLxVFRUxMLDw1m9evWYqakpc3V1ZVOnTmWZmZnqbzjRKufPn5f5PUgUPyEhIaxz585Sr2nWrBkzNjZmnp6ebPv27Wpvt6J4jNG9UUIIIYQQQgjRuWeOCCGEEEIIIaQqUHJECCGEEEIIIaDkiBBCCCGEEEIAUHJECCGEEEIIIQAoOSKEEEIIIYQQAJQcEUIIIYQQQggASo4IIYQQQgghBAAlR4QQQgjRIvfv30d4eDj+/fdfTTeFEFIN0SCwhBBCCNEKOTk5aNGiBdzd3XHixAkYGRlpukmEkGqG7hwRQqTExMTA3NwcM2fO1HRTCCHVyPjx42FmZoZDhw5RYkQI0QhKjgiphMePH8PKygqBgYEoKirSdHNUoqCgACNGjECnTp2wZs0aTTdHJqFQiHbt2oHH4+HEiRNVtp+zZ88iPDwcDx8+rLJ9kPLp4+dMHSZNmgQTExOcP39e001R2P79+3H37l1YWlpquilaJyUlBbVq1YK1tTWeP3+u6eYQorcoOSKkgvLz8zFs2DDUrVtXp//K+fLlS9SuXRt8Ph/h4eG4cuUK2rVrh3379sHAwEDTzZNp7dq1iIuLw5gxYzBx4kRkZ2cr9fouXbqAx+OVu15AQACOHDmCDz74AHl5eRVtrtL7rYzExETweDx88sknVbofde1bWz9n6jiXsij6Hv/yyy/YsmULIiIi0LVrV/U0jmDt2rUwNjZGYmKiyrc9ZcoUNGjQAH5+fpg4caLKt68uPB4PXbp0qdQ2zpw5Ax6Ph+PHj6umUYSUQskRqZbWr18PHo+Hjz/+WObyzMxMODs7w9zcHHFxcTLXmTFjBjIyMnD8+HGd/SsnYwwff/wxWrRogT/++APLly+HsbExNmzYACsrK4l1NfVl8H2PHz/GwoULsWPHDmzevBlubm6YPXt2lezLwsICx48fx5s3b3T6y0hVioqKAo/HA4/HQ926dQEAO3bsAI/HU8kXRH34nKlbTEwMJk2ahOXLl2PEiBFVvj8PDw9xDPB4PJiYmKB27doICAjAtGnTcOnSJZmvEyV6ZX1RlrfOJ598It7f1atXZb62d+/eZcbh7du3MXnyZPj4+MDS0hLGxsZwdHREjx49sHr1aqSnpyty+GKZmZlYsmQJxo4dCw8PD4llpd8fHo8HMzMzODg4oEOHDpgzZw7u3LlT5rZ//fVXXLhwAfv27cOePXtw7do17Ny5U6n2qSIpUYQ6flcEBgaiQ4cOmDdvHgQCQZXui1Q/lByRamn69Ono0qULdu3ahd9//11q+bRp0/DixQssX74cXl5eUsvT09Ph7OyMU6dOoU6dOupocpU4fvw4jIyMsG/fPvTp0wc//PAD1q9fr9W/bGJiYvDTTz+hb9++MDQ0xL59++Dm5qb03SNF1alTBydOnMDJkyexYcOGKtmHNvnxxx9x9+5dhdf38PBAWFgYwsLCxM+oNW3aFGFhYbC2tq5UW/Tlc6Zud+/exZo1azBv3jzxvDdv3iA8PFwld0DlEcXBvHnzEBwcDFNTU2zatAkdO3bEgAEDkJmZWSX7nT9/vlLrC4VCzJkzB82bN8fWrVvh6OiIsWPHYu7cuejfvz9evnyJOXPmoG7dukp1X/vf//6HjIwMzJ07V+ZyKysr8Xs0e/ZsDB48GIWFhVi9ejWaNWuGcePGoaCgQOZrMzIycPjwYbi7u8PZ2RmHDx9GVlaWUsetCg8ePMD3339fqW3ExMQondjJMm/ePDx48AB79+6t9LYIkcAIqaYSEhJYzZo1mb29PUtPTxfP/+233xgA1rVrVyYUCjXYQu3SuXNnpi+XDE0dizr2m5CQwACwkJCQCr1+6NChbPny5RrZty7RVAxV5j22s7Njf//9t8rb5O7uLve9SExMZN27d2cAWOfOnZlAIBAvEx1L586d5W5b3johISEMAKtXrx4DwI4ePSr12l69ejEALCEhQWJ+aGgoA8D8/f3Zo0ePZO73xo0bLDAwUO7y9xUVFTEnJyfWvn17mcsBMHd3d5nL7t27x5o1a8YAsFGjRim0v4oo771WxP3795mpqWmZ66jrs1FYWMjs7OxYhw4dqnxfpHqhO0ek2vLw8MDq1auRlpaGKVOmAABSU1MxZcoUWFhYYPv27VJdA86fP4+xY8eiYcOGqFmzJmrWrImWLVti8+bNcvcTHx+PiRMnom7dujAxMYG9vT26dOmCiIgIhdp58+ZNDB06FG5ubuLuKq1atcI333wjsV5ZXSY8PDykunnExcVh3rx58Pf3R61atWBqagovLy+EhoZK/XWZx+PhwoUL4n+LJkWeLRHtOzs7G1OmTIGTkxNq1KiBTp064ebNmwCAFy9eYNSoUbC3t4eZmRl69uyJR48eydze5cuX0bdvX9ja2sLU1BTe3t4ICwvD27dvy23L+4qKihAeHg4PDw+YmJjAy8tL5t2hiIgI8Hg8qXMmes9TU1MREhICOzs7mJmZoU2bNoiKiqr0fssiEAiwYsUK1K9fH6ampqhfvz6WLVsGoVAoc/2y4kN0Pp8+fYrHjx/D1NRUpfsGuLFrhg8fDnt7e5iYmKBu3bqYNWsWXr9+LbWusp+zip4HWRhj2L59Ozp27Ahra2uYm5ujQYMGmDRpEp49eya1vjLn8s2bNwgLC4O3tzdMTU1ha2uLvn374vLly0q1UZ6nT59i3LhxcHZ2hrGxMVxcXFCrVi3s2LED9+/fR25urvjcij6XWVlZmDRpEhwdHWFqaormzZtjz549KmkPALi7u+PYsWNo1KgRLly4gAMHDqhs2wB3t8rQ0BALFiwoM/5E4uLisGrVKtSuXRsnT55E/fr1Za7n7++P06dPS1035Tl58iRevnyJYcOGKdN8AEDjxo0RGRmJ2rVrY/fu3bh27ZrUOtu3b0fr1q3Fn4fWrVsr/DtE1PUVAC5cuCBxDRdtIzw8HDweT+bnRXT9mzp1Kq5fv17m9UGR3xVldZNMSEjA999/D29vb5iYmMDd3R2LFy+WeW6NjIwwaNAgXLp0CY8fP1bovSBEEYaabgAhmjRx4kQcOnQIBw4cwJ49e7B37168evUKP//8M9zd3aXWX7FiBeLj4xEQEIDBgwcjOzsbp06dwqRJkxAbG4vVq1dLrH/p0iX07dsXubm56NWrFz788ENkZmbi1q1bWLduXbnJxe3bt9GuXTsYGBhg4MCBcHd3R1ZWFqKjo7F582Z8+eWXFT72Q4cO4eeff0bXrl3RpUsXCIVC/P3331ixYgUuXLiAixcvih9+DwsLQ0REBJ4+fYqwsDDxNpo1a6bQvgoLC9GjRw/k5+cjODgYqamp2L9/PwIDA3HlyhX06tULTk5OGDVqFB4/foxjx46hb9++iImJkSgK8dtvv2HEiBEwMTFBcHAw7O3tERkZia+//hqnTp1CVFRUuV/sSxsxYgSuXbuGoKAgGBgYYP/+/Zg2bRqMjIwwYcIEhbaRlZWFDh06wMrKCqNHj0ZaWhr27duHXr164caNG2jcuHGV7HfixInYtm0b6tati2nTpiE/Px9r1qzBlStXFD5+ESMjIxQVFcHDwwPm5ubo1auXSvd96dIl9OrVC4WFhRg6dCg8PDxw9epVrFu3Dn/88Qf+/vtv2NnZiddX9nMGVOw8vE8oFCI4OBgHDhyAs7MzRowYAUtLSyQmJmL//v0ICgqCm5ubxGsUPZf5+fno1q0brl27Bn9/f8yaNQupqanYt28fTp06hT179lToi7VIXFwcOnTogPT0dPTv3x++vr548OABjh07Jr7OeHl5wdfXV/yawsJCBAYGIi8vD6NHj8abN2+wf/9+jBw5Eq9evcKnn35a4faUZmZmhjlz5mDcuHHYt28fhg8frpLtAkCDBg0wYcIEbNy4ETt27MCYMWPKXH/Hjh0QCASYNGkSateuXe72DQ0V+5p09uxZAECbNm0UWv99tWvXxuTJk7FkyRLs27cPAQEB4mUzZszA+vXr4ezsjHHjxgEADh48iDFjxoh/l5RF1PV18eLFcHd3l/i9o+g1HAA2btyIjRs3YuzYsXLXqezvirlz5+LChQvo168fevXqhSNHjiA8PByFhYVSfxAEgLZt22Lr1q04d+6c3ESXEKVp+tYVIZqWnJzMrK2tmYmJCQPA+vXrJ3fdpKQkqXnFxcWsb9++zMDAgD19+lQ8Pz8/nzk7OzM+n89OnDih0LbeN3v2bAaAHTlyRGrZq1evJP6PMrpMuLu7S3XpSE5OZgUFBVLrLl68mAFgu3fvlphf0a4Soi43w4YNY0VFReL5K1asYACYtbU1++yzzyS6ME6ZMoUBYAcPHhTPy87OZlZWVszExITduXNHPF8gELDg4GAGgH399dcKtUl0LK1bt2bZ2dni+Q8fPmSGhoasYcOGEutv376dAWDbt2+XmA+AAWBTp06V6C60detWBoBNmjSpUvuV5/z58wwAa9q0KcvLyxPPT05OZnZ2djK7XZUXH66uruzGjRvs5cuXKt23QCAQd306efKkxLbmzp3LALCxY8dKzFfmcyY6NmXOgzzr169nAFj37t3Z27dvJZa9ffuWvX79Wvx/Zc+l6HP10UcfScT6zZs3mbGxMbO2tmY5OTnltlFet7quXbsyAGzTpk0S8zdt2sQAMEtLS5abmyueL/pcdurUSeI6kJSUxOzs7JiJiQlLTk4utz2lt1WWJ0+eMADM1dVV6lgq063u6tWrLCUlhdWsWZO5uLiwd+/eideR1a1O9D6dPXtWoWNTVKtWrRifz2f5+fkyl6OMbnUiZ8+eZQBYx44dxfMuXLjAALBGjRqxrKws8fyMjAzm5eXFALCLFy8q1May3uuwsDAGgJ0/f15qmej6t2LFCnbjxg1WXFxc5n7K+11R1vmsW7cue/HihXh+eno6s7a2ZhYWFjJ/X925c4cBYB9//HGZbSJEGdStjlR7zs7OmD59OgoKCmBkZFRmFzkXFxfxv/Py8pCamor09HQMGTIEAoFAYjyR33//Hc+fP8eoUaPQu3fvMrdVHjMzM6l5tWrVUvj1soi63rxv+vTpALhSqar03XffSfwVVlRFq7i4GEuXLpXowihaVrqC0++//47s7GyMHTsWfn5+4vl8Ph8rV66EoaGhwt1MRJYtWyZRAa1hw4Zo3749YmNjkZubq9A2atSogRUrVoDPL7mchoSEwNDQEP/++2+V7Ff0MPOiRYtQo0YN8XxnZ+cKD9zL5/Ph7+8PR0dHle778uXLePLkCYKCgqTuSC1atAi2trb49ddfUVhYKJ6vzOdMpCLn4X0bNmyAgYEBNm7cKPWZMzMzg62trdRrFD2XO3bsgJGREZYvXy4R682bN0dISAiysrJw5MgRhdr5vmfPnuH8+fPw8fGRuvM4YcIENGrUCDk5OTILInz77bcS1wEXFxfMnDkTBQUF5T7oLqpS9/TpUwCS3ajerxAnKqjx6tWrihximRwcHDB79mwkJyeXWywgJSVFoj2lRUVFITw8XGJStFtmcnIyrK2tYWJiIjFf9H4AXLfH0u/R+2S9Rzt27ADAdXsrXUHUxsZGfGdG2eteRdnb28Pf379Kh3hYuHAhnJycxP+3s7PDwIEDkZubi9jYWKn1HRwcAHDvPyGqQt3qSLWXlpaGTZs2AeCeH/jjjz/kdm1KT0/HokWLcPjwYaSmpkotf/Hihfjfon7jPXv2rHDbhg8fjrVr12Lw4MEIDg5Gjx490KlTJzg7O1d4myLsv2crIiIicP/+fWRnZ0v06y59LJVlY2Mj1R1J9AuwQYMGMDc3l7msdBtu3boFADKfm3Fzc4Onpyfi4uKQm5sLCwsLhdrVokULqXmiL+ZZWVkKbcfLyws1a9aUmGdoaAgHBwe51aQqu19R0tixY0epZbLmqZKy+y7rvImeJYqMjERsbCyaNGkCQLnPmUhFzkNpeXl5iImJQf369dGgQYNy1xdR5Fzm5OQgPj4ejRo1kvlHka5du2LLli24ffs2Ro8erfC+RW7fvg0A6Ny5s9SXbh6Ph06dOiEmJga3b9+Gq6ureJmhoSHatm0rtT3ReRSdO3lmzZqFrKwsrF27FtnZ2RLdqCpbqVBZc+bMwcaNG7F8+XJMmDABNjY2Sm8jKioKixcvlpqvSPnr169fyzy3ovdk8eLFsLKywqxZs5RqU1mfH9H4VaLzrw/K+zy9T/QHi6pIukn1RckRqfYmT56M9PR0LF++HN999x0+//xz9OrVS+rL/Lt379CpUyfx4KMdOnSAnZ0dDA0NcefOHYSGhkqUYRWVlq5MItO6dWtERUXh22+/xa+//ort27cDAFq1aoUVK1ZUanDHGTNm4IcffoCrqysGDBgAJycn8V89Fy9eLLekbEXIGp9GdBeprGVFRUXieTk5OQBK/lL4PicnJ8TFxSEnJ0fh5KisfStazlze2DuGhoZyt1HZ/WZnZ4PP50s8pyMi7/1RFWX3rch5K72esp8zkYqch/ePC1D+86rIuVT2PVBWedsX3Q18f/t2dnYSd9pERNsprzy+6It+REQEsrOzER4eLnddUUJb+jkf0b7LKqQgWiarnaVZWFhg4cKFmDFjBpYtW4aVK1fKXM/BwQExMTF48eIFvL29JZaJ7hYBwN69e5UaI8rMzAz5+flS80XbW7x4MaytrZV+j3JycsDn82U+H+Xg4AAej1fhuNFGyl4b3717BwBSf2AjpDIoOSLV2q5du3D48GH069cP8+fPh4eHBz788EOMGzcOp0+fllj3yJEjePjwIb766issWbJEYllaWprUtkV/OVVmnAxZOnbsiBMnTuDdu3f4559/cOzYMWzYsAF9+/bF/fv34enpCYD7C3FxcbHMbWRnZ0t0yUhLS8OPP/4IPz8/XL16VeIXS0pKisy/nmqa6JemrDsJQEl3meowUKiVlRWEQiFevXol9aVJ3vujTHyoct/KnjdlP2eqIjr+yn5eZanq2C1v+6L572//1atXEAqFUomHaH1FY0IRou5prVq1Es8TbV9WxcLSbVS0LZMnT8a6deuwfv16ucUk2rVrh6ioKJw/fx7dunVTtPnlql27dqW7dsl6jywtLSEUCpGeng57e3uJ9dPS0sAYU8k1TxQDsq4RVTWGnCpkZGQAgELFNQhRFD1zRKqt58+fY8aMGbC1tRU/ZxQcHIyhQ4fizJkz4q52IqJ+9bKqEcl6BkJUbSgyMlIl7TUzM0OXLl2wevVqLFiwAO/evZNI4GxsbGR+sUtMTJTqjhAfHw/GGAIDA6X+4vbXX3/J3L+on7mmBoht3rw5AMh8BiApKQlPnjyBp6enwneNdFnTpk0ByD5X8s6fMvGhyn2Xdd7evHmD69evw8zMDA0bNgSg/OdMVWrWrAkfHx8kJCTILSNfUZaWlvD09MTjx49lngPRe6NM5bDSRK+7ePEiGGMSyxhjuHjxosztFxcX4+rVq1LbE51H0bmrrHfv3okrDAYHB4vnW1lZwdXVFXFxcXITJFH7Sj9nKI+RkRGWLl2K/Px8LFq0SOY6ISEh4PP52Lx5s0q7YjVp0gT5+fkyy70rIj09Xfw7p/R7VNbnR9m44fP5cq/fom6IsuKzvO6V71Pn7wrRc0iiLrmEqAIlR6TaGjduHLKysvDDDz9IPAC6YcMG1K5dG3PnzhV/UQOAunXrAoDUHaWLFy9i165dUtsfMGAAXFxcsHv3bpw6dUpquSJ/ob569arMrhqiv+yWLlvdqlUrJCYmiseYALhSvbNnz5Z6vahM+ZUrVyS6tCQnJ+OLL76Q2RZR3+6kpKRy210VBg4cCCsrK2zfvh0PHjwQz2eMYf78+SguLlZo3CV9IHou5euvv8abN2/E858/fy63rK8y8aHKfbdv3x716tXDiRMnpIp8LF26FK9fv8aIESPERQGU/Zyp0rRp0yAQCDB16lRxdx2R/Px88V+pKyIkJARFRUX44osvJBKYu3fvIiIiAlZWVhg0aFCFtu3m5oauXbviwYMH2LZtm8Sybdu2ITo6Gt26dZN43khkwYIFEsUwkpOTsW7dOpiYmODDDz+sUHtKe/bsGfr374/o6Gh07twZQ4cOlVgeEhKC4uJizJ07VyqxS05OxqpVq2BgYICPPvpIof0FBwejRYsW2LlzJ+Li4qSWe3l5Yd68eUhLS0NQUJDc8XGU+YMBwD3vBQD//POPUq8DgAcPHqBnz55IS0vD6NGjJe4chYSEAOC65ZXuPpednS2+wy9apzy2trZy726J9rlz506J3wlXr17FL7/8otTxqPN3hej9Fr3/hKgCdasj1dKmTZtw6tQpDB06VKpfee3atbFx40YMHToUY8eOxZkzZ8Dj8dCvXz94enpi3bp1ePjwIZo3b46EhAQcPHgQw4YNk6rsZGJigv3796N3794ICgpC79690bRpU+Tk5OD27dt4+/ZtuX+RW7FiBc6fP49OnTqhbt26MDU1xc2bN3H27Fl4enpi8ODB4nVnz56NyMhI9OnTByNGjIC5uTlOnz4Na2trieQP4J5xGDJkCA4ePIiWLVuie/fuSE1NxR9//IHu3bvjyZMnUm3p1q0bDhw4gCFDhiAoKAimpqZo2rQp+vfvr+zbXyGWlpbYsmULRowYgdatWyM4OBi1a9fGmTNncOPGDQQEBGDu3LlqaYumde3aFWPGjMH27dvRpEkTDB48GAUFBdi3bx/atGmDP/74Q+o1ysSHKvfN5/MRERGBXr16oU+fPhg2bBjc3d1x9epVREVFoV69eli+fLl4fWU/Z6o0ZcoUXLhwAfv370eDBg0wYMAAWFpa4tmzZzh16hR+/vnnCicw8+bNw59//oldu3YhJiYG3bt3F4/FVFxcjC1btlTqrufGjRvRoUMHTJgwAceOHYOPjw+io6Nx9OhR8TXtfU5OTnjz5g38/PzQv39/8ThHr1+/xvfff6/081ei52kEAgGysrJw9+5dXL58GQKBAP369cPOnTulCkYsWLAAZ86cwfbt23H16lX06NEDlpaWePr0KX7//Xfk5eVh9erV8PLyUqgNPB4Py5cvR48ePZCQkCBznW+++QaFhYVYs2YNvL290alTJzRt2hTm5uZIS0vD3bt3ce3aNdSsWVPhuzIDBw7E7Nmzcfr0abnjVWVlZYnfo+LiYrx+/Ro3b97Ev//+C8YYxo4dKzWAcKdOnfDpp59i/fr1aNy4MYYMGQLGGA4ePIjk5GTMmDEDnTp1UqiN3bp1w/79+zFo0CA0b94cBgYGGDBgAPz8/NCmTRu0b98e586dQ9u2bdGpUyfxOejfvz8OHz6s0D5E+1HX74rTp0/DxsZG4feAEIVoqoY4IZoSHx/Patasyezt7Vl6errc9UaMGMEAsB9//FE8LzExkQ0bNozZ29szc3Nz1qpVK7Z//37x2C9hYWFS23n8+DEbN24cc3FxYUZGRsze3p516dKF7dy5s9y2njx5kn388cesYcOGzMLCgtWsWZP5+PiwBQsWyGz7b7/9xpo0acKMjY2Zo6Mj+/TTT1lubq7McY5yc3PZ559/zjw8PJiJiQlr0KABW7JkCSssLJQ5DkVRURGbN28ec3NzY4aGhjLHWpFF1r5FZO2HMfljuTDG2MWLF1lQUBCztrZmxsbGzMvLiy1cuFBizJ3ylDUOh2i8jdJjo5Q1zpEyY0spu9+yFBcXs2XLljFPT09mbGzMPD092bfffsseP34s971TJj5Uve+7d++yoUOHMjs7O2ZkZMTc3d3ZzJkzZcaxsp8zZc9DWYRCIdu6dStr06YNq1GjBjM3N2cNGjRgkydPZs+ePROvV5FzmZeXxxYuXMi8vLzEYxsFBQWxv/76S+H2lfXZSExMZGPGjGFOTk7M0NCQOTk5sTFjxrDExESpdUXvS0ZGBps4cSJzcHBgJiYmrGnTpuzXX39VuD2ibeG/saYAMGNjY2ZnZ8datmzJpkyZUu7x5efns9WrV7OAgABmaWnJDA0NmaOjIxs0aBA7d+6czNeUHudIlp49e4rbI+8zdfPmTTZx4kTm7e3NatasyYyMjJiDgwPr1q0bW7VqFUtNTVXqfQgKCmI2NjYyxzoq/f4AYCYmJsze3p61a9eOzZ49m92+fbvMbW/bto21atWKmZubiz8T27ZtU6p9L1++ZMOHD2d2dnaMz+dLXdNevXrFPv74Y2Zra8vMzMxYmzZt2KlTp+Re/+Qp73eFrM9rWdc/eWMwJSQkMB6Px2bNmqXYG0CIgniMvXcfmxBCCCF6zcPDAwCkxiMiFXf27FkEBgZi9+7dCncDJBX31VdfYeXKlYiJiUG9evU03RyiR+iZI0IIqWbCw8PB4/EUHuCSEFK+7t27o3fv3li6dGmZ5ckrQ94AslWxH0XGd9KUzMxMrF+/HlOmTKHEiKgcJUeEEEIIISqwbt06BAcHV0lJeFIiISEBn332mdyqhIRUBnWrI4SQaubVq1d49eoV3NzcaPDEaoq61ekm0dAQPXv2rNL9PHz4EObm5lKDoRNSHVByRAghhBBCCCGgbnWEEEIIIYQQAoCSI0IIIYQQQggBQMkRIYQQQgghhACg5IgQQgghhBBCAFByRAghhBBCCCEAKDkihBBCCCGEEACUHBFCCCGEEEIIAEqOCCGEEEIIIQQA8H/bBVlpRswEug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p:cNvPicPr>
            <a:picLocks noChangeAspect="1"/>
          </p:cNvPicPr>
          <p:nvPr/>
        </p:nvPicPr>
        <p:blipFill>
          <a:blip r:embed="rId4"/>
          <a:stretch>
            <a:fillRect/>
          </a:stretch>
        </p:blipFill>
        <p:spPr>
          <a:xfrm>
            <a:off x="1489405" y="1078450"/>
            <a:ext cx="8827788" cy="5266324"/>
          </a:xfrm>
          <a:prstGeom prst="rect">
            <a:avLst/>
          </a:prstGeom>
        </p:spPr>
      </p:pic>
    </p:spTree>
    <p:extLst>
      <p:ext uri="{BB962C8B-B14F-4D97-AF65-F5344CB8AC3E}">
        <p14:creationId xmlns:p14="http://schemas.microsoft.com/office/powerpoint/2010/main" val="31149030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AutoShape 2" descr="data:image/png;base64,iVBORw0KGgoAAAANSUhEUgAAA0cAAAIwCAYAAABN6hBOAAAAOnRFWHRTb2Z0d2FyZQBNYXRwbG90bGliIHZlcnNpb24zLjEwLjAsIGh0dHBzOi8vbWF0cGxvdGxpYi5vcmcvlHJYcgAAAAlwSFlzAAAPYQAAD2EBqD+naQAA7d5JREFUeJzs3Xd0FNX7BvBndtNISCchlFBCCR0R6S30KijSe1FsqFjBRlGQpuhPv4gN6U0FpEmVqoDShEiTFgJICJCQhJK2e39/xF2y2U2yu7nJ7myezzk5x70zO/PO5iHmzczcUYQQAkRERERERMWcxtEFEBEREREROQM2R0RERERERGBzREREREREBIDNEREREREREQA2R0RERERERADYHBEREREREQFgc0RERERERASAzREREREREREANkdE5CR27tyJyZMnY//+/Y4uhYiIiIopRQghHF0EUXFw/PhxrF27FlWrVsWQIUMcXY5TuX79OurUqYNy5crh4MGD8Pb2dnRJNtu/fz+2bduG2rVro2/fvo4uh4iIiOzA5oioiOh0Ojz55JPYuHEjNmzYgO7duzu6JKfRo0cP/P777zh8+DCqVKni6HJsdu3aNTRo0AAeHh44cOAAwsPDHV0SERER2YGX1RFZoVKlSlAUBQsXLsxzvaioKCiKgsmTJ5st02q1WLlyJRo1aoRhw4bh8uXLhVOsk1u7di00Gg00Gg0mTJiA06dPo1SpUvjhhx9U2RhlZmZiwIABSEtLwy+//FIkjdHp06fx2muvoUGDBggODoa7uzuCg4PRrFkzvP322zh9+nSh1+AMFi5cCEVR8v2qVKmSo0stFqz9OUkFY8i1s1i3bh0URcEnn3xS4G0tXboUiqLgyy+/lFAZkX3YHBEVIW9vb2zcuBGBgYHo168f0tPTHV1SkYqOjsawYcPw6quvYtmyZfj4449x/PhxLFy4EB07djRbf8SIEU7/y9Y777yDP/74A6tXr0a9evVyXW/y5Mm5Ns7WyszMxKuvvoo6derg008/RWxsLBo1aoR+/fqhadOmuHTpEmbMmIE6dergf//7n937URsfHx8MHz48168+ffpI2c/u3buhKAqioqKkbI9I7dLS0vDaa68hPDwcL774YoG3N2jQINStWxfvv/8+EhISJFRIZDs3RxdAVNyEhIRgy5YtWLp0KU6ePIkGDRo4uqQikZGRgQ8//BDPPvssPv74YwBAamoqvvzyS7Rp0wZlypRxcIW2S05ORsmSJfHzzz+jQ4cOhb6/IUOGYNWqVfDz88P//d//YejQodBqtcblQghs374db7/9Ns6fP1/o9TiLUqVKOXUDTeSqvvjiC1y8eBFz586Fl5dXgben0WgwadIk9OnTB1OnTsWcOXMkVElkGzZHRA5QtWrVAp1BUCN3d3f88MMPJmMjR47EyJEjHVRRwfn5+WHixIlFsq/vv/8eq1atgru7O7Zt24YmTZqYraMoCjp16oS2bdvi8OHDRVIXERVPOp0OX3zxBby8vDB48GBp2+3ZsydCQkIwf/58fPDBByhZsqS0bRNZg5fVERWBjIwMLF26FIMHD0aNGjXg5+eHEiVKIDIyEi+//DL+/fdfi+8z3MO0e/duHDx4EN27d0dwcDB8fX3Rpk0b7Nu3z7juli1b0L59ewQGBqJkyZLo2LEjjh49anOt2a9nX7p0KRo3boySJUsiJCQEAwcORGxsLICssxT/+9//8Mgjj8DHxwelSpXCiBEjEB8fX+Djj4mJgaIoWLRoEYCsJir7PSTWNpaGeyBiYmKwefNmREVFwd/fH4GBgejRoweio6ON6y5fvhzNmjWDr68vAgIC0Lt3b1y4cMHidtesWYOnn34aderUQWBgILy8vFC5cmWMGjUKZ8+etfiZTpkyBQAwZcoUk2MZMWJEvschhMC0adMAAM8//7zFxig7d3d3NGvWzPg6++Vg9+/fx8SJE1GzZk14e3ub3Y+zcuVKtG/fHkFBQfD09ETFihUxatQo/PPPPxb3df36dbzyyiuoXr06vLy84O3tjfDwcLRv3954hjC7HTt24PHHH0fp0qXh7u6OwMBAVKtWDUOGDMHevXvz/SxkyH6J482bN/Hiiy8iPDwcHh4eCA8Px0svvYQ7d+6YvCcqKgpt27YFAOzZsyfXe5qyXwr6999/o3///ihTpgy0Wq1JbhMSEvDOO++gdu3a8Pb2hq+vLxo2bIhZs2bhwYMHZjXn/B6+8847qFq1Kry8vFC2bFmMHj0a165dM3nPrl27oCgKatSogdzmXkpNTUVwcDAURcGpU6fs+0AL4OrVq3jppZdQrVo1eHl5wd/fHy1atMDXX38NnU5n8T0//vgjOnToYHK/Xa1atfDMM8/gxIkTJusmJSXhvffeQ926deHj4wNPT0+ULVsWLVq0wMSJE5GRkVEUh1lkbM2Vwbp169CqVSv4+vrC398fbdq0waZNm4w/iy3dt7d+/XrExsbiiSeegL+/v8myixcvIiAgABqNBps3bzZ777///ovQ0FAoioJVq1aZLHN3d8egQYOQnJyMJUuW2PdBEBWEIKJ8VaxYUQAQCxYsyHO9Nm3aCABi0qRJJuNXrlwRAIS/v79o2rSp6Nu3r+jWrZsoW7asACBCQkLEuXPnct3eG2+8Idzc3ESDBg1E//79xSOPPCIACE9PT/H777+L//3vf0Kj0YjmzZuLfv36ierVqwsAomTJkha3mxcAAoCYMGGCcHNzE+3atRN9+vQRFSpUEABEeHi4SEhIEP369RNeXl6iS5cu4sknnxShoaECgKhXr55IS0sr0PHfvHlTDB8+XFSpUkUAEC1atBDDhw83fq1du9aqYzF83yZMmCAURREtWrQw+XwCAgLE+fPnxZtvvmlyrOHh4QKAKFu2rEhISDDbrlarFd7e3uKxxx4TvXv3Fo8//rioVKmSACB8fHzE77//brL+8OHDRf369QUAUb9+fZNj+fbbb/M9juPHjxu/L0eOHLHq2LPbtWuXACCaNGkiGjVqJHx8fETXrl1F//79RYcOHYQQQuj1ejFs2DABwPhZDBgwwPhZeXt7i82bN5ts9/r168bvYYUKFUSvXr1E//79RatWrURQUJDw9/c3WX/hwoVCURShKIpo0qSJ6N+/v+jZs6d49NFHhVarFa+88opNx7VgwQIBQFSsWNGm902aNEkAEKNGjRLly5cXpUuXFr179xbdunUT/v7+AoBo1KiRSE9PN75n+vTponPnzgKAKF26tMn38PXXXzeuN3z4cAFAPPPMM8LT01NUqlRJ9OvXTzz++OPi448/FkIIceHCBWM2Q0JCxFNPPSV69uwpfH19BQDx6KOPmuXO8D1s1qyZaNq0qfD29hbdunUTffv2FWXKlBEARFhYmPjnn39M3le3bl0BQGzbts3iZ/H9998LAKJt27bGMUPWdu3aZdPnau3PSYM///xTBAUFGfPTv39/0aVLF+Hl5SUAiM6dO5v9LJkyZYoxo61btxYDBw4U3bp1E3Xq1BGKoohPP/3UuO69e/dEnTp1jJ/z448/LgYMGCCioqJEWFiYACASExNtOkZnYPj+5GRProQQYubMmcZtNmnSRAwcOFA0atRIABBvvfVWrv/GDD8vvvvuO4t1rl69WgAQpUqVEleuXDGOZ2ZmilatWgkA4oUXXrD43o0bNwoAolOnTlZ+KkTysDkiskJBm6Pk5GSxbt06s//Rp6eni7ffflsAEN26dct1e4qiiCVLlpgse+211wQAERkZKUqWLCl27NhhXJaZmSmeeuopAUA8/fTTNh2r4X+SwcHB4q+//jKO379/X7Rs2VIAEHXr1hVVqlQRMTExxuU3b94UVatWFQDE0qVLpRy/4RdNa3/ZysnwffP09DT7fPr27SsAiDp16pgd671790Tz5s0FADF16lSz7S5cuFAkJyebjOl0OvHxxx8LAKJ27dpCr9ebLDf8Qp4zG9aYP3++ACA8PDxERkaGze83/GJtaF6vX79uts68efOMv8gcO3bMOK7X6421BwQEiPj4eOMywy+qY8aMMTve9PR0k89cCCEqV64sAIh9+/aZ7f/GjRvi6NGjNh1XQZsjAGLEiBEiNTXVuCw2NlaUK1dOABDLly83eZ/hc2zTpk2u2zZk1tCU63Q6s3WaNGkiAIiePXuKu3fvGsfj4+PFo48+KgCIQYMGWdw3AFG1alVx+fJl47IHDx4Y/703bdrU5H3ffvutcV+WNGzYUAAQq1evNo4VRXOUmppqXP+5554zaUQvXLhg/GPDO++8Y/KeEiVKiJIlS4ozZ86YbTMmJkacPn3a+HrRokUCgOjatavJ9oXI+ve6e/dus59Jecn+vbXly9bPMT+5NUf25Oro0aNCq9UKrVYr1qxZY7Lshx9+EBqNJtd/Y4Y/Ip08eTLXWl955RXjH7gMP7vGjx9vbNay/9vL7vbt20JRFOHt7W3T94hIBjZHRFYw/E/c2i9bfwEuW7as0Gg0Zr9wG5qjvn37mr3n9u3bxv29+eabZsuPHDkiAIjKlSvbVIthm3PnzjVbtmbNGuPyTZs2mS3/5JNPBAAxcuRIm/aZ2/HLao4sfT5Hjx7N81gNf/XM/hd1azz22GMWf2EoSHM0Y8YM45kBe2T/xXrv3r0W1zGcpfv888/Nlun1elGvXj0BQEybNs04/sILLwgAZr9U5cbb29vsbFJBGJqj/L5ynpEyfC/Kly8v7t27Z7Zdw+c9atQok3FbmqPq1auLzMxMs+X79u0TQNaZuLi4OLPlhw8fFgCERqMx+Wt79u/hzz//bPa+GzduCG9vbwHA5Mzl/fv3RXBwsNBoNCZ/zBBCiAMHDggg62xw9lojIyNFZGSk+OOPP3I9TktsaY6WLFkigKyzs5Z+Qf7pp58EAOHr6ysePHgghMj6Jd/Q4Ftj1qxZAoCYM2eOTceRm2+//dbkjKG1X9kbNhksNUf25mrUqFECgBg4cKDFffXp08dic3Tz5k3j9izl3CA9Pd3YtL311lti06ZNQlEU4e/vLy5cuJDncRrOiB4/fjzP9Yhk44QMRDZo0aIFqlatmuvyLVu24MaNG7kuP378OH799VdcunQJ9+7dg16vB5A1RbNer8f58+ctzl7XrVs3s7GgoCAEBwfj9u3bFpdXq1YNAHK9nyk/eW3Tzc0NnTp1snmf9h5/QeV1LPktz+1YUlJSsHv3bly4cAEpKSnG+yPS0tIAAGfPnkWtWrUKXLtMoaGhaNWqldn41atXjfdXDR8+3Gy5oigYOXIkXn31VezatQvvvPMOAKBx48b48ssvMWHCBAgh0KlTpzxvnm7cuDF2796NYcOG4ZVXXkGDBg2g0RT81lcfH588p+tu3LixxfH27dvD29vbbLxmzZoAYHYPjy2eeOIJk5kEDXbv3g0A6NKlC0qXLm22vGHDhqhfvz6OHz+OPXv2mN3oHhAQgJ49e5q9LzQ0FF26dMGaNWuwe/duNG/eHABQokQJjBkzBtOnT8e8efMwY8YM43vmzp0LAHjuuedMaj1z5oztB2wjw+cwYMAAeHp6mi3v3bs3AgMDkZiYiCNHjqBFixYICQlBpUqVcOLECbz++usYPXp0nv/GGjVqBACYNWsWgoOD0aNHDwQFBdld89NPP42nn37a7vcXJntztWfPHgDIdUKFwYMH46effjIbN/x/zt/f32LODdzd3bFq1So8+uijmD17Nr766isIITB//nxERETkeUzBwcG4fv16nv9PJSoMbI6IbPD000/neQN9VFSUxR/k9+7dw9ChQ7F27do8t5+cnGxxvEKFChbHS5Ysidu3b1tc7uvrC+DhL+u2srRNwy++ZcqUgZub+Y8Pwz5TU1NNxgt6/AWV17Hktjy3YwGAadOmYdq0aXne4CzzWEJCQgBk3Wyt0+ny/GUkL7k9DNXQBAQHB8PPz8/iOoYH9GZvGIYOHYrt27dj2bJleOqpp6DValGrVi20bNkSffr0Qbt27Uy28eWXX6JHjx5YsmQJlixZAl9fXzRq1Ajt2rXD0KFDTb4PP//8M37++WezOp5++mm0bNnSZMzeqbxz+3dl+Awsfe+tld9nXbly5VzfW6VKFRw/ftxic2aYZMQSwzavXr1qMv7CCy9g9uzZmD9/PiZPngwvLy/cvHkTP/74Izw9PfHMM89Yc0hS5fc5KIqCypUrIzEx0eRzWLx4Mfr06YM5c+Zgzpw5CAoKQpMmTdCxY0cMHToUpUqVMq4bFRWF8ePHY/bs2Rg+fDgURUG1atXQokUL9OrVC48//riU5lyWW7du4Y033jAbr1GjBiZMmJDne+3NlSErueU1t/GkpCQAyPXnRXYVK1bEF198gcGDByM5ORnPP/88nnrqqXzfZ9h2YmJivusSycTmiKgIvP3221i7di1q1KiBGTNmoFGjRihVqhQ8PDwAAM2bN8eBAwdynVEqv/+BF8b/4PPapq37K+jxF5TMz+/bb7/Fe++9h7CwMMyfPx/NmzdH6dKljc/4GDRoEFasWCH1WBo2bAgASE9Px/Hjx/Hoo4/atZ0SJUpIqwnI+tyWLl2Kd955B5s2bcLvv/+O33//HfPmzcO8efPw+OOPY+3atcZmrmbNmjh79iy2bduGnTt3Yv/+/di3bx927tyJDz74APPnz8eQIUMAAH/99ZdxtsLsoqKizJqjgtRfWGR/1rbImb3y5cujd+/e+OGHH7Bq1SoMHz4c3333HdLS0jB06FBj860GrVq1QkxMDDZt2oQ9e/Zg//792Lp1KzZv3oxJkyZh7dq1aN++vXH9GTNm4LnnnsOGDRvw22+/4ffff8eCBQuwYMECNGrUCLt27YKPj49V+/7uu+/w22+/2VzzhAkTUKNGjXzXu3v3rsXMt2nTJt/mqKBya7hzGw8ICABg3R+BhBBYtmyZ8fXRo0eRkZEBd3f3PN9naMACAwPz3QeRTGyOiIqA4fk+q1atQr169cyWnzt3rqhLKlKudPyGX16+/vpri5c3Fcax1KtXD5UrV8alS5ewaNEiu5uj3JQrVw4AcPv2bSQnJ1v8a/DFixdN1s2uVq1aqFWrFt58800IIbBz504MGjQIGzZswOLFi02eZeXm5oZu3boZL2VMTk7GnDlzMGXKFDz77LN48skn4ePjg8mTJ7vks8AMn5/h87Qkr886JiYm1/cZlpUvX95s2csvv4wffvgBc+fOxZAhQ/DVV18BAMaOHWtt6VJZ8zlcunTJZF2DEiVKoE+fPsZLKW/evIn33nsP33zzDUaNGoXLly+brF+pUiW89NJLeOmllwAAhw4dwpAhQ3Do0CHMmjXLOM1+fn777TeLzUt+RowYYVVzVKlSJbv/qGJvrsqVK4eLFy8iJibG4iWKueUtNDQUAHDnzp18z2bPnDkTv/zyC2rWrImAgAAcOHAA48ePz/cBr7dv3wYAi5cJEhUm5zmfTOTCEhISAGRdXpDT1q1bcevWraIuqUjZe/yGM0uZmZmFV5yNDM9xsnQsJ0+exF9//WXxfQU5FkVRjPf5zJs3D3/++Wee62dmZuLgwYNWb798+fLGy+YsXZ4mhDCOG571k1et7du3x6BBgwAg18/DwM/PD5MnT0ZAQADu37+f6/OUnIGMPEZFRQHI/f7EY8eO4a+//oJGo0Hr1q3Nlt+5cwcbNmwwG7958ya2bNliso/sWrRogYYNG+LQoUN47733EBsbi0aNGuV6P1ZhM9S4atUqi5cvrl27FomJicbn9OQlJCQEs2bNAgDExsbmexlWo0aN8MILLwDIP5/ZLVy4ECJrIiubvix9P2SzN1eG/16+fLnF7eY2XqpUKYSHh0MIkec9avv27cN7770Hb29v/Pjjj1i1ahWCgoLw6aefYt26dbm+7/bt24iLi4O3t7fxHkCiosLmiKgIGH64f/HFFybjZ8+exXPPPeeIkoqUvcdv+Av4yZMnC684G1WvXh1A1s3shgklgKyHoQ4bNizXX5wLeixPP/00+vTpg4yMDHTs2BGLFi0ye0im4axN8+bNsXLlSpu2b7jX4cMPP8Tx48dNtjl16lT89ddfCAgIMLk/ZfHixThy5IjZtgyTVQAPm8j79+9jzpw5uHnzptn6+/btw507d6DVai2e9XAWhtrOnTtn98NDW7ZsiSZNmuDBgwd49tlncf/+feOyW7du4dlnnwWQNVFBeHi4xW28/vrrJvcVpaWl4cUXX8S9e/fQuHFjtGjRwuL7XnnlFQAwTsqQ21mjGjVqoEaNGvk24QXRt29fVKhQAf/++y9ee+01k383ly5dwuuvvw4AeOmll4yXrF6+fBnfffedxUu5DA1jYGCg8czn2rVrsXfvXpN/p0DWQ6kNjaSlP3Kokb25Gjt2LDQaDVauXGnWrKxZswarV6/OdZ+GP5QcOHDA4vKbN29i4MCB0Ol0mDt3LmrXro3w8HAsWrTIOMlLbmem9u/fbzyu/C6/I5KuqKbFI1Kzgj7naPXq1UJRFAFkPSNowIABol27dsLd3V20a9fO+EydnM/DMGwvt+dkGOq6dOmSxeXI5XkYecnrPZcuXcr1mRdC5D7Vsb3Hf/z4caHRaIRGoxEdOnQQI0eOFKNHjxbr1q2z6lgK8vnkdqy///67cHd3F/jveTP9+vUTXbp0ESVKlBC1a9cWTz75pMWsxMXFCR8fH+MzP0aMGCFGjx4tvv/+e6uORYisaXHHjh1r/CyDg4NFly5dxKBBg0T37t2NU99qtVqT6cmtmYJar9eLoUOHCiDrAZvt27cXAwcOFJGRkQKAKFGihPjll19M3tOrVy/jdMzdunUTgwcPNnmQap06dYzTsycmJhqn/q1fv77o06ePGDhwoGjWrJnxeCZOnGj1ZyHEw6m8fXx88p1OOfuU3flNq57X52WYqj0yMlIMHjxYjB49WowfP9643Jrp57M/rDM0NFT06dNH9OrVS/j5+Rmf/5LXQ2CbNGkivL29RY8ePUS/fv2MD+INDQ21+Pwfg7S0NFG6dGkBZD0kNLdnzBj+Xdj7nKOIiAjRpEmTXL8MDzLO/hDYihUriv79+4tu3brl+hDYY8eOCQDC3d1dNGrUSPTr10/069dPNGjQQABZz4PL/kBSwzN2SpUqJTp27CgGDx4sevbsaXxgdbly5UymtVaL3H5u2ZMrIYT46KOPjNts2rSpGDRokGjcuLEAIF5//XUBQFSrVs3sfYZHO/Tr189smU6nE506dRIAxPDhw82WG7bbuHFjs2dQCSHEyy+/LACIL7/80spPhUgeNkdEVihocySEEHv37hXt27cXpUqVEt7e3qJOnTpi2rRpIi0tLdcmyFWaIyHsO34hhFi7dq1o0aKF8PX1Nf4Sbe2zggqjORJCiL/++ks8/vjjokyZMsLLy0tUq1ZNvPXWWyI5OTnPX4737t0rOnToIAIDA40PV7T0i0N+Tp48KV555RVRv359ERAQINzc3ERgYKBo0qSJeOedd8Q///xjsr41zZHB8uXLRVRUlAgICBDu7u4iPDxcjBgxwuIv3Xv37hXjxo0TjRs3FmFhYcLDw0OEhYWJZs2aiS+++MLkQZQZGRniq6++EgMHDhQ1atQQ/v7+okSJEqJKlSriqaeeEr/++qvNn4O1zzkCIBITE43vK0hzdPnyZTFo0CBRpkwZ4ebmZpYRa5/Ndfv2bfH222+LmjVrCi8vL+Ht7S0aNGggZsyYIe7fv59nTXfv3hVvvvmmqFy5svDw8BClS5cWI0aMELGxsfl+Zv379xcAxNtvv53rOgVtjvL7yr7d2NhY8eKLL4qIiAjh4eEhfH19RbNmzcS8efPMHnicnJwsPvvsM/Hkk0+KatWqiZIlSwofHx9RvXp1MWzYMHH48GGT9Y8dOyYmTJggWrZsKcqVKyc8PDxESEiIaNiwofjoo4/ErVu3bDo+Z5HXzy1bc2WwZs0a0aJFC+Hj4yN8fX1Fy5Ytxc8//yz27t1rbMpzyszMFBUqVBBeXl5mTdeHH34oAIhatWpZfJZYenq6aNq0qQAgxo0bZ7asVKlSws/PT6SkpFjzkRBJpQhRSNNDERERkRS7d+9G27Zt0aZNG+Mli7a6c+cOypcvj9TUVFy6dCnXy/aIDD744ANMmjQJL730Ej7//HOz5R9//DHefPNNfP7558YJLwpq9erV6NOnD1599dV8J20gKgy854iIiKgYmD59Ou7du4d+/fqxMSKjc+fOWZzEYv369Zg+fToURbH4cGgg656wiIgIzJo1q0DPBTPQ6/WYMmUKgoKC8N577xV4e0T24FTeRERELmr//v34/vvvcenSJezcuRPe3t6YOnWqo8siJ7Js2TJ89NFHaNCgAcLDw5GRkYGzZ8/i7NmzAIDJkyfnOmOgp6cn5syZgyeeeAL/+9//LD7E1hbLly9HdHQ05s6di6CgoAJti8hebI6IiIhc1D///IP58+ejRIkSaNq0KWbOnImIiAhHl0VOpEuXLjh37hwOHjyI06dPIzU1FcHBwXj88cfxwgsvoEuXLnm+v1evXtIeej1kyBDjg6CJHMUp7zmaPHmy2UPZIiMj85xLn4iIiIiIqCCc9sxR7dq1sWPHDuNrNzenLZWIiIiIiFyA03Ycbm5uCAsLc3QZRERERERUTDhtc3Tu3DmULVsWXl5eaNasGaZPn44KFSpYXDctLQ1paWnG13q9HgkJCQgODoaiKEVVMhERERERORkhBFJSUlC2bFloNHlP1u2U9xxt3rwZd+/eRWRkJK5fv44pU6bg2rVr+Pvvv+Hr62u2vqV7lIiIiIiIiAyuXLmC8uXL57mOUzZHOd25cwcVK1bEnDlzMHr0aLPlOc8cJSUloUKFCrh48SICAgIAAIqiQKPRQK/Xm8yqYhjX6XQm28xtXKPRQFEUi+NA1lkra8a1Wi2EEBbHc9aY2ziPqWiOKTMzEydPnkTNmjWh1Wpd4phc8fukhmPS6XRmWVL7MVmqncdUNMeUnp6O06dPG/PkCsfkit8ntRxTZmamMU9ubm4ucUyu+H1SwzFlz5JWq3WKY0pOTkalSpVw584d+Pv7Iy9Oe1lddgEBAahevTrOnz9vcbmnpyc8PT0tvi8wMLCwyyMXp9Pp4Ovri8DAQOMvtET2YJZIJuaJZGKeSBZnzJKhDmtut8n7ojsncffuXVy4cAFlypSx6X35XVNIZA2NRoPIyEjmiQqMWSKZmCeSiXkiWdSeJaes+o033sCePXsQExOD/fv348knn4RWq8XAgQMdXRoVUx4eHo4ugVwEs0QyMU8kE/NEsqg5S07ZHF29ehUDBw5EZGQk+vXrh+DgYBw8eBAhISE2bSfntZBE9tDr9YiOjmaeqMCYJZKJeSKZmCeSRe1Zcsp7jlauXOnoEoiIiIiIqJhxyjNHRERERERERY3NEREREREREVTynCNbJScnw9/f36q5zInyY5jL3zCXPpG9mCWSiXkimZgnksUZs2ToDZKSkuDn55fnujxzRGSF9PR0R5dALoJZIpmYJ5KJeSJZ1Jwll26O1DpLBjkXvV6Ps2fPMk9UYMwSycQ8kUzME8mi9iy5dHNERERERERkLTZHREREREREYHNEZBWtVuvoEshFMEskE/NEMjFPJIuas+TSs9VZMyMFERERERG5Ls5W9x8X7PvIAYQQSE5OZp6owJglkol5IpmYJ5JF7Vly6eZIrbNkkHPR6/W4ePEi80QFxiyRTMwTycQ8kSxqz5JLN0dERERERETWYnNEREREREQENkdEVvHy8nJ0CeQimCWSiXkimZgnkkXNWeJsdURERERE5LI4W91/1HojGDkXvV6P27dvM09UYMwSycQ8kUzME8mi9iy5dHPkgifFyAGEELhy5QrzRAXGLJFMzBPJxDyRLGrPkks3R0RERERERNZic0RERERERAQ2R0RW8fX1dXQJ5CKYJZKJeSKZmCeSRc1Z4mx1RERERETksjhb3X/UOksGORe9Xo+4uDjmiQqMWSKZmCeSiXkiWdSeJZdujlzwpBg5gBACcXFxzBMVGLNEMjFPJBPzRLKoPUsu3RwRERERERFZi80RERERERERXLw5UhTF0SWQC1AUBUFBQcwTFRizRDIxTyQT80SyqD1LnK2OiIiIiIhcFmer+4/ZLBkXLwLbtgHffQdMnAj89ptjCiNV0ev1iI2NVe2sK+Q8mCWSiXkimZgnkkXtWXJzdAGFyeyk2MsvA5s2PXzt7g60bFm0RZHqCCGQkJCAcuXKOboUUjlmiWRinkgm5olkUXuWXPrMkZnwcNPXsbGOqYOIiIiIiJxO8WqOKlQwfX3limPqICIiIiIip+PSzZHZLBk8c0R2UBQFYWFhqp11hZwHs0QyMU8kE/NEsqg9Sy59z5FGk6P3s3TmSAhApd88KhoajQZhYWGOLoNcALNEMjFPJBPzRLKoPUsufeZIp9OZDuQ8c3T3LnDnTpHVQ+qk0+lw4cIF8zwR2YhZIpmYJ5KJeSJZ1J4ll26OzJQrZ36WiPcdkRVSUlIcXQK5CGaJZGKeSCbmiWRRc5aKV3Pk4QHkPM3H+46IiIiIiAjFrTkCOGMdERERERFZ5NLNkcVZMjhjHdlIURSEh4erdtYVch7MEsnEPJFMzBPJovYsFa/Z6gDzM0dsjigfGo0GwcHBji6DXACzRDIxTyQT80SyqD1LLn3myOIsGTnPHPGyOsqHTqfDmTNnVDvrCjkPZolkYp5IJuaJZFF7lly6ObKIZ47IDqmpqY4ugVwEs0QyMU8kE/NEsqg5S8WvOcp55ujaNUClnS0REREREclT/JqjnGeOMjOBuDjH1EJERERERE7DpZsjixMyhIRkPe8oO953RHnQaDSIiIiwnCciGzBLJBPzRDIxTySL2rOkzqqtZHEKQY2G03mTTRRFgZ+fn2qnpCTnwSyRTMwTycQ8kSxqz5JLN0e5zpLBGevIBjqdDtHR0aqddYWcB7NEMjFPJBPzRLKoPUsu3RzlijPWkY3U+g+cnA+zRDIxTyQT80SyqDlLxbM54pkjIiIiIiLKoXg2RzxzREREREREObh0c5TrLBk8c0Q20Gg0iIyMVO2sK+Q8mCWSiXkimZgnkkXtWVJn1QWV88xRfDyg4if5UuHzyDn9O5GdmCWSiXkimZgnkkXNWXLp5kiv11tekPPMEQBcvVq4xZBq6fV6REdH554nIisxSyQT80QyMU8ki9qz5NLNUa78/AB/f9Mx3ndERERERFSsFc/mCOB9R0REREREZKL4NkecsY6IiIiIiLJx6eYoz1kyeOaIrKTRaFC3bl3VzrpCzoNZIpmYJ5KJeSJZ1J4ldVYtA88ckQ3S09MdXQK5CGaJZGKeSCbmiWRRc5ZcujnKc5YMnjkiK+n1epw9e1a1s66Q82CWSCbmiWRinkgWtWfJpZujPFk6cySEY2ohIiIiIiKHK77NUc4zR3fvAklJjqmFiIiIiIgcrvg2R+XKAYpiOsb7jigXWq3W0SWQi2CWSCbmiWRinkgWNWdJEcL1riVLTk6Gv78/kpKS4Ofnl/uKZcoAcXEPX2/cCHTvXvgFEhERERFRkbC6N4CLnznKt+/jjHVkBSEEkpOT888TUT6YJZKJeSKZmCeSRe1ZcunmKN9ZMjhjHVlBr9fj4sWLqp11hZwHs0QyMU8kE/NEsqg9Sy7dHOWLZ46IiIiIiOg/xbs54pkjIiIiIiL6T/FujnjmiKzk5eXl6BLIRTBLJBPzRDIxTySLmrNUvGer+/NPoEmTh6/d3YEHDwAVTz9IREREREQPcba6/+R7I1jOM0cZGcCNG4VXEKmSXq/H7du3VXtjITkPZolkYp5IJuaJZFF7lly6Ocr3pFhoaNbZoux43xHlIITAlStXVDslJTkPZolkYp5IJuaJZFF7lly6OcqXRmM+KQPvOyIiIiIiKpaKd3MEcMY6IiIiIiICwOaIM9aRVXx9fR1dArkIZolkYp5IJuaJZFFzltwcXUBh0loz6xwvq6N8aLVaVKlSxdFlkAtglkgm5olkYp5IFrVnyaXPHFk1S0bOM0e8rI5y0Ov1iIuLU+2sK+Q8mCWSiXkimZgnkkXtWXLp5siqWTJ45ojyIYRAXFycamddIefBLJFMzBPJxDyRLGrPkks3R1bJeeYoPh5ITXVMLURERERE5DBsjnKeOQKAq1eLvg4iIiIiInIol26OFEXJfyV/f8DPz3SM9x1RNoqiICgoyLo8EeWBWSKZmCeSiXkiWdSeJZdujjQaKw+P9x1RHjQaDSpUqGB9nohywSyRTMwTycQ8kSxqz5I6q7aS1bNkcMY6yoNer0dsbKxqZ10h58EskUzME8nEPJEsas+SSzdHVs+SwTNHlAchBBISElQ76wo5D2aJZGKeSCbmiWRRe5acvjmaMWMGFEXBuHHjCm8nPHNERERERFTsOXVzdOjQIXz99deoV69e4e6IZ46IiIiIiIo9p22O7t69i8GDB+Pbb79FYGCgXduwepaMnGeOYmMBlZ4KJPkURUFYWJhqZ10h58EskUzME8nEPJEsas+Sm6MLyM2LL76I7t27o0OHDpg6dWqe66alpSEtLc34Ojk5GUDWNY86nQ5A1jdKo9FAr9ebXAOpKAo0Oc8c3b0LfWIiNEFBxvcbaDQaKIpicRwwnwQit3GtVgshhMXxnDXmNp7nMWk0ZjXmNs5jyvuYFEVBSEiISZ7Ufkyu+H1SwzFZypLaj8lS7TymojkmIYRJnlzhmFzx+6SmYzLkSa/Xu8wx5Vc7j6lwjin7zyZnOKacy/PilM3RypUrcfToURw6dMiq9adPn44pU6aYjf/999/w9fUFAAQFBaFChQq4evUqEhISjOuEhYUhrHx5s/cmnzyJgFatcO7cOaSmphrHIyIi4Ofnh1OnTpl80JGRkfDw8EB0dLTJdurWrYv09HScPXvWOKbValG3bl2kpKTg4sWLxnEvLy/UqFEDiYmJuJLtvidfX19UqVIF8fHxiIuLM47neUxhYYiJiUFKSopxPDw8HMHBwTwmG48pKSkJJ06cgK+vLxRFcYljcsXvkxqOSavV4uDBg8YsucIxueL3SS3HdPbsWdy6dcuYJ1c4Jlf8PqnlmG7fvo2UlBT4+vqiTJkyLnFMrvh9UsMxxcbGGrPk5+fnFMd09+5dWEsRTjaVxJUrV/DYY49h+/btxnuNoqKi8Mgjj+Czzz6z+B5LZ47Cw8Nx8+ZN4yV5+XWoIiwMyo0bxnH9+vXQPP44/5LAY0JmZiaio6NRu3ZtaLValzgmV/w+qeGYdDqdWZbUfkyWaucxFc0xpaen4+TJk8Y8ucIxueL3SS3HlJmZacyTm5ubSxyTK36f1HBM2bOk1Wqd4piSk5MRFBSEpKQk+Pn5IS9Od+boyJEjiI+Px6OPPmoc0+l02Lt3L/73v/8hLS3N+EuFgaenJzw9Pc22ZfiGZGf4sHJSKlQAsjVHmmvXjNuwRMa4oigWx3Or0dbxwqw9t3FXPSbDcWVfrvZjcsXvk7MfU25Zymt9Zz8mW8d5THKPyVKe1H5MhTXOY8p7PHueDOup/ZgKq0Zbx4vbMVn62eToY8ptuSVO1xy1b9/e7LTeyJEjUaNGDYwfP96mg7NJeDiQ/TI+zlhHRERERFSsOF1z5Ovrizp16piM+fj4IDg42Gw8P4Zr+q3CZx1RLhRFQXh4uG15IrKAWSKZmCeSiXkiWdSeJadrjmTK7VSdRXzWEeVCo9EgODjY0WWQC2CWSCbmiWRinkgWtWfJaZ9zlN3u3btznYwhL7ZM28czR5QbnU6HM2fO2JYnIguYJZKJeSKZmCeSRe1ZUkVzVCRynjm6cgXIyHBMLeR0sk8bSVQQzBLJxDyRTMwTyaLmLLE5Mqhe3fR1ZiZw8qRjaiEiIiIioiLH5sggMBCoXNl07OhRx9RCVESOHTuGqVOnmjxojYiIiKi4cunmyKYJGQCgYUPT10eOyCuGVEuj0SAiIsL2PDm5GzduoGfPnggLC4Ovr6+jyykWXDVL5BjME8nEPJEsas+SOqu2ks1TCGZ78CwAnjkiAFk58vPzK/CUlKmpqZg2bRq2bdsmqbKCOXLkCGbNmoWnn37a0aUUG7KyRAQwTyQX80SyqD1LLt0c2TxLRs7m6PjxrHuPqNi5f/8+bt26hVu3bqFChQro2rUrbt26VaBtvvrqq1ixYgWaNGkiqcqC6datGwYOHOjoMooVnU6H6Oho1c7gQ86FeSKZmCeSRe1ZcunmyGY5m6MHD4AzZxxTSzG3cOFCKIpi/PLy8kLZsmXRuXNnfP7554V+j8ysWbMQEhKCkJAQXLlyBVu2bMFjjz1m9/Z+/PFHrF+/Hr/88gv8/f0lVpo11b2iKPjpp59MxtPT09GjRw9oNBp8//33AMw/15xfBw8eNL7fMJbbmaV3333XuE5BG8fiRK3/syDnxDyRTMwTyaLmLLn0Q2BtFhKSNaV39mccHT0K1KnjuJqKuQ8++ACVK1dGRkYG4uLisHv3bowbNw5z5szB+vXrUa9evULZ77Bhw9CyZUsAwJAhQxAREYEZM2bYtS0hBK5evYrNmzejQs7naRWSjIwM9OnTB7/88gu+/fZbjBo1ymS54XPNqWrVqiavvby8sHr1anz55Zfw8PAwWbZixQp4eXmperpOIiIiouzYHOXUsKFpc3TkCDBsmOPqKea6du1qcsbm7bffxs6dO9GjRw/07NkTp0+fRokSJazaVkZGBoKCgvDvv//mOwFBREQEIiIiAGQ1CKVKlUKLFi3sOgZFUfDqq6/a9V57ZGRkoF+/fti4cSO+/vprjB492mydnJ9rbrp06YL169dj8+bN6NWrl3F8//79uHTpEp566imsXr1aav1EREREjuLSl9XZNUsGJ2Vweu3atcP777+Py5cvY+nSpcbxqKgoREVFma3ftm1bKIqCGzduQKfT4cGDBxa3K4TA1KlTUb58eXh7e6Nt27Y4+d+zrvz9/U3ydPHiRfTt2xdBQUHw9vZG06ZNsWnTJpPtpaenY+LEiWjYsCH8/f3h4+ODVq1aYdeuXSbrxcTEQFEUfPzxx/jmm29QpUoVeHp6olGjRjh06JBNn01mZiYGDBiAdevWYd68eXjmmWdsen9O5cqVQ+vWrbF8+XKT8WXLlqFu3bqow7OqNtFoNIiMjFTtDD7kXJgnkol5IlnUniV1Vl2Yck7nfewYoNc7phbK1dChQwHAqpnfSpUqBQAIDw9HZGQkQkJCLK43ceJEvP/++6hfvz5mz56NiIgIdOrUCffu3TP5B37jxg00b94cW7duxQsvvIBp06YhNTUVPXv2xNq1a43rJScn49tvv0VUVBRmzpyJSZMm4caNG+jcuTP++usvs/0vX74cs2fPxrPPPoupU6ciJiYGvXv3RkZGhlWfSWZmJgYOHIi1a9di7ty5ePbZZ3NdNykpyTjhhOHr9u3bFtcdNGgQNmzYgLt37xr38+OPP2LQoEFW1UWmcl6eSFQQzBPJxDyRLKrOknBBSUlJAoBISEiw/c3XrwsBmH6dPi2/SMrTggULBABx6NChXNfx9/cXDRo0ML5u06aNaNOmjdl6w4cPFxUrVhQxMTHiwYMHFrcVHx8vPDw8RPfu3YVerzeOv/POOwKAePzxx0VmZqYQQohx48YJAGLfvn3G9VJSUkTlypVFpUqVhE6nE0IIkZmZKVJTU032k5CQIEJCQsSoUaOMY5cuXRIARHBwsElm161bJwCIDRs25PoZCCHErl27BABRsWJFAUDMnTs313UNn6ulL09PT5N1AYgXX3xRJCQkCA8PD7FkyRIhhBCbNm0SiqKImJgYMWnSJAFA3Lx5M88aKUtmZqY4duyYMUtEBcE8kUzME8nijFky9AZJSUn5rsszRzmFhQFlypiO8dI6p1SyZEmbZq2rWLEivLy8LC7bsWMH0tPT8dJLL5nMyz9u3DizdX/55Rc0btzYOGGDoZYxY8YgJiYGp06dAgBotVp4enoa10lPT0eJEiXQvHlzHLWQqf79+yMwMND4ulWrVgCyLuGzxo0bN+Dm5mZxooWc5s6di+3bt5t8bd682eK6gYGB6NKlC1asWAEg6wxX8+bNUbFiRavqIiIiIlILNkeW5Ly07sgRx9RBebp7926+EytY6/LlywCAatWqmYyHhISYNCyGdSMjI822UbNmTZNtAcCqVavQtGlT+Pv7w9PTEyVKlMC6deuQlJRk9v6cM9kZ9puYmGjVMcyaNQsVKlRAnz598Pvvv+e5buPGjdGhQweTr7Zt2+a6/qBBg7B9+3bExsbi559/5iV1RERE5JLYHFnCSRmc3tWrV5GUlGQy9XRuT2J21Fz7K1euxIABA1C5cmUsXLgQv/32Gw4cOIBOnTpBb+E+Nq1Wa3E7Qgir9lemTBls374d/v7+6N69O44fP16g+rPr2bMnPD09MXz4cKSlpaFfv37Stk1ERETkLFy6ObJ7loycZ46OHuWkDE5myZIlAIDOnTsbxwIDA3Hnzh2zdbOfycmN4RKxc+fOmYzfvHkTiYmJCAwMNOapYsWKOHv2rNk2zvz3wGDDtlatWoWqVatixYoVePLJJ9GiRQs0bdq0UB9gGxERga1bt0Kj0aBz585mx2OvEiVK4IknnsDu3bvRsWNH4yQXZBuNRoO6deuqdgYfci7ME8nEPJEsas+SOqsubDnPHCUnA1be90GFb+fOnfjwww9RuXJlDB482DhepUoVnDlzBjdv3jSOHT9+PN9LzACgQ4cOcHd3xxdffGFypuazzz4DAJMzPd26dcOff/6JAwcOGMfu3buHb775BpUqVUKtWrUAZJ3J0uv1Ju/dv38/Dh48aPtB26Bu3brYtGkT7t69i44dO+LatWtStvvGG29g0qRJeP/996Vsr7hKT093dAnkQpgnkol5IlnUnCWXfgispUuXrFKuHBAaCsTHPxw7ehTIdgkXFY3NmzfjzJkzyMzMxI0bN7Bz505s374dFStWxPr1600mWBg1ahTmzJmDTp064emnn0Z8fDy++uor1KpVK9+zNSEhIXjjjTcwffp09OjRA926dcOxY8ewefNmlCpVCklJSdDr9dBqtZgwYQJWrFiBrl274uWXX0ZQUBAWLVqES5cuYfXq1ca/lHTv3h1r167Fk08+ie7du+PixYv4+uuvUbt27UI9ewQAzZo1w5o1a/D444+jY8eO2LdvH4KDg43LDZ9rTs2bNzc+/Dan+vXro379+oVWc3Gg1+tx9uxZ1K1bN9fLKImsxTyRTMwTyaL2LLl0c2Q3Rck6e7Rly8OxI0cA3mdR5CZOnAgga778oKAg1K1bF5999hlGjhxpNhlDzZo1sXjxYkycOBGvvfYaatWqhcWLF2PFihXYvXt3vvuaOnUqvLy88NVXX2HXrl1o0qQJtm3bhu7du5usV7p0aezfvx/jx4/HF198gdTUVNSrVw8bNmwwWXfUqFGIi4vDN998g23btqF27dpYsWIFVq5caVU9BdWpUycsWbIEAwcORNeuXfHrr78alxk+15wWLFiQa3NERERE5OoUYe3d3iqSnJwMf39/JCQkmM00ZrV33wU++ujh6w4dgO3b5RRIqqLT6RAdHa3av4CQ82CWSCbmiWRinkgWZ8ySoTdISkqCn59fnuvynqPcWJrO2/X6SJcVFRWFqKgoadtzln/cpH7MEsnEPJFMzBPJouYsuXRzVKBvTM5JGRITAStmPSPXo9VqneqvH6RezBLJxDyRTMwTyaL2LLl0c1SgKwYrVgSCgkzH+DBY1di2bRu2bdsmZVtCCCQnJxcsT0Rglkgu5olkYp5IFrVnyaWbI7tnqwMeTsqQHR8GqxoeHh7w8PCQsi29Xo+LFy8WLE9EYJZILuaJZGKeSBa1Z8nu2ep27dqFX3/9Fb///juuXr2KW7duwdvbGyEhIahbty7atGmDHj16ICwsTGa9RathQ2DHjoev2RwREREREbksm84c3bt3D9OnT0dERAQ6dOiAjz76CHv27MG1a9fg4+OD1NRU/P3331i2bBnGjBmDihUrok+fPlY9hNMp5TxzxEkZitysWbNQo0YN1f71gVzDli1bULJkSZMHDBMREZHrsbo5+uqrr1C1alW8++678PPzw4cffohff/0VSUlJuH//Pq5evYrbt28jIyMDZ86cwaJFi9CvXz9s27YNrVu3Ru/evXHp0qXCPBb5cjZHN28C1645ppZiKDk5GTNnzsT48eOND1YFAEVRjF8ajQZly5ZFp06dpD47aP369Xj00Ufh5eWFypUr49tvv0VmZqZV7502bRp69uyJ0qVLQ1EUTJ48WVpdMuzevRuKouCnn35ydCkFotfrsXDhQvTs2RPh4eHw8fFBnTp1MHXqVKSmplq1jY8++ghNmzZFSEgIvLy8UK1aNYwbN86sCerSpQuqVq2K6dOnF7ju7A8uJioo5olkYp5IFjVnyernHLm7u2PgwIF46623UKdOHat38ODBAyxbtgzTp0/H8OHDc334pEy2zGWeJyGAwEAgKenh2M8/A716FbhGyt9nn32GSZMm4caNGyb/yBRFQceOHTFs2DAIIXDp0iV8+eWXiI+Px6ZNm9C1a9cC7Xfz5s3o3r07oqKiMHDgQERHR2Pu3LkYM2YM5s2bl+/7FUVBWFgY6tevj61bt2LSpElO1SDt3r0bbdu2xY8//og+ffo4uhy73b17F76+vmjatCl69OiB0NBQHDhwAIsWLULr1q2xc+dOKIqS5zaeeuophISEoEaNGvD19cXp06fx7bffIjQ0FH/99Rd8fHyM686bNw9vvPEG4uLizB5ATERERM7Lpt5AWOns2bPWrmpRZmamuHjxYoG2Ya2kpCQBQCQmJhZ8Y1FRQmS1SVlfEycWfJtklXr16okhQ4aYjQMQL774osnYiRMnBADRqVOnAu+3Vq1aon79+iIjI0MIIYROpxOvvfaaUBRFnD59Ot/3X7p0SQghxM2bNwUAMWnSpALXdOXKFZGQkFDg7QghxK5duwQA8eOPP0rZnqOkpaWJ33//3Wx8ypQpAoDYvn27Xdv96aefBACxYsUKk/EbN24IrVYr5s+fb9d2hcjK0q1bt4ROp7N7G0QGzBPJxDyRLM6YJUNvkJSUlO+6Vl9WV716dXubNQBZc55Xrly5QNuwlZBxf5Clh8FSobt06RJOnDiBDh06WLV+3bp1UapUqQJfunnq1CmcOnUKY8aMgZtb1nwlQgh07twZQgirLkWrVKlSgWqwZMeOHShbtiwGDx6MXbt2Fcn0mBcvXkTfvn0RFBQEb29vNG3aFJs2bTJb74svvkDt2rXh7e2NwMBAPPbYY1i+fLlxeUpKCsaNG4dKlSrB09MToaGh6NixI44WcIITDw8PNG/e3Gz8ySefBACcPn3aru0avn937twxGQ8NDUW9evWwbt06u7YLZGXpypUrqp3elJwL80QyMU8ki9qzZPdsdR988AGioqLQunXrXNfZt28fdu3aVSSX0hUaTuftEPv37wcAPJrz889FYmIiEhMTUbVqVeNYUlISMjIy8n2vl5cXSpYsCQA4duwYAOCxxx4zWSc0NBTly5c3Li9qnTp1wksvvYQlS5Zg+fLliIiIwKhRozBixAiUK1dO+v5u3LiB5s2b4/79+3j55ZcRHByMRYsWoWfPnvjpp5+MDci3336Ll19+GX369MErr7yC1NRUnDhxAn/88QcGDRoEAHjuuefw008/YezYsahVqxZu376N3377DadPnzZ+f+/fv4/79+/nW5dWq0VgYGCe68TFxQEASpUqZdWxCiFw+/ZtZGZm4ty5c5gwYQK0Wi2ioqLM1m3YsCF+/vlnq7ZLREREKmTv6SlFUcSUKVPyXGfq1KlCo9HYuwu7GU6dSbkM6fRp08vqACH+/bfg26U8vffeewKASElJMVsGQIwePVrcvHlTxMfHiz/++EO0b99eABCffPKJcb02bdoIAPl+DR8+3Pie2bNnCwAiNjbWOJaZmSmOHTsmHnvsMdG0aVOrj0HmZXUGGRkZYt26deKJJ54Q7u7uQqvVim7duok1a9aI9PR0q7ZhzWV148aNEwDEvn37jGMpKSmicuXKolKlSsZT5b169RK1a9fOc3/+/v5ml0HmNGnSJKu+VxUrVsz3+Dp06CD8/Pysvqz2+vXrJvsoX768WLVqlcV1P/roIwFA3Lhxw6pt52TIUmZmpl3vJ8qOeSKZmCeSxRmzZMtldXafObJGeno6tFptYe6i8FWvDpQsCdy9+3Ds6FGge3fH1VQM3L59G25ubsYzOjnNnz8f8+fPN7728vLCa6+9hnHjxhnHPvnkEyQmJua7r7Jlyxr/+8GDBwAAT09Pk3V8fX3h5eWFlJQUWw5DOjc3N/Ts2RM9e/ZEfHw8lixZggULFqB3794IDQ3FsGHD8NFHH8Hd3b1A+/nll1/QuHFjtGzZ0jhWsmRJjBkzBm+//TZOnTqFOnXqICAgAFevXsWhQ4fQqFEji9sKCAjAH3/8gX///dfks85u2LBhJvvKTYkSJfJc/tFHH2HHjh348ssvERAQkO/2ACAoKAjbt29Hamoqjh07hjVr1uBu9n/v2RjOWt26dQuhoaFWbT8nTuZAMjFPJBPzRLKoOUsFao7ymgkqPT0d+/bts/sXCBmkNGYaDfDII8Bvvz0cY3PkcL169cLYsWOhKAp8fX1Ru3Ztk5nFgKxLoGxl+OU7LS3NOKbValGlShWkpaXl+8t5QaSnpyMhIcFkLCQkJNcch4aG4vXXX8czzzyD119/Hd999x0+/vhjvPvuu1Y3Brm5fPkymjRpYjZes2ZN4/I6depg/Pjx2LFjBxo3boyqVauiU6dOGDRoEFq0aGF8z6xZszB8+HCEh4ejYcOG6NatG4YNG4aIiAjjOhERESav7bFq1Sq89957GD16NJ5//nmr3+fh4WG8t61Hjx5o3749WrRogdDQUPTo0cNkXfHf9dP5zYKXG0OWiGRgnkgm5olkUXuWbGqOcv7y8umnn2LBggVm6+l0Oty6dQupqal45plnClZhAUh7cGjDhqbNESdlKHTBwcHIzMxESkqKxb8+lC9fPt/JGhISEpCenp7vvkqUKAF/f38AQJkyZQAA169fR3h4OICsHMXHx+P69eto3LixrYditf3796Nt27YmY5cuXbI4wYMQArt378b333+P1atXIzU1Fe3bt8fTTz9dsOnrbVSzZk2cPXsWGzduxJYtW7B69Wp8+eWXmDhxIqZMmQIA6NevH1q1aoW1a9di27ZtmD17NmbOnIk1a9YYp12/e/durmdrstNqtQgJCTEb3759O4YNG4bu3bvjq6++KtAxNW/eHGXKlMGyZcvMmiPDmUhr72fKyZCl0NBQk2d3EdmDeSKZmCeSRe1Zsqk50uv1xr+YKooCIYTFmSjc3d1Ru3ZttGvXDu+//76cSu1gqTa7cFKGIlejRg0AWc1BvXr17NpG7969sWfPnnzXGz58OBYuXAgAeOSRRwAAhw8fNjZCQgicOHECV69exZgxY+yqxRr169fH9u3bTcbCwsJMXsfExGDRokVYuHAhYmJiUL58ebz++usYPXq01FnyKlasiLNnz5qNnzlzxrjcwMfHB/3790f//v2Rnp6O3r17Y9q0aXj77beNz6cqU6YMXnjhBbzwwguIj4/Ho48+imnTphmbo48//tjYTOVXV0xMjMnYH3/8gSeffBKPPfYYfvjhB+MsgwWRmpqKpOzPN/vPpUuXUKpUKYsNmjWEEIiLi7P7/UTZMU8kE/NEsqg9Szb9FpH9lxKNRoNXX31V3TPRWSvn5VlXrgA3bwIq/aarQbNmzQBkNSn2Nkf23HNUu3Zt1KhRA9988w2effZZ4yVtP/74IxRFMXloalJSEq5fv44yZcoYzzwVRGBgYK5nw6Kjo/Hqq69i586dcHNzQ48ePTB37lx07ty5UO7r69atGz777DMcOHDA+L24d+8evvnmG1SqVAm1atUCkHVvWHBwsPF9Hh4eqFWrFjZv3oyMjAy4u7vj7t27Jp9PaGgoypYta3Lpor33HJ0+fRrdu3dHpUqVsHHjxjwvezxz5gy8vb1RoUIF4/EoigJvb2+T9VavXo3ExESzGQsB4MiRI8bPg4iIiFyP3X9ivXTpUoHva1CNyEigRAngv5v1AWRdWteli+NqcnERERGoU6cOduzYgVGjRtm1DXvuOQKA2bNno2fPnujUqRMGDBiA6OhofP/99xg9erTxnhsAWLt2LUaOHIkFCxZgxIgRxvElS5bg8uXLxqmp9+7di6lTpwIAhg4danLWxVpHjhzB1atXMXPmTAwfPlzKvXyrV682ngnKbvjw4ZgwYQJWrFiBrl274uWXX0ZQUBAWLVqES5cuYfXq1cbT5J06dUJYWBhatGiB0qVL4/Tp0/jf//6H7t27w9fXF3fu3EH58uXRp08f1K9fHyVLlsSOHTtw6NAhfPLJJ8Z92nPPUUpKCjp37ozExES8+eabZs9gqlKlikkjU7NmTbRp0wa7d+8GAJw7dw4dOnRA//79UaNGDWg0Ghw+fBhLly5FpUqV8Morr5hsLz4+HidOnMCLL75oU51ERESkIoU2Z54DGabrs3YqX6s0a2Y6nfdbb8nbNlk0Z84cUbJkSXH//n2TcQD5Tg1dUGvXrhWPPPKI8PT0FOXLlxcvvfSSSE1NNVlnwYIFAoBYsGCByXheU4jv2rXLrnru3r1r55GYM0zlnduXYfruCxcuiD59+oiAgADh5eUlGjduLDZu3Giyra+//lq0bt1aBAcHC09PT1GlShXx5ptvGqfKTEtLE2+++aaoX7++8PX1FT4+PqJ+/friyy+/LPBxXLp0yeop2oXIyk2bNm2Mr2/evCnGjBkjatSoIXx8fISHh4eoVq2aGDdunLh586bZ/ubNmye8vb1FcnKy3TXrdDpx+fJlp3pqOKkX80QyMU8kizNmyZapvBUhCnZjzoEDB7Bjxw78+++/JpfJGCiKYjLlclFITk6Gv78/kpKS5N2c/t57wLRpD1/Xrw/89ZecbZNFSUlJiIiIwKxZszB69GhHl0PFXIMGDRAVFYVPP/3U0aUQERGRDWzpDexujjIzMzFw4ECsWbMGQgjjBA3GDf/3WlEU6HQ6e3ZhN8MHkJiYKO/Sv337gNatTcf+/Rf4b3YzKhwzZ87EggULcOrUKYfNeKLX63H16lWUL19elbOuUMFt2bIFffr0wcWLFwt0SSOzRDIxTyQT80SyOGOWbGmO7K74k08+werVqzFy5EgcPnwYQgiMGzcOBw4cwMyZMxEQEIC+ffviwoUL9u6iwAp4UsxU06ZAzimlt22Tt32yaPz48Thz5oxD/3EJIZCQkCA3T6QqXbp0wd27dwt8rxezRDIxTyQT80SyqD1Ldv/GuWzZMtSpUwffffcdHv1vquuAgAA0adIEb775Jvbu3YuNGzdi69at0op1KHd3IOdMYq5ybEREREREZH9zdP78eURFRRlfK4qCjIwM4+vatWvj8ccfx7x58wAAH3zwAT788EMkJCTYX62jde5s+nr7dkDWg2aJiIiIiMih7G6OPDw8TJ4PUrJkScTHx5usU7FiRZw7dw4AMHnyZEyePBm3bt2yd5c2MzywVpqczdGtW3wgbDGgKArCwsLk54mKHWaJZGKeSCbmiWRRe5bsfs5ReHg4rly5Ynxdo0YN7N271zgJAwAcPHgQQUFBAIBdu3YBgPEBjEVB+n0qlSoB1asD//zzcGzrVsDCwyLJdWg0GoSFhTm6DHIBzBLJxDyRTMwTyaL2LNndPbRp08bYDAFA//79cfbsWfTo0QNz587FwIED8dtvv6HLfw9KbdOmDdq0aQMvLy85lVuhUGbJy3n2iPcduTydTocLFy4U+ayL5HqYJZKJeSKZmCeSRe1ZsvvM0ahRo6DT6XDt2jWUL18eL730Enbv3o2NGzdi8+bNAIDGjRtjxowZ0op1Cp07A1988fD1gQNAcjIg63lK5JRSUlIcXQK5CGaJZGKeSCbmiWRRc5bsbo4effRR42QLAODu7o7169fj8OHDuHDhAipWrIjGjRs7zfzm0kRFAR4eQHp61uvMTGDnTuCJJxxZFRERERERFZD0zuWxxx5D//790bRpU9drjADAxwdo2dJ0jJfW2ezWrVsYO3YsfvzxRzx48MDR5RARERERyW+OnEmhzZJh6b4jlT7oylEWLFiAuXPnol+/fggODsbgwYOxceNGpBvOyDkRRVEQHh6u2llXyHkwSyQT80QyMU8ki9qzpIgCPL721KlT+N///odDhw7hzp07Fm+8UhQFFy5cKFCRtkpOToa/vz+SkpLgVxj3Ap04AdSvbzr2zz9AtWry9+Wi6tWrh+joaONrNzc3ZGZmwt/fH7t27UKDBg0cWB0RERERuQpbegO7zxzt2bMHDRs2xFdffYXjx48jNTUVQgizL70DH5JaaLNk1K0LlCljOrZlS+HsywWdPXvWpDECgMzMTABAUlKSQzNjiU6nw5kzZ1Q76wo5D2aJZGKeSCbmiWRRe5bsbo4mTJiAzMxMfPfdd3jw4AGuXLmCS5cuWfxyOYoCdOpkOsb7jqy2cuVKaLVai8sqVaqERx99tIgryl9qaqqjSyAXwSyRTMwTycQ8kSxqzpLdzdHx48cxYMAAjBo1KtdfdF1azvuOdu0C0tIcU4uKCCGwdOlSi39N0Gq1GDp0qGqvUSUiIiIidbO7OfLx8UFoaKjMWtSlY8esM0gG9+8Dv//uuHpU4vjx4zh//rzFZTqdDgMGDCjiioiIiIiIstjdHHXr1g379u2TWYt0hTqVeKlSQMOGpmO8tC5feV1SV6tWLdSqVauIK8qfRqNBRESEa05NT0WKWSKZmCeSiXkiWdSeJburnj17Nu7cuYOXX34Z9+/fl1mTNIV+eZalKb0pV3ldUqfRaDB06FAHVJU/RVHg5+fHy/2owJglkol5IpmYJ5JF7Vmyeirvdu3amY3duXMHx48fh4+PD6pXr25xajxFUfDrr78WvFIbGKbrS0hIQGBgYOHtaN8+oHVr07Hr14GwsMLbp4odOHAAzZs3z3X5xYsXUbly5SKsyDo6nQ6nTp1CrVq1iuf9dSQNs0QyMU8kE/NEsjhjlmyZytvN2o3u3r0712V3797F0aNHLS5Ta9dolaZNAV9fICXl4di2bcCwYY6ryYmtWLHC+Dyj7BRFwaOPPuqUjZGBWqejJOfDLJFMzBPJxDyRLGrOktWX1en1eru+1Pzh5MvdHejQwXSMl9ZZpNPpsGLFCrPGyMBZL6kjIiIiouJDnXdKOZOc9x1t2wY42UNMncGePXtw69atXJf37du3CKshIiIiIjInrTm6ePEijh07hosXL8raZIEVySwZOZujW7eAY8cKf78qY7ikLieNRoOWLVuibNmyDqjKOhqNBpGRkaqddYWcB7NEMjFPJBPzRLKoPUsFqjopKQmvvPIKAgMDUa1aNTz22GOoVq0aAgMDMW7cOCQlJcmq03lVqgRUr246xkvrTKSnp+OHH36weEmdXq/HkCFDHFCVbTw8PBxdArkIZolkYp5IJuaJZFFzluxujuLj49G4cWN88cUXUBQFbdq0Qb9+/dCmTRsoioLPP/8cjRs3Rnx8vMx6baIvqsvbcp49WreuaParEtu3b0dycrLFZVqtFk899VQRV2QbvV6P6OjoossTuSxmiWRinkgm5olkUXuW7G6O3n77bZw7dw4TJkzAlStXsHPnTqxYsQI7d+7ElStXMH78eJw7dw7vvPOOzHqdU/fupq///BM4d84xtTih5cuXW7ykTqvVomPHjggODnZAVUREREREpuxujjZs2IB27drho48+go+Pj8kyHx8fTJ8+HVFRUVi/fn2Bi3R67dsDISGmY8uXO6YWJ3P//n2sXbvW4iV1Op0OgwYNckBVRERERETm7G6O7t27h6ZNm+a5TrNmzXD//n17d6Eebm7AgAGmY0uXAtY9X9elbdq0CQ8ePLC4zMPDA7169SriioiIiIiILLO7OapTpw5iYmLyXCcmJgZ16tSxdxcFVqSzZOScVOD8+azL64q55cuXW3w6slarRffu3fN9SrEz0Gg0qFu3rmpnXSHnwSyRTMwTycQ8kSxqz5LdVb/zzjv46aefsGPHDovLt23bhp9++gnvvvuu3cWpSqNGQNWqpmPLljmmFieRnJyMTZs2WXwQsNouqUtPT3d0CeQimCWSiXkimZgnkkXNWTK/S95KSUlJ6NSpEzp37oyOHTuiZcuWKF26NG7cuIF9+/Zhx44d6NGjBxITE7F48WKT9w4bNqzAhVujSGfJUJSss0eTJz8cW7kS+OQTwN296OpwIj///DMyMjIsLitRogS655zIwknp9XqcPXsWdevWtXgWjMhazBLJxDyRTMwTyaL2LNndHI0YMQKKokAIgW3btmHbtm1m62zYsAEbN240vhZCQFGUImuOitzgwabN0c2bwPbtQLduDivJkZYtWwatVmt25sjNzQ29e/dGiRIlHFQZEREREZE5u5ujBQsWyKzDNVStCjRpAvzxx8OxZcuKZXN069Yt/PrrrxYvqcvMzMTAgQMdUBURERERUe7sbo6GDx8usw7XMWSIaXO0di2QkgL4+jquJgdYvXq1xcYIAPz8/NCxY8cirqhg1HhamJwTs0QyMU8kE/NEsqg5S+qcRsJKDvnG9OsHZN/vgwfAzz8XfR0OtmzZMouzlLi5uaFfv37w8PBwQFX20Wq1qr1ulpwLs0QyMU8kE/NEsqg9Sy7dHAlHPGcoNBTo3Nl0rJjNWnft2jX89ttvFifEyMzMVNUsdUBWjpKTkx2TJ3IpzBLJxDyRTMwTyaL2LLl0c1Sks9Vll/OZR9u3A3FxjqnFAX788UcoimJxWalSpdC6desirqhg9Ho9Ll686Lg8kctglkgm5olkYp5IFrVnyaWbI4fp2RPw8Xn4Wq/Pmta7mFiyZInFvxa4ublh4MCBqj3NSkRERESujc1RYfDxAXr3Nh0rJpfWXbx4EUePHrXYHKnxkjoiIiIiKj7YHBWWnJfWHT4MnD3rmFqK0MqVKy1OxAAA5cuXR5MmTYq4Ijm8vLwcXQK5CGaJZGKeSCbmiWRRc5Zcujly6OVb7doBpUubjhWDs0dLly61eI2pVqvFkCFDcr0XyZlptVrUqFGDlwNSgTFLJBPzRDIxTySL2rNkd3N06tQpfP7557h586bF5fHx8fj8889x+vRpm7c9b9481KtXD35+fvDz80OzZs2wefNmm7fj0BvB3NyAnA86XboUUOnMHdY4efJkrt9vnU6HAQMGFHFFcuj1ety+fVu1NxaS82CWSCbmiWRinkgWtWfJ7uZoxowZmDlzJoKDgy0uDw4OxuzZszFr1iybt12+fHnMmDEDR44cweHDh9GuXTv06tULJ0+etGk7Dp9CcPBg09eXLgEHDjimliKwcuXKXP9KULVqVdSrV6+IK5JDCIErV644Pk+keswSycQ8kUzME8mi9izZ3Rzt27cP7du3z/X+Eq1Wi/bt22Pv3r02b/vxxx9Ht27dUK1aNVSvXh3Tpk1DyZIlcfDgQXvLdYyGDYHISNMxF720TgiBpUuXQqfTmS3TarUYOnSoKi+pIyIiIqLiw83eN8bFxSE8PDzPdcqVK4fr16/buwsAWZdj/fjjj7h37x6aNWtmcZ20tDSkpaUZXycnJxvfa/hlXVEUaDQa6PV6k07WMJ7zl/rcxjUaDRRFsTgOmF/Kpxk8GMrEicbXYtUq6GfPhtbbG0IIs/W1Wq1ZjbmNO+yYLIwfPnwYMTExsESn06Fv375m23f2YzLUKISAEMJkW2r9PmU/JlfJnpqOyVKW1H5MlmrnMRXdMWXPk6scU84aeUxFc0zZ8+Qqx+SK3yc1HFPOn03OcEyW/nifG7ubIx8fH8THx+e5Tnx8vN2zVURHR6NZs2ZITU1FyZIlsXbtWtSqVcviutOnT8eUKVPMxk+fPg1fX18AQFBQECpUqICrV68iISHBuE5YWBjCwsIQExODlJQU43h4eDiCg4Nx7tw5pKamGscjIiLg5+eHU6dOmXzQkZGR8PDwQHR0tEkNdQcMgDZbc6Tcvo1/P/0U4e++i5SUFFy8eNG4zMvLCzVq1EBiYiKuXLliHPf19UWVKlUQHx+PuGwPk3XYMdWti/T0dJzNNvvel19+CTc3N2RmZiKnunXrIjQ01GQ7ajgmrVaLunXr4u7du0hJScHJkyehKIqqv0+GY3Kl7KnpmLRarUmWXOGYXPH7pJZjOn/+vEmeXOGYXPH7pJZjun37tjFPZcqUcYljcsXvkxqOKTY21pglPz8/pzimu3fvwlqKsPOCwE6dOuHYsWM4d+4cAgICzJYnJiaiWrVqeOSRR7Bjxw6bt5+eno7Y2FgkJSXhp59+wnfffYc9e/ZYbJAsnTkKDw9HQkIC/Pz8ADi4627fHsquXcYx0aABlCNHICysr8a/JOj1eoSHh+PGjRvISaPRYMaMGXj99ddVdUzZayxuf/HhMfGYeEw8Jh4Tj4nHxGNypWNKTk5GUFAQkpKSjL1BbuxujtatW4cnn3wS9evXx//93/+hdevWxmV79uzBK6+8gujoaKxevRpPPPGEPbsw0aFDB1SpUgVff/11vusmJyfD398fiYmJFhu3Ird+PdCrl+nYnj1Ats9Mzfbt22fy/c/p8uXLqFChQhFWJJder0d8fDxCQ0ON/9iI7MEskUzME8nEPJEszpglQ29gTXNkd8W9evXCq6++iuPHj6Nt27bw9vZGREQEvL290a5dO5w4cQJvvPGGlMYIyPqgs58dsobTzJLRvTtQpYrp2KefOqaWQrBixQq4uZlfoakoCpo0aaLqxgjIylFcXJzz5IlUi1kimZgnkol5IlnUnqUCtXOffPIJ1q9fj86dO8PHxwdXr15FyZIl0bVrV2zatAkzZ860a7tvv/029u7di5iYGERHR+Ptt9/G7t27MTjn1NhqodUCL79sOrZuHZDtWk21yszMxMqVKy3eawQAQ4YMKeKKiIiIiIjsY/OEDPv27cPKlSvh5eWFXr16oUePHujRo4fUouLj4zFs2DBcv34d/v7+qFevHrZu3YqOHTtK3U+RGjkSeP994L+Z9CAE8MUXqj+DtHPnTiQmJua6vE+fPkVYDRERERGR/Ww+c3TlyhX4+Pjg7Nmz6NChA65evSq9qPnz5yMmJgZpaWmIj4/Hjh077GqMnOq5Or6+wOjRpmPz5z9sllQqt0vqNBoNoqKiEBYW5oCq5FIUBUFBQc6VJ1IlZolkYp5IJuaJZFF7luyekCEmJgYRERH4+++/c51i21FsuemqSF26BFStCmSf3eOzz4BXXnFYSQWRlpaGUqVK5To94nfffYfRORtCIiIiIqIiVCQTMlSpUgWKoqBu3brQarW5flk6q1BUck4x6HCVKwM5J6j4v/8DbHgwlTPZsmVLro2Rm5sbevfuXcQVFQ69Xo/Y2FjnyxOpDrNEMjFPJBPzRLKoPUtWNUe//fab2Vjp0qXRoEEDtG7d2uSrfv368Pb2hhAC9erVQ6tWraQXbS2nnCVj3DjT15cuARs2OKSUglq+fLnF5ler1aJz584IDAx0QFXyCSGQkJDgnHkiVWGWSCbmiWRinkgWtWfJqtM6nTp1wuLFi01urv/3339zXf/+/fuYMGECtmzZgu3btxe8SlfSsiXw6KPA0aMPxz77zPyMkpO7d+8e1q9fb3GWOp1Oh0GDBjmgKiIiIiIi+1l15mjo0KEYMGAAPrVyZjVvb298/vnn8Pf3x1tvvVWgAl2OopifPdqzBzh2zCHl2GvDhg1ITU21uMzT0xM9e/Ys4oqIiIiIiArGqubo66+/xuLFizFp0iR89913Vm+8VatW2Lhxo93FFZTTzpLRvz+Qcxa3//s/x9Rip2XLlkGr1ZqNu7m5oWfPnihZsqQDqiociqIgLCzMefNEqsEskUzME8nEPJEsas+S1RMyDBo0CIcPH4a/v7/VG79582auN+wXBY2mQM+4LTweHsCLL5qOrVgBxMU5ph4bJSYmYsuWLdBZmEgiMzPT5S6p02g0CAsLc948kWowSyQT80QyMU8ki9qzZFPV1atXR9++ffNdT6/XY8mSJVi1ahUeeeQRe2srMEu/vDuNZ58FPD0fvk5PB+bNc1w9Nli7dq3Fe40AwMfHB126dCniigqXTqfDhQsXnDtPpArMEsnEPJFMzBPJovYs2T3PdkREhMXxzMxMxMfHIyMjA+7u7pg+fbrdxbm0kBBgyJCsB8EazJsHvP024OXluLqssGzZMmg0GrMpGt3c3PDUU0/By8nrt0dKSoqjSyAXwSyRTMwTycQ8kSxqzpLd57v0ej2EEGZf7u7uqFOnDsaMGYMjR46gTZs2Mut1LTkf/nrzJrB4sWNqsVJ8fDx27dplce56V7ykjoiIiIiKD7vPHMXExEgso5iqWxdo3x749deHY1OnAsOHm15y50R+/PHHXJcFBASgXbt2RVgNEREREZE86rxTykqqmCVjwgTT11euAN9845harLBs2TKLn6ubmxv69+8Pd3d3B1RVuBRFQXh4uDryRE6NWSKZmCeSiXkiWdSeJUWo9fG1eUhOToa/vz+SkpLg5+fn6HLyJgTQtm3Ws44MSpcGLlwAfHwcV5cFV65cQYUKFXJdvmfPHrRu3boIKyIiIiIiypstvYFNl9WNGjXK5mIURcH87JMOFCFVzJKhKFmX0rVq9XDsxg1g7lzAyR6gu2rVKosTMQBA6dKl0bJlSwdUVfh0Oh3OnTuHatWqWXy2E5G1mCWSiXkimZgnkkXtWbKpOVq4cCEURYEtJ5sc2RypRsuWQJcuwJYtD8dmzsya7tuG50oVtqVLl1psjNzc3DB48GDVzmdvjdTUVEeXQC6CWSKZmCeSiXkiWdScJZsnZHBzc0O3bt0wfPhwlClTpjBqKp6mTjVtjhISgE8/BSZPdlhJ2Z07dw7Hjx+3uCwzMxMDBgwo4oqIiIiIiOSyqTmaO3cuvv/+e6xbtw6bNm1Cly5dMHr0aPTo0UOVp82cSsOGwJNPAmvXPhybMwd46SUgONhxdf1n5cqV0Gq1Fi9VrFChAh577DEHVEVEREREJI9N10E9//zzOHToEI4fP44XXngBBw8eRO/evVGuXDm8+eabOHXqVGHVaRfVXeb14YdZ9yAZpKQAs2Y5rp7/CCGwZMkSi42RVqvF0KFDVTsjiTU0Gg0iIiLUlydyOswSycQ8kUzME8mi9iwVaLa6jIwM/Pzzz/j++++xfft2CCHQuHFjjB49GoMGDYK3t7fMWq2mqtnqchoyBFi27OHrEiWyZq5z4CWMJ06cQP369XNdHh0djTp16hRhRURERERE1rGlNyhQS+fu7o6+ffti8+bNiI2NxYcffojY2Fg8++yz2LFjR0E2LYUqZqvLafJkIPslig8eANOnO6wc4OEldZbUqFHD5RsjnU6H6OhodeaJnAqzRDIxTyQT80SyqD1LUs53paenY9++fdizZw9u3LgBIQS8vLxkbLr4qVoVGDnSdOzrr4HYWIeUI4TA0qVLLQZco9FgyJAhDqiq6Kn1Hzg5H2aJZGKeSCbmiWRRc5YK1BwdO3YML730EsqWLYuBAwfixIkTeP3113H69Gl06tRJVo3Fz/vvAx4eD1+npwMffOCQUv78809cuXLF4jK9Xo/+/fsXcUVERERERIXD5uYoISEBn3/+ORo0aIDHHnsMX3/9NVq2bImff/4ZV69excyZMxEZGVkYtRYfFSpkPeMou4ULgXPniryUlStXws3NfFJDRVHQoEEDVK1atchrIiIiIiIqDDZNyNCvXz9s2LAB6enpiIyMxMiRIzFs2DCULl26MGu0meGmqzt37sDfiR6iapO4OCAiIuueI4P+/YGVK4usBJ1OhzJlyuDmzZtmyzQaDWbPno3XXnutyOpxFCEEUlNT4eXl5dKz8lHhY5ZIJuaJZGKeSBZnzJItEzLY1BxpNBq4u7uja9euaN68udUFvfXWW1avK4NLNEcAMH68+VTeu3cDbdoUye53796Ntm3bWlymKAquXLmCcuXKFUktjiSEgF6vh0ajcZp/5KROzBLJxDyRTMwTyeKMWSrU5sj4RkWBNW9VFKXIb8oyfAAJCQkIDAws0n1Ldft21gQNd+48HKtTBzh6FHB3L/TdjxkzBgsWLEBmZqbJuKIoaN68OX777bdCr8EZGGZdqVu3Lh92TAXCLJFMzBPJxDyRLM6YJVuaI/ObSfKwYMGCAhVGNgoOBqZOBcaOfTj299/A//4HvPpqoe46IyMDq1atMmuMDAYPHlyo+yciIiIiKmo2NUfDhw8vrDooN889B3z3HfDXXw/HJk0CBgwo1AfD7tixA8nJyRaXKYqCPn36FNq+iYiIiIgcQcpzjqgQabXA3LmmYykpQCHfx7V8+XKLs9RpNBq0a9cOISEhhbp/IiIiIqKiZvU9R/fu3YOPj0+BdiZjG9ZwmQkZshsxAli0yHRs716gVSvpu3rw4AFKlSqF+/fvW1y+YMECjBgxQvp+nZUz3lhI6sQskUzME8nEPJEszpglW+45svrMUeXKlTF79mzcu3fP5oIOHDiALl26YM6cOTa/l/4zcyaQs9F78UUgl3uCCuKXX37JtTFyc3PDk08+KX2fzi49Pd3RJZCLYJZIJuaJZGKeSBY1Z8nq5mjQoEF47733EBYWhuHDh2PDhg0Wn38DAJmZmThy5AhmzJiBunXromXLlrh27Rq6du0qrXBr6PX6It1foSpdGvjgA9Ox6Gjgyy+l72r58uUWZxfRarXo1q2b65yNs5Jer8fZs2ddK0/kEMwSycQ8kUzME8mi9ixZPSHDZ599hhdffBEffvghfvjhByxduhQAUK5cOZQuXRoBAQFITU1FQkICLl26hLS0NAghUKtWLXz77bcYMWKEyVTgZIcXXgDmzwdOnHg49v77WQ+HlfQg3pSUFGzcuNHi9Os6nY6z1BERERGRy7KpW6lWrRoWL16Ma9eu4f/+7//Qs2dPpKWl4ciRI/j111/x+++/4/z586hZsyZeeeUV7NmzB3///TdGjRrFxkgGN7esabyzS062a3KGixcvokuXLpg5cyYuX75sHF+3bl2up0K9vLzQvXt3m/dFRERERKQGNk3lbRAUFISxY8di7H/P38nIyMDt27dRokSJYnfJVZFr1QoYOhRYsuTh2OLFwJgxQIsWVm8mNjYWW7duxdatWzFhwgQ0atQIQ4YMwdq1a6HVas3OHLm5ueGJJ54okgk1nJGzPMSM1I9ZIpmYJ5KJeSJZ1Jwlq2erUxNbZqRQpbg4IDIy66yRQf36wOHDWWeXrBAbG4uKFSsaXxtmE8krDuvXr8fjjz9uX81ERERERA5QKLPVqZEL9n1ZwsKAKVNMx44fB2bMsHoT5cqVM3mOkRAiz8/L19cXnTp1srlUVyCEQHJysuvmiYoMs0QyMU8kE/NEsqg9Sy7dHKl1lgyrjB0L1KljOvbBB8Bff1n1dq1Wi3Llylm1rqIoePDgAQYNGoTVq1fjwYMHNharbnq9HhcvXnTtPFGRYJZIJuaJZGKeSBa1Z8mlmyOX5uYGfPcdkH2ii4wMYPhwwMq55atVq2bVekIIZGZmYt26dejTpw9KlSqFoUOH4tixY/ZUTkRERETklNgcqVmTJsCECaZjJ06YPw8pF1WrVoW7u7vVuzNM0nD//n0sXboUH374odXvJSIiIiJydmyO1G7iRKBePdOx6dOBP/7I960RERF2nfLUarWIjIzEvHnzbH6vWnl5eTm6BHIRzBLJxDyRTMwTyaLmLLl0c6TmaQSt5ukJLFpkOkudXp91eV0+9wZFRERYfNhrXrRaLWrUqIF9+/ahtKQHzzo7wzEXizxRoWKWSCbmiWRinkgWtWepUJqjtLQ0ZGRkFMambaLWG8Fs9sgjwKRJpmNnzwLvvZfn2ypXrmzTbrRaLWrXro29e/ciJCTExiLVS6/X4/bt28UnT1RomCWSiXkimZgnkkXtWbK7Odq7dy8mTpyIO3fuGMdu376Nrl27omTJkvD398eEnPfDFDG1TiFolwkTgMceMx379FNg375c3xIREWH15rVaLerXr489e/YgKCjI3ipVSQiBK1euFK88UaFglkgm5olkYp5IFrVnye7m6OOPP8by5csREBBgHHv99dexdetWVK5cGQEBAZg9ezZ++OEHGXVSftzcsi6v8/R8OCYEMGIEcPeuxbcEBATA19c3301rtVo0bNgQO3fuNPl+ExERERG5Erubo2PHjqFly5bG16mpqfjhhx/QqVMn/PPPPzh79iwqVKhQrG7ad7hatYBp00zHLl4E3nor17dUqlQpz01qtVo0adIEO3bsgL+/v4QiiYiIiIick93N0e3bt00eInrgwAGkpqZi5MiRAABfX1/06NEDZ8+eLXiVZL1x44AWLUzH5s0DtmyxuHpkZCQ0Gssx0Gg0aNGiBbZt22bVGSZXVtyPn+Rhlkgm5olkYp5IFjVnye7mqESJEkhJSTG+3rVrFxRFQZs2bYxjJUuWRGJiYsEqLAC1zpJRIFotsHAh4O1tOj50KHDtmtnqERERFj8njUaDqKgobN68GT4+PoVUrDpotVpUqVKleOaJpGKWSCbmiWRinkgWtWfJ7uaoatWq2LJlC9LS0pCeno6VK1eiVq1aCAsLM64TGxuL0NBQKYXaQ62zZBRY1arA7NmmY7duAQMGADlmEaxcuTIyMzNNxjQaDTp06IBNmzbBO2eTVQzp9XrExcUV3zyRNMwSycQ8kUzME8mi9izZ3Rw988wzOH/+PKpWrYqaNWviwoULxkvqDI4cOYJatWoVuEh7qXWWDCmefx7o1ct07LffzKb3joiIMPmcNBoNunbtivXr16v6AV4yCSEQFxdXvPNEUjBLJBPzRDIxTySL2rNkd3M0evRovPnmm3jw4AGSkpLw/PPPY9y4ccblBw4cwD///IP27dvLqJNspSjAggVAzgkXZs0CNmwwvsw+nbeiKOjZsyfWrFkDz+yz3hERERERFQNu9r5RURTMnDkTM2fOtLi8YcOGSExMLPb3qzhUYCDw449ZEzSkpz8cHz4cOHoUqFQJFSpUgKIoEELgqaeewvLly+Hu7u64momIiIiIHMTu5ig/Hh4e8PDwKKzNW0VRFIfu3yk89hgwZw4wduzDscREiL59sXfaNPx7+zZq1qyJhg0b4vvvv4ebW6FFQrUURUFQUBDzRAXGLJFMzBPJxDyRLGrPkt2X1UVHR+P7779HcnKycezBgwd4/vnnUa5cOVStWhVfffWVlCLtldsU1cXOCy8A/fqZDCmHD+N4584YNGgQTp06hV27dmH9+vUOKtC5aTQaVKhQgXmiAmOWSCbmiWRinkgWtWfJ7qqnTp2K999/32Qe83feeQdff/01UlJScOXKFbz44ovYvn27lELtodZZMqRTFODbb4Fq1UyGXwbQ57//vnbtGvr06YM1a9YUeXnOTq/XIzY2lnmiAmOWSCbmiWRinkgWtWfJ7ubozz//RNu2bY2nzDIzM7FgwQI0btwY8fHxuHTpEkJCQvB///d/0oq1lVpnySgUfn7QrVyJ1BzD8wFUxcPPaty4cdDpdEVdnVMTQiAhIYF5ogJjlkgm5olkYp5IFrVnye7m6ObNmwgPDze+PnToEJKTk/Hcc8/By8sLZcuWRa9evXD8+HEphVLB7UtOxos5xvwArAFQEllhvnLlCvbt21f0xREREREROZjdzZGbmxvS0tKMr3fv3g1FUdC2bVvjWHBwMG7dulWwCkma69ev43sAC3OM1wWwAg/DcP369aIsi4iIiIjIKdjdHFWqVAm7du0yvv7xxx9RuXJlVKxY0Th27do1BAcHF6zCAlDrLBmFpUyZMgCAFwH8nWNZDwAzc6xHWRRFQVhYGPNEBcYskUzME8nEPJEsas+S3c3R0KFDcfz4cTRp0gStW7fG8ePHMWjQIJN1Tpw4gWo5JgEoSmqdJaOwtGrVCuXLl8cDRUFPADnP6b0B4I3AQLRq1coB1TkvjUaDsLAw5okKjFkimZgnkol5IlnUniW7qx47diz69u2Lw4cP47fffkPXrl3xzjvvGJefPHkSx48fR7t27aQUag9OLGBKq9UaJ8iIURQ8CSA9xzozk5Oh5T1HJnQ6HS5cuMA8UYExSyQT80QyMU8ki9qzZHdz5OnpiVWrViExMRFJSUnYuHEjvLy8jMtLly6NY8eO4eWXX5ZSKMnRu3dv/PTTTyhXrhx+AzAmx3KNTgc89RRw/rwjynNaKSkpji6BXASzRDIxTyQT80SyqDlLBT7f5efnZ/KsI4NSpUqhfv368Pf3L+guSLLevXsjJiYGu3btQuflyxHbv7/pCgkJwOOPA3fuOKQ+IiIiIiJHcCvoBu7du4eff/4Zf/31F5KTk+Hn54dHHnkETzzxBHx8fGTUSIVAq9UiKioq60W/fsCDB8D69Q9XOHMma/yXXwC3AseEiIiIiMjpFei33tWrV2PMmDG4c+eOyYOeFEVBQEAAvv32W/Tu3bvARdpLrbNkFDmtFli2DGjRAjhx4uH49u3AuHHAF18AxfizVBQF4eHhzBMVGLNEMjFPJBPzRLKoPUuKsPPxtfv370ebNm2g1WoxfPhwtG3bFmXKlEFcXBx27dqFRYsWQafTYc+ePWjWrJnsuvOUnJwMf39/JCUlwc/Pr0j3rWqxsUDjxsCNG6bjM2YA48c7piYiIiIiogKwpTewuznq0aMHdu/ejd9//x3169c3W37ixAk0b94cbdu2xYYNG+zZhd0MH0BCQgICAwOLdN+qd/AgEBUFZHvALwDgu++A0aMdUpKj6XQ6nDt3DtWqVYNWq3V0OaRizBLJxDyRTMwTyeKMWbKlObJ7QoYDBw6gf//+FhsjAKhXrx769euH/fv327sLcoSmTYEFC8zHx4wB1q4t+nqcRGpqqqNLIBfBLJFMzBPJxDyRLGrOkt3N0f3791G6dOk81yldujTu379v7y7IUQYOBObMMR3T67PGd+1yTE1ERERERIXM7uaoUqVK2L59e57r/Prrr6hUqZK9uyBHevVV4O23TcfS0oBevYCjRx1TExERERFRIbK7OerXrx+OHDmC4cOH499//zVZdv36dYwYMQJHjhxB/5zP0ClCGk2BH+NUvE2bBjzzjOlYSgrQpQvwzz+OqckBNBoNIiIimCcqMGaJZGKeSCbmiWRRe5bsnpDh/v37aNu2LQ4dOgQPDw9UrVoVpUuXxo0bN3D+/Hmkp6ejcePG2LVrF0qUKCG77jxxtjqJdLqs5x2tWWM6XrEi8PvvQLlyjqmLiIiIiMgKRTIhg7e3N/bu3YvJkyejfPnyOHXqFHbt2oVTp06hfPnymDJlCvbs2VPkjVF2Op3OYft2GYZnILVtazp++TLQuTOQkOCYuoqQTqdDdHQ080QFxiyRTMwTycQ8kSxqz1KBznd5enpi4sSJOH/+PJKSknDlyhUkJSXh/PnzeP/99+Hp6SmrTnIkLy/g55+BRx81HT95EujUCUhMdEhZRUmt/8DJ+TBLJBPzRDIxTySLmrMk7WJAX19flCtXDr6+vsaxkSNHws3NTdYuyJH8/IDNm4Hq1U3HjxwBOnYsFg0SEREREbm2Qr9Tys5bmsgZhYYC27aZ32d05EjWGaQ7dxxSFhERERGRDOqcRsJKap0lw6lVrJj1rKOyZU3HDx/OOoPkgg2SRqNBZGQk80QFxiyRTMwTycQ8kSxqz5I6qybHqlYN2L27WDVIHh4eji6BXASzRDIxTyQT80SyqDlLLt0c6fV6R5fguqpVy/0MkotdYqfX6xEdHc08UYExSyQT80QyMU8ki9qz5NLNERWy6tWzGqQyZUzHDx3KmubbhRokIiIiInJ9bI6oYKpXz7rELmeD9OefWZfY3brlkLKIiIiIiGxl0zzb3t7eNm08IyPDpvVJpQwNUlQUcP36w/HDh4HWrbNmuCtf3lHVERERERFZRRE2zLVdqVIlKIpi804uXbpk0/rTp0/HmjVrcObMGZQoUQLNmzfHzJkzERkZadX7k5OT4e/vjzt37sDf39/meslOZ88CbduaNkgAUKECsH27+TOSVEIIAb1eD41GY1f+iQyYJZKJeSKZmCeSxRmzZOgNkpKS4Ofnl+e6NjVHRaVLly4YMGAAGjVqhMzMTLzzzjv4+++/cerUKfj4+OT7fjZHDvTPP1mX08XGmo6HhABbtwINGjimrgIQQiA1NRVeXl5O84+c1IlZIpmYJ5KJeSJZnDFLqm+Ocrp58yZCQ0OxZ88etG7d2mx5Wloa0tLSjK+Tk5MRHh6OmzdvIjAwEACgKAo0Gg30er3Jg2kN4zqdzmSbuY0bumBL44D5DHm5jWu1WmNnnXM8Z425jTvtMV2+DE3XrlDOnDFZLvz8oF+3DmjVSlXHlJmZiejoaNSuXRtarTbX2tV0TC6bPSc/Jp1OZ5YltR+Tpdp5TEVzTOnp6Th58qQxT65wTK74fVLLMWVmZhrz5Obm5hLH5IrfJzUcU/YsabVapzim5ORkBAUFWdUc2XTPkaMkJSUBAIKCgiwunz59OqZMmWI2fvr0afj6+hrfW6FCBVy9ehUJCQnGdcLCwhAWFoaYmBikpKQYx8PDwxEcHIxz584hNTXVOB4REQE/Pz+cOnXK5BsRGRkJDw8PREdHm9RQt25dpKen4+zZs8YxrVaLunXrIiUlBRcvXjSOe3l5oUaNGkhMTMSVK1eM476+vqhSpQri4+MRFxdnHHfaY7pzB9ovv0SVsWPhfeqUcR0lORlKly6ImT0bols31RzT3bt3kZCQgJMnT0JRFNf5Prli9pz8mLRarUmWXOGYXPH7pJZjOn/+vEmeXOGYXPH7pJZjun37tjFPZcqUcYljcsXvkxqOKTY21pglPz8/pzimu3fvwlpOf+ZIr9ejZ8+euHPnDn777TeL6/DMkZMeU0oKNE8+CWX3bpP1hFYLsWABNEOHquKYeOaIx8QzR8Xr+6SWY+KZIx4TzxwVv++TGo6JZ44K2Ysvvoi///4718YIADw9PeHp6Wk2bviGZGf4sCytW9TjiqJYHM+tRlvHHX5MAQHA5s3AgAHAunUP19HpoAwbBly/Ds2bbwIW6ne2Y3JzczPLk8t8n6yokcdUuFnKa31nPyZbx3lMco/JUp7UfkyFNc5jyns8e54M66n9mAqrRlvHi9sxWfrZ5Ohjym25JU595mjs2LFYt24d9u7di8qVK1v9PltuuqIikJkJPPMMsHCh+bIxY4C5cwE3p+/TiYiIiEiFbOkNnPIhsEIIjB07FmvXrsXOnTttaoxyboecgJsbMH8+8Oqr5su++Qbo0QNITi76uqwkhEBycjLzRAXGLJFMzBPJxDyRLGrPklM2Ry+++CKWLl2K5cuXw9fXF3FxcYiLi8ODBw9s2k7OayHJgTQa4JNPgNmzzZdt3Qq0bAlkuynRmej1ely8eJF5ogJjlkgm5olkYp5IFrVnySmbo3nz5iEpKQlRUVEoU6aM8WvVqlWOLo0KQlGAN94AfvwR8PIyXRYdDTRtChw75pjaiIiIiKjYs/pGj9j/HupZrlw5aLVa42trVKhQwez9eVHraTiyUp8+QPnyQM+ewM2bD8f//TfrGUirVgHduzuuPiIiIiIqlqxujipVqgRFUXD69GlUr17d+Do/iqIgMzMTlSpVgkajwalTp1C9evUCFU0uoGlT4OBBoFs3INv8+bh3L6tpmjMHePnlrLNNTsAr55kuIjsxSyQT80QyMU8ki5qzZHVzNGzYMCiKAn9/f5PX9r6/KNgybR85QEQEsH8/0Ls3sGfPw3G9Hhg3LusSu6++Mr8Er4hptVrUqFHDoTWQa2CWSCbmiWRinkgWtWfJqafytpdhur7ExEQEBAQ4uhzKT1oa8PTTwNKl5ssaNwbWrAHKlSv6uv6j1+uRmJiIwMDAXOfjJ7IGs0QyMU8kE/NEsjhjlopkKu/Fixdj69at9r69SLhg3+eaPD2BxYuByZPNl/35J9CwYdYZJgcRQuDKlSvMExUYs0QyMU8kE/NEsqg9S3Y3R6NHj8aWLVtk1kLFmaIAkyYBq1cDPj6my27cAKKigG+/dUhpRERERFQ82N0clSlTBpmZmTJrIcq6/+jgwaz7kbLLyADGjAFeeAFIT3dMbURERETk0uxujnr27Int27cjLS1NZj1EQJ06wKFDQKdO5svmzQPatweuXSvSknx9fYt0f+S6mCWSiXkimZgnkkXNWbJ7QoakpCS0a9cOYWFhmDVrFmrXri27NrvZctMVObHMTODtt4GPPzZfFhICLFsGdOxY9HURERERkWrY0hvY3RxFREQgLS0NcXFxALLmMw8NDTWb3ltRFFy4cMGeXdiNs9W5mGXLsmazS001HVcUYOJE4P33gUKctl2v1yM+Ph6hoaFOM+sKqROzRDIxTyQT80SyOGOWimS2Or1eDw8PD1SoUAEVKlRAaGgogKwZKrJ/6fV6e3dRYGqdJYNyGDwY+P13oFIl03EhgClTgC5dgPj4Qtu9EAJxcXHMExUYs0QyMU8kE/NEsqg9S1Y/BDanmJgYiWUQ5ePRR4GjR4Hhw4ENG0yX7dgBNGgArFwJtGrlmPqIiIiISPWc41wXkTUCA4F164BZs8wvo/v3X6Bt26xlDjxbSURERETqZXdzFBERgc8//zzPdebOnYuInFMyF6Gc9z+RC1AU4M03gd27gbJlTZfpdMD48UDXrsD16xJ3qSAoKIh5ogJjlkgm5olkYp5IFrVnye7mKCYmBnfu3MlznTt37uDy5cv27qLAnOUmMCoELVsCx44BHTqYL9u2DahXz/zyOztpNBpUqFCBeaICY5ZIJuaJZGKeSBa1Z6lQq05KSoKnp2dh7iJPjpwMgopAaCiwZUvWpAw5/zpx6xbQsyfw4ovAgwcF2o1er0dsbCzzRAXGLJFMzBPJxDyRLGrPkk0TMuzdu9fkdUxMjNkYAOh0Oly5cgXLli1D9erVC1ZhAah1lgyygVabNZ13y5bA0KFZ9x5l9+WXWZfgrViRdTbJDkIIJCQkoFy5cgWvl4o1ZolkYp5IJuaJZFF7lmxqjqKioozXDyqKgkWLFmHRokUW1xVCQFEUzJgxo+BVEuWnXTvgxAngmWeAtWtNl506BTRqBMycCbz8MqDS07xEREREVLhsao4mTpwIRVEghMAHH3yANm3aICoqymw9rVaLoKAgtG3bFjVr1pRVK1HegoOB1auB774Dxo0D7t9/uCw9HXj1VWDTJmD+fKBCBYeVSURERETOSRF2XnvWtm1bjBw5EsOGDZNdU4EZnoKbmJiIgIAAR5dDjnD2LDBwYNakDTn5+QGffQaMGGF+r5IFzvikZ1InZolkYp5IJuaJZHHGLBl6g6SkJPj5+eW5rt3NkTOz5QMgF5aWBrz3HvDxx5aX9+gBfPMNUKZM0dZFREREREXGlt7AOdq5QqLT6RxdAjmSpycwezawfTtQvrz58o0bgdq1geXLgTz+RqDT6XDhwgXmiQqMWSKZmCeSiXkiWdSeJZdujogAZD0LKToaGD7cfFliIjB4MNC3LxAfn+smUlJSCrFAKk6YJZKJeSKZmCeSRc1ZYnNExUNAALBwIbBuHVC6tPny1auzziItW5bnWSQiIiIicl1sjqh46dkTOHkS6N/ffNmtW8CQIUD37sDly0VfGxERERE5lEs3R4oVM5FRMRQcDKxcCaxalfXfOW3enHUW6YsvAJ0OiqIgPDyceaICY5ZIJuaJZGKeSBa1Z4mz1VHxduMG8Pzz5g+ONWjaNOu5SbVrF21dRERERCQFZ6v7j1pnyaAiVLo0sGZN1j1HYWHmyw8ehGjQALfGjoUu+0Nlieyg0+lw5swZ/mwiKZgnkol5IlnUniW3grxZp9Phhx9+wI4dO/Dvv/8iLS3NbB1FUfDrr78WZDdEha93b6BdO+Ctt4BvvzVZpGRkoNTcuRDbtgFffpk1+x2RnVJTUx1dArkQ5olkYp5IFjVnyarm6Nq1ayhXrpzJ2L1799CpUyccPHgQQggoioLsV+gZXqv1ekMqhgICsh4KO3AgMGYMcP68yWLl3DmgY8esyRzmzAHKlnVMnURERERUKKy6rK5Zs2Y4deqUydjUqVNx4MABTJ8+HadPn4YQAps3b8bly5exYMEClC9fHgMHDkR6enqhFE5UaNq2BU6cAMaPB7Ra8+WrVgE1agD/939AZmbR10dEREREhcKq5igkJAQtW7bE3r17jWNr1qxBs2bN8NZbbyEgIADAw9kphg8fjoMHD2Lr1q2YNWtWoRRuDY3GpW+posJUogQwYwZw+DBEkybmy1NSgHHjgEaNgIMHi7w8UieNRoOIiAj+bCIpmCeSiXkiWdSeJauqPnDgAPr164fOnTtj+/btAIDY2Fg0+e+XRu1/f13Pfs9RmTJl0KdPHyxatEh2zVbjJX1UYI88AmX/fuDrr4HAQPPlf/0FNGsGPP00EB9f5OWRuiiKAj8/P/5sIimYJ5KJeSJZ1J4lq5ojDw8PfPXVV/j+++/x999/AwB8fHyMHaGvry8URcG1a9dM3ufn54fY2FjJJVtPrbNkkHPRCYHoZs2gO3UKGDHC8krz5wPVqmXdi8RLSSkXOp0O0dHR/NlEUjBPJBPzRLKoPUs2ne8aOHAgXn31VQBAxYoVjY2Pp6cnqlWrhnXr1hnX1ev12Lp1K8qUKSOxXCLH0Ol0QEgIsGABsHcvUKeO+UrJycDrrwP16gFbthR9kaQKav2fBTkn5olkYp5IFjVnye6LAdu3b4/du3cbD37EiBHYunUr2rVrh/Hjx6Np06b4+++/0adPH2nFEjmFVq2Ao0eBjz8GfHzMl589C3TtCvTsaTbjHRERERE5L7ubo2eeeQavv/46bt++DQB44403MHToUOzevRuzZ8/G4cOH0a9fP0yePFlWrUTOw9096yzRP/8AQ4daXmfDBqBWraxZ75KSirY+IiIiIrKZIrI/nEiCuLg4XL58GZUrV0ZoaKjMTVstOTkZ/v7+uHPnDvz9/R1SA7kOIQRSU1Ph5eWV+82FBw4AL78MHD5seXmpUsDkyVnPT3J3L7RayblZlSUiKzFPJBPzRLI4Y5YMvUFSUhL8/PzyXFf6HHthYWFo0qSJwxojosLg4eGR9wrNmgF//AF8/z1gKfu3bgFjxwJ16wLr1wNy/yZBKpJvlohswDyRTMwTyaLmLKlzAnIr6fV6R5dALkCv1yM6Ojr/PGk0wMiRWZfavf464OZmvs7Zs0CvXkC7dsCRI4VTMDktq7NEZAXmiWRinkgWtWfJwm9vlrVr1w6KomDRokUoX7482rVrZ9X7FEXBr7/+aneBRKrj7581WcOYMVn3G/38s/k6u3cDjz0GDBkCTJ0KVKxY1FUSERERUQ5WN0e7d++Goii4f/++8bU1nOVaQ6IiV706sHYtsGcP8MYblu9HWroU+OEH4PnngXffzZounIiIiIgcwurL6vR6PXQ6HapXr258bc2Xmuc5J5KiTZus+5GWLQMqVDBfnp4O/N//ARERwJQpQEpK0ddIRERERPJnq3MGnK2OZBJCQK/XQ6PRFPxMaGpqViP00UdZD421JCQEeO894NlnAU/Pgu2PnIrULFGxxzyRTMwTyeKMWXLobHVErig9PV3Ohry8su5DOn8eeOUVy9N637yZtSwyEli0CMjMlLNvcgrSskQE5onkYp5IFjVnyeYzR9evX8eDBw9QqVIlaDRZvdWePXuwZ88es3UfeeQR9OzZU06lNjB0hwkJCQgMDCzy/ZNr0el0iI6ORt26daHVauVuPCYGmDQJWLIk9+m9q1fPekZSv36A7P1TkSrULFGxwzyRTMwTyeKMWbLlzJHVEzIAwK1btxAZGYlmzZph69atxvHdu3djypQpZuv7+vriwoULKFWqlC27ISo+KlXKOjv05pvAO+8AGzaYr/PPP8CgQcC0aVlNUu/eWdOGExEREZFUNv2GtXjxYty7dw8zZ840W6YoClasWGH8+vLLL5GSkoIlS5ZIK5bIZdWpk/Vw2N9+A1q2tLzOyZNA377Ao4/yQbJERA6k1+vxySefYMuWLY4uhYgks6k52rJlC2rXro1HHnnE4vL+/fsbv5577jk0btwYv/zyi4w6iRyqyE4Lt2gB7N0LbNqU1QRZcvx41oNkGzcGNm5kk6QyznKJAbkG5skxJk+ejGXLlqFZs2aOLkUq5olkUXOWbGqOoqOjbfpBUK9ePZw8edLmomRR8zeGnIdWqy3a62YVBejWLeu5SGvXAnXrWl7v8GHg8ceBhg2z1lPpk6iLkyLPErk05qno7N+/HyVLlkTp0qVx4cIFuLu7Y8uWLS41Iy7zRLKoPUs2NUcJCQkIDQ01G4+KisLEiRPNxkNDQ5GQkGB/dQXkgrOUkwMIIZCcnFz0eVIU4IkngL/+AlatAmrWtLzesWNZ9yE98kjWA2X5bDGn5bAskUtinorG/fv3MWLECCxcuBBDhgzB+PHj8f7771v8fUjNmCeSRe1Zsqk58vLywr1798zG27Rpg0mTJpmN379/H54OfE6Lnn9JJwn0ej0uXrzouDxpNFkz1UVHA0uXAlWrWl4vOhro3z/rTNOyZZwC3Ak5PEvkUlw5T6mpqZg2bRq2bdvm6FJw6tQpvPvuu+jTpw9mzpyJRo0aIS4uztFlSefKeaKipfYs2dQclS9fHidOnLB6/ePHj6N8+fI2F0VEFmi1wODBwOnTwOLFWVN8W3L6NDBkCFCjBvD111kPniUiKiT379/HrVu3cOvWLVSoUAEDBw5EYmJigbb56quvYsWKFWjSpImkKu332GOPYfjw4QAANzc3jB8/HmFhYQ6uiogKi03NUatWrbB3715cunQp33UvXLiAvXv3onXr1nYXR0QWuLkBQ4cCp04BK1YAtWpZXu/CBeC554CICODjj4GUlKKtk4iKxKJFi6AoivHLy8sLZcuWRefOnfH5558jpZD/7c+aNQshISEICQnBlStXsHLlSjRo0MDu7f34449Yv349fvnlF6n39FSqVMnkc8rta+HChcb33Lt3Dx9++CHq1asHb29v+Pv7o1WrVli8eLHJJUMjRoywatsjRoyQdjxEVDhses7R888/j2+++Qb9+/fHli1bEBQUZHG9hIQEDBw4EHq9Hs8995yUQokcycvLy9ElmNNqgQEDsi65W7MG+PBDwNKZ3evXs56j9NFHwNixwMsvA3z2mMM4ZZZItbLn6YMPPkDlypWRkZGBuLg47N69G+PGjcOcOXOwfv161KtXr1BqGDZsGFr+9wiCIUOGoH79+hbvQ7aGEAJXr17F5s2bUaFCBZll4rPPPsPdu3eNr3/55ResWLECn376qcnzGJs3bw4AuHHjBtq3b4/Tp09jwIABGDt2LFJTU7F69WoMHz4cv/zyC5YtWwatVotnn30WHTp0MG7j0qVLmDhxIsaMGYNWrVoZx6tUqSL1mGTjzyeSRdVZEjZ6/fXXhaIoonTp0mLSpEli165d4uzZs+Ls2bNi165dYuLEiSIsLEwoiiLeeOMNWzcvRVJSkgAgkpKSHLJ/IofQ6YT4+WchHntMiKwJvi1/lSghxEsvCXHxoqMrJiIJFixYIACIQ4cOmS379ddfRYkSJUTFihXF/fv3rd5menq6KFmypEhOTraplooVK4rhw4fb9B5HmT17tgAgLl26ZHF5586dhUajEevWrTNb9sYbbwgAYsaMGRbfe+jQIQFALFiwQGLFRGQvW3oDmy6rA4DZs2dj/PjxuH37Nj788EO0b98eNWvWRM2aNdG+fXt8+OGHuHnzJiZMmIBZs2bJ7eRspNYbwci56PV63L592/nzpNFkPf/ozz+B7duBdu0sr/fgAfDFF1kTOwwYkDUlOBUJ1WSJVMGaPLVr1w7vv/8+Ll++jKVLlxrHo6KiEBUVZbZ+27ZtoSgKbty4AZ1OhwcPHljcrhACU6dORfny5eHt7Y22bdvm+uiOixcvom/fvggKCoK3tzeaNm2KTZs2mayTnp6OiRMnomHDhvD394ePjw9atWqFXbt2mawXExMDRVHw8ccf45tvvkGVKlXg6emJRo0a4dChQ7l+DrY6ePAgtm7dihEjRqBnz55my6dPn45q1aph5syZuX5GasOfTySL2rNkc3OkKAqmT5+OU6dOYcKECYiKikKNGjVQo0YNtGnTBu+88w5Onz6Njz76CIqiFEbNVhMqnUKQnIsQAleuXFFPnhQF6NAB+PVX4I8/sqYDt0Svz5oivFEjoG3brAfPqvQHmVqoLkvk1Ax5ys/QoUMBwKqZ3wyXl4WHhyMyMhIhISEW15s4cSLef/991K9fH7Nnz0ZERAQ6depkNqPtjRs30Lx5c2zduhUvvPACpk2bhtTUVPTs2RNr1641rpecnIxvv/0WUVFRmDlzJiZNmoQbN26gc+fO+Ouvv8z2v3z5csyePRvPPvsspk6dipiYGPTu3RsZGRn5HqM1NmzYACDrkkFL3NzcMGjQICQmJuL333+Xsk9H488nkkXtWbLpnqPsqlWrhmnTpsmshYhka9w46wGxp04BM2cCy5dbnuJ79+6sr1q1gNdfBwYNAtR8vTARGZUvXx7+/v64cOFCvuv6+PigYsWK2LNnD0qXLm3xj5w3b97ErFmz0L17d2zYsMG4zrvvvouPPvrIZN0ZM2bgxo0b2Ldvn/G+pGeeeQb16tXDa6+9hl69ekGj0SAwMBAxMTEmj/945plnEBkZiS+++ALz58832W5sbCzOnTuHwMBAAEBkZCR69eqFrVu3okePHrZ9QBacOnUKAFC/fv1c1zEsO336tMn9RkSkbjafOSIiFapVC1i0CDh/Hnj1VaBkScvrnToFjB4NVKwITJ4M3LhRpGUSUeEoWbKkTbPWVaxYMdcbqnfs2IH09HS89NJLJs3TuHHjzNb95Zdf0LhxY2NjZKhlzJgxiImJMTYhWq3WpDFKT09HiRIl0Lx5cxw9etRsu/379zc2RgCMkx5cvHjR6mPMi+Gz8vX1zXUdw7Lk5GQp+yQi58DmiMgKef0PUlUqVgTmzAFiY4Hp04EyZSyvFx8PTJkCVKgAjBwJHD9etHW6MJfJEjkFa/N09+5dadm7fPkygKwrSLILCQkxaVgM60ZGRppto2bNmibbAoBVq1ahadOm8Pf3h6enJ0qUKIF169YhKSnJ7P05Z7Iz7Legz1cyMHxWeTWU1jRQauNKx0KOpeYsuXRzpNVqHV0CuQCtVosqVaq4Vp4CA4EJE4BLl4Dvv8/9WUnp6cDChcAjj2RN8LB+PaDTFWWlLsUls0QOY8iTRpP3/8qvXr2KpKQkVK1a1TiW2z3BOgf9+165ciUGDBiAypUrY+HChfjtt99w4MABdOrUyeJN3bn9G5J1j4OhecvrwfeGZbVy+/mpMvz5RLKoPUsu3RypdZYMci56vR5xcXGumSdPz6wzQ9HRwMaNuc9wBwC7dmXNhle9OvDJJ4Ckv9AWJy6dJSpy1uZpyZIlAIDOnTsbxwIDA3Hnzh2zdbOfyclNxYoVAQDnzp0zGb9586bZmZuKFSvi7NmzZts4c+aMybZWrVqFqlWrYsWKFXjyySfRokULNG3atNAfYJsbw31Lixcvtrhcp9Nh+fLlCAwMRIsWLYqytELDn08ki9qz5NLNkVpnySDnIoRAXFyca+dJowG6d8+a4e74cWDUqKzGyZKLF4E33gDKlweefTarsSKrFIssUZEx5CkvO3fuxIcffojKlStj8ODBxvEqVargzJkzuHnzpnHs+PHjVs281qFDB7i7u+OLL74wyfJnn31mtm63bt3w559/4sCBA8axe/fu4ZtvvkGlSpWMZ10URYFerzf5ZWr//v04ePBgvvUUhubNm6NDhw5YsGABNm7caLb83XffxT///IO33noLJUqUcECF8vHnE8mi9izZPVsdEbmoevWA+fOz7kn66ivgyy8tT8xw/z7wzTdZX23aAGPHZk0b7sYfK0SOsHnzZpw5cwaZmZm4ceMGdv5/e/cd18T9xgH8k7BRpsiQKSoiKCoq7o0Dt3VQrZa6Z9VaB7VVsNq6qj+trdZRxdE66qq2DlxoHa11DxBUQEFlKFtlJd/fH9cEYhJIIGTxvF+ve6F3l7vv5Z4cebjvPd9z53D69Gm4u7vj6NGjEgUWxo4dizVr1qBnz54YP3480tLS8NNPP8HHx6fcuzW1a9fGnDlzsGzZMvTr1w99+vTBrVu3cOLECXEpcJHQ0FDs2bMHQUFBmDFjBmxtbbFjxw4kJCTg4MGD4i6Bffv2xeHDhzF48GD07dsX8fHx2LRpE3x9fTV292jnzp3o3r07Bg4ciJEjR6Jjx44oKCjAoUOHEBUVheDgYMydO1cjbSOEVB36FkMIkc3eHli0CJg/nxsP6X//A2SMNwIAuHCBm5ydgYkTgfHjgTp11NpcQqq7RYsWAQCMjY1ha2uLJk2aYO3atRgzZozUw9GNGjXCzp07sWjRIsyePRs+Pj7YuXMn9uzZg6ioqHL3tXTpUpiamuKnn37C+fPn0bp1a0RGRqJv374S6zk4OODKlSuYP38+1q9fj/z8fPj5+eHYsWMS644dOxYpKSnYvHkzIiMj4evriz179mDv3r0KtacqODk54dq1a1i9ejV+++03HDx4EIaGhvDz80NERAQ+/vhjjY/nSAhRPR7T1XteZcjJyYGVlRUyMzNhbW2t6eYQHScUCpGcnAwXF5dyH3zWa4wBV64A69cDBw/KHi9JxMCAu4s0ZQr3HBN9gQBAsURUi+KJqBLFE1EVbYwlUW6QnZ0NS0vLMtfV6+RIkTeAEFIBz58DmzZxU1pa2es2bAhMngyEhHBV8gghWqVLly4AoLE7NIQQUtWUyQ20I52rIrpaJYNoF6FQiGfPnlE8lebsDHz9NTde0u7dQOvW8teNjeUGnq1TB/jkE+DyZe4uVDVEsURUieKJqBLFE1EVXY8lvU6O9PCmGNEAxhgyMjIonmQxMQE++gj4+2/gxg3uWSNzc9nr5ucDO3YAHToAjRsD69YBGRnqba+GUSwRVVJVPEVGRiIyMlJFrSK6iq5PRFV0PZb0OjkihKiRvz+wZQvX5e7774H/BlGUKToamDWLu5s0ahRw8WK1vZtEiKYZGxvD2NhY080ghBCtQMkRIUS1rK2BTz8FHjwAoqKA4GDAyEj2ugUFwC+/cKXAvb2BFSuAly/V2VpCCCGEEDG9To6oxCZRBR6PB0dHR4onZfF4XNKzdy+QlMQlPvXry18/Lg4IDQVcXYEBA4DffweKitTXXjWgWCKq9H48rVy5Et7e3jrbz59olqquT6GhoWhd1nOoRO/p+u86vU6OtKV8INFtfD4fjo6OFE+V4eAAzJvHFWc4dw748ENAXjcegQA4dowrBe7iAsydC8TEqLW5VYViiahS6XjKycnBihUrMH/+fIn44vF44onP56NOnTro2bOnSivTHT16FP7+/jA1NYWbmxvCwsJQXFap/1IeP36MoUOHwsbGBubm5ujQoQPOnz+vsrZVVkREBHg8Hq5fv67ppqjElStX0KFDB5ibm8PR0REzZsxAXl4egPKvTxs3bsSwYcPg5uYGHo+HTz75ROZ6s2bNwp07d3D06NGqOgyi5XT9d51utlpBAoFA000gekAgEODJkycUT6rA5wNduwJ79nDPJq1ezZX6lictDfjuO8DHB2jTBti4EcjMVF97VYxiiahS6Xjatm0biouLMWLECKn1evTogV27dmHHjh2YPHky7t69i27duuHEiROVbsOJEycwaNAgWFtbY/369Rg0aBCWLl2KTz/9tNzXJiUloW3btrh06RLmzp2LZcuWIS8vDz179sTFixcr3TYi6fbt2+jevTvevn2LNWvWYPz48di8eTOGDRsGoPzr04oVK3Du3Dn4+vrC0NBQ7n4cHR0xcOBAfPfdd1VyHET76fzvOqaHsrOzGQCWkZGh6aYQPVBcXMxu3brFiouLNd0U/SQUMnbpEmNjxjBWowZjXGkG+ZOJCWPDhzN2/DhjRUWabr1SKJaIKpWOJz8/PzZq1CipdQCwadOmScy7e/cuA8B69uxZ6Tb4+Piwpk2bsqJSn8Uvv/yS8Xg8FhMTU+Zrp06dygwNDdnDhw/F8968ecNcXV2Zv79/hdv0+PFj9ubNmwq/vrTt27czAOzff/9VyfY0KSgoiDk5ObHs7GzxvC1btjAA7NSpU+VenxITE5lQKGSMMVajRg0WEhIid18HDhxgPB6PPXnyRKXHQHSDNv6uE+UGpeNfHr2+c0QI0QE8HtC+PbBtG1eMYetWoG1b+esXFAD79wN9+gBublx3vfv31ddeQrRMQkIC7t69i8DAQIXWb9KkCezs7JCQkFCp/UZHRyM6OhoTJ06UuJMwdepUMMZw4MCBMl//119/oXnz5mhY6u6xubk5BgwYgJs3b+LRo0cVateuXbvg5OSEyZMn499//63QNpR169YtBAUFwdLSEjVr1kT37t3x999/S6xTVFSExYsXo0GDBjA1NUWtWrXQoUMHnD59WrxOSkoKxowZAxcXF5iYmMDJyQkDBw5EYmJipdqXk5OD06dPY9SoURIDYH788ceoWbMm9u/fX+423N3dFX6GRBSLv//+e8UaTIgGyb8vSggh6mZhAYwbx03R0VzCtGsX171OlpcvgVWruKlZM2D0aGDECMDJSa3NJkSTrl69CgDw9/dXaP3MzExkZmaifqkCKdnZ2ShSoACKqakpatasCYBLCACgZcuWEuvUqVMHLi4u4uXyFBQUwMbGRmq++X9jpd24cQMNGjQot03vGzlyJNLS0rBnzx5s2rQJTZo0wbhx4zBq1CjUqlVL6e2V58GDB+jYsSMsLS0xb948GBkZYdOmTejSpQsuXLggLk4QHh6OZcuWYfz48QgICEBOTg6uX7+OmzdvokePHgCAIUOG4MGDB/j000/h4eGBtLQ0nD59Gs+ePYOHhwcAIC8vD/n5+eW2y8jICFZWVgCAe/fuobi4WOpcGRsbo1mzZuWeK2VZWVmhXr16uHz5Mj777DOVbpuQKlf1N7LUT3TrLDMzU9NNIXpAIBCwV69eMYFAoOmmVE+FhYwdO8bYkCGMGRuX3+2Oz2esVy/Gdu1iLC9P062XQLFEVEkUT19++SUDwHJzc6XWAcDGjRvH0tPTWVpaGvvnn39Y9+7dGQC2evVq8XqdO3dmAMqdSnelWrVqFQPAnj17JrXfVq1asTZt2pTZ/v79+zNra2uWk5MjMb9t27YMAPvuu++UfEckvXv3jv3yyy+se/fujMfjMRMTExYcHMwiIyMV/gwq0q1u0KBBzNjYWKIL2YsXL5iFhQXr1KmTeF7Tpk1Z37595W4nMzOTAWCrVq0qs00hISEKnavOnTuLX/Pbb78xAOzixYtS2xs2bBhzdHRU6vpUXrc6xhjr2bMna9SoUbnbIvpHG3/XKdOtTq/vHOlqlQyiXfh8fpX8tZEoyMgI6NePm16/5kqD79gByOsuIxQCp05xU40awODBwEcfAYGBQBkPEasDxRJRJVE8ZWRkwNDQUHxH530///wzfv75Z/H/TU1NMXv2bMyaNUs8b/Xq1chUoNhJnTp1xP9+9+4dAMDExERqPVNTU+Tk5JS5rSlTpuDYsWMIDg7GN998gxo1amDDhg3iynCi7VeUqakpRo4ciZEjR+Lp06eIiIhAREQE9u3bB3d3d0yaNAlffPFFpfYhEAgQGRmJQYMGwdPTUzzfyckJI0eOxJYtW5CTkwNLS0tYW1vjwYMHePTokcw7YmZmZjA2NkZUVBTGjRsn864aAMybNw+jRo0qt22lX1/euXr37p3Kr082NjYqvyNFdIOu/67T6+RIZ6tkEK0iEAjEv8wMDAw03ZzqrVYtYNo0bnrwgEuSfvkFePFC9vpv3gC7d3NT7drcgLQjR3KV7zQw/gLFElElUTwxxspcb+DAgZg+fTp4PB4sLCzg6+uLGjVqSKzTokULpfdvZmYGgOse9778/HzxcnmCgoKwfv16hIaGirsE1q9fH9988w3mzZsnN9kDuC/72dnZEvMcHR3lru/u7o6wsDBMnjwZEyZMwLFjx7BixYpKJ0fp6el4+/atxHNTIo0aNYJQKERSUhJ8fX3x9ddfY+DAgfDy8kLjxo3Ru3dvjB49Gn5+fgC4xGXFihX4/PPP4eDggDZt2qBfv374+OOPJY7Nx8cHPj4+SrVTkXOl6usTY0xnx7khlaPrv+vo1gohClCkfzdRM19fYOVK4Nkz4MwZICQEKOPLFNLTgR9+ANq1A+rVA778knuuSc0ologq5efnw9bWFsXFxcjNzZW5jouLCwIDA9G9e3cEBARIJUYAkJGRgZSUlHKn0gmJ03/P9r18+VJqey9fvpS4yyTP9OnTkZqaiitXruD69et4+PCh+DkZLy8vua/bt28fnJycJCZ5iouLcfToUQwePBiurq7i8uO//vprue1TpU6dOuHJkyfYtm0bGjdujK1bt8Lf3x9bt24VrzNr1izExcVh2bJlMDU1xcKFC9GoUSOJOzDZ2dkKnauMjAzxaxQ9V6q8PmVmZsLOzk5l2yO6RZd/12llcnTx4kX0798fderUAY/Hw5EjRzTdJEKItjIwALp3ByIigJQU7k5S797cmEryJCQA337LJVh+fty/nzxRW5MJUSVvb28AqFT1uQ8++EAq2ZA1zZw5U/yaZs2aAYDUAKkvXrxAcnKyeHl5atSogbZt26JFixYwMDDAmTNnYGZmhvbt28t9Ta9evXD69GmJ6X3R0dGYO3cuXFxcMHDgQERHR2PJkiVITk7G4cOH0adPH4XaV5batWvD3NwcsbGxUssePnwIPp8PV1dX8TxbW1uMGTMGe/bsQVJSEvz8/BAeHi7xunr16uHzzz9HZGQk7t+/j8LCQqxevVq8fObMmQqdqw8++ED8msaNG8PQ0FDqXBUWFuL27dsKnytlJCQkoFGjRirfLiFVTSu71b158wZNmzbF2LFjJT7chBBSpho1uG5zI0dyidL+/VyydO2a/Nfcu8dNX34JtGwJfPghMHw4UOoLDSHarE2bNgC4JEXURUtZFXnmyNfXF97e3ti8eTMmTZok7j6zceNG8Hg8DB06VLxudnY2Xr58CScnJ/GdIVmuXLmCQ4cOYcqUKWWuV9bdoqioKISGhuKff/6BmZkZhg4divHjx6NTp07lHp+yDAwM0LNnT/z+++9ITEwUV5RLTU3Fr7/+ig4dOohLZ79+/VriOYyaNWuifv36SEpKAgC8ffsWfD4fpqam4nXq1asHCwsLie5wFXnmyMrKCoGBgdi9ezcWLlwICwsLAFzZ87y8PPFAsKJ2PH/+HHZ2dhW+85OdnY0nT55gypQpFXo9IZqklclRUFAQgoKCKr0dKshAVIHP58PT05PiSdc4OgIzZnDT48fAnj1coiTjL7xi169z05w53NhLwcHAkCGAAt2DFEGxRFRJFE8WFhZo3Lgxzpw5g7Fjx1ZoWxV55ggAVq1ahQEDBqBnz5748MMPcf/+ffzwww8YP368xF2Dw4cPY8yYMdi+fTs++eQTAMDTp08xfPhwDBgwAI6Ojnjw4AF++ukn+Pn54dtvv61QewDgwoULKCoqwoYNGzBy5MgykyxFbdu2DSdPnpSaP3PmTCxduhSnT59Ghw4dMHXqVBgaGmLTpk0oKCjAypUrxev6+PigS5cuaNGiBWxtbXH9+nUcOHAA06dPBwDExcWhe/fuGD58OHx8fGBoaIjDhw8jNTUVH374ocR2lH3mCAC++eYbtGvXDp07d8bEiRORnJyM1atXo2fPnujduzcYY/D09MT169fRrVs3hIWFSdzVOnbsGO7cuQOAG7Pp7t27WLp0KQBgwIABEon5mTNnwBjDwIEDlW4n0X26/rtOK5MjZRUUFEj8VUVUIUcoFIqLMvB4PPD5fAiFQomHV0Xz3y/eIG8+n88Hj8eTOV+0T0XmGxgYgDEmc/77bZQ3n45JPccEcN0+Si/T9WPSx/NU5jHVrQssWAB88QVw6xYM9u0D27sXvOfPIdfly8Dly2AzZ4LXoQOEQ4aAffCBOFGq6DG9H0t0nuiYKnpMQqFQHE+ffPIJwsPD8e7dOxgbG0uszxiT2UZVHFNQUBAOHTqExYsX49NPP0Xt2rURGhqKRYsWibddeluinwKBADVq1ICjoyN++OEHZGRkwNnZGdOnT8eCBQtgbm4OgUBQofP0+eef46uvvhLPEwgEFT5PovU3btwIWUaPHo1GjRrhr7/+QmhoKJYtWwahUIiAgADs3LkTrVu3Frd9+vTpOHbsGCIjI1FQUAB3d3d8/fXXmDNnDgQCAVxcXPDhhx/i3Llz2LVrFwwNDdGwYUPs27cPH3zwgdR7oOwx+fv7IzIyEqGhofjss89gYWGBsWPHYvny5eL1378+ld7ngQMHsHPnTvH/b926JX4WytnZGX5+fuL19+/fj/bt28PT07PKYk/efLpGaMcxlY4lbTgmZYq08Vh5ZW40jMfj4fDhwxg0aJDcdcLDw7F48WKp+RcvXhTfOra1tYWbmxuePXsm8ZCio6MjHB0d8eTJE4mHWV1dXVGrVi08fPhQ4qEyT09PWFpa4t69exJvdMOGDWFsbIx79+5JtKFJkyYoLCyU6I9sYGCAJk2aICcnB/Hx8eL5pqam8Pb2xuvXr8W32QHAwsIC9erVEz9kKULHpJ5jysrKws2bN2FjYwMej6cXx6SP50npY3rxArknT8L61ClYnz4NIwW6FDEeD2+aNUNWjx4wHz0ato0bK3VMBgYGuHTpkjiWVH5M+nie6JjkHlN0dDRSUlJgY2ODvLw8DBw4EKtWrUJAQIDOHpM+niddOabXr18jMzMTNjY2cHJyqvAxpaamol+/fli2bBkmT55M56kaHtOzZ8/EsWRpaakVx5SXl4eOHTsiOztb3NVVHr1IjmTdOXJ1dUV6erq4z60uZt3lzadjUs8xFRcX4969e/D19RXfSdL1Y9LH81SpYyouBi8qCvz9+8EOHQIvKwvlYTweeO3aQTh4MNjgwYC7e7nHJBAIpGKJzhMdU0WPqbCwEA8ePBDH06pVqxAREYF79+5JdGfRpWPSx/OkK8dUXFwsjidDQ8MKH9MXX3yB8+fP4++//9b4MenjedKFYyodSwYGBlpxTDk5ObC1ta0+ydH7cnJyYGVlhYyMDLmDqBGiKNEX2iZNmuhkvX6ipMJCbgDZ334Dfv8dKGcgS7GWLYGhQ7lnlOrXl7kKxRJRJYonokoUT0RVtDGWRLmBIsmRbj4pRQghVcXYGOjfH9i5E0hLA44eBUaNAv7roivX9etAaCjQoAHQtCkQHg7cvQto99+fCCGEEFKKVt45ysvLw+PHjwEAzZs3x5o1a9C1a1dx/8TyiLLDrKwslVSpIdUbYwz5+fkwNTWl0b6rs/x8IDKSu6N09Kjid5Q8PYHBg4HBg8HatEF+YSHFElEJujYRVaJ4IqqijbGkzJ0jrUyOoqKi0LVrV6n5ISEhiIiIKPf1lBwRVRL1qxX1ayUEBQXAmTPAwYNc17tSD5OWhTk4gA0cCN6gQeB16waYmFRxQ4k+o2sTUSWKJ6Iq2hhLOp8cVRY9c0RUSRv7zhItUlQEXLgAHDgAHD7MdcVThIUF0Ls3MHAg0KcPQNcqoiS6NhFVongiqqKNsUTPHBFCiLoYGQGBgcBPPwEvXnCJ0qxZ4up1cuXmcl30Ro0C7O2B7t2B9euBp0/V0mxCCCGESKPkiBBCVMXAAOjUCfjf/4CEBODGDeCrrwBf37JfV1wMnDsHzJgBeHhwBR2++gr45x/gvVKphBCiD4RCITZv3owdO3ZouimESDDUdAMIIUQv8XiAvz83LVkCPHoE4cGDeLdnD8zv3QOvrB7Nd+9y0zffAA4OQL9+XAW9wECgRg31HQMhhFSBmJgYjBkzBv/88w/4fD6aNGkCf39/TTeLEAB6/swRFWQgqqCNDxYS3SSOpfR08P74gyvmcPo0V+BBEaamQNeuQN++3OThUaXtJdqNrk1EldQRT4WFhVi5ciUWL14MxhgEAgEMDAzQqFEj3Lx5E0ZGRlWyX6Je2nhtooIMlBwRFdLGkpREN8mMpTdvuBLhR44Af/4JvH6t+AZ9fbkkqV8/oG1bwJA6A1QndG0iqlTV8ZSWloYuXbrg4cOHeP+rJ4/Hw7fffovQ0FCV75eonzZem6ggw3+E1FefqIBQKERsbCzFE6k0mbFUowY3DtKOHUBqKvDXX8C8eYC3d/kbfPAAWLmSe87J3h4YMaJk8Fqi9+jaRFSpquMpLy8PcXFxUokRwH2ZXrRoEeLi4qpk30S9dP3apNfJESGE6BQDA6BDB2DFCiAmBnj0CFizhutKV1451MxMYO9eICQEcHQEAgKA8HCuqINAoJbmE0KIPJ6enggNDZV7J4ExhrFjx+rsF2qiPyg5IoQQbVW/PvDZZ1wlu/R0LvkZPRqoVavs1zEG/PsvsHgx0KYNlyyNGgX88gu3HUII0YCFCxeiXr16Mse+KS4uxuXLl7FlyxYNtIyQEpQcEaIAbRnEjOi+CseSjQ0QHMx1m0tNBa5cAb78kiv7XZ5Xr7jEaNQorvpdq1bAwoXA5ctcGXGis+jaRFSpquPJxMQEO3bsKPPu0Oeff47nz59XaTtI1dPla5NeF2RQ5KErQgjRecnJwIkTwPHjwJkzQF6e4q+1sgJ69AB69QJ69gTc3KqunYQQAmD69OnYuHGjzCTJ0NAQvXv3xtGjR7XmYX6i+6haHVWrIyrEGENubi4sLCzoQk0qRS2xVFgIXLrEJUrHj3PPLinD25tLknr1Ajp3pnGVtBhdm4gqqTOecnNz0bBhQ6Smpsq9i7Rv3z4MHz68SttBqoY2XpuoWt1/6KE+ogpCoRDx8fEUT6TS1BJLxsZAt27Ad98B0dFAQgKwYQMwYIBiic7Dh8D333Mlwm1tuW0tXw7cuAHQZ0Cr0LWJqJI648nCwgI///yz3H3xeDxMmTIFr5UZ2oBoDV2/Nul1ckQIIdWehwcwZQo34GxGBlfcYd48wM+v/NcWFgLnzwNffAG0bMmVCw8OBrZuBZ4+rfKmE0L0V1BQEEaMGCHz2RTGGLKzszFr1iz1N4xUe5QcEUJIdWFszJUFX7ECuHMHeP4c2LaNS3hsbct//evXwP79wIQJXNLl5QVMmwYcOsSVEieEECV8//33crteCQQC7N69G6dOndJAy0h1RskRIQowNTXVdBOIntCqWKpTBxgzhisRnpYGXLsGLF0KdOwIGBqW//pHj7gue0OGAHZ2XBW8L77gikK8e1f17SfaFU9E56k7nuzs7PDjjz/KHBgWAPh8PsaNG4c8ZYrMEK2gy9cmvS7IQNXqCCGkgnJygKgo4NQp4PRpLhFShokJ0L490L0799xSy5aKJVyEkGqFMYY+ffrg9OnTEMgYsJrP52P69OlYt26dBlpH9AVVq/vvDcjMzIS1tbWmm0N0nFAoRGZmJmxsbMDn081WUnE6HUtPn3JJ0unTwNmzXBc7ZVhYAJ06cYlSt27cM0+69h5oGZ2OJ6J1NBlPSUlJaNiwId7JuePM4/Fw5coVtGnTRq3tIhWjjdcmqlb3Hz3M+4gGMMaQlJRE8UQqTadjyd0dGD8e2LeP64J3/TqwbBkQGAgo0n0iNxf480/g88+B5s254g5DhwI//gg8eADo4nuiYTodT0TraDKeXF1d8d1338ldzufz8cknn6CwsFCNrSIVpevXJr1OjgghhFQBPh9o0QIIDeXuJGVmcneTFiwAWrdW7I7Q69fAwYPA9OlA48aAoyNXGOKnn4DYWEqWCKlmJk+ejLZt28JQRvdbgUCAuLg4LFu2TAMtI9UNJUeEEEIqx9SU6yr3zTfA339zic+RI8CMGYCvr2LbSEvjKuFNmcINROvsDIwYAWzaxI29RMkSIXqNz+dj27ZtcpczxrB06VI8ePBAja0i1RElR4QowMLCQtNNIHqiWsSStTUwcCCwbh1w/z6QkgLs2cOVAK9XT7FtvHzJVdGbPBlo1AhwcuLuLG3YwA1uS8kSgGoST0RtNB1P3t7eCA8Pl1naG+ASpDFjxsgs3EC0i6ZjqTL0uiADVasjhBAt9PQpNxhtVBQ3yGxSkvLbsLPjCjyIJj8/QMZgkoQQ3VJUVIRmzZohNjZWbhK0bt06zJgxQ80tI7qMqtVRtTqiQkKhEGlpabC3t9eaqitEN1EsycAYEB9fkiidPw+8eKH8dqysgA4dSpKlFi0AIyOVN1ebUDwRVdKmeLp+/ToCAgLkPtBvamqKhw8fwt3dXc0tI4rQplgSoWp1/9HDvI9oAGMMKSkpFE+k0iiWZODxuK5248YBu3cDyclcQYbNm4GPPuKePVJEdjZXDW/+fKBtWy5Z6tYNCAvjBqV986Zqj0MDKJ6IKmlTPLVs2RKfffaZ3C/WRUVFGD9+vFa0lUjTpliqCL1OjgghhOgYHg/w8uKeT9q9m+ty9/gxsHUrMHo04Oqq2HbevePuQn39NdCjB/ccVOvWXCnxI0eA9PSqPApCSCUtWbIELi4uMhMkgUCAM2fOYNeuXRpoGdF3lBwRQgjRXqXvLO3cyT2vFB8PREQAY8cC9esrtp3iYuDaNWDNGmDwYG6cJW9vbuymiAguAdPRv3ISoo/Mzc2xfft2CIVCuevMmDEDaWlpamwVqQ70OjmSV+2EEGXweDzY2tpSPJFKo1hSAR4PqFsXCAkBfv4ZePQIeP6cq4Y3ZQrg46P4tmJjuW2MGQM0aMBVxBsyhEug/vkH0PIBJymeiCppYzx169YNY8eOhYGcYit5eXmYPn26mltFyqONsaQMvS7IQNXqCCGkGnr9Grh0CfjrL266eZO7c6QsU1OgVSugfXugXTtuqlVL9e0lhMiVmZkJLy8vvH79Wu4zLEePHkX//v3V3DKiS6haHVWrIyokFAqRnJwst+8zIYqiWNKQN2+4wWn/+otLmq5eBd6+rdi2GjYsSZTateO65mnoXFI8EVXS5ng6dOgQhgwZInMZn89H7dq1ERsbCysrKzW3jMiijbFE1er+o4d5H9EAxhgyMjIonkilUSxpSI0aQPfuQHg4V7kuKwv491/gf//jutE5OCi+rdhYYPt2rmCEry93JykoCFiyhNt2Tk5VHYUUiieiStocTx988AEGDRoks3udUCjEq1evMH/+fA20jMiizbGkCENNN4AQQghRKyMjoGVLbpo1q2Sspb/+Aq5cAS5fBqKjFdtWVhZw8iQ3AdwzUb6+XDlx0eTlpbG7S4Toiw0bNuDs2bPIzc2VWiYQCLBp0yaMHDkSnTp10kDriD6h5IgQQkj1JqqIV68e8Mkn3LyMDK4r3uXL3HTtGlcevDyMAffvc9OWLdw8GxuujHibNtzPgADA1rbKDocQfeTk5IT//e9/GD9+vMzlBgYGGDNmDB48eABTU1M1t47oE3rmiJByaONIz0Q3USzpsKIi4M4d7s6SaEpKqvj2GjYsSZbatAGaNAEMlft7JcUTUSVdiCfGGLp27YpLly5BIBBILefz+Zg3bx6WLVumgdYREW2MJSrIQNXqCCGEVLXkZK64gyhZunWLS6IqwswMaNGCu6vUujU3ublxd7UIIWJPnjyBr68vCgoKZC7n8/m4ceMGmjVrpt6GEa1GydF/b0BGRgZsbGw03Ryi4wQCARITE+Hh4SF3rAVCFEGxpOfy87my4Vevcl3yrl7lxmCqKAeHkmQpIIB7RqrU7zSKJ6JKuhRPq1evxpw5c2QuMzAwgK+vL27cuAFDJe/GEtXQxlhSJjmiqCFEAbIeACWkIiiW9JipaUmJb5GkJC5J+ucfLmG6cQOQ8xdvKampwLFj3CTi5cUlSgEBQIsWyDMwADw8VHoYpPrSlevTzJkzsXv3bty7d0+qe51AIMC9e/ewZs0azJs3T0MtJLoSS7JQckQIIYRUFVdXbho+nPt/YSFw9y6XKImmJ08U315cHDft3g0DAE0MDcFr2pS7q9SqFTf5+Cj9/BIhusTQ0BA7duyAv7+/zOWMMSxcuBCDBw9GgwYN1Nw6ouvo6kkIIYSoi7FxSRnx6dO5ea9ecdXw/vmn5GdmpkKb4xcXc3ejbtwANm3iZpqbA82bc4mSKGmqX5/KiRO94ufnh/nz52PZsmUyx9MRCAQYN24cLly4AB49u0eUoNfPHFG1OqIKQqEQmZmZsLGx0ZqqK0Q3USwRhTAGPH7MJUn//MMNWHvrFnfXqaIsLbmCD6LErGVLoG5dKvhAxHTx+pSfn4/GjRsjMTFRZvU6ANi8eTMmTJig5pZVb9oYS1SQgarVEUII0Sei7njXrnHJ0rVrQEwMl0hVlI0NlzCJkqYWLbjnlyhhIjrk0qVL6Nixo9zlNWvWRGxsLOrUqaPGVhFtQ8kRVasjKiQQCPDo0SM0aNBAa6quEN1EsURUSZCZiefHjsHl5Uvwb9zgkqbExMpt1Na2JGFq0QLw96c7TNWELl+fpk6dik2bNkEoFEotMzAwQN++fXHkyBHqXqcm2hhLVK2OEBXLz8/XdBOInqBYIipjaYkMPz84f/QRIPoCkp4OXL/OJUqinykpim8zIwM4fZqbRKytuSRJlCz5+9MzTHpKV69Py5cvx+HDh5GWliaVIAkEAhw9ehQHDx7E0KFDNdTC6kdXYwmg5IgQQgjRH7VrA0FB3CTy4kVJsiSaXr1SfJtZWcC5c9wkYmEBNGvGJUrNm3M/GzWiKnlEIywtLbF161b069dP5nIej4fJkyejW7dusLW1VXPriK6hqxghhBCiz+rUAQYO5CaAe07p2TOuwt316yXV7l6/VnybubnAX39xk4ipKdCkCZcsiSY/P8DMTLXHQ4gMffv2xYcffojffvtNqjgDYwxZWVmYPXs2IiIiNNNAojP0+pmjrKwsWFlZabo5RMcxxpCbmwsLCwvqr0wqhWKJqJJK44kx4OnTkkSpIgmTLHw+4O0tmTA1a8Y920S0ij5cn9LT0+Hl5YXs7GyZ5b0BIDIyEj169FBzy6oXbYwlKshA1eoIIYSQymEMSEoCbt7kEiXRz9TUym/bzY1LkkTJUrNmgLs7FX4glfbLL79g1KhRMpfx+XzUqVMHDx8+RI0aNdTcMqJJlBxRtTqiQgKBANHR0fDx8dGaqitEN1EsEVXSSDwxxj3DdOsWN928yU3PnlV+29bWQNOmXKIk+unjA5iYVH7bpFz6cn1ijKF37944d+4ciouLpZbz+XzMmDED//vf/zTQuupBG2OJqtURomLyBpcjRFkUS0SV1B5PPB7g7MxNpR9+f/26JFkSJU5xccqNw5SVBVy4wE0ihoZcoYemTSUne3uVHRIpoQ/XJx6Phy1btsDb21tmciQUCrFu3TqMGDECAQEBGmhh9aDLsUTJESGEEEIqp1YtIDCQm0Ty8riBa2/fLkmY7t3jBrRVVHEx95p794Ddu0vmOzpyxR5KJ0wNGwJGRio7JKK73NzcsHLlSnz66acyl/P5fISEhODOnTswNjZWc+uItqPkiBBCCCGqV7Mm0K4dN4kUFQEPH3IJk2i6dQvIzFRu2ykp3BQZWTLP2LjkLpOfX8nk4KCCgyG6ZurUqdi9ezeuX78udRdDIBAgNjYWK1aswMKFCzXUQqKt9PqZI6pWR1SBMYb8/HyYmppqTdUVopsologq6U08MQYkJ3NJ0p07XMJ05w7w5Ilqtm9vz5UY9/Mr+enjQyXG36M38VRKTEwM/Pz8ZHavAwBDQ0PcvXsXjRo1UnPL9Js2xhIVZKDkiKgQYwxCoRB8Pl9rPuREN1EsEVXS+3jKyeG604nuMN29y/3/3bvKb5vPBxo04JKl0pOnJ7esGtLXeFqyZAnCwsJklvY2NDSEv78/rly5ojWFA/SBNsYSJUdUrY6okEAgwL1799CkSRO6eJJKoVgiqlQt40kgAB4/5hKlO3e46e5d1VTLAwBzc8DXtyRZatyY+1kNuubpazwVFhaiWbNmiIuLk1sk4Pvvv5f5fFJ2djZMTU1hQhUTlaKNsUTV6gghhBCifwwMuMILDRsCw4aVzM/M5O4q3b1bMt27B7x9q9z2374F/v2Xm0qrXZtLlN6faCxFrWdsbIwdO3agdevWcteZN28eBgwYAHd3dwBAcXEx1q5di6+++gqhoaEIDw9XU2uJNqDkiBBCCCG6zcYG6NSJm0QEAiA+viRREv188kS5EuMAkJ4OnD/PTaW5uXF3mkTJkq8vVxTC3Lzyx0RUplWrVpg1axbWrVsHoVAotby4uBgTJkzAqVOncPfuXXElOwCIjo5Wd3OJhlFyRAghhBD9Y2DAPVfUoAEwZEjJ/DdvgAcPJO8w3bvHjdWkrGfPuOnEiZJ5PB737JIoWRJNDRsCpqaVPy5SIUuWLMGBAwfw/PlzqQSpuLgYp0+fxuDBg/HHH39ILEtMTFRjK4k20OtnjqggA1EFbXywkOgmiiWiShRPKsQYkJpakiiJpuho1RSAALhCD/XrSyZMPj5c0qQFz7RUh3g6c+YMevToIXOZ6Jjf/1rs6OiIly9fVnnb9Ik2xhIVZKDkiKiQNpakJLqJYomoEsWTGggEQEICcP9+yXTvHhAbyy1TBVHS5ONTkjBp4E5TdYmnMWPGYNeuXXKLM7yPz+ejsLBQawoL6AJtjCVKjqhaHVEhbay6QnQTxRJRJYonDSoo4BKkBw+46f597mdFnmeSh8/nuuf5+HDPMfn4cJO3NzfAropVl3jKzMxEgwYNkJGRIbO8tyzPnz9HnTp1qrhl+kMbY4mq1RFCCCGEVBUTE24wWT8/yflv3wIxMSXJkmh6+lT5fQiFXNnyx4+Bo0cll7m5lSRNosSpUSPA1rbix1RNFBcXo1GjRrh06ZLCr0lOTqbkqBqh5IgQQgghRBXMzYEWLbiptNxcLmkqnTBFR1d8fCZRIYiTJyXn29uXJEylJ2dnrlBENcYYwy+//ILp06cjLy9PqdcmJycjICCgilpGtA0lR4QoQFtuCxPdR7FEVIniSUdYWAABAdxUmihpio4uSZgqeqcJANLSuOnCBcn5NWty3fFEyZLo3/XqAUZG4tX0NZ6ePXuGCRMmIDIyEjweT+HudAD3zFFycnIVtk4/6XIs6fUzR4r0KySEEEII0Sp5edwzTdHRkpMqn2kCAENDLkESJUyiqWFDwNpadfvRsD59+uBE6XLrSjAyMsLMmTOxatUqFbeKqBM9c/QfPcz7iAYwxpCbmwsLCwutqbpCdBPFElEliic9VrOm7O55795xSVNMTMkUHQ08egQUFSm/n+JibnuxsdLLHBwkkyXRT3d3bgwpHbJ27VoUFBTg3Llz4PP5MgeClUcgEOD58+dV2Dr9o+vXJr1OjpQJfkLkEQqFiI+P16qqK0Q3USwRVaJ4qobMzIBmzbiptKIiID6eS5QePixJnB4+5O5CVURqKje930XPxIQbWLdhQ8mkqWFDQEuHT/Hy8sKZM2dw5MgRfPrpp3j58qXC3xGFQiENBKskXb826XVyRAghhBCi94yMShKU0hgDkpMlkyXRlJJSsX0VFJSM+fQ+B4eSdjRsCHh5cT89PbkufBrE4/EwePBg9OrVCytWrMCyZcvAGENxcXG5r01KSlJDC4m2oOSIEEIIIUQf8XiAqys39ewpuSwzk+tO91+yxKKjUXDvHkySksCr6AC3ortNFy9Kzhc92+TlVZIwiX46OKi1kp65uTkWL16MkJAQzJo1C8eOHSu3q11qaiqEQiH4fL7a2kk0h5IjQhRgqsZRyol+o1giqkTxRCrMxgZo04abAAgFAiQ+eoQG7u4wePqUS5pEyVNMDPfvrKyK7ausZ5ssLEqSptJTgwZV2k3P09MTR48excmTJzFt2jQkJCTIfVa9qKgIr169gr29fZW1R9/o8rWJqtURQgghhJCyMQakp5ckTaLEKTaWe96pKp7zdnDgkqQGDUoSJi8voH597vkrFSksLMTatWsRFhaGoqIiCGTcObtx4wb8/f1Vtk+iXsrkBnqdHGVmZsJaj0pREs0QCoXIzMyEjY0N3VInlUKxRFSJ4omoUqXiqbCQKzMuSppKT69fV02DXVxKEqbSk6cnVzSiAp4/f445c+Zg7969MDAwkEiSfv/9dwwYMEBVrddr2nhtolLe/9HDvI9oAGMMSUlJlGiTSqNYIqpE8URUqVLxZGxcMsDs+16/BuLiSqbYWO7no0dAfn7FG5yczE3nzknO5/MBN7eSO0yipKl+faBuXa6tcjg7O2PPnj2YMmUKpkyZgujoaPGyZ8+eISoqCi9fvoSTkxM6duyok5XY1EHXr016nRwRQgghhBANqlULaNuWm0oTCoGkJC5JKp08xcUBCQkV76YnFAKJidwUGSm5jM8HPDxKkqb69UumunXFd5w6deqEO3fuYNOmTfjiiy+Qm5uLBQsWIDc3V7wpFxcXrFu3Dh988EHF2km0FiVHhBBCCCFEvfh8bkBZd3cgMFByWWEh9xyT6A5T6Z+VGZBVKOS2Gx8vO3FycxMnS4b162NavXpwmDcPIxYulEiMAK4L3tChQ3HgwAFKkPQMJUeEKMDCwkLTTSB6gmKJqBLFE1ElrYknY2NucFlvb+llb94Ajx+XJEylp7S0iu+z9B2nM2fEs4f+NyUDeAzgiegnY3gCYOGMGRg4cCB1sXuP1sRSBeh1QQaqVkcIIYQQUk1kZ3OJU+mESfT/V6+qbLeFVlYw9vbm7jrVqyc5qXkcJyIbVaujanVEhYRCIdLS0mBvb681VVeIbqJYIqpE8URUSe/jKStLMnF68oT7/+PHlbvjVJ4aNbgKeqUTJtH/3d0BI6Oq27eGaGMsUbW6/+hh3kc0gDGGlJQU1K5dW9NNITqOYomoEsUTUSW9jydra6BlS256X3Z2SbJUKnEqiI6GSWVLkb95A9y7x03vEz3n9H7S5OnJTTr6B35djyW9To4IIYQQQggpk5UV4O/PTaUYCgTwcnOD2YsX8ARQ/7+p3n8/XQFU6kmj0s85nT0rvdzWtiRRen9ydQUM6Wt8VaB3lRBCCCGEkPcYGBhg+fr1GDp0KO5BskcSj8eDMWM4+v336FmvXsmdpydPuCkhASgoqFwDMjK46fp1WY3juuV5enJlyN//WasWPetUQXqdHPEoKIgK8Hg82NraUjyRSqNYIqpE8URUieJJtg8++AAHDhzAzJkzkZycLJ7v4uKCtWvXoqe8Mt5CIVd2XJQslZ7i44HMzMo1TCAoKUsui4WFZLIkmjw9ubGezM0rt/8y6Hos6XVBBqpWRwghhBBCKksgEOCvv/7Cy5cv4eTkhI4dO1aufHdmZkmiVDppio/nBset6CC4inJwkEyaSk+urnpXKEJvqtX9+OOPWLVqFVJSUtC0aVOsX78eAQEB5b6OqtURVRIKhUhOToaLi4vWVF0huoliiagSxRNRJYonLVJYCDx7Jpk8JSSU/Pu9AWlVzsAAcHEpSZY8PCR/Ojlx68ihjbGkF9Xq9u3bh9mzZ+Onn35C69atsXbtWvTq1QuxsbGwt7dXaBtanPcRHcIYQ0ZGBpydnTXdFKLjKJaIKlE8EVWieNIixsbcmEn160svY4x7Dik+XjJhSkjgpqdPuS53lSEQcNt5+hSIipJebmTEPe9UOmkqNbHatXU6lrQ2OVqzZg0mTJiAMWPGAAB++ukn/Pnnn9i2bRtCQ0M13DpCCCGEEELUjMfjii3UqgW0aiW9vLiY65YnSpxESZRoUsWYTkVFJWNEycA3MYG3oyP4Xl7AuHFAcHDl96lGWpkcFRYW4saNG/jiiy/E8/h8PgIDA3H16lWp9QsKClBQqiJIdnY2ACArK0s8j8fjgc/nQygUSlUb4fP5ELyXZcubz+fzwePxZM4HuFuJisw3MDAAY0zm/PfbKG8+HZN6jqm4uBi5ubnIzMwU9y/W9WPSx/OkC8ckEAikYknXj0lW2+mY1HNMhYWFEvGkD8ekj+dJV46p9O86Q0NDvTgmfTxPCh2TjQ34tWpB0Ly59DG9fQvBf3eYeE+fAomJ4CUlie8U8fLyUGkFBcDTpyh8+hTCLl3Az8nR+HnKyckBoFivMq1Mjl69egWBQAAHBweJ+Q4ODnj48KHU+suWLcPixYul5nt6elZZGwkhhBBCCCFl+PJLbtISubm5sLKyKnMdrUyOlPXFF19g9uzZ4v9nZWXB3d0dz549K/cNIKQ8OTk5cHV1RVJSElU/JJVCsURUieKJqBLFE1EVbYwlxhhyc3NRp06dctfVyuTIzs4OBgYGSE1NlZifmpoKR0dHqfVNTExgYmIiNd/KykprTgrRfZaWlhRPRCUologqUTwRVaJ4IqqibbGk6A0T7aiv9x5jY2O0aNECZ8+eFc8TCoU4e/Ys2rZtq8GWEUIIIYQQQvSVVt45AoDZs2cjJCQELVu2REBAANauXYs3b96Iq9cRQgghhBBCiCppbXIUHByM9PR0LFq0CCkpKWjWrBlOnjwpVaRBFhMTE4SFhcnsakeIsiieiKpQLBFVongiqkTxRFRF12OJx2ikVEIIIYQQQgjRzmeOCCGEEEIIIUTdKDkihBBCCCGEEFByRAghhBBCCCEAKDkihBBCCCGEEACUHBFCCCGEEEIIAB1Ojn788Ud4eHjA1NQUrVu3xrVr18pc/7fffoO3tzdMTU3RpEkTHD9+XE0tJbpAmXjasmULOnbsCBsbG9jY2CAwMLDc+CPVh7LXJpG9e/eCx+Nh0KBBVdtAolOUjaesrCxMmzYNTk5OMDExgZeXF/2+I2LKxtPatWvRsGFDmJmZwdXVFZ999hny8/PV1FqirS5evIj+/fujTp064PF4OHLkSLmviYqKgr+/P0xMTFC/fn1ERERUeTsrSieTo3379mH27NkICwvDzZs30bRpU/Tq1QtpaWky179y5QpGjBiBcePG4datWxg0aBAGDRqE+/fvq7nlRBspG09RUVEYMWIEzp8/j6tXr8LV1RU9e/bE8+fP1dxyom2UjSWRxMREzJkzBx07dlRTS4kuUDaeCgsL0aNHDyQmJuLAgQOIjY3Fli1b4OzsrOaWE22kbDz9+uuvCA0NRVhYGGJiYvDzzz9j3759WLBggZpbTrTNmzdv0LRpU/z4448KrZ+QkIC+ffuia9euuH37NmbNmoXx48fj1KlTVdzSCmI6KCAggE2bNk38f4FAwOrUqcOWLVsmc/3hw4ezvn37Ssxr3bo1mzRpUpW2k+gGZePpfcXFxczCwoLt2LGjqppIdERFYqm4uJi1a9eObd26lYWEhLCBAweqoaVEFygbTxs3bmSenp6ssLBQXU0kOkTZeJo2bRrr1q2bxLzZs2ez9u3bV2k7iW4BwA4fPlzmOvPmzWO+vr4S84KDg1mvXr2qsGUVp3N3jgoLC3Hjxg0EBgaK5/H5fAQGBuLq1asyX3P16lWJ9QGgV69ectcn1UdF4ul9b9++RVFREWxtbauqmUQHVDSWvv76a9jb22PcuHHqaCbRERWJp6NHj6Jt27aYNm0aHBwc0LhxY3z77bcQCATqajbRUhWJp3bt2uHGjRvirnfx8fE4fvw4+vTpo5Y2E/2ha9/DDTXdAGW9evUKAoEADg4OEvMdHBzw8OFDma9JSUmRuX5KSkqVtZPohorE0/vmz5+POnXqSH3wSfVSkVi6dOkSfv75Z9y+fVsNLSS6pCLxFB8fj3PnzuGjjz7C8ePH8fjxY0ydOhVFRUUICwtTR7OJlqpIPI0cORKvXr1Chw4dwBhDcXExJk+eTN3qiNLkfQ/PycnBu3fvYGZmpqGWyaZzd44I0SbLly/H3r17cfjwYZiammq6OUSH5ObmYvTo0diyZQvs7Ow03RyiB4RCIezt7bF582a0aNECwcHB+PLLL/HTTz9pumlEB0VFReHbb7/Fhg0bcPPmTRw6dAh//vknlixZoummEVKldO7OkZ2dHQwMDJCamioxPzU1FY6OjjJf4+joqNT6pPqoSDyJfPfdd1i+fDnOnDkDPz+/qmwm0QHKxtKTJ0+QmJiI/v37i+cJhUIAgKGhIWJjY1GvXr2qbTTRWhW5Njk5OcHIyAgGBgbieY0aNUJKSgoKCwthbGxcpW0m2qsi8bRw4UKMHj0a48ePBwA0adIEb968wcSJE/Hll1+Cz6e/rxPFyPsebmlpqXV3jQAdvHNkbGyMFi1a4OzZs+J5QqEQZ8+eRdu2bWW+pm3bthLrA8Dp06flrk+qj4rEEwCsXLkSS5YswcmTJ9GyZUt1NJVoOWVjydvbG/fu3cPt27fF04ABA8TVfFxdXdXZfKJlKnJtat++PR4/fixOsgEgLi4OTk5OlBhVcxWJp7dv30olQKLEmzFWdY0lekfnvodruiJERezdu5eZmJiwiIgIFh0dzSZOnMisra1ZSkoKY4yx0aNHs9DQUPH6ly9fZoaGhuy7775jMTExLCwsjBkZGbF79+5p6hCIFlE2npYvX86MjY3ZgQMH2MuXL8VTbm6upg6BaAllY+l9VK2OlKZsPD179oxZWFiw6dOns9jYWPbHH38we3t7tnTpUk0dAtEiysZTWFgYs7CwYHv27GHx8fEsMjKS1atXjw0fPlxTh0C0RG5uLrt16xa7desWA8DWrFnDbt26xZ4+fcoYYyw0NJSNHj1avH58fDwzNzdnc+fOZTExMezHH39kBgYG7OTJk5o6hDLpZHLEGGPr169nbm5uzNjYmAUEBLC///5bvKxz584sJCREYv39+/czLy8vZmxszHx9fdmff/6p5hYTbaZMPLm7uzMAUlNYWJj6G060jrLXptIoOSLvUzaerly5wlq3bs1MTEyYp6cn++abb1hxcbGaW020lTLxVFRUxMLDw1m9evWYqakpc3V1ZVOnTmWZmZnqbzjRKufPn5f5PUgUPyEhIaxz585Sr2nWrBkzNjZmnp6ebPv27Wpvt6J4jNG9UUIIIYQQQgjRuWeOCCGEEEIIIaQqUHJECCGEEEIIIaDkiBBCCCGEEEIAUHJECCGEEEIIIQAoOSKEEEIIIYQQAJQcEUIIIYQQQggASo4IIYQQQgghBAAlR4QQQgjRIvfv30d4eDj+/fdfTTeFEFIN0SCwhBBCCNEKOTk5aNGiBdzd3XHixAkYGRlpukmEkGqG7hwRQqTExMTA3NwcM2fO1HRTCCHVyPjx42FmZoZDhw5RYkQI0QhKjgiphMePH8PKygqBgYEoKirSdHNUoqCgACNGjECnTp2wZs0aTTdHJqFQiHbt2oHH4+HEiRNVtp+zZ88iPDwcDx8+rLJ9kPLp4+dMHSZNmgQTExOcP39e001R2P79+3H37l1YWlpquilaJyUlBbVq1YK1tTWeP3+u6eYQorcoOSKkgvLz8zFs2DDUrVtXp//K+fLlS9SuXRt8Ph/h4eG4cuUK2rVrh3379sHAwEDTzZNp7dq1iIuLw5gxYzBx4kRkZ2cr9fouXbqAx+OVu15AQACOHDmCDz74AHl5eRVtrtL7rYzExETweDx88sknVbofde1bWz9n6jiXsij6Hv/yyy/YsmULIiIi0LVrV/U0jmDt2rUwNjZGYmKiyrc9ZcoUNGjQAH5+fpg4caLKt68uPB4PXbp0qdQ2zpw5Ax6Ph+PHj6umUYSUQskRqZbWr18PHo+Hjz/+WObyzMxMODs7w9zcHHFxcTLXmTFjBjIyMnD8+HGd/SsnYwwff/wxWrRogT/++APLly+HsbExNmzYACsrK4l1NfVl8H2PHz/GwoULsWPHDmzevBlubm6YPXt2lezLwsICx48fx5s3b3T6y0hVioqKAo/HA4/HQ926dQEAO3bsAI/HU8kXRH34nKlbTEwMJk2ahOXLl2PEiBFVvj8PDw9xDPB4PJiYmKB27doICAjAtGnTcOnSJZmvEyV6ZX1RlrfOJ598It7f1atXZb62d+/eZcbh7du3MXnyZPj4+MDS0hLGxsZwdHREjx49sHr1aqSnpyty+GKZmZlYsmQJxo4dCw8PD4llpd8fHo8HMzMzODg4oEOHDpgzZw7u3LlT5rZ//fVXXLhwAfv27cOePXtw7do17Ny5U6n2qSIpUYQ6flcEBgaiQ4cOmDdvHgQCQZXui1Q/lByRamn69Ono0qULdu3ahd9//11q+bRp0/DixQssX74cXl5eUsvT09Ph7OyMU6dOoU6dOupocpU4fvw4jIyMsG/fPvTp0wc//PAD1q9fr9W/bGJiYvDTTz+hb9++MDQ0xL59++Dm5qb03SNF1alTBydOnMDJkyexYcOGKtmHNvnxxx9x9+5dhdf38PBAWFgYwsLCxM+oNW3aFGFhYbC2tq5UW/Tlc6Zud+/exZo1azBv3jzxvDdv3iA8PFwld0DlEcXBvHnzEBwcDFNTU2zatAkdO3bEgAEDkJmZWSX7nT9/vlLrC4VCzJkzB82bN8fWrVvh6OiIsWPHYu7cuejfvz9evnyJOXPmoG7dukp1X/vf//6HjIwMzJ07V+ZyKysr8Xs0e/ZsDB48GIWFhVi9ejWaNWuGcePGoaCgQOZrMzIycPjwYbi7u8PZ2RmHDx9GVlaWUsetCg8ePMD3339fqW3ExMQondjJMm/ePDx48AB79+6t9LYIkcAIqaYSEhJYzZo1mb29PUtPTxfP/+233xgA1rVrVyYUCjXYQu3SuXNnpi+XDE0dizr2m5CQwACwkJCQCr1+6NChbPny5RrZty7RVAxV5j22s7Njf//9t8rb5O7uLve9SExMZN27d2cAWOfOnZlAIBAvEx1L586d5W5b3johISEMAKtXrx4DwI4ePSr12l69ejEALCEhQWJ+aGgoA8D8/f3Zo0ePZO73xo0bLDAwUO7y9xUVFTEnJyfWvn17mcsBMHd3d5nL7t27x5o1a8YAsFGjRim0v4oo771WxP3795mpqWmZ66jrs1FYWMjs7OxYhw4dqnxfpHqhO0ek2vLw8MDq1auRlpaGKVOmAABSU1MxZcoUWFhYYPv27VJdA86fP4+xY8eiYcOGqFmzJmrWrImWLVti8+bNcvcTHx+PiRMnom7dujAxMYG9vT26dOmCiIgIhdp58+ZNDB06FG5ubuLuKq1atcI333wjsV5ZXSY8PDykunnExcVh3rx58Pf3R61atWBqagovLy+EhoZK/XWZx+PhwoUL4n+LJkWeLRHtOzs7G1OmTIGTkxNq1KiBTp064ebNmwCAFy9eYNSoUbC3t4eZmRl69uyJR48eydze5cuX0bdvX9ja2sLU1BTe3t4ICwvD27dvy23L+4qKihAeHg4PDw+YmJjAy8tL5t2hiIgI8Hg8qXMmes9TU1MREhICOzs7mJmZoU2bNoiKiqr0fssiEAiwYsUK1K9fH6ampqhfvz6WLVsGoVAoc/2y4kN0Pp8+fYrHjx/D1NRUpfsGuLFrhg8fDnt7e5iYmKBu3bqYNWsWXr9+LbWusp+zip4HWRhj2L59Ozp27Ahra2uYm5ujQYMGmDRpEp49eya1vjLn8s2bNwgLC4O3tzdMTU1ha2uLvn374vLly0q1UZ6nT59i3LhxcHZ2hrGxMVxcXFCrVi3s2LED9+/fR25urvjcij6XWVlZmDRpEhwdHWFqaormzZtjz549KmkPALi7u+PYsWNo1KgRLly4gAMHDqhs2wB3t8rQ0BALFiwoM/5E4uLisGrVKtSuXRsnT55E/fr1Za7n7++P06dPS1035Tl58iRevnyJYcOGKdN8AEDjxo0RGRmJ2rVrY/fu3bh27ZrUOtu3b0fr1q3Fn4fWrVsr/DtE1PUVAC5cuCBxDRdtIzw8HDweT+bnRXT9mzp1Kq5fv17m9UGR3xVldZNMSEjA999/D29vb5iYmMDd3R2LFy+WeW6NjIwwaNAgXLp0CY8fP1bovSBEEYaabgAhmjRx4kQcOnQIBw4cwJ49e7B37168evUKP//8M9zd3aXWX7FiBeLj4xEQEIDBgwcjOzsbp06dwqRJkxAbG4vVq1dLrH/p0iX07dsXubm56NWrFz788ENkZmbi1q1bWLduXbnJxe3bt9GuXTsYGBhg4MCBcHd3R1ZWFqKjo7F582Z8+eWXFT72Q4cO4eeff0bXrl3RpUsXCIVC/P3331ixYgUuXLiAixcvih9+DwsLQ0REBJ4+fYqwsDDxNpo1a6bQvgoLC9GjRw/k5+cjODgYqamp2L9/PwIDA3HlyhX06tULTk5OGDVqFB4/foxjx46hb9++iImJkSgK8dtvv2HEiBEwMTFBcHAw7O3tERkZia+//hqnTp1CVFRUuV/sSxsxYgSuXbuGoKAgGBgYYP/+/Zg2bRqMjIwwYcIEhbaRlZWFDh06wMrKCqNHj0ZaWhr27duHXr164caNG2jcuHGV7HfixInYtm0b6tati2nTpiE/Px9r1qzBlStXFD5+ESMjIxQVFcHDwwPm5ubo1auXSvd96dIl9OrVC4WFhRg6dCg8PDxw9epVrFu3Dn/88Qf+/vtv2NnZiddX9nMGVOw8vE8oFCI4OBgHDhyAs7MzRowYAUtLSyQmJmL//v0ICgqCm5ubxGsUPZf5+fno1q0brl27Bn9/f8yaNQupqanYt28fTp06hT179lToi7VIXFwcOnTogPT0dPTv3x++vr548OABjh07Jr7OeHl5wdfXV/yawsJCBAYGIi8vD6NHj8abN2+wf/9+jBw5Eq9evcKnn35a4faUZmZmhjlz5mDcuHHYt28fhg8frpLtAkCDBg0wYcIEbNy4ETt27MCYMWPKXH/Hjh0QCASYNGkSateuXe72DQ0V+5p09uxZAECbNm0UWv99tWvXxuTJk7FkyRLs27cPAQEB4mUzZszA+vXr4ezsjHHjxgEADh48iDFjxoh/l5RF1PV18eLFcHd3l/i9o+g1HAA2btyIjRs3YuzYsXLXqezvirlz5+LChQvo168fevXqhSNHjiA8PByFhYVSfxAEgLZt22Lr1q04d+6c3ESXEKVp+tYVIZqWnJzMrK2tmYmJCQPA+vXrJ3fdpKQkqXnFxcWsb9++zMDAgD19+lQ8Pz8/nzk7OzM+n89OnDih0LbeN3v2bAaAHTlyRGrZq1evJP6PMrpMuLu7S3XpSE5OZgUFBVLrLl68mAFgu3fvlphf0a4Soi43w4YNY0VFReL5K1asYACYtbU1++yzzyS6ME6ZMoUBYAcPHhTPy87OZlZWVszExITduXNHPF8gELDg4GAGgH399dcKtUl0LK1bt2bZ2dni+Q8fPmSGhoasYcOGEutv376dAWDbt2+XmA+AAWBTp06V6C60detWBoBNmjSpUvuV5/z58wwAa9q0KcvLyxPPT05OZnZ2djK7XZUXH66uruzGjRvs5cuXKt23QCAQd306efKkxLbmzp3LALCxY8dKzFfmcyY6NmXOgzzr169nAFj37t3Z27dvJZa9ffuWvX79Wvx/Zc+l6HP10UcfScT6zZs3mbGxMbO2tmY5OTnltlFet7quXbsyAGzTpk0S8zdt2sQAMEtLS5abmyueL/pcdurUSeI6kJSUxOzs7JiJiQlLTk4utz2lt1WWJ0+eMADM1dVV6lgq063u6tWrLCUlhdWsWZO5uLiwd+/eideR1a1O9D6dPXtWoWNTVKtWrRifz2f5+fkyl6OMbnUiZ8+eZQBYx44dxfMuXLjAALBGjRqxrKws8fyMjAzm5eXFALCLFy8q1May3uuwsDAGgJ0/f15qmej6t2LFCnbjxg1WXFxc5n7K+11R1vmsW7cue/HihXh+eno6s7a2ZhYWFjJ/X925c4cBYB9//HGZbSJEGdStjlR7zs7OmD59OgoKCmBkZFRmFzkXFxfxv/Py8pCamor09HQMGTIEAoFAYjyR33//Hc+fP8eoUaPQu3fvMrdVHjMzM6l5tWrVUvj1soi63rxv+vTpALhSqar03XffSfwVVlRFq7i4GEuXLpXowihaVrqC0++//47s7GyMHTsWfn5+4vl8Ph8rV66EoaGhwt1MRJYtWyZRAa1hw4Zo3749YmNjkZubq9A2atSogRUrVoDPL7mchoSEwNDQEP/++2+V7Ff0MPOiRYtQo0YN8XxnZ+cKD9zL5/Ph7+8PR0dHle778uXLePLkCYKCgqTuSC1atAi2trb49ddfUVhYKJ6vzOdMpCLn4X0bNmyAgYEBNm7cKPWZMzMzg62trdRrFD2XO3bsgJGREZYvXy4R682bN0dISAiysrJw5MgRhdr5vmfPnuH8+fPw8fGRuvM4YcIENGrUCDk5OTILInz77bcS1wEXFxfMnDkTBQUF5T7oLqpS9/TpUwCS3ajerxAnKqjx6tWrihximRwcHDB79mwkJyeXWywgJSVFoj2lRUVFITw8XGJStFtmcnIyrK2tYWJiIjFf9H4AXLfH0u/R+2S9Rzt27ADAdXsrXUHUxsZGfGdG2eteRdnb28Pf379Kh3hYuHAhnJycxP+3s7PDwIEDkZubi9jYWKn1HRwcAHDvPyGqQt3qSLWXlpaGTZs2AeCeH/jjjz/kdm1KT0/HokWLcPjwYaSmpkotf/Hihfjfon7jPXv2rHDbhg8fjrVr12Lw4MEIDg5Gjx490KlTJzg7O1d4myLsv2crIiIicP/+fWRnZ0v06y59LJVlY2Mj1R1J9AuwQYMGMDc3l7msdBtu3boFADKfm3Fzc4Onpyfi4uKQm5sLCwsLhdrVokULqXmiL+ZZWVkKbcfLyws1a9aUmGdoaAgHBwe51aQqu19R0tixY0epZbLmqZKy+y7rvImeJYqMjERsbCyaNGkCQLnPmUhFzkNpeXl5iImJQf369dGgQYNy1xdR5Fzm5OQgPj4ejRo1kvlHka5du2LLli24ffs2Ro8erfC+RW7fvg0A6Ny5s9SXbh6Ph06dOiEmJga3b9+Gq6ureJmhoSHatm0rtT3ReRSdO3lmzZqFrKwsrF27FtnZ2RLdqCpbqVBZc+bMwcaNG7F8+XJMmDABNjY2Sm8jKioKixcvlpqvSPnr169fyzy3ovdk8eLFsLKywqxZs5RqU1mfH9H4VaLzrw/K+zy9T/QHi6pIukn1RckRqfYmT56M9PR0LF++HN999x0+//xz9OrVS+rL/Lt379CpUyfx4KMdOnSAnZ0dDA0NcefOHYSGhkqUYRWVlq5MItO6dWtERUXh22+/xa+//ort27cDAFq1aoUVK1ZUanDHGTNm4IcffoCrqysGDBgAJycn8V89Fy9eLLekbEXIGp9GdBeprGVFRUXieTk5OQBK/lL4PicnJ8TFxSEnJ0fh5KisfStazlze2DuGhoZyt1HZ/WZnZ4PP50s8pyMi7/1RFWX3rch5K72esp8zkYqch/ePC1D+86rIuVT2PVBWedsX3Q18f/t2dnYSd9pERNsprzy+6It+REQEsrOzER4eLnddUUJb+jkf0b7LKqQgWiarnaVZWFhg4cKFmDFjBpYtW4aVK1fKXM/BwQExMTF48eIFvL29JZaJ7hYBwN69e5UaI8rMzAz5+flS80XbW7x4MaytrZV+j3JycsDn82U+H+Xg4AAej1fhuNFGyl4b3717BwBSf2AjpDIoOSLV2q5du3D48GH069cP8+fPh4eHBz788EOMGzcOp0+fllj3yJEjePjwIb766issWbJEYllaWprUtkV/OVVmnAxZOnbsiBMnTuDdu3f4559/cOzYMWzYsAF9+/bF/fv34enpCYD7C3FxcbHMbWRnZ0t0yUhLS8OPP/4IPz8/XL16VeIXS0pKisy/nmqa6JemrDsJQEl3meowUKiVlRWEQiFevXol9aVJ3vujTHyoct/KnjdlP2eqIjr+yn5eZanq2C1v+6L572//1atXEAqFUomHaH1FY0IRou5prVq1Es8TbV9WxcLSbVS0LZMnT8a6deuwfv16ucUk2rVrh6ioKJw/fx7dunVTtPnlql27dqW7dsl6jywtLSEUCpGeng57e3uJ9dPS0sAYU8k1TxQDsq4RVTWGnCpkZGQAgELFNQhRFD1zRKqt58+fY8aMGbC1tRU/ZxQcHIyhQ4fizJkz4q52IqJ+9bKqEcl6BkJUbSgyMlIl7TUzM0OXLl2wevVqLFiwAO/evZNI4GxsbGR+sUtMTJTqjhAfHw/GGAIDA6X+4vbXX3/J3L+on7mmBoht3rw5AMh8BiApKQlPnjyBp6enwneNdFnTpk0ByD5X8s6fMvGhyn2Xdd7evHmD69evw8zMDA0bNgSg/OdMVWrWrAkfHx8kJCTILSNfUZaWlvD09MTjx49lngPRe6NM5bDSRK+7ePEiGGMSyxhjuHjxosztFxcX4+rVq1LbE51H0bmrrHfv3okrDAYHB4vnW1lZwdXVFXFxcXITJFH7Sj9nKI+RkRGWLl2K/Px8LFq0SOY6ISEh4PP52Lx5s0q7YjVp0gT5+fkyy70rIj09Xfw7p/R7VNbnR9m44fP5cq/fom6IsuKzvO6V71Pn7wrRc0iiLrmEqAIlR6TaGjduHLKysvDDDz9IPAC6YcMG1K5dG3PnzhV/UQOAunXrAoDUHaWLFy9i165dUtsfMGAAXFxcsHv3bpw6dUpquSJ/ob569arMrhqiv+yWLlvdqlUrJCYmiseYALhSvbNnz5Z6vahM+ZUrVyS6tCQnJ+OLL76Q2RZR3+6kpKRy210VBg4cCCsrK2zfvh0PHjwQz2eMYf78+SguLlZo3CV9IHou5euvv8abN2/E858/fy63rK8y8aHKfbdv3x716tXDiRMnpIp8LF26FK9fv8aIESPERQGU/Zyp0rRp0yAQCDB16lRxdx2R/Px88V+pKyIkJARFRUX44osvJBKYu3fvIiIiAlZWVhg0aFCFtu3m5oauXbviwYMH2LZtm8Sybdu2ITo6Gt26dZN43khkwYIFEsUwkpOTsW7dOpiYmODDDz+sUHtKe/bsGfr374/o6Gh07twZQ4cOlVgeEhKC4uJizJ07VyqxS05OxqpVq2BgYICPPvpIof0FBwejRYsW2LlzJ+Li4qSWe3l5Yd68eUhLS0NQUJDc8XGU+YMBwD3vBQD//POPUq8DgAcPHqBnz55IS0vD6NGjJe4chYSEAOC65ZXuPpednS2+wy9apzy2trZy726J9rlz506J3wlXr17FL7/8otTxqPN3hej9Fr3/hKgCdasj1dKmTZtw6tQpDB06VKpfee3atbFx40YMHToUY8eOxZkzZ8Dj8dCvXz94enpi3bp1ePjwIZo3b46EhAQcPHgQw4YNk6rsZGJigv3796N3794ICgpC79690bRpU+Tk5OD27dt4+/ZtuX+RW7FiBc6fP49OnTqhbt26MDU1xc2bN3H27Fl4enpi8ODB4nVnz56NyMhI9OnTByNGjIC5uTlOnz4Na2trieQP4J5xGDJkCA4ePIiWLVuie/fuSE1NxR9//IHu3bvjyZMnUm3p1q0bDhw4gCFDhiAoKAimpqZo2rQp+vfvr+zbXyGWlpbYsmULRowYgdatWyM4OBi1a9fGmTNncOPGDQQEBGDu3LlqaYumde3aFWPGjMH27dvRpEkTDB48GAUFBdi3bx/atGmDP/74Q+o1ysSHKvfN5/MRERGBXr16oU+fPhg2bBjc3d1x9epVREVFoV69eli+fLl4fWU/Z6o0ZcoUXLhwAfv370eDBg0wYMAAWFpa4tmzZzh16hR+/vnnCicw8+bNw59//oldu3YhJiYG3bt3F4/FVFxcjC1btlTqrufGjRvRoUMHTJgwAceOHYOPjw+io6Nx9OhR8TXtfU5OTnjz5g38/PzQv39/8ThHr1+/xvfff6/081ei52kEAgGysrJw9+5dXL58GQKBAP369cPOnTulCkYsWLAAZ86cwfbt23H16lX06NEDlpaWePr0KX7//Xfk5eVh9erV8PLyUqgNPB4Py5cvR48ePZCQkCBznW+++QaFhYVYs2YNvL290alTJzRt2hTm5uZIS0vD3bt3ce3aNdSsWVPhuzIDBw7E7Nmzcfr0abnjVWVlZYnfo+LiYrx+/Ro3b97Ev//+C8YYxo4dKzWAcKdOnfDpp59i/fr1aNy4MYYMGQLGGA4ePIjk5GTMmDEDnTp1UqiN3bp1w/79+zFo0CA0b94cBgYGGDBgAPz8/NCmTRu0b98e586dQ9u2bdGpUyfxOejfvz8OHz6s0D5E+1HX74rTp0/DxsZG4feAEIVoqoY4IZoSHx/Patasyezt7Vl6errc9UaMGMEAsB9//FE8LzExkQ0bNozZ29szc3Nz1qpVK7Z//37x2C9hYWFS23n8+DEbN24cc3FxYUZGRsze3p516dKF7dy5s9y2njx5kn388cesYcOGzMLCgtWsWZP5+PiwBQsWyGz7b7/9xpo0acKMjY2Zo6Mj+/TTT1lubq7McY5yc3PZ559/zjw8PJiJiQlr0KABW7JkCSssLJQ5DkVRURGbN28ec3NzY4aGhjLHWpFF1r5FZO2HMfljuTDG2MWLF1lQUBCztrZmxsbGzMvLiy1cuFBizJ3ylDUOh2i8jdJjo5Q1zpEyY0spu9+yFBcXs2XLljFPT09mbGzMPD092bfffsseP34s971TJj5Uve+7d++yoUOHMjs7O2ZkZMTc3d3ZzJkzZcaxsp8zZc9DWYRCIdu6dStr06YNq1GjBjM3N2cNGjRgkydPZs+ePROvV5FzmZeXxxYuXMi8vLzEYxsFBQWxv/76S+H2lfXZSExMZGPGjGFOTk7M0NCQOTk5sTFjxrDExESpdUXvS0ZGBps4cSJzcHBgJiYmrGnTpuzXX39VuD2ibeG/saYAMGNjY2ZnZ8datmzJpkyZUu7x5efns9WrV7OAgABmaWnJDA0NmaOjIxs0aBA7d+6czNeUHudIlp49e4rbI+8zdfPmTTZx4kTm7e3NatasyYyMjJiDgwPr1q0bW7VqFUtNTVXqfQgKCmI2NjYyxzoq/f4AYCYmJsze3p61a9eOzZ49m92+fbvMbW/bto21atWKmZubiz8T27ZtU6p9L1++ZMOHD2d2dnaMz+dLXdNevXrFPv74Y2Zra8vMzMxYmzZt2KlTp+Re/+Qp73eFrM9rWdc/eWMwJSQkMB6Px2bNmqXYG0CIgniMvXcfmxBCCCF6zcPDAwCkxiMiFXf27FkEBgZi9+7dCncDJBX31VdfYeXKlYiJiUG9evU03RyiR+iZI0IIqWbCw8PB4/EUHuCSEFK+7t27o3fv3li6dGmZ5ckrQ94AslWxH0XGd9KUzMxMrF+/HlOmTKHEiKgcJUeEEEIIISqwbt06BAcHV0lJeFIiISEBn332mdyqhIRUBnWrI4SQaubVq1d49eoV3NzcaPDEaoq61ekm0dAQPXv2rNL9PHz4EObm5lKDoRNSHVByRAghhBBCCCGgbnWEEEIIIYQQAoCSI0IIIYQQQggBQMkRIYQQQgghhACg5IgQQgghhBBCAFByRAghhBBCCCEAKDkihBBCCCGEEACUHBFCCCGEEEIIAEqOCCGEEEIIIQQA8H/bBVlpRswEug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4"/>
          <a:stretch>
            <a:fillRect/>
          </a:stretch>
        </p:blipFill>
        <p:spPr>
          <a:xfrm>
            <a:off x="307975" y="1414732"/>
            <a:ext cx="5105400" cy="4114800"/>
          </a:xfrm>
          <a:prstGeom prst="rect">
            <a:avLst/>
          </a:prstGeom>
        </p:spPr>
      </p:pic>
      <p:pic>
        <p:nvPicPr>
          <p:cNvPr id="5" name="Picture 4"/>
          <p:cNvPicPr>
            <a:picLocks noChangeAspect="1"/>
          </p:cNvPicPr>
          <p:nvPr/>
        </p:nvPicPr>
        <p:blipFill>
          <a:blip r:embed="rId5"/>
          <a:stretch>
            <a:fillRect/>
          </a:stretch>
        </p:blipFill>
        <p:spPr>
          <a:xfrm>
            <a:off x="5824132" y="1386157"/>
            <a:ext cx="5105400" cy="4143375"/>
          </a:xfrm>
          <a:prstGeom prst="rect">
            <a:avLst/>
          </a:prstGeom>
        </p:spPr>
      </p:pic>
      <p:sp>
        <p:nvSpPr>
          <p:cNvPr id="11" name="TextBox 10">
            <a:extLst>
              <a:ext uri="{FF2B5EF4-FFF2-40B4-BE49-F238E27FC236}">
                <a16:creationId xmlns:a16="http://schemas.microsoft.com/office/drawing/2014/main" id="{BC6A54A9-45E5-CDD5-8196-E6944B6AF7D3}"/>
              </a:ext>
            </a:extLst>
          </p:cNvPr>
          <p:cNvSpPr txBox="1"/>
          <p:nvPr/>
        </p:nvSpPr>
        <p:spPr>
          <a:xfrm>
            <a:off x="931942" y="5529532"/>
            <a:ext cx="3527914"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Ma </a:t>
            </a:r>
            <a:r>
              <a:rPr lang="en-US" sz="2000" dirty="0" err="1">
                <a:latin typeface="Arial" panose="020B0604020202020204" pitchFamily="34" charset="0"/>
                <a:cs typeface="Arial" panose="020B0604020202020204" pitchFamily="34" charset="0"/>
              </a:rPr>
              <a:t>trận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nhầm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lẫn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dữ</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gốc</a:t>
            </a:r>
            <a:endParaRPr lang="en-US" sz="20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1AE4D2D-4157-6296-2701-0CD368D05F9A}"/>
              </a:ext>
            </a:extLst>
          </p:cNvPr>
          <p:cNvSpPr txBox="1"/>
          <p:nvPr/>
        </p:nvSpPr>
        <p:spPr>
          <a:xfrm>
            <a:off x="6717897" y="5529532"/>
            <a:ext cx="3527914"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Ma </a:t>
            </a:r>
            <a:r>
              <a:rPr lang="en-US" sz="2000" dirty="0" err="1">
                <a:latin typeface="Arial" panose="020B0604020202020204" pitchFamily="34" charset="0"/>
                <a:cs typeface="Arial" panose="020B0604020202020204" pitchFamily="34" charset="0"/>
              </a:rPr>
              <a:t>trận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nhầm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lẫn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dữ</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pca</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28599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Kết quả thực nghiệm</a:t>
            </a: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AutoShape 2" descr="data:image/png;base64,iVBORw0KGgoAAAANSUhEUgAAA0cAAAIwCAYAAABN6hBOAAAAOnRFWHRTb2Z0d2FyZQBNYXRwbG90bGliIHZlcnNpb24zLjEwLjAsIGh0dHBzOi8vbWF0cGxvdGxpYi5vcmcvlHJYcgAAAAlwSFlzAAAPYQAAD2EBqD+naQAA7d5JREFUeJzs3Xd0FNX7BvBndtNISCchlFBCCR0R6S30KijSe1FsqFjBRlGQpuhPv4gN6U0FpEmVqoDShEiTFgJICJCQhJK2e39/xF2y2U2yu7nJ7myezzk5x70zO/PO5iHmzczcUYQQAkRERERERMWcxtEFEBEREREROQM2R0RERERERGBzREREREREBIDNEREREREREQA2R0RERERERADYHBEREREREQFgc0RERERERASAzREREREREREANkdE5CR27tyJyZMnY//+/Y4uhYiIiIopRQghHF0EUXFw/PhxrF27FlWrVsWQIUMcXY5TuX79OurUqYNy5crh4MGD8Pb2dnRJNtu/fz+2bduG2rVro2/fvo4uh4iIiOzA5oioiOh0Ojz55JPYuHEjNmzYgO7duzu6JKfRo0cP/P777zh8+DCqVKni6HJsdu3aNTRo0AAeHh44cOAAwsPDHV0SERER2YGX1RFZoVKlSlAUBQsXLsxzvaioKCiKgsmTJ5st02q1WLlyJRo1aoRhw4bh8uXLhVOsk1u7di00Gg00Gg0mTJiA06dPo1SpUvjhhx9U2RhlZmZiwIABSEtLwy+//FIkjdHp06fx2muvoUGDBggODoa7uzuCg4PRrFkzvP322zh9+nSh1+AMFi5cCEVR8v2qVKmSo0stFqz9OUkFY8i1s1i3bh0URcEnn3xS4G0tXboUiqLgyy+/lFAZkX3YHBEVIW9vb2zcuBGBgYHo168f0tPTHV1SkYqOjsawYcPw6quvYtmyZfj4449x/PhxLFy4EB07djRbf8SIEU7/y9Y777yDP/74A6tXr0a9evVyXW/y5Mm5Ns7WyszMxKuvvoo6derg008/RWxsLBo1aoR+/fqhadOmuHTpEmbMmIE6dergf//7n937URsfHx8MHz48168+ffpI2c/u3buhKAqioqKkbI9I7dLS0vDaa68hPDwcL774YoG3N2jQINStWxfvv/8+EhISJFRIZDs3RxdAVNyEhIRgy5YtWLp0KU6ePIkGDRo4uqQikZGRgQ8//BDPPvssPv74YwBAamoqvvzyS7Rp0wZlypRxcIW2S05ORsmSJfHzzz+jQ4cOhb6/IUOGYNWqVfDz88P//d//YejQodBqtcblQghs374db7/9Ns6fP1/o9TiLUqVKOXUDTeSqvvjiC1y8eBFz586Fl5dXgben0WgwadIk9OnTB1OnTsWcOXMkVElkGzZHRA5QtWrVAp1BUCN3d3f88MMPJmMjR47EyJEjHVRRwfn5+WHixIlFsq/vv/8eq1atgru7O7Zt24YmTZqYraMoCjp16oS2bdvi8OHDRVIXERVPOp0OX3zxBby8vDB48GBp2+3ZsydCQkIwf/58fPDBByhZsqS0bRNZg5fVERWBjIwMLF26FIMHD0aNGjXg5+eHEiVKIDIyEi+//DL+/fdfi+8z3MO0e/duHDx4EN27d0dwcDB8fX3Rpk0b7Nu3z7juli1b0L59ewQGBqJkyZLo2LEjjh49anOt2a9nX7p0KRo3boySJUsiJCQEAwcORGxsLICssxT/+9//8Mgjj8DHxwelSpXCiBEjEB8fX+Djj4mJgaIoWLRoEYCsJir7PSTWNpaGeyBiYmKwefNmREVFwd/fH4GBgejRoweio6ON6y5fvhzNmjWDr68vAgIC0Lt3b1y4cMHidtesWYOnn34aderUQWBgILy8vFC5cmWMGjUKZ8+etfiZTpkyBQAwZcoUk2MZMWJEvschhMC0adMAAM8//7zFxig7d3d3NGvWzPg6++Vg9+/fx8SJE1GzZk14e3ub3Y+zcuVKtG/fHkFBQfD09ETFihUxatQo/PPPPxb3df36dbzyyiuoXr06vLy84O3tjfDwcLRv3954hjC7HTt24PHHH0fp0qXh7u6OwMBAVKtWDUOGDMHevXvz/SxkyH6J482bN/Hiiy8iPDwcHh4eCA8Px0svvYQ7d+6YvCcqKgpt27YFAOzZsyfXe5qyXwr6999/o3///ihTpgy0Wq1JbhMSEvDOO++gdu3a8Pb2hq+vLxo2bIhZs2bhwYMHZjXn/B6+8847qFq1Kry8vFC2bFmMHj0a165dM3nPrl27oCgKatSogdzmXkpNTUVwcDAURcGpU6fs+0AL4OrVq3jppZdQrVo1eHl5wd/fHy1atMDXX38NnU5n8T0//vgjOnToYHK/Xa1atfDMM8/gxIkTJusmJSXhvffeQ926deHj4wNPT0+ULVsWLVq0wMSJE5GRkVEUh1lkbM2Vwbp169CqVSv4+vrC398fbdq0waZNm4w/iy3dt7d+/XrExsbiiSeegL+/v8myixcvIiAgABqNBps3bzZ777///ovQ0FAoioJVq1aZLHN3d8egQYOQnJyMJUuW2PdBEBWEIKJ8VaxYUQAQCxYsyHO9Nm3aCABi0qRJJuNXrlwRAIS/v79o2rSp6Nu3r+jWrZsoW7asACBCQkLEuXPnct3eG2+8Idzc3ESDBg1E//79xSOPPCIACE9PT/H777+L//3vf0Kj0YjmzZuLfv36ierVqwsAomTJkha3mxcAAoCYMGGCcHNzE+3atRN9+vQRFSpUEABEeHi4SEhIEP369RNeXl6iS5cu4sknnxShoaECgKhXr55IS0sr0PHfvHlTDB8+XFSpUkUAEC1atBDDhw83fq1du9aqYzF83yZMmCAURREtWrQw+XwCAgLE+fPnxZtvvmlyrOHh4QKAKFu2rEhISDDbrlarFd7e3uKxxx4TvXv3Fo8//rioVKmSACB8fHzE77//brL+8OHDRf369QUAUb9+fZNj+fbbb/M9juPHjxu/L0eOHLHq2LPbtWuXACCaNGkiGjVqJHx8fETXrl1F//79RYcOHYQQQuj1ejFs2DABwPhZDBgwwPhZeXt7i82bN5ts9/r168bvYYUKFUSvXr1E//79RatWrURQUJDw9/c3WX/hwoVCURShKIpo0qSJ6N+/v+jZs6d49NFHhVarFa+88opNx7VgwQIBQFSsWNGm902aNEkAEKNGjRLly5cXpUuXFr179xbdunUT/v7+AoBo1KiRSE9PN75n+vTponPnzgKAKF26tMn38PXXXzeuN3z4cAFAPPPMM8LT01NUqlRJ9OvXTzz++OPi448/FkIIceHCBWM2Q0JCxFNPPSV69uwpfH19BQDx6KOPmuXO8D1s1qyZaNq0qfD29hbdunUTffv2FWXKlBEARFhYmPjnn39M3le3bl0BQGzbts3iZ/H9998LAKJt27bGMUPWdu3aZdPnau3PSYM///xTBAUFGfPTv39/0aVLF+Hl5SUAiM6dO5v9LJkyZYoxo61btxYDBw4U3bp1E3Xq1BGKoohPP/3UuO69e/dEnTp1jJ/z448/LgYMGCCioqJEWFiYACASExNtOkZnYPj+5GRProQQYubMmcZtNmnSRAwcOFA0atRIABBvvfVWrv/GDD8vvvvuO4t1rl69WgAQpUqVEleuXDGOZ2ZmilatWgkA4oUXXrD43o0bNwoAolOnTlZ+KkTysDkiskJBm6Pk5GSxbt06s//Rp6eni7ffflsAEN26dct1e4qiiCVLlpgse+211wQAERkZKUqWLCl27NhhXJaZmSmeeuopAUA8/fTTNh2r4X+SwcHB4q+//jKO379/X7Rs2VIAEHXr1hVVqlQRMTExxuU3b94UVatWFQDE0qVLpRy/4RdNa3/ZysnwffP09DT7fPr27SsAiDp16pgd671790Tz5s0FADF16lSz7S5cuFAkJyebjOl0OvHxxx8LAKJ27dpCr9ebLDf8Qp4zG9aYP3++ACA8PDxERkaGze83/GJtaF6vX79uts68efOMv8gcO3bMOK7X6421BwQEiPj4eOMywy+qY8aMMTve9PR0k89cCCEqV64sAIh9+/aZ7f/GjRvi6NGjNh1XQZsjAGLEiBEiNTXVuCw2NlaUK1dOABDLly83eZ/hc2zTpk2u2zZk1tCU63Q6s3WaNGkiAIiePXuKu3fvGsfj4+PFo48+KgCIQYMGWdw3AFG1alVx+fJl47IHDx4Y/703bdrU5H3ffvutcV+WNGzYUAAQq1evNo4VRXOUmppqXP+5554zaUQvXLhg/GPDO++8Y/KeEiVKiJIlS4ozZ86YbTMmJkacPn3a+HrRokUCgOjatavJ9oXI+ve6e/dus59Jecn+vbXly9bPMT+5NUf25Oro0aNCq9UKrVYr1qxZY7Lshx9+EBqNJtd/Y4Y/Ip08eTLXWl955RXjH7gMP7vGjx9vbNay/9vL7vbt20JRFOHt7W3T94hIBjZHRFYw/E/c2i9bfwEuW7as0Gg0Zr9wG5qjvn37mr3n9u3bxv29+eabZsuPHDkiAIjKlSvbVIthm3PnzjVbtmbNGuPyTZs2mS3/5JNPBAAxcuRIm/aZ2/HLao4sfT5Hjx7N81gNf/XM/hd1azz22GMWf2EoSHM0Y8YM45kBe2T/xXrv3r0W1zGcpfv888/Nlun1elGvXj0BQEybNs04/sILLwgAZr9U5cbb29vsbFJBGJqj/L5ynpEyfC/Kly8v7t27Z7Zdw+c9atQok3FbmqPq1auLzMxMs+X79u0TQNaZuLi4OLPlhw8fFgCERqMx+Wt79u/hzz//bPa+GzduCG9vbwHA5Mzl/fv3RXBwsNBoNCZ/zBBCiAMHDggg62xw9lojIyNFZGSk+OOPP3I9TktsaY6WLFkigKyzs5Z+Qf7pp58EAOHr6ysePHgghMj6Jd/Q4Ftj1qxZAoCYM2eOTceRm2+//dbkjKG1X9kbNhksNUf25mrUqFECgBg4cKDFffXp08dic3Tz5k3j9izl3CA9Pd3YtL311lti06ZNQlEU4e/vLy5cuJDncRrOiB4/fjzP9Yhk44QMRDZo0aIFqlatmuvyLVu24MaNG7kuP378OH799VdcunQJ9+7dg16vB5A1RbNer8f58+ctzl7XrVs3s7GgoCAEBwfj9u3bFpdXq1YNAHK9nyk/eW3Tzc0NnTp1snmf9h5/QeV1LPktz+1YUlJSsHv3bly4cAEpKSnG+yPS0tIAAGfPnkWtWrUKXLtMoaGhaNWqldn41atXjfdXDR8+3Gy5oigYOXIkXn31VezatQvvvPMOAKBx48b48ssvMWHCBAgh0KlTpzxvnm7cuDF2796NYcOG4ZVXXkGDBg2g0RT81lcfH588p+tu3LixxfH27dvD29vbbLxmzZoAYHYPjy2eeOIJk5kEDXbv3g0A6NKlC0qXLm22vGHDhqhfvz6OHz+OPXv2mN3oHhAQgJ49e5q9LzQ0FF26dMGaNWuwe/duNG/eHABQokQJjBkzBtOnT8e8efMwY8YM43vmzp0LAHjuuedMaj1z5oztB2wjw+cwYMAAeHp6mi3v3bs3AgMDkZiYiCNHjqBFixYICQlBpUqVcOLECbz++usYPXp0nv/GGjVqBACYNWsWgoOD0aNHDwQFBdld89NPP42nn37a7vcXJntztWfPHgDIdUKFwYMH46effjIbN/x/zt/f32LODdzd3bFq1So8+uijmD17Nr766isIITB//nxERETkeUzBwcG4fv16nv9PJSoMbI6IbPD000/neQN9VFSUxR/k9+7dw9ChQ7F27do8t5+cnGxxvEKFChbHS5Ysidu3b1tc7uvrC+DhL+u2srRNwy++ZcqUgZub+Y8Pwz5TU1NNxgt6/AWV17Hktjy3YwGAadOmYdq0aXne4CzzWEJCQgBk3Wyt0+ny/GUkL7k9DNXQBAQHB8PPz8/iOoYH9GZvGIYOHYrt27dj2bJleOqpp6DValGrVi20bNkSffr0Qbt27Uy28eWXX6JHjx5YsmQJlixZAl9fXzRq1Ajt2rXD0KFDTb4PP//8M37++WezOp5++mm0bNnSZMzeqbxz+3dl+Awsfe+tld9nXbly5VzfW6VKFRw/ftxic2aYZMQSwzavXr1qMv7CCy9g9uzZmD9/PiZPngwvLy/cvHkTP/74Izw9PfHMM89Yc0hS5fc5KIqCypUrIzEx0eRzWLx4Mfr06YM5c+Zgzpw5CAoKQpMmTdCxY0cMHToUpUqVMq4bFRWF8ePHY/bs2Rg+fDgURUG1atXQokUL9OrVC48//riU5lyWW7du4Y033jAbr1GjBiZMmJDne+3NlSErueU1t/GkpCQAyPXnRXYVK1bEF198gcGDByM5ORnPP/88nnrqqXzfZ9h2YmJivusSycTmiKgIvP3221i7di1q1KiBGTNmoFGjRihVqhQ8PDwAAM2bN8eBAwdynVEqv/+BF8b/4PPapq37K+jxF5TMz+/bb7/Fe++9h7CwMMyfPx/NmzdH6dKljc/4GDRoEFasWCH1WBo2bAgASE9Px/Hjx/Hoo4/atZ0SJUpIqwnI+tyWLl2Kd955B5s2bcLvv/+O33//HfPmzcO8efPw+OOPY+3atcZmrmbNmjh79iy2bduGnTt3Yv/+/di3bx927tyJDz74APPnz8eQIUMAAH/99ZdxtsLsoqKizJqjgtRfWGR/1rbImb3y5cujd+/e+OGHH7Bq1SoMHz4c3333HdLS0jB06FBj860GrVq1QkxMDDZt2oQ9e/Zg//792Lp1KzZv3oxJkyZh7dq1aN++vXH9GTNm4LnnnsOGDRvw22+/4ffff8eCBQuwYMECNGrUCLt27YKPj49V+/7uu+/w22+/2VzzhAkTUKNGjXzXu3v3rsXMt2nTJt/mqKBya7hzGw8ICABg3R+BhBBYtmyZ8fXRo0eRkZEBd3f3PN9naMACAwPz3QeRTGyOiIqA4fk+q1atQr169cyWnzt3rqhLKlKudPyGX16+/vpri5c3Fcax1KtXD5UrV8alS5ewaNEiu5uj3JQrVw4AcPv2bSQnJ1v8a/DFixdN1s2uVq1aqFWrFt58800IIbBz504MGjQIGzZswOLFi02eZeXm5oZu3boZL2VMTk7GnDlzMGXKFDz77LN48skn4ePjg8mTJ7vks8AMn5/h87Qkr886JiYm1/cZlpUvX95s2csvv4wffvgBc+fOxZAhQ/DVV18BAMaOHWtt6VJZ8zlcunTJZF2DEiVKoE+fPsZLKW/evIn33nsP33zzDUaNGoXLly+brF+pUiW89NJLeOmllwAAhw4dwpAhQ3Do0CHMmjXLOM1+fn777TeLzUt+RowYYVVzVKlSJbv/qGJvrsqVK4eLFy8iJibG4iWKueUtNDQUAHDnzp18z2bPnDkTv/zyC2rWrImAgAAcOHAA48ePz/cBr7dv3wYAi5cJEhUm5zmfTOTCEhISAGRdXpDT1q1bcevWraIuqUjZe/yGM0uZmZmFV5yNDM9xsnQsJ0+exF9//WXxfQU5FkVRjPf5zJs3D3/++Wee62dmZuLgwYNWb798+fLGy+YsXZ4mhDCOG571k1et7du3x6BBgwAg18/DwM/PD5MnT0ZAQADu37+f6/OUnIGMPEZFRQHI/f7EY8eO4a+//oJGo0Hr1q3Nlt+5cwcbNmwwG7958ya2bNliso/sWrRogYYNG+LQoUN47733EBsbi0aNGuV6P1ZhM9S4atUqi5cvrl27FomJicbn9OQlJCQEs2bNAgDExsbmexlWo0aN8MILLwDIP5/ZLVy4ECJrIiubvix9P2SzN1eG/16+fLnF7eY2XqpUKYSHh0MIkec9avv27cN7770Hb29v/Pjjj1i1ahWCgoLw6aefYt26dbm+7/bt24iLi4O3t7fxHkCiosLmiKgIGH64f/HFFybjZ8+exXPPPeeIkoqUvcdv+Av4yZMnC684G1WvXh1A1s3shgklgKyHoQ4bNizXX5wLeixPP/00+vTpg4yMDHTs2BGLFi0ye0im4axN8+bNsXLlSpu2b7jX4cMPP8Tx48dNtjl16lT89ddfCAgIMLk/ZfHixThy5IjZtgyTVQAPm8j79+9jzpw5uHnzptn6+/btw507d6DVai2e9XAWhtrOnTtn98NDW7ZsiSZNmuDBgwd49tlncf/+feOyW7du4dlnnwWQNVFBeHi4xW28/vrrJvcVpaWl4cUXX8S9e/fQuHFjtGjRwuL7XnnlFQAwTsqQ21mjGjVqoEaNGvk24QXRt29fVKhQAf/++y9ee+01k383ly5dwuuvvw4AeOmll4yXrF6+fBnfffedxUu5DA1jYGCg8czn2rVrsXfvXpN/p0DWQ6kNjaSlP3Kokb25Gjt2LDQaDVauXGnWrKxZswarV6/OdZ+GP5QcOHDA4vKbN29i4MCB0Ol0mDt3LmrXro3w8HAsWrTIOMlLbmem9u/fbzyu/C6/I5KuqKbFI1Kzgj7naPXq1UJRFAFkPSNowIABol27dsLd3V20a9fO+EydnM/DMGwvt+dkGOq6dOmSxeXI5XkYecnrPZcuXcr1mRdC5D7Vsb3Hf/z4caHRaIRGoxEdOnQQI0eOFKNHjxbr1q2z6lgK8vnkdqy///67cHd3F/jveTP9+vUTXbp0ESVKlBC1a9cWTz75pMWsxMXFCR8fH+MzP0aMGCFGjx4tvv/+e6uORYisaXHHjh1r/CyDg4NFly5dxKBBg0T37t2NU99qtVqT6cmtmYJar9eLoUOHCiDrAZvt27cXAwcOFJGRkQKAKFGihPjll19M3tOrVy/jdMzdunUTgwcPNnmQap06dYzTsycmJhqn/q1fv77o06ePGDhwoGjWrJnxeCZOnGj1ZyHEw6m8fXx88p1OOfuU3flNq57X52WYqj0yMlIMHjxYjB49WowfP9643Jrp57M/rDM0NFT06dNH9OrVS/j5+Rmf/5LXQ2CbNGkivL29RY8ePUS/fv2MD+INDQ21+Pwfg7S0NFG6dGkBZD0kNLdnzBj+Xdj7nKOIiAjRpEmTXL8MDzLO/hDYihUriv79+4tu3brl+hDYY8eOCQDC3d1dNGrUSPTr10/069dPNGjQQABZz4PL/kBSwzN2SpUqJTp27CgGDx4sevbsaXxgdbly5UymtVaL3H5u2ZMrIYT46KOPjNts2rSpGDRokGjcuLEAIF5//XUBQFSrVs3sfYZHO/Tr189smU6nE506dRIAxPDhw82WG7bbuHFjs2dQCSHEyy+/LACIL7/80spPhUgeNkdEVihocySEEHv37hXt27cXpUqVEt7e3qJOnTpi2rRpIi0tLdcmyFWaIyHsO34hhFi7dq1o0aKF8PX1Nf4Sbe2zggqjORJCiL/++ks8/vjjokyZMsLLy0tUq1ZNvPXWWyI5OTnPX4737t0rOnToIAIDA40PV7T0i0N+Tp48KV555RVRv359ERAQINzc3ERgYKBo0qSJeOedd8Q///xjsr41zZHB8uXLRVRUlAgICBDu7u4iPDxcjBgxwuIv3Xv37hXjxo0TjRs3FmFhYcLDw0OEhYWJZs2aiS+++MLkQZQZGRniq6++EgMHDhQ1atQQ/v7+okSJEqJKlSriqaeeEr/++qvNn4O1zzkCIBITE43vK0hzdPnyZTFo0CBRpkwZ4ebmZpYRa5/Ndfv2bfH222+LmjVrCi8vL+Ht7S0aNGggZsyYIe7fv59nTXfv3hVvvvmmqFy5svDw8BClS5cWI0aMELGxsfl+Zv379xcAxNtvv53rOgVtjvL7yr7d2NhY8eKLL4qIiAjh4eEhfH19RbNmzcS8efPMHnicnJwsPvvsM/Hkk0+KatWqiZIlSwofHx9RvXp1MWzYMHH48GGT9Y8dOyYmTJggWrZsKcqVKyc8PDxESEiIaNiwofjoo4/ErVu3bDo+Z5HXzy1bc2WwZs0a0aJFC+Hj4yN8fX1Fy5Ytxc8//yz27t1rbMpzyszMFBUqVBBeXl5mTdeHH34oAIhatWpZfJZYenq6aNq0qQAgxo0bZ7asVKlSws/PT6SkpFjzkRBJpQhRSNNDERERkRS7d+9G27Zt0aZNG+Mli7a6c+cOypcvj9TUVFy6dCnXy/aIDD744ANMmjQJL730Ej7//HOz5R9//DHefPNNfP7558YJLwpq9erV6NOnD1599dV8J20gKgy854iIiKgYmD59Ou7du4d+/fqxMSKjc+fOWZzEYv369Zg+fToURbH4cGgg656wiIgIzJo1q0DPBTPQ6/WYMmUKgoKC8N577xV4e0T24FTeRERELmr//v34/vvvcenSJezcuRPe3t6YOnWqo8siJ7Js2TJ89NFHaNCgAcLDw5GRkYGzZ8/i7NmzAIDJkyfnOmOgp6cn5syZgyeeeAL/+9//LD7E1hbLly9HdHQ05s6di6CgoAJti8hebI6IiIhc1D///IP58+ejRIkSaNq0KWbOnImIiAhHl0VOpEuXLjh37hwOHjyI06dPIzU1FcHBwXj88cfxwgsvoEuXLnm+v1evXtIeej1kyBDjg6CJHMUp7zmaPHmy2UPZIiMj85xLn4iIiIiIqCCc9sxR7dq1sWPHDuNrNzenLZWIiIiIiFyA03Ycbm5uCAsLc3QZRERERERUTDhtc3Tu3DmULVsWXl5eaNasGaZPn44KFSpYXDctLQ1paWnG13q9HgkJCQgODoaiKEVVMhERERERORkhBFJSUlC2bFloNHlP1u2U9xxt3rwZd+/eRWRkJK5fv44pU6bg2rVr+Pvvv+Hr62u2vqV7lIiIiIiIiAyuXLmC8uXL57mOUzZHOd25cwcVK1bEnDlzMHr0aLPlOc8cJSUloUKFCrh48SICAgIAAIqiQKPRQK/Xm8yqYhjX6XQm28xtXKPRQFEUi+NA1lkra8a1Wi2EEBbHc9aY2ziPqWiOKTMzEydPnkTNmjWh1Wpd4phc8fukhmPS6XRmWVL7MVmqncdUNMeUnp6O06dPG/PkCsfkit8ntRxTZmamMU9ubm4ucUyu+H1SwzFlz5JWq3WKY0pOTkalSpVw584d+Pv7Iy9Oe1lddgEBAahevTrOnz9vcbmnpyc8PT0tvi8wMLCwyyMXp9Pp4Ovri8DAQOMvtET2YJZIJuaJZGKeSBZnzJKhDmtut8n7ojsncffuXVy4cAFlypSx6X35XVNIZA2NRoPIyEjmiQqMWSKZmCeSiXkiWdSeJaes+o033sCePXsQExOD/fv348knn4RWq8XAgQMdXRoVUx4eHo4ugVwEs0QyMU8kE/NEsqg5S07ZHF29ehUDBw5EZGQk+vXrh+DgYBw8eBAhISE2bSfntZBE9tDr9YiOjmaeqMCYJZKJeSKZmCeSRe1Zcsp7jlauXOnoEoiIiIiIqJhxyjNHRERERERERY3NEREREREREVTynCNbJScnw9/f36q5zInyY5jL3zCXPpG9mCWSiXkimZgnksUZs2ToDZKSkuDn55fnujxzRGSF9PR0R5dALoJZIpmYJ5KJeSJZ1Jwll26O1DpLBjkXvV6Ps2fPMk9UYMwSycQ8kUzME8mi9iy5dHNERERERERkLTZHREREREREYHNEZBWtVuvoEshFMEskE/NEMjFPJIuas+TSs9VZMyMFERERERG5Ls5W9x8X7PvIAYQQSE5OZp6owJglkol5IpmYJ5JF7Vly6eZIrbNkkHPR6/W4ePEi80QFxiyRTMwTycQ8kSxqz5JLN0dERERERETWYnNEREREREQENkdEVvHy8nJ0CeQimCWSiXkimZgnkkXNWeJsdURERERE5LI4W91/1HojGDkXvV6P27dvM09UYMwSycQ8kUzME8mi9iy5dHPkgifFyAGEELhy5QrzRAXGLJFMzBPJxDyRLGrPkks3R0RERERERNZic0RERERERAQ2R0RW8fX1dXQJ5CKYJZKJeSKZmCeSRc1Z4mx1RERERETksjhb3X/UOksGORe9Xo+4uDjmiQqMWSKZmCeSiXkiWdSeJZdujlzwpBg5gBACcXFxzBMVGLNEMjFPJBPzRLKoPUsu3RwRERERERFZi80RERERERERXLw5UhTF0SWQC1AUBUFBQcwTFRizRDIxTyQT80SyqD1LnK2OiIiIiIhcFmer+4/ZLBkXLwLbtgHffQdMnAj89ptjCiNV0ev1iI2NVe2sK+Q8mCWSiXkimZgnkkXtWXJzdAGFyeyk2MsvA5s2PXzt7g60bFm0RZHqCCGQkJCAcuXKOboUUjlmiWRinkgm5olkUXuWXPrMkZnwcNPXsbGOqYOIiIiIiJxO8WqOKlQwfX3limPqICIiIiIip+PSzZHZLBk8c0R2UBQFYWFhqp11hZwHs0QyMU8kE/NEsqg9Sy59z5FGk6P3s3TmSAhApd88KhoajQZhYWGOLoNcALNEMjFPJBPzRLKoPUsufeZIp9OZDuQ8c3T3LnDnTpHVQ+qk0+lw4cIF8zwR2YhZIpmYJ5KJeSJZ1J4ll26OzJQrZ36WiPcdkRVSUlIcXQK5CGaJZGKeSCbmiWRRc5aKV3Pk4QHkPM3H+46IiIiIiAjFrTkCOGMdERERERFZ5NLNkcVZMjhjHdlIURSEh4erdtYVch7MEsnEPJFMzBPJovYsFa/Z6gDzM0dsjigfGo0GwcHBji6DXACzRDIxTyQT80SyqD1LLn3myOIsGTnPHPGyOsqHTqfDmTNnVDvrCjkPZolkYp5IJuaJZFF7lly6ObKIZ47IDqmpqY4ugVwEs0QyMU8kE/NEsqg5S8WvOcp55ujaNUClnS0REREREclT/JqjnGeOMjOBuDjH1EJERERERE7DpZsjixMyhIRkPe8oO953RHnQaDSIiIiwnCciGzBLJBPzRDIxTySL2rOkzqqtZHEKQY2G03mTTRRFgZ+fn2qnpCTnwSyRTMwTycQ8kSxqz5JLN0e5zpLBGevIBjqdDtHR0aqddYWcB7NEMjFPJBPzRLKoPUsu3RzlijPWkY3U+g+cnA+zRDIxTyQT80SyqDlLxbM54pkjIiIiIiLKoXg2RzxzREREREREObh0c5TrLBk8c0Q20Gg0iIyMVO2sK+Q8mCWSiXkimZgnkkXtWVJn1QWV88xRfDyg4if5UuHzyDn9O5GdmCWSiXkimZgnkkXNWXLp5kiv11tekPPMEQBcvVq4xZBq6fV6REdH554nIisxSyQT80QyMU8ki9qz5NLNUa78/AB/f9Mx3ndERERERFSsFc/mCOB9R0REREREZKL4NkecsY6IiIiIiLJx6eYoz1kyeOaIrKTRaFC3bl3VzrpCzoNZIpmYJ5KJeSJZ1J4ldVYtA88ckQ3S09MdXQK5CGaJZGKeSCbmiWRRc5ZcujnKc5YMnjkiK+n1epw9e1a1s66Q82CWSCbmiWRinkgWtWfJpZujPFk6cySEY2ohIiIiIiKHK77NUc4zR3fvAklJjqmFiIiIiIgcrvg2R+XKAYpiOsb7jigXWq3W0SWQi2CWSCbmiWRinkgWNWdJEcL1riVLTk6Gv78/kpKS4Ofnl/uKZcoAcXEPX2/cCHTvXvgFEhERERFRkbC6N4CLnznKt+/jjHVkBSEEkpOT888TUT6YJZKJeSKZmCeSRe1ZcunmKN9ZMjhjHVlBr9fj4sWLqp11hZwHs0QyMU8kE/NEsqg9Sy7dHOWLZ46IiIiIiOg/xbs54pkjIiIiIiL6T/FujnjmiKzk5eXl6BLIRTBLJBPzRDIxTySLmrNUvGer+/NPoEmTh6/d3YEHDwAVTz9IREREREQPcba6/+R7I1jOM0cZGcCNG4VXEKmSXq/H7du3VXtjITkPZolkYp5IJuaJZFF7lly6Ocr3pFhoaNbZoux43xHlIITAlStXVDslJTkPZolkYp5IJuaJZFF7lly6OcqXRmM+KQPvOyIiIiIiKpaKd3MEcMY6IiIiIiICwOaIM9aRVXx9fR1dArkIZolkYp5IJuaJZFFzltwcXUBh0loz6xwvq6N8aLVaVKlSxdFlkAtglkgm5olkYp5IFrVnyaXPHFk1S0bOM0e8rI5y0Ov1iIuLU+2sK+Q8mCWSiXkimZgnkkXtWXLp5siqWTJ45ojyIYRAXFycamddIefBLJFMzBPJxDyRLGrPkks3R1bJeeYoPh5ITXVMLURERERE5DBsjnKeOQKAq1eLvg4iIiIiInIol26OFEXJfyV/f8DPz3SM9x1RNoqiICgoyLo8EeWBWSKZmCeSiXkiWdSeJZdujjQaKw+P9x1RHjQaDSpUqGB9nohywSyRTMwTycQ8kSxqz5I6q7aS1bNkcMY6yoNer0dsbKxqZ10h58EskUzME8nEPJEsas+SSzdHVs+SwTNHlAchBBISElQ76wo5D2aJZGKeSCbmiWRRe5acvjmaMWMGFEXBuHHjCm8nPHNERERERFTsOXVzdOjQIXz99deoV69e4e6IZ46IiIiIiIo9p22O7t69i8GDB+Pbb79FYGCgXduwepaMnGeOYmMBlZ4KJPkURUFYWJhqZ10h58EskUzME8nEPJEsas+Sm6MLyM2LL76I7t27o0OHDpg6dWqe66alpSEtLc34Ojk5GUDWNY86nQ5A1jdKo9FAr9ebXAOpKAo0Oc8c3b0LfWIiNEFBxvcbaDQaKIpicRwwnwQit3GtVgshhMXxnDXmNp7nMWk0ZjXmNs5jyvuYFEVBSEiISZ7Ufkyu+H1SwzFZypLaj8lS7TymojkmIYRJnlzhmFzx+6SmYzLkSa/Xu8wx5Vc7j6lwjin7zyZnOKacy/PilM3RypUrcfToURw6dMiq9adPn44pU6aYjf/999/w9fUFAAQFBaFChQq4evUqEhISjOuEhYUhrHx5s/cmnzyJgFatcO7cOaSmphrHIyIi4Ofnh1OnTpl80JGRkfDw8EB0dLTJdurWrYv09HScPXvWOKbValG3bl2kpKTg4sWLxnEvLy/UqFEDiYmJuJLtvidfX19UqVIF8fHxiIuLM47neUxhYYiJiUFKSopxPDw8HMHBwTwmG48pKSkJJ06cgK+vLxRFcYljcsXvkxqOSavV4uDBg8YsucIxueL3SS3HdPbsWdy6dcuYJ1c4Jlf8PqnlmG7fvo2UlBT4+vqiTJkyLnFMrvh9UsMxxcbGGrPk5+fnFMd09+5dWEsRTjaVxJUrV/DYY49h+/btxnuNoqKi8Mgjj+Czzz6z+B5LZ47Cw8Nx8+ZN4yV5+XWoIiwMyo0bxnH9+vXQPP44/5LAY0JmZiaio6NRu3ZtaLValzgmV/w+qeGYdDqdWZbUfkyWaucxFc0xpaen4+TJk8Y8ucIxueL3SS3HlJmZacyTm5ubSxyTK36f1HBM2bOk1Wqd4piSk5MRFBSEpKQk+Pn5IS9Od+boyJEjiI+Px6OPPmoc0+l02Lt3L/73v/8hLS3N+EuFgaenJzw9Pc22ZfiGZGf4sHJSKlQAsjVHmmvXjNuwRMa4oigWx3Or0dbxwqw9t3FXPSbDcWVfrvZjcsXvk7MfU25Zymt9Zz8mW8d5THKPyVKe1H5MhTXOY8p7PHueDOup/ZgKq0Zbx4vbMVn62eToY8ptuSVO1xy1b9/e7LTeyJEjUaNGDYwfP96mg7NJeDiQ/TI+zlhHRERERFSsOF1z5Ovrizp16piM+fj4IDg42Gw8P4Zr+q3CZx1RLhRFQXh4uG15IrKAWSKZmCeSiXkiWdSeJadrjmTK7VSdRXzWEeVCo9EgODjY0WWQC2CWSCbmiWRinkgWtWfJaZ9zlN3u3btznYwhL7ZM28czR5QbnU6HM2fO2JYnIguYJZKJeSKZmCeSRe1ZUkVzVCRynjm6cgXIyHBMLeR0sk8bSVQQzBLJxDyRTMwTyaLmLLE5Mqhe3fR1ZiZw8qRjaiEiIiIioiLH5sggMBCoXNl07OhRx9RCVESOHTuGqVOnmjxojYiIiKi4cunmyKYJGQCgYUPT10eOyCuGVEuj0SAiIsL2PDm5GzduoGfPnggLC4Ovr6+jyykWXDVL5BjME8nEPJEsas+SOqu2ks1TCGZ78CwAnjkiAFk58vPzK/CUlKmpqZg2bRq2bdsmqbKCOXLkCGbNmoWnn37a0aUUG7KyRAQwTyQX80SyqD1LLt0c2TxLRs7m6PjxrHuPqNi5f/8+bt26hVu3bqFChQro2rUrbt26VaBtvvrqq1ixYgWaNGkiqcqC6datGwYOHOjoMooVnU6H6Oho1c7gQ86FeSKZmCeSRe1ZcunmyGY5m6MHD4AzZxxTSzG3cOFCKIpi/PLy8kLZsmXRuXNnfP7554V+j8ysWbMQEhKCkJAQXLlyBVu2bMFjjz1m9/Z+/PFHrF+/Hr/88gv8/f0lVpo11b2iKPjpp59MxtPT09GjRw9oNBp8//33AMw/15xfBw8eNL7fMJbbmaV3333XuE5BG8fiRK3/syDnxDyRTMwTyaLmLLn0Q2BtFhKSNaV39mccHT0K1KnjuJqKuQ8++ACVK1dGRkYG4uLisHv3bowbNw5z5szB+vXrUa9evULZ77Bhw9CyZUsAwJAhQxAREYEZM2bYtS0hBK5evYrNmzejQs7naRWSjIwM9OnTB7/88gu+/fZbjBo1ymS54XPNqWrVqiavvby8sHr1anz55Zfw8PAwWbZixQp4eXmperpOIiIiouzYHOXUsKFpc3TkCDBsmOPqKea6du1qcsbm7bffxs6dO9GjRw/07NkTp0+fRokSJazaVkZGBoKCgvDvv//mOwFBREQEIiIiAGQ1CKVKlUKLFi3sOgZFUfDqq6/a9V57ZGRkoF+/fti4cSO+/vprjB492mydnJ9rbrp06YL169dj8+bN6NWrl3F8//79uHTpEp566imsXr1aav1EREREjuLSl9XZNUsGJ2Vweu3atcP777+Py5cvY+nSpcbxqKgoREVFma3ftm1bKIqCGzduQKfT4cGDBxa3K4TA1KlTUb58eXh7e6Nt27Y4+d+zrvz9/U3ydPHiRfTt2xdBQUHw9vZG06ZNsWnTJpPtpaenY+LEiWjYsCH8/f3h4+ODVq1aYdeuXSbrxcTEQFEUfPzxx/jmm29QpUoVeHp6olGjRjh06JBNn01mZiYGDBiAdevWYd68eXjmmWdsen9O5cqVQ+vWrbF8+XKT8WXLlqFu3bqow7OqNtFoNIiMjFTtDD7kXJgnkol5IlnUniV1Vl2Yck7nfewYoNc7phbK1dChQwHAqpnfSpUqBQAIDw9HZGQkQkJCLK43ceJEvP/++6hfvz5mz56NiIgIdOrUCffu3TP5B37jxg00b94cW7duxQsvvIBp06YhNTUVPXv2xNq1a43rJScn49tvv0VUVBRmzpyJSZMm4caNG+jcuTP++usvs/0vX74cs2fPxrPPPoupU6ciJiYGvXv3RkZGhlWfSWZmJgYOHIi1a9di7ty5ePbZZ3NdNykpyTjhhOHr9u3bFtcdNGgQNmzYgLt37xr38+OPP2LQoEFW1UWmcl6eSFQQzBPJxDyRLKrOknBBSUlJAoBISEiw/c3XrwsBmH6dPi2/SMrTggULBABx6NChXNfx9/cXDRo0ML5u06aNaNOmjdl6w4cPFxUrVhQxMTHiwYMHFrcVHx8vPDw8RPfu3YVerzeOv/POOwKAePzxx0VmZqYQQohx48YJAGLfvn3G9VJSUkTlypVFpUqVhE6nE0IIkZmZKVJTU032k5CQIEJCQsSoUaOMY5cuXRIARHBwsElm161bJwCIDRs25PoZCCHErl27BABRsWJFAUDMnTs313UNn6ulL09PT5N1AYgXX3xRJCQkCA8PD7FkyRIhhBCbNm0SiqKImJgYMWnSJAFA3Lx5M88aKUtmZqY4duyYMUtEBcE8kUzME8nijFky9AZJSUn5rsszRzmFhQFlypiO8dI6p1SyZEmbZq2rWLEivLy8LC7bsWMH0tPT8dJLL5nMyz9u3DizdX/55Rc0btzYOGGDoZYxY8YgJiYGp06dAgBotVp4enoa10lPT0eJEiXQvHlzHLWQqf79+yMwMND4ulWrVgCyLuGzxo0bN+Dm5mZxooWc5s6di+3bt5t8bd682eK6gYGB6NKlC1asWAEg6wxX8+bNUbFiRavqIiIiIlILNkeW5Ly07sgRx9RBebp7926+EytY6/LlywCAatWqmYyHhISYNCyGdSMjI822UbNmTZNtAcCqVavQtGlT+Pv7w9PTEyVKlMC6deuQlJRk9v6cM9kZ9puYmGjVMcyaNQsVKlRAnz598Pvvv+e5buPGjdGhQweTr7Zt2+a6/qBBg7B9+3bExsbi559/5iV1RERE5JLYHFnCSRmc3tWrV5GUlGQy9XRuT2J21Fz7K1euxIABA1C5cmUsXLgQv/32Gw4cOIBOnTpBb+E+Nq1Wa3E7Qgir9lemTBls374d/v7+6N69O44fP16g+rPr2bMnPD09MXz4cKSlpaFfv37Stk1ERETkLFy6ObJ7loycZ46OHuWkDE5myZIlAIDOnTsbxwIDA3Hnzh2zdbOfycmN4RKxc+fOmYzfvHkTiYmJCAwMNOapYsWKOHv2rNk2zvz3wGDDtlatWoWqVatixYoVePLJJ9GiRQs0bdq0UB9gGxERga1bt0Kj0aBz585mx2OvEiVK4IknnsDu3bvRsWNH4yQXZBuNRoO6deuqdgYfci7ME8nEPJEsas+SOqsubDnPHCUnA1be90GFb+fOnfjwww9RuXJlDB482DhepUoVnDlzBjdv3jSOHT9+PN9LzACgQ4cOcHd3xxdffGFypuazzz4DAJMzPd26dcOff/6JAwcOGMfu3buHb775BpUqVUKtWrUAZJ3J0uv1Ju/dv38/Dh48aPtB26Bu3brYtGkT7t69i44dO+LatWtStvvGG29g0qRJeP/996Vsr7hKT093dAnkQpgnkol5IlnUnCWXfgispUuXrFKuHBAaCsTHPxw7ehTIdgkXFY3NmzfjzJkzyMzMxI0bN7Bz505s374dFStWxPr1600mWBg1ahTmzJmDTp064emnn0Z8fDy++uor1KpVK9+zNSEhIXjjjTcwffp09OjRA926dcOxY8ewefNmlCpVCklJSdDr9dBqtZgwYQJWrFiBrl274uWXX0ZQUBAWLVqES5cuYfXq1ca/lHTv3h1r167Fk08+ie7du+PixYv4+uuvUbt27UI9ewQAzZo1w5o1a/D444+jY8eO2LdvH4KDg43LDZ9rTs2bNzc+/Dan+vXro379+oVWc3Gg1+tx9uxZ1K1bN9fLKImsxTyRTMwTyaL2LLl0c2Q3Rck6e7Rly8OxI0cA3mdR5CZOnAgga778oKAg1K1bF5999hlGjhxpNhlDzZo1sXjxYkycOBGvvfYaatWqhcWLF2PFihXYvXt3vvuaOnUqvLy88NVXX2HXrl1o0qQJtm3bhu7du5usV7p0aezfvx/jx4/HF198gdTUVNSrVw8bNmwwWXfUqFGIi4vDN998g23btqF27dpYsWIFVq5caVU9BdWpUycsWbIEAwcORNeuXfHrr78alxk+15wWLFiQa3NERERE5OoUYe3d3iqSnJwMf39/JCQkmM00ZrV33wU++ujh6w4dgO3b5RRIqqLT6RAdHa3av4CQ82CWSCbmiWRinkgWZ8ySoTdISkqCn59fnuvynqPcWJrO2/X6SJcVFRWFqKgoadtzln/cpH7MEsnEPJFMzBPJouYsuXRzVKBvTM5JGRITAStmPSPXo9VqneqvH6RezBLJxDyRTMwTyaL2LLl0c1SgKwYrVgSCgkzH+DBY1di2bRu2bdsmZVtCCCQnJxcsT0Rglkgu5olkYp5IFrVnyaWbI7tnqwMeTsqQHR8GqxoeHh7w8PCQsi29Xo+LFy8WLE9EYJZILuaJZGKeSBa1Z8nu2ep27dqFX3/9Fb///juuXr2KW7duwdvbGyEhIahbty7atGmDHj16ICwsTGa9RathQ2DHjoev2RwREREREbksm84c3bt3D9OnT0dERAQ6dOiAjz76CHv27MG1a9fg4+OD1NRU/P3331i2bBnGjBmDihUrok+fPlY9hNMp5TxzxEkZitysWbNQo0YN1f71gVzDli1bULJkSZMHDBMREZHrsbo5+uqrr1C1alW8++678PPzw4cffohff/0VSUlJuH//Pq5evYrbt28jIyMDZ86cwaJFi9CvXz9s27YNrVu3Ru/evXHp0qXCPBb5cjZHN28C1645ppZiKDk5GTNnzsT48eOND1YFAEVRjF8ajQZly5ZFp06dpD47aP369Xj00Ufh5eWFypUr49tvv0VmZqZV7502bRp69uyJ0qVLQ1EUTJ48WVpdMuzevRuKouCnn35ydCkFotfrsXDhQvTs2RPh4eHw8fFBnTp1MHXqVKSmplq1jY8++ghNmzZFSEgIvLy8UK1aNYwbN86sCerSpQuqVq2K6dOnF7ju7A8uJioo5olkYp5IFjVnyernHLm7u2PgwIF46623UKdOHat38ODBAyxbtgzTp0/H8OHDc334pEy2zGWeJyGAwEAgKenh2M8/A716FbhGyt9nn32GSZMm4caNGyb/yBRFQceOHTFs2DAIIXDp0iV8+eWXiI+Px6ZNm9C1a9cC7Xfz5s3o3r07oqKiMHDgQERHR2Pu3LkYM2YM5s2bl+/7FUVBWFgY6tevj61bt2LSpElO1SDt3r0bbdu2xY8//og+ffo4uhy73b17F76+vmjatCl69OiB0NBQHDhwAIsWLULr1q2xc+dOKIqS5zaeeuophISEoEaNGvD19cXp06fx7bffIjQ0FH/99Rd8fHyM686bNw9vvPEG4uLizB5ATERERM7Lpt5AWOns2bPWrmpRZmamuHjxYoG2Ya2kpCQBQCQmJhZ8Y1FRQmS1SVlfEycWfJtklXr16okhQ4aYjQMQL774osnYiRMnBADRqVOnAu+3Vq1aon79+iIjI0MIIYROpxOvvfaaUBRFnD59Ot/3X7p0SQghxM2bNwUAMWnSpALXdOXKFZGQkFDg7QghxK5duwQA8eOPP0rZnqOkpaWJ33//3Wx8ypQpAoDYvn27Xdv96aefBACxYsUKk/EbN24IrVYr5s+fb9d2hcjK0q1bt4ROp7N7G0QGzBPJxDyRLM6YJUNvkJSUlO+6Vl9WV716dXubNQBZc55Xrly5QNuwlZBxf5Clh8FSobt06RJOnDiBDh06WLV+3bp1UapUqQJfunnq1CmcOnUKY8aMgZtb1nwlQgh07twZQgirLkWrVKlSgWqwZMeOHShbtiwGDx6MXbt2Fcn0mBcvXkTfvn0RFBQEb29vNG3aFJs2bTJb74svvkDt2rXh7e2NwMBAPPbYY1i+fLlxeUpKCsaNG4dKlSrB09MToaGh6NixI44WcIITDw8PNG/e3Gz8ySefBACcPn3aru0avn937twxGQ8NDUW9evWwbt06u7YLZGXpypUrqp3elJwL80QyMU8ki9qzZPdsdR988AGioqLQunXrXNfZt28fdu3aVSSX0hUaTuftEPv37wcAPJrz889FYmIiEhMTUbVqVeNYUlISMjIy8n2vl5cXSpYsCQA4duwYAOCxxx4zWSc0NBTly5c3Li9qnTp1wksvvYQlS5Zg+fLliIiIwKhRozBixAiUK1dO+v5u3LiB5s2b4/79+3j55ZcRHByMRYsWoWfPnvjpp5+MDci3336Ll19+GX369MErr7yC1NRUnDhxAn/88QcGDRoEAHjuuefw008/YezYsahVqxZu376N3377DadPnzZ+f+/fv4/79+/nW5dWq0VgYGCe68TFxQEASpUqZdWxCiFw+/ZtZGZm4ty5c5gwYQK0Wi2ioqLM1m3YsCF+/vlnq7ZLREREKmTv6SlFUcSUKVPyXGfq1KlCo9HYuwu7GU6dSbkM6fRp08vqACH+/bfg26U8vffeewKASElJMVsGQIwePVrcvHlTxMfHiz/++EO0b99eABCffPKJcb02bdoIAPl+DR8+3Pie2bNnCwAiNjbWOJaZmSmOHTsmHnvsMdG0aVOrj0HmZXUGGRkZYt26deKJJ54Q7u7uQqvVim7duok1a9aI9PR0q7ZhzWV148aNEwDEvn37jGMpKSmicuXKolKlSsZT5b169RK1a9fOc3/+/v5ml0HmNGnSJKu+VxUrVsz3+Dp06CD8/Pysvqz2+vXrJvsoX768WLVqlcV1P/roIwFA3Lhxw6pt52TIUmZmpl3vJ8qOeSKZmCeSxRmzZMtldXafObJGeno6tFptYe6i8FWvDpQsCdy9+3Ds6FGge3fH1VQM3L59G25ubsYzOjnNnz8f8+fPN7728vLCa6+9hnHjxhnHPvnkEyQmJua7r7Jlyxr/+8GDBwAAT09Pk3V8fX3h5eWFlJQUWw5DOjc3N/Ts2RM9e/ZEfHw8lixZggULFqB3794IDQ3FsGHD8NFHH8Hd3b1A+/nll1/QuHFjtGzZ0jhWsmRJjBkzBm+//TZOnTqFOnXqICAgAFevXsWhQ4fQqFEji9sKCAjAH3/8gX///dfks85u2LBhJvvKTYkSJfJc/tFHH2HHjh348ssvERAQkO/2ACAoKAjbt29Hamoqjh07hjVr1uBu9n/v2RjOWt26dQuhoaFWbT8nTuZAMjFPJBPzRLKoOUsFao7ymgkqPT0d+/bts/sXCBmkNGYaDfDII8Bvvz0cY3PkcL169cLYsWOhKAp8fX1Ru3Ztk5nFgKxLoGxl+OU7LS3NOKbValGlShWkpaXl+8t5QaSnpyMhIcFkLCQkJNcch4aG4vXXX8czzzyD119/Hd999x0+/vhjvPvuu1Y3Brm5fPkymjRpYjZes2ZN4/I6depg/Pjx2LFjBxo3boyqVauiU6dOGDRoEFq0aGF8z6xZszB8+HCEh4ejYcOG6NatG4YNG4aIiAjjOhERESav7bFq1Sq89957GD16NJ5//nmr3+fh4WG8t61Hjx5o3749WrRogdDQUPTo0cNkXfHf9dP5zYKXG0OWiGRgnkgm5olkUXuWbGqOcv7y8umnn2LBggVm6+l0Oty6dQupqal45plnClZhAUh7cGjDhqbNESdlKHTBwcHIzMxESkqKxb8+lC9fPt/JGhISEpCenp7vvkqUKAF/f38AQJkyZQAA169fR3h4OICsHMXHx+P69eto3LixrYditf3796Nt27YmY5cuXbI4wYMQArt378b333+P1atXIzU1Fe3bt8fTTz9dsOnrbVSzZk2cPXsWGzduxJYtW7B69Wp8+eWXmDhxIqZMmQIA6NevH1q1aoW1a9di27ZtmD17NmbOnIk1a9YYp12/e/durmdrstNqtQgJCTEb3759O4YNG4bu3bvjq6++KtAxNW/eHGXKlMGyZcvMmiPDmUhr72fKyZCl0NBQk2d3EdmDeSKZmCeSRe1Zsqk50uv1xr+YKooCIYTFmSjc3d1Ru3ZttGvXDu+//76cSu1gqTa7cFKGIlejRg0AWc1BvXr17NpG7969sWfPnnzXGz58OBYuXAgAeOSRRwAAhw8fNjZCQgicOHECV69exZgxY+yqxRr169fH9u3bTcbCwsJMXsfExGDRokVYuHAhYmJiUL58ebz++usYPXq01FnyKlasiLNnz5qNnzlzxrjcwMfHB/3790f//v2Rnp6O3r17Y9q0aXj77beNz6cqU6YMXnjhBbzwwguIj4/Ho48+imnTphmbo48//tjYTOVXV0xMjMnYH3/8gSeffBKPPfYYfvjhB+MsgwWRmpqKpOzPN/vPpUuXUKpUKYsNmjWEEIiLi7P7/UTZMU8kE/NEsqg9Szb9FpH9lxKNRoNXX31V3TPRWSvn5VlXrgA3bwIq/aarQbNmzQBkNSn2Nkf23HNUu3Zt1KhRA9988w2effZZ4yVtP/74IxRFMXloalJSEq5fv44yZcoYzzwVRGBgYK5nw6Kjo/Hqq69i586dcHNzQ48ePTB37lx07ty5UO7r69atGz777DMcOHDA+L24d+8evvnmG1SqVAm1atUCkHVvWHBwsPF9Hh4eqFWrFjZv3oyMjAy4u7vj7t27Jp9PaGgoypYta3Lpor33HJ0+fRrdu3dHpUqVsHHjxjwvezxz5gy8vb1RoUIF4/EoigJvb2+T9VavXo3ExESzGQsB4MiRI8bPg4iIiFyP3X9ivXTpUoHva1CNyEigRAngv5v1AWRdWteli+NqcnERERGoU6cOduzYgVGjRtm1DXvuOQKA2bNno2fPnujUqRMGDBiA6OhofP/99xg9erTxnhsAWLt2LUaOHIkFCxZgxIgRxvElS5bg8uXLxqmp9+7di6lTpwIAhg4danLWxVpHjhzB1atXMXPmTAwfPlzKvXyrV682ngnKbvjw4ZgwYQJWrFiBrl274uWXX0ZQUBAWLVqES5cuYfXq1cbT5J06dUJYWBhatGiB0qVL4/Tp0/jf//6H7t27w9fXF3fu3EH58uXRp08f1K9fHyVLlsSOHTtw6NAhfPLJJ8Z92nPPUUpKCjp37ozExES8+eabZs9gqlKlikkjU7NmTbRp0wa7d+8GAJw7dw4dOnRA//79UaNGDWg0Ghw+fBhLly5FpUqV8Morr5hsLz4+HidOnMCLL75oU51ERESkIoU2Z54DGabrs3YqX6s0a2Y6nfdbb8nbNlk0Z84cUbJkSXH//n2TcQD5Tg1dUGvXrhWPPPKI8PT0FOXLlxcvvfSSSE1NNVlnwYIFAoBYsGCByXheU4jv2rXLrnru3r1r55GYM0zlnduXYfruCxcuiD59+oiAgADh5eUlGjduLDZu3Giyra+//lq0bt1aBAcHC09PT1GlShXx5ptvGqfKTEtLE2+++aaoX7++8PX1FT4+PqJ+/friyy+/LPBxXLp0yeop2oXIyk2bNm2Mr2/evCnGjBkjatSoIXx8fISHh4eoVq2aGDdunLh586bZ/ubNmye8vb1FcnKy3TXrdDpx+fJlp3pqOKkX80QyMU8kizNmyZapvBUhCnZjzoEDB7Bjxw78+++/JpfJGCiKYjLlclFITk6Gv78/kpKS5N2c/t57wLRpD1/Xrw/89ZecbZNFSUlJiIiIwKxZszB69GhHl0PFXIMGDRAVFYVPP/3U0aUQERGRDWzpDexujjIzMzFw4ECsWbMGQgjjBA3GDf/3WlEU6HQ6e3ZhN8MHkJiYKO/Sv337gNatTcf+/Rf4b3YzKhwzZ87EggULcOrUKYfNeKLX63H16lWUL19elbOuUMFt2bIFffr0wcWLFwt0SSOzRDIxTyQT80SyOGOWbGmO7K74k08+werVqzFy5EgcPnwYQgiMGzcOBw4cwMyZMxEQEIC+ffviwoUL9u6iwAp4UsxU06ZAzimlt22Tt32yaPz48Thz5oxD/3EJIZCQkCA3T6QqXbp0wd27dwt8rxezRDIxTyQT80SyqD1Ldv/GuWzZMtSpUwffffcdHv1vquuAgAA0adIEb775Jvbu3YuNGzdi69at0op1KHd3IOdMYq5ybEREREREZH9zdP78eURFRRlfK4qCjIwM4+vatWvj8ccfx7x58wAAH3zwAT788EMkJCTYX62jde5s+nr7dkDWg2aJiIiIiMih7G6OPDw8TJ4PUrJkScTHx5usU7FiRZw7dw4AMHnyZEyePBm3bt2yd5c2MzywVpqczdGtW3wgbDGgKArCwsLk54mKHWaJZGKeSCbmiWRRe5bsfs5ReHg4rly5Ynxdo0YN7N271zgJAwAcPHgQQUFBAIBdu3YBgPEBjEVB+n0qlSoB1asD//zzcGzrVsDCwyLJdWg0GoSFhTm6DHIBzBLJxDyRTMwTyaL2LNndPbRp08bYDAFA//79cfbsWfTo0QNz587FwIED8dtvv6HLfw9KbdOmDdq0aQMvLy85lVuhUGbJy3n2iPcduTydTocLFy4U+ayL5HqYJZKJeSKZmCeSRe1ZsvvM0ahRo6DT6XDt2jWUL18eL730Enbv3o2NGzdi8+bNAIDGjRtjxowZ0op1Cp07A1988fD1gQNAcjIg63lK5JRSUlIcXQK5CGaJZGKeSCbmiWRRc5bsbo4effRR42QLAODu7o7169fj8OHDuHDhAipWrIjGjRs7zfzm0kRFAR4eQHp61uvMTGDnTuCJJxxZFRERERERFZD0zuWxxx5D//790bRpU9drjADAxwdo2dJ0jJfW2ezWrVsYO3YsfvzxRzx48MDR5RARERERyW+OnEmhzZJh6b4jlT7oylEWLFiAuXPnol+/fggODsbgwYOxceNGpBvOyDkRRVEQHh6u2llXyHkwSyQT80QyMU8ki9qzpIgCPL721KlT+N///odDhw7hzp07Fm+8UhQFFy5cKFCRtkpOToa/vz+SkpLgVxj3Ap04AdSvbzr2zz9AtWry9+Wi6tWrh+joaONrNzc3ZGZmwt/fH7t27UKDBg0cWB0RERERuQpbegO7zxzt2bMHDRs2xFdffYXjx48jNTUVQgizL70DH5JaaLNk1K0LlCljOrZlS+HsywWdPXvWpDECgMzMTABAUlKSQzNjiU6nw5kzZ1Q76wo5D2aJZGKeSCbmiWRRe5bsbo4mTJiAzMxMfPfdd3jw4AGuXLmCS5cuWfxyOYoCdOpkOsb7jqy2cuVKaLVai8sqVaqERx99tIgryl9qaqqjSyAXwSyRTMwTycQ8kSxqzpLdzdHx48cxYMAAjBo1KtdfdF1azvuOdu0C0tIcU4uKCCGwdOlSi39N0Gq1GDp0qGqvUSUiIiIidbO7OfLx8UFoaKjMWtSlY8esM0gG9+8Dv//uuHpU4vjx4zh//rzFZTqdDgMGDCjiioiIiIiIstjdHHXr1g379u2TWYt0hTqVeKlSQMOGpmO8tC5feV1SV6tWLdSqVauIK8qfRqNBRESEa05NT0WKWSKZmCeSiXkiWdSeJburnj17Nu7cuYOXX34Z9+/fl1mTNIV+eZalKb0pV3ldUqfRaDB06FAHVJU/RVHg5+fHy/2owJglkol5IpmYJ5JF7Vmyeirvdu3amY3duXMHx48fh4+PD6pXr25xajxFUfDrr78WvFIbGKbrS0hIQGBgYOHtaN8+oHVr07Hr14GwsMLbp4odOHAAzZs3z3X5xYsXUbly5SKsyDo6nQ6nTp1CrVq1iuf9dSQNs0QyMU8kE/NEsjhjlmyZytvN2o3u3r0712V3797F0aNHLS5Ta9dolaZNAV9fICXl4di2bcCwYY6ryYmtWLHC+Dyj7BRFwaOPPuqUjZGBWqejJOfDLJFMzBPJxDyRLGrOktWX1en1eru+1Pzh5MvdHejQwXSMl9ZZpNPpsGLFCrPGyMBZL6kjIiIiouJDnXdKOZOc9x1t2wY42UNMncGePXtw69atXJf37du3CKshIiIiIjInrTm6ePEijh07hosXL8raZIEVySwZOZujW7eAY8cKf78qY7ikLieNRoOWLVuibNmyDqjKOhqNBpGRkaqddYWcB7NEMjFPJBPzRLKoPUsFqjopKQmvvPIKAgMDUa1aNTz22GOoVq0aAgMDMW7cOCQlJcmq03lVqgRUr246xkvrTKSnp+OHH36weEmdXq/HkCFDHFCVbTw8PBxdArkIZolkYp5IJuaJZFFzluxujuLj49G4cWN88cUXUBQFbdq0Qb9+/dCmTRsoioLPP/8cjRs3Rnx8vMx6baIvqsvbcp49WreuaParEtu3b0dycrLFZVqtFk899VQRV2QbvV6P6OjoossTuSxmiWRinkgm5olkUXuW7G6O3n77bZw7dw4TJkzAlStXsHPnTqxYsQI7d+7ElStXMH78eJw7dw7vvPOOzHqdU/fupq///BM4d84xtTih5cuXW7ykTqvVomPHjggODnZAVUREREREpuxujjZs2IB27drho48+go+Pj8kyHx8fTJ8+HVFRUVi/fn2Bi3R67dsDISGmY8uXO6YWJ3P//n2sXbvW4iV1Op0OgwYNckBVRERERETm7G6O7t27h6ZNm+a5TrNmzXD//n17d6Eebm7AgAGmY0uXAtY9X9elbdq0CQ8ePLC4zMPDA7169SriioiIiIiILLO7OapTpw5iYmLyXCcmJgZ16tSxdxcFVqSzZOScVOD8+azL64q55cuXW3w6slarRffu3fN9SrEz0Gg0qFu3rmpnXSHnwSyRTMwTycQ8kSxqz5LdVb/zzjv46aefsGPHDovLt23bhp9++gnvvvuu3cWpSqNGQNWqpmPLljmmFieRnJyMTZs2WXwQsNouqUtPT3d0CeQimCWSiXkimZgnkkXNWTK/S95KSUlJ6NSpEzp37oyOHTuiZcuWKF26NG7cuIF9+/Zhx44d6NGjBxITE7F48WKT9w4bNqzAhVujSGfJUJSss0eTJz8cW7kS+OQTwN296OpwIj///DMyMjIsLitRogS655zIwknp9XqcPXsWdevWtXgWjMhazBLJxDyRTMwTyaL2LNndHI0YMQKKokAIgW3btmHbtm1m62zYsAEbN240vhZCQFGUImuOitzgwabN0c2bwPbtQLduDivJkZYtWwatVmt25sjNzQ29e/dGiRIlHFQZEREREZE5u5ujBQsWyKzDNVStCjRpAvzxx8OxZcuKZXN069Yt/PrrrxYvqcvMzMTAgQMdUBURERERUe7sbo6GDx8usw7XMWSIaXO0di2QkgL4+jquJgdYvXq1xcYIAPz8/NCxY8cirqhg1HhamJwTs0QyMU8kE/NEsqg5S+qcRsJKDvnG9OsHZN/vgwfAzz8XfR0OtmzZMouzlLi5uaFfv37w8PBwQFX20Wq1qr1ulpwLs0QyMU8kE/NEsqg9Sy7dHAlHPGcoNBTo3Nl0rJjNWnft2jX89ttvFifEyMzMVNUsdUBWjpKTkx2TJ3IpzBLJxDyRTMwTyaL2LLl0c1Sks9Vll/OZR9u3A3FxjqnFAX788UcoimJxWalSpdC6desirqhg9Ho9Ll686Lg8kctglkgm5olkYp5IFrVnyaWbI4fp2RPw8Xn4Wq/Pmta7mFiyZInFvxa4ublh4MCBqj3NSkRERESujc1RYfDxAXr3Nh0rJpfWXbx4EUePHrXYHKnxkjoiIiIiKj7YHBWWnJfWHT4MnD3rmFqK0MqVKy1OxAAA5cuXR5MmTYq4Ijm8vLwcXQK5CGaJZGKeSCbmiWRRc5Zcujly6OVb7doBpUubjhWDs0dLly61eI2pVqvFkCFDcr0XyZlptVrUqFGDlwNSgTFLJBPzRDIxTySL2rNkd3N06tQpfP7557h586bF5fHx8fj8889x+vRpm7c9b9481KtXD35+fvDz80OzZs2wefNmm7fj0BvB3NyAnA86XboUUOnMHdY4efJkrt9vnU6HAQMGFHFFcuj1ety+fVu1NxaS82CWSCbmiWRinkgWtWfJ7uZoxowZmDlzJoKDgy0uDw4OxuzZszFr1iybt12+fHnMmDEDR44cweHDh9GuXTv06tULJ0+etGk7Dp9CcPBg09eXLgEHDjimliKwcuXKXP9KULVqVdSrV6+IK5JDCIErV644Pk+keswSycQ8kUzME8mi9izZ3Rzt27cP7du3z/X+Eq1Wi/bt22Pv3r02b/vxxx9Ht27dUK1aNVSvXh3Tpk1DyZIlcfDgQXvLdYyGDYHISNMxF720TgiBpUuXQqfTmS3TarUYOnSoKi+pIyIiIqLiw83eN8bFxSE8PDzPdcqVK4fr16/buwsAWZdj/fjjj7h37x6aNWtmcZ20tDSkpaUZXycnJxvfa/hlXVEUaDQa6PV6k07WMJ7zl/rcxjUaDRRFsTgOmF/Kpxk8GMrEicbXYtUq6GfPhtbbG0IIs/W1Wq1ZjbmNO+yYLIwfPnwYMTExsESn06Fv375m23f2YzLUKISAEMJkW2r9PmU/JlfJnpqOyVKW1H5MlmrnMRXdMWXPk6scU84aeUxFc0zZ8+Qqx+SK3yc1HFPOn03OcEyW/nifG7ubIx8fH8THx+e5Tnx8vN2zVURHR6NZs2ZITU1FyZIlsXbtWtSqVcviutOnT8eUKVPMxk+fPg1fX18AQFBQECpUqICrV68iISHBuE5YWBjCwsIQExODlJQU43h4eDiCg4Nx7tw5pKamGscjIiLg5+eHU6dOmXzQkZGR8PDwQHR0tEkNdQcMgDZbc6Tcvo1/P/0U4e++i5SUFFy8eNG4zMvLCzVq1EBiYiKuXLliHPf19UWVKlUQHx+PuGwPk3XYMdWti/T0dJzNNvvel19+CTc3N2RmZiKnunXrIjQ01GQ7ajgmrVaLunXr4u7du0hJScHJkyehKIqqv0+GY3Kl7KnpmLRarUmWXOGYXPH7pJZjOn/+vEmeXOGYXPH7pJZjun37tjFPZcqUcYljcsXvkxqOKTY21pglPz8/pzimu3fvwlqKsPOCwE6dOuHYsWM4d+4cAgICzJYnJiaiWrVqeOSRR7Bjxw6bt5+eno7Y2FgkJSXhp59+wnfffYc9e/ZYbJAsnTkKDw9HQkIC/Pz8ADi4627fHsquXcYx0aABlCNHICysr8a/JOj1eoSHh+PGjRvISaPRYMaMGXj99ddVdUzZayxuf/HhMfGYeEw8Jh4Tj4nHxGNypWNKTk5GUFAQkpKSjL1BbuxujtatW4cnn3wS9evXx//93/+hdevWxmV79uzBK6+8gujoaKxevRpPPPGEPbsw0aFDB1SpUgVff/11vusmJyfD398fiYmJFhu3Ird+PdCrl+nYnj1Ats9Mzfbt22fy/c/p8uXLqFChQhFWJJder0d8fDxCQ0ON/9iI7MEskUzME8nEPJEszpglQ29gTXNkd8W9evXCq6++iuPHj6Nt27bw9vZGREQEvL290a5dO5w4cQJvvPGGlMYIyPqgs58dsobTzJLRvTtQpYrp2KefOqaWQrBixQq4uZlfoakoCpo0aaLqxgjIylFcXJzz5IlUi1kimZgnkol5IlnUnqUCtXOffPIJ1q9fj86dO8PHxwdXr15FyZIl0bVrV2zatAkzZ860a7tvv/029u7di5iYGERHR+Ptt9/G7t27MTjn1NhqodUCL79sOrZuHZDtWk21yszMxMqVKy3eawQAQ4YMKeKKiIiIiIjsY/OEDPv27cPKlSvh5eWFXr16oUePHujRo4fUouLj4zFs2DBcv34d/v7+qFevHrZu3YqOHTtK3U+RGjkSeP994L+Z9CAE8MUXqj+DtHPnTiQmJua6vE+fPkVYDRERERGR/Ww+c3TlyhX4+Pjg7Nmz6NChA65evSq9qPnz5yMmJgZpaWmIj4/Hjh077GqMnOq5Or6+wOjRpmPz5z9sllQqt0vqNBoNoqKiEBYW5oCq5FIUBUFBQc6VJ1IlZolkYp5IJuaJZFF7luyekCEmJgYRERH4+++/c51i21FsuemqSF26BFStCmSf3eOzz4BXXnFYSQWRlpaGUqVK5To94nfffYfRORtCIiIiIqIiVCQTMlSpUgWKoqBu3brQarW5flk6q1BUck4x6HCVKwM5J6j4v/8DbHgwlTPZsmVLro2Rm5sbevfuXcQVFQ69Xo/Y2FjnyxOpDrNEMjFPJBPzRLKoPUtWNUe//fab2Vjp0qXRoEEDtG7d2uSrfv368Pb2hhAC9erVQ6tWraQXbS2nnCVj3DjT15cuARs2OKSUglq+fLnF5ler1aJz584IDAx0QFXyCSGQkJDgnHkiVWGWSCbmiWRinkgWtWfJqtM6nTp1wuLFi01urv/3339zXf/+/fuYMGECtmzZgu3btxe8SlfSsiXw6KPA0aMPxz77zPyMkpO7d+8e1q9fb3GWOp1Oh0GDBjmgKiIiIiIi+1l15mjo0KEYMGAAPrVyZjVvb298/vnn8Pf3x1tvvVWgAl2OopifPdqzBzh2zCHl2GvDhg1ITU21uMzT0xM9e/Ys4oqIiIiIiArGqubo66+/xuLFizFp0iR89913Vm+8VatW2Lhxo93FFZTTzpLRvz+Qcxa3//s/x9Rip2XLlkGr1ZqNu7m5oWfPnihZsqQDqiociqIgLCzMefNEqsEskUzME8nEPJEsas+S1RMyDBo0CIcPH4a/v7/VG79582auN+wXBY2mQM+4LTweHsCLL5qOrVgBxMU5ph4bJSYmYsuWLdBZmEgiMzPT5S6p02g0CAsLc948kWowSyQT80QyMU8ki9qzZFPV1atXR9++ffNdT6/XY8mSJVi1ahUeeeQRe2srMEu/vDuNZ58FPD0fvk5PB+bNc1w9Nli7dq3Fe40AwMfHB126dCniigqXTqfDhQsXnDtPpArMEsnEPJFMzBPJovYs2T3PdkREhMXxzMxMxMfHIyMjA+7u7pg+fbrdxbm0kBBgyJCsB8EazJsHvP024OXluLqssGzZMmg0GrMpGt3c3PDUU0/By8nrt0dKSoqjSyAXwSyRTMwTycQ8kSxqzpLd57v0ej2EEGZf7u7uqFOnDsaMGYMjR46gTZs2Mut1LTkf/nrzJrB4sWNqsVJ8fDx27dplce56V7ykjoiIiIiKD7vPHMXExEgso5iqWxdo3x749deHY1OnAsOHm15y50R+/PHHXJcFBASgXbt2RVgNEREREZE86rxTykqqmCVjwgTT11euAN9845harLBs2TKLn6ubmxv69+8Pd3d3B1RVuBRFQXh4uDryRE6NWSKZmCeSiXkiWdSeJUWo9fG1eUhOToa/vz+SkpLg5+fn6HLyJgTQtm3Ws44MSpcGLlwAfHwcV5cFV65cQYUKFXJdvmfPHrRu3boIKyIiIiIiypstvYFNl9WNGjXK5mIURcH87JMOFCFVzJKhKFmX0rVq9XDsxg1g7lzAyR6gu2rVKosTMQBA6dKl0bJlSwdUVfh0Oh3OnTuHatWqWXy2E5G1mCWSiXkimZgnkkXtWbKpOVq4cCEURYEtJ5sc2RypRsuWQJcuwJYtD8dmzsya7tuG50oVtqVLl1psjNzc3DB48GDVzmdvjdTUVEeXQC6CWSKZmCeSiXkiWdScJZsnZHBzc0O3bt0wfPhwlClTpjBqKp6mTjVtjhISgE8/BSZPdlhJ2Z07dw7Hjx+3uCwzMxMDBgwo4oqIiIiIiOSyqTmaO3cuvv/+e6xbtw6bNm1Cly5dMHr0aPTo0UOVp82cSsOGwJNPAmvXPhybMwd46SUgONhxdf1n5cqV0Gq1Fi9VrFChAh577DEHVEVEREREJI9N10E9//zzOHToEI4fP44XXngBBw8eRO/evVGuXDm8+eabOHXqVGHVaRfVXeb14YdZ9yAZpKQAs2Y5rp7/CCGwZMkSi42RVqvF0KFDVTsjiTU0Gg0iIiLUlydyOswSycQ8kUzME8mi9iwVaLa6jIwM/Pzzz/j++++xfft2CCHQuHFjjB49GoMGDYK3t7fMWq2mqtnqchoyBFi27OHrEiWyZq5z4CWMJ06cQP369XNdHh0djTp16hRhRURERERE1rGlNyhQS+fu7o6+ffti8+bNiI2NxYcffojY2Fg8++yz2LFjR0E2LYUqZqvLafJkIPslig8eANOnO6wc4OEldZbUqFHD5RsjnU6H6OhodeaJnAqzRDIxTyQT80SyqD1LUs53paenY9++fdizZw9u3LgBIQS8vLxkbLr4qVoVGDnSdOzrr4HYWIeUI4TA0qVLLQZco9FgyJAhDqiq6Kn1Hzg5H2aJZGKeSCbmiWRRc5YK1BwdO3YML730EsqWLYuBAwfixIkTeP3113H69Gl06tRJVo3Fz/vvAx4eD1+npwMffOCQUv78809cuXLF4jK9Xo/+/fsXcUVERERERIXD5uYoISEBn3/+ORo0aIDHHnsMX3/9NVq2bImff/4ZV69excyZMxEZGVkYtRYfFSpkPeMou4ULgXPniryUlStXws3NfFJDRVHQoEEDVK1atchrIiIiIiIqDDZNyNCvXz9s2LAB6enpiIyMxMiRIzFs2DCULl26MGu0meGmqzt37sDfiR6iapO4OCAiIuueI4P+/YGVK4usBJ1OhzJlyuDmzZtmyzQaDWbPno3XXnutyOpxFCEEUlNT4eXl5dKz8lHhY5ZIJuaJZGKeSBZnzJItEzLY1BxpNBq4u7uja9euaN68udUFvfXWW1avK4NLNEcAMH68+VTeu3cDbdoUye53796Ntm3bWlymKAquXLmCcuXKFUktjiSEgF6vh0ajcZp/5KROzBLJxDyRTMwTyeKMWSrU5sj4RkWBNW9VFKXIb8oyfAAJCQkIDAws0n1Ldft21gQNd+48HKtTBzh6FHB3L/TdjxkzBgsWLEBmZqbJuKIoaN68OX777bdCr8EZGGZdqVu3Lh92TAXCLJFMzBPJxDyRLM6YJVuaI/ObSfKwYMGCAhVGNgoOBqZOBcaOfTj299/A//4HvPpqoe46IyMDq1atMmuMDAYPHlyo+yciIiIiKmo2NUfDhw8vrDooN889B3z3HfDXXw/HJk0CBgwo1AfD7tixA8nJyRaXKYqCPn36FNq+iYiIiIgcQcpzjqgQabXA3LmmYykpQCHfx7V8+XKLs9RpNBq0a9cOISEhhbp/IiIiIqKiZvU9R/fu3YOPj0+BdiZjG9ZwmQkZshsxAli0yHRs716gVSvpu3rw4AFKlSqF+/fvW1y+YMECjBgxQvp+nZUz3lhI6sQskUzME8nEPJEszpglW+45svrMUeXKlTF79mzcu3fP5oIOHDiALl26YM6cOTa/l/4zcyaQs9F78UUgl3uCCuKXX37JtTFyc3PDk08+KX2fzi49Pd3RJZCLYJZIJuaJZGKeSBY1Z8nq5mjQoEF47733EBYWhuHDh2PDhg0Wn38DAJmZmThy5AhmzJiBunXromXLlrh27Rq6du0qrXBr6PX6It1foSpdGvjgA9Ox6Gjgyy+l72r58uUWZxfRarXo1q2b65yNs5Jer8fZs2ddK0/kEMwSycQ8kUzME8mi9ixZPSHDZ599hhdffBEffvghfvjhByxduhQAUK5cOZQuXRoBAQFITU1FQkICLl26hLS0NAghUKtWLXz77bcYMWKEyVTgZIcXXgDmzwdOnHg49v77WQ+HlfQg3pSUFGzcuNHi9Os6nY6z1BERERGRy7KpW6lWrRoWL16Ma9eu4f/+7//Qs2dPpKWl4ciRI/j111/x+++/4/z586hZsyZeeeUV7NmzB3///TdGjRrFxkgGN7esabyzS062a3KGixcvokuXLpg5cyYuX75sHF+3bl2up0K9vLzQvXt3m/dFRERERKQGNk3lbRAUFISxY8di7H/P38nIyMDt27dRokSJYnfJVZFr1QoYOhRYsuTh2OLFwJgxQIsWVm8mNjYWW7duxdatWzFhwgQ0atQIQ4YMwdq1a6HVas3OHLm5ueGJJ54okgk1nJGzPMSM1I9ZIpmYJ5KJeSJZ1Jwlq2erUxNbZqRQpbg4IDIy66yRQf36wOHDWWeXrBAbG4uKFSsaXxtmE8krDuvXr8fjjz9uX81ERERERA5QKLPVqZEL9n1ZwsKAKVNMx44fB2bMsHoT5cqVM3mOkRAiz8/L19cXnTp1srlUVyCEQHJysuvmiYoMs0QyMU8kE/NEsqg9Sy7dHKl1lgyrjB0L1KljOvbBB8Bff1n1dq1Wi3Llylm1rqIoePDgAQYNGoTVq1fjwYMHNharbnq9HhcvXnTtPFGRYJZIJuaJZGKeSBa1Z8mlmyOX5uYGfPcdkH2ii4wMYPhwwMq55atVq2bVekIIZGZmYt26dejTpw9KlSqFoUOH4tixY/ZUTkRERETklNgcqVmTJsCECaZjJ06YPw8pF1WrVoW7u7vVuzNM0nD//n0sXboUH374odXvJSIiIiJydmyO1G7iRKBePdOx6dOBP/7I960RERF2nfLUarWIjIzEvHnzbH6vWnl5eTm6BHIRzBLJxDyRTMwTyaLmLLl0c6TmaQSt5ukJLFpkOkudXp91eV0+9wZFRERYfNhrXrRaLWrUqIF9+/ahtKQHzzo7wzEXizxRoWKWSCbmiWRinkgWtWepUJqjtLQ0ZGRkFMambaLWG8Fs9sgjwKRJpmNnzwLvvZfn2ypXrmzTbrRaLWrXro29e/ciJCTExiLVS6/X4/bt28UnT1RomCWSiXkimZgnkkXtWbK7Odq7dy8mTpyIO3fuGMdu376Nrl27omTJkvD398eEnPfDFDG1TiFolwkTgMceMx379FNg375c3xIREWH15rVaLerXr489e/YgKCjI3ipVSQiBK1euFK88UaFglkgm5olkYp5IFrVnye7m6OOPP8by5csREBBgHHv99dexdetWVK5cGQEBAZg9ezZ++OEHGXVSftzcsi6v8/R8OCYEMGIEcPeuxbcEBATA19c3301rtVo0bNgQO3fuNPl+ExERERG5Erubo2PHjqFly5bG16mpqfjhhx/QqVMn/PPPPzh79iwqVKhQrG7ad7hatYBp00zHLl4E3nor17dUqlQpz01qtVo0adIEO3bsgL+/v4QiiYiIiIick93N0e3bt00eInrgwAGkpqZi5MiRAABfX1/06NEDZ8+eLXiVZL1x44AWLUzH5s0DtmyxuHpkZCQ0Gssx0Gg0aNGiBbZt22bVGSZXVtyPn+Rhlkgm5olkYp5IFjVnye7mqESJEkhJSTG+3rVrFxRFQZs2bYxjJUuWRGJiYsEqLAC1zpJRIFotsHAh4O1tOj50KHDtmtnqERERFj8njUaDqKgobN68GT4+PoVUrDpotVpUqVKleOaJpGKWSCbmiWRinkgWtWfJ7uaoatWq2LJlC9LS0pCeno6VK1eiVq1aCAsLM64TGxuL0NBQKYXaQ62zZBRY1arA7NmmY7duAQMGADlmEaxcuTIyMzNNxjQaDTp06IBNmzbBO2eTVQzp9XrExcUV3zyRNMwSycQ8kUzME8mi9izZ3Rw988wzOH/+PKpWrYqaNWviwoULxkvqDI4cOYJatWoVuEh7qXWWDCmefx7o1ct07LffzKb3joiIMPmcNBoNunbtivXr16v6AV4yCSEQFxdXvPNEUjBLJBPzRDIxTySL2rNkd3M0evRovPnmm3jw4AGSkpLw/PPPY9y4ccblBw4cwD///IP27dvLqJNspSjAggVAzgkXZs0CNmwwvsw+nbeiKOjZsyfWrFkDz+yz3hERERERFQNu9r5RURTMnDkTM2fOtLi8YcOGSExMLPb3qzhUYCDw449ZEzSkpz8cHz4cOHoUqFQJFSpUgKIoEELgqaeewvLly+Hu7u64momIiIiIHMTu5ig/Hh4e8PDwKKzNW0VRFIfu3yk89hgwZw4wduzDscREiL59sXfaNPx7+zZq1qyJhg0b4vvvv4ebW6FFQrUURUFQUBDzRAXGLJFMzBPJxDyRLGrPkt2X1UVHR+P7779HcnKycezBgwd4/vnnUa5cOVStWhVfffWVlCLtldsU1cXOCy8A/fqZDCmHD+N4584YNGgQTp06hV27dmH9+vUOKtC5aTQaVKhQgXmiAmOWSCbmiWRinkgWtWfJ7qqnTp2K999/32Qe83feeQdff/01UlJScOXKFbz44ovYvn27lELtodZZMqRTFODbb4Fq1UyGXwbQ57//vnbtGvr06YM1a9YUeXnOTq/XIzY2lnmiAmOWSCbmiWRinkgWtWfJ7ubozz//RNu2bY2nzDIzM7FgwQI0btwY8fHxuHTpEkJCQvB///d/0oq1lVpnySgUfn7QrVyJ1BzD8wFUxcPPaty4cdDpdEVdnVMTQiAhIYF5ogJjlkgm5olkYp5IFrVnye7m6ObNmwgPDze+PnToEJKTk/Hcc8/By8sLZcuWRa9evXD8+HEphVLB7UtOxos5xvwArAFQEllhvnLlCvbt21f0xREREREROZjdzZGbmxvS0tKMr3fv3g1FUdC2bVvjWHBwMG7dulWwCkma69ev43sAC3OM1wWwAg/DcP369aIsi4iIiIjIKdjdHFWqVAm7du0yvv7xxx9RuXJlVKxY0Th27do1BAcHF6zCAlDrLBmFpUyZMgCAFwH8nWNZDwAzc6xHWRRFQVhYGPNEBcYskUzME8nEPJEsas+S3c3R0KFDcfz4cTRp0gStW7fG8ePHMWjQIJN1Tpw4gWo5JgEoSmqdJaOwtGrVCuXLl8cDRUFPADnP6b0B4I3AQLRq1coB1TkvjUaDsLAw5okKjFkimZgnkol5IlnUniW7qx47diz69u2Lw4cP47fffkPXrl3xzjvvGJefPHkSx48fR7t27aQUag9OLGBKq9UaJ8iIURQ8CSA9xzozk5Oh5T1HJnQ6HS5cuMA8UYExSyQT80QyMU8ki9qzZHdz5OnpiVWrViExMRFJSUnYuHEjvLy8jMtLly6NY8eO4eWXX5ZSKMnRu3dv/PTTTyhXrhx+AzAmx3KNTgc89RRw/rwjynNaKSkpji6BXASzRDIxTyQT80SyqDlLBT7f5efnZ/KsI4NSpUqhfv368Pf3L+guSLLevXsjJiYGu3btQuflyxHbv7/pCgkJwOOPA3fuOKQ+IiIiIiJHcCvoBu7du4eff/4Zf/31F5KTk+Hn54dHHnkETzzxBHx8fGTUSIVAq9UiKioq60W/fsCDB8D69Q9XOHMma/yXXwC3AseEiIiIiMjpFei33tWrV2PMmDG4c+eOyYOeFEVBQEAAvv32W/Tu3bvARdpLrbNkFDmtFli2DGjRAjhx4uH49u3AuHHAF18AxfizVBQF4eHhzBMVGLNEMjFPJBPzRLKoPUuKsPPxtfv370ebNm2g1WoxfPhwtG3bFmXKlEFcXBx27dqFRYsWQafTYc+ePWjWrJnsuvOUnJwMf39/JCUlwc/Pr0j3rWqxsUDjxsCNG6bjM2YA48c7piYiIiIiogKwpTewuznq0aMHdu/ejd9//x3169c3W37ixAk0b94cbdu2xYYNG+zZhd0MH0BCQgICAwOLdN+qd/AgEBUFZHvALwDgu++A0aMdUpKj6XQ6nDt3DtWqVYNWq3V0OaRizBLJxDyRTMwTyeKMWbKlObJ7QoYDBw6gf//+FhsjAKhXrx769euH/fv327sLcoSmTYEFC8zHx4wB1q4t+nqcRGpqqqNLIBfBLJFMzBPJxDyRLGrOkt3N0f3791G6dOk81yldujTu379v7y7IUQYOBObMMR3T67PGd+1yTE1ERERERIXM7uaoUqVK2L59e57r/Prrr6hUqZK9uyBHevVV4O23TcfS0oBevYCjRx1TExERERFRIbK7OerXrx+OHDmC4cOH499//zVZdv36dYwYMQJHjhxB/5zP0ClCGk2BH+NUvE2bBjzzjOlYSgrQpQvwzz+OqckBNBoNIiIimCcqMGaJZGKeSCbmiWRRe5bsnpDh/v37aNu2LQ4dOgQPDw9UrVoVpUuXxo0bN3D+/Hmkp6ejcePG2LVrF0qUKCG77jxxtjqJdLqs5x2tWWM6XrEi8PvvQLlyjqmLiIiIiMgKRTIhg7e3N/bu3YvJkyejfPnyOHXqFHbt2oVTp06hfPnymDJlCvbs2VPkjVF2Op3OYft2GYZnILVtazp++TLQuTOQkOCYuoqQTqdDdHQ080QFxiyRTMwTycQ8kSxqz1KBznd5enpi4sSJOH/+PJKSknDlyhUkJSXh/PnzeP/99+Hp6SmrTnIkLy/g55+BRx81HT95EujUCUhMdEhZRUmt/8DJ+TBLJBPzRDIxTySLmrMk7WJAX19flCtXDr6+vsaxkSNHws3NTdYuyJH8/IDNm4Hq1U3HjxwBOnYsFg0SEREREbm2Qr9Tys5bmsgZhYYC27aZ32d05EjWGaQ7dxxSFhERERGRDOqcRsJKap0lw6lVrJj1rKOyZU3HDx/OOoPkgg2SRqNBZGQk80QFxiyRTMwTycQ8kSxqz5I6qybHqlYN2L27WDVIHh4eji6BXASzRDIxTyQT80SyqDlLLt0c6fV6R5fguqpVy/0MkotdYqfX6xEdHc08UYExSyQT80QyMU8ki9qz5NLNERWy6tWzGqQyZUzHDx3KmubbhRokIiIiInJ9bI6oYKpXz7rELmeD9OefWZfY3brlkLKIiIiIiGxl0zzb3t7eNm08IyPDpvVJpQwNUlQUcP36w/HDh4HWrbNmuCtf3lHVERERERFZRRE2zLVdqVIlKIpi804uXbpk0/rTp0/HmjVrcObMGZQoUQLNmzfHzJkzERkZadX7k5OT4e/vjzt37sDf39/meslOZ88CbduaNkgAUKECsH27+TOSVEIIAb1eD41GY1f+iQyYJZKJeSKZmCeSxRmzZOgNkpKS4Ofnl+e6NjVHRaVLly4YMGAAGjVqhMzMTLzzzjv4+++/cerUKfj4+OT7fjZHDvTPP1mX08XGmo6HhABbtwINGjimrgIQQiA1NRVeXl5O84+c1IlZIpmYJ5KJeSJZnDFLqm+Ocrp58yZCQ0OxZ88etG7d2mx5Wloa0tLSjK+Tk5MRHh6OmzdvIjAwEACgKAo0Gg30er3Jg2kN4zqdzmSbuY0bumBL44D5DHm5jWu1WmNnnXM8Z425jTvtMV2+DE3XrlDOnDFZLvz8oF+3DmjVSlXHlJmZiejoaNSuXRtarTbX2tV0TC6bPSc/Jp1OZ5YltR+Tpdp5TEVzTOnp6Th58qQxT65wTK74fVLLMWVmZhrz5Obm5hLH5IrfJzUcU/YsabVapzim5ORkBAUFWdUc2XTPkaMkJSUBAIKCgiwunz59OqZMmWI2fvr0afj6+hrfW6FCBVy9ehUJCQnGdcLCwhAWFoaYmBikpKQYx8PDwxEcHIxz584hNTXVOB4REQE/Pz+cOnXK5BsRGRkJDw8PREdHm9RQt25dpKen4+zZs8YxrVaLunXrIiUlBRcvXjSOe3l5oUaNGkhMTMSVK1eM476+vqhSpQri4+MRFxdnHHfaY7pzB9ovv0SVsWPhfeqUcR0lORlKly6ImT0bols31RzT3bt3kZCQgJMnT0JRFNf5Prli9pz8mLRarUmWXOGYXPH7pJZjOn/+vEmeXOGYXPH7pJZjun37tjFPZcqUcYljcsXvkxqOKTY21pglPz8/pzimu3fvwlpOf+ZIr9ejZ8+euHPnDn777TeL6/DMkZMeU0oKNE8+CWX3bpP1hFYLsWABNEOHquKYeOaIx8QzR8Xr+6SWY+KZIx4TzxwVv++TGo6JZ44K2Ysvvoi///4718YIADw9PeHp6Wk2bviGZGf4sCytW9TjiqJYHM+tRlvHHX5MAQHA5s3AgAHAunUP19HpoAwbBly/Ds2bbwIW6ne2Y3JzczPLk8t8n6yokcdUuFnKa31nPyZbx3lMco/JUp7UfkyFNc5jyns8e54M66n9mAqrRlvHi9sxWfrZ5Ohjym25JU595mjs2LFYt24d9u7di8qVK1v9PltuuqIikJkJPPMMsHCh+bIxY4C5cwE3p+/TiYiIiEiFbOkNnPIhsEIIjB07FmvXrsXOnTttaoxyboecgJsbMH8+8Oqr5su++Qbo0QNITi76uqwkhEBycjLzRAXGLJFMzBPJxDyRLGrPklM2Ry+++CKWLl2K5cuXw9fXF3FxcYiLi8ODBw9s2k7OayHJgTQa4JNPgNmzzZdt3Qq0bAlkuynRmej1ely8eJF5ogJjlkgm5olkYp5IFrVnySmbo3nz5iEpKQlRUVEoU6aM8WvVqlWOLo0KQlGAN94AfvwR8PIyXRYdDTRtChw75pjaiIiIiKjYs/pGj9j/HupZrlw5aLVa42trVKhQwez9eVHraTiyUp8+QPnyQM+ewM2bD8f//TfrGUirVgHduzuuPiIiIiIqlqxujipVqgRFUXD69GlUr17d+Do/iqIgMzMTlSpVgkajwalTp1C9evUCFU0uoGlT4OBBoFs3INv8+bh3L6tpmjMHePnlrLNNTsAr55kuIjsxSyQT80QyMU8ki5qzZHVzNGzYMCiKAn9/f5PX9r6/KNgybR85QEQEsH8/0Ls3sGfPw3G9Hhg3LusSu6++Mr8Er4hptVrUqFHDoTWQa2CWSCbmiWRinkgWtWfJqafytpdhur7ExEQEBAQ4uhzKT1oa8PTTwNKl5ssaNwbWrAHKlSv6uv6j1+uRmJiIwMDAXOfjJ7IGs0QyMU8kE/NEsjhjlopkKu/Fixdj69at9r69SLhg3+eaPD2BxYuByZPNl/35J9CwYdYZJgcRQuDKlSvMExUYs0QyMU8kE/NEsqg9S3Y3R6NHj8aWLVtk1kLFmaIAkyYBq1cDPj6my27cAKKigG+/dUhpRERERFQ82N0clSlTBpmZmTJrIcq6/+jgwaz7kbLLyADGjAFeeAFIT3dMbURERETk0uxujnr27Int27cjLS1NZj1EQJ06wKFDQKdO5svmzQPatweuXSvSknx9fYt0f+S6mCWSiXkimZgnkkXNWbJ7QoakpCS0a9cOYWFhmDVrFmrXri27NrvZctMVObHMTODtt4GPPzZfFhICLFsGdOxY9HURERERkWrY0hvY3RxFREQgLS0NcXFxALLmMw8NDTWb3ltRFFy4cMGeXdiNs9W5mGXLsmazS001HVcUYOJE4P33gUKctl2v1yM+Ph6hoaFOM+sKqROzRDIxTyQT80SyOGOWimS2Or1eDw8PD1SoUAEVKlRAaGgogKwZKrJ/6fV6e3dRYGqdJYNyGDwY+P13oFIl03EhgClTgC5dgPj4Qtu9EAJxcXHMExUYs0QyMU8kE/NEsqg9S1Y/BDanmJgYiWUQ5ePRR4GjR4Hhw4ENG0yX7dgBNGgArFwJtGrlmPqIiIiISPWc41wXkTUCA4F164BZs8wvo/v3X6Bt26xlDjxbSURERETqZXdzFBERgc8//zzPdebOnYuInFMyF6Gc9z+RC1AU4M03gd27gbJlTZfpdMD48UDXrsD16xJ3qSAoKIh5ogJjlkgm5olkYp5IFrVnye7mKCYmBnfu3MlznTt37uDy5cv27qLAnOUmMCoELVsCx44BHTqYL9u2DahXz/zyOztpNBpUqFCBeaICY5ZIJuaJZGKeSBa1Z6lQq05KSoKnp2dh7iJPjpwMgopAaCiwZUvWpAw5/zpx6xbQsyfw4ovAgwcF2o1er0dsbCzzRAXGLJFMzBPJxDyRLGrPkk0TMuzdu9fkdUxMjNkYAOh0Oly5cgXLli1D9erVC1ZhAah1lgyygVabNZ13y5bA0KFZ9x5l9+WXWZfgrViRdTbJDkIIJCQkoFy5cgWvl4o1ZolkYp5IJuaJZFF7lmxqjqKioozXDyqKgkWLFmHRokUW1xVCQFEUzJgxo+BVEuWnXTvgxAngmWeAtWtNl506BTRqBMycCbz8MqDS07xEREREVLhsao4mTpwIRVEghMAHH3yANm3aICoqymw9rVaLoKAgtG3bFjVr1pRVK1HegoOB1auB774Dxo0D7t9/uCw9HXj1VWDTJmD+fKBCBYeVSURERETOSRF2XnvWtm1bjBw5EsOGDZNdU4EZnoKbmJiIgIAAR5dDjnD2LDBwYNakDTn5+QGffQaMGGF+r5IFzvikZ1InZolkYp5IJuaJZHHGLBl6g6SkJPj5+eW5rt3NkTOz5QMgF5aWBrz3HvDxx5aX9+gBfPMNUKZM0dZFREREREXGlt7AOdq5QqLT6RxdAjmSpycwezawfTtQvrz58o0bgdq1geXLgTz+RqDT6XDhwgXmiQqMWSKZmCeSiXkiWdSeJZdujogAZD0LKToaGD7cfFliIjB4MNC3LxAfn+smUlJSCrFAKk6YJZKJeSKZmCeSRc1ZYnNExUNAALBwIbBuHVC6tPny1auzziItW5bnWSQiIiIicl1sjqh46dkTOHkS6N/ffNmtW8CQIUD37sDly0VfGxERERE5lEs3R4oVM5FRMRQcDKxcCaxalfXfOW3enHUW6YsvAJ0OiqIgPDyceaICY5ZIJuaJZGKeSBa1Z4mz1VHxduMG8Pzz5g+ONWjaNOu5SbVrF21dRERERCQFZ6v7j1pnyaAiVLo0sGZN1j1HYWHmyw8ehGjQALfGjoUu+0Nlieyg0+lw5swZ/mwiKZgnkol5IlnUniW3grxZp9Phhx9+wI4dO/Dvv/8iLS3NbB1FUfDrr78WZDdEha93b6BdO+Ctt4BvvzVZpGRkoNTcuRDbtgFffpk1+x2RnVJTUx1dArkQ5olkYp5IFjVnyarm6Nq1ayhXrpzJ2L1799CpUyccPHgQQggoioLsV+gZXqv1ekMqhgICsh4KO3AgMGYMcP68yWLl3DmgY8esyRzmzAHKlnVMnURERERUKKy6rK5Zs2Y4deqUydjUqVNx4MABTJ8+HadPn4YQAps3b8bly5exYMEClC9fHgMHDkR6enqhFE5UaNq2BU6cAMaPB7Ra8+WrVgE1agD/939AZmbR10dEREREhcKq5igkJAQtW7bE3r17jWNr1qxBs2bN8NZbbyEgIADAw9kphg8fjoMHD2Lr1q2YNWtWoRRuDY3GpW+posJUogQwYwZw+DBEkybmy1NSgHHjgEaNgIMHi7w8UieNRoOIiAj+bCIpmCeSiXkiWdSeJauqPnDgAPr164fOnTtj+/btAIDY2Fg0+e+XRu1/f13Pfs9RmTJl0KdPHyxatEh2zVbjJX1UYI88AmX/fuDrr4HAQPPlf/0FNGsGPP00EB9f5OWRuiiKAj8/P/5sIimYJ5KJeSJZ1J4lq5ojDw8PfPXVV/j+++/x999/AwB8fHyMHaGvry8URcG1a9dM3ufn54fY2FjJJVtPrbNkkHPRCYHoZs2gO3UKGDHC8krz5wPVqmXdi8RLSSkXOp0O0dHR/NlEUjBPJBPzRLKoPUs2ne8aOHAgXn31VQBAxYoVjY2Pp6cnqlWrhnXr1hnX1ev12Lp1K8qUKSOxXCLH0Ol0QEgIsGABsHcvUKeO+UrJycDrrwP16gFbthR9kaQKav2fBTkn5olkYp5IFjVnye6LAdu3b4/du3cbD37EiBHYunUr2rVrh/Hjx6Np06b4+++/0adPH2nFEjmFVq2Ao0eBjz8GfHzMl589C3TtCvTsaTbjHRERERE5L7ubo2eeeQavv/46bt++DQB44403MHToUOzevRuzZ8/G4cOH0a9fP0yePFlWrUTOw9096yzRP/8AQ4daXmfDBqBWraxZ75KSirY+IiIiIrKZIrI/nEiCuLg4XL58GZUrV0ZoaKjMTVstOTkZ/v7+uHPnDvz9/R1SA7kOIQRSU1Ph5eWV+82FBw4AL78MHD5seXmpUsDkyVnPT3J3L7RayblZlSUiKzFPJBPzRLI4Y5YMvUFSUhL8/PzyXFf6HHthYWFo0qSJwxojosLg4eGR9wrNmgF//AF8/z1gKfu3bgFjxwJ16wLr1wNy/yZBKpJvlohswDyRTMwTyaLmLKlzAnIr6fV6R5dALkCv1yM6Ojr/PGk0wMiRWZfavf464OZmvs7Zs0CvXkC7dsCRI4VTMDktq7NEZAXmiWRinkgWtWfJwm9vlrVr1w6KomDRokUoX7482rVrZ9X7FEXBr7/+aneBRKrj7581WcOYMVn3G/38s/k6u3cDjz0GDBkCTJ0KVKxY1FUSERERUQ5WN0e7d++Goii4f/++8bU1nOVaQ6IiV706sHYtsGcP8MYblu9HWroU+OEH4PnngXffzZounIiIiIgcwurL6vR6PXQ6HapXr258bc2Xmuc5J5KiTZus+5GWLQMqVDBfnp4O/N//ARERwJQpQEpK0ddIRERERPJnq3MGnK2OZBJCQK/XQ6PRFPxMaGpqViP00UdZD421JCQEeO894NlnAU/Pgu2PnIrULFGxxzyRTMwTyeKMWXLobHVErig9PV3Ohry8su5DOn8eeOUVy9N637yZtSwyEli0CMjMlLNvcgrSskQE5onkYp5IFjVnyeYzR9evX8eDBw9QqVIlaDRZvdWePXuwZ88es3UfeeQR9OzZU06lNjB0hwkJCQgMDCzy/ZNr0el0iI6ORt26daHVauVuPCYGmDQJWLIk9+m9q1fPekZSv36A7P1TkSrULFGxwzyRTMwTyeKMWbLlzJHVEzIAwK1btxAZGYlmzZph69atxvHdu3djypQpZuv7+vriwoULKFWqlC27ISo+KlXKOjv05pvAO+8AGzaYr/PPP8CgQcC0aVlNUu/eWdOGExEREZFUNv2GtXjxYty7dw8zZ840W6YoClasWGH8+vLLL5GSkoIlS5ZIK5bIZdWpk/Vw2N9+A1q2tLzOyZNA377Ao4/yQbJERA6k1+vxySefYMuWLY4uhYgks6k52rJlC2rXro1HHnnE4vL+/fsbv5577jk0btwYv/zyi4w6iRyqyE4Lt2gB7N0LbNqU1QRZcvx41oNkGzcGNm5kk6QyznKJAbkG5skxJk+ejGXLlqFZs2aOLkUq5olkUXOWbGqOoqOjbfpBUK9ePZw8edLmomRR8zeGnIdWqy3a62YVBejWLeu5SGvXAnXrWl7v8GHg8ceBhg2z1lPpk6iLkyLPErk05qno7N+/HyVLlkTp0qVx4cIFuLu7Y8uWLS41Iy7zRLKoPUs2NUcJCQkIDQ01G4+KisLEiRPNxkNDQ5GQkGB/dQXkgrOUkwMIIZCcnFz0eVIU4IkngL/+AlatAmrWtLzesWNZ9yE98kjWA2X5bDGn5bAskUtinorG/fv3MWLECCxcuBBDhgzB+PHj8f7771v8fUjNmCeSRe1Zsqk58vLywr1798zG27Rpg0mTJpmN379/H54OfE6Lnn9JJwn0ej0uXrzouDxpNFkz1UVHA0uXAlWrWl4vOhro3z/rTNOyZZwC3Ak5PEvkUlw5T6mpqZg2bRq2bdvm6FJw6tQpvPvuu+jTpw9mzpyJRo0aIS4uztFlSefKeaKipfYs2dQclS9fHidOnLB6/ePHj6N8+fI2F0VEFmi1wODBwOnTwOLFWVN8W3L6NDBkCFCjBvD111kPniUiKiT379/HrVu3cOvWLVSoUAEDBw5EYmJigbb56quvYsWKFWjSpImkKu332GOPYfjw4QAANzc3jB8/HmFhYQ6uiogKi03NUatWrbB3715cunQp33UvXLiAvXv3onXr1nYXR0QWuLkBQ4cCp04BK1YAtWpZXu/CBeC554CICODjj4GUlKKtk4iKxKJFi6AoivHLy8sLZcuWRefOnfH5558jpZD/7c+aNQshISEICQnBlStXsHLlSjRo0MDu7f34449Yv349fvnlF6n39FSqVMnkc8rta+HChcb33Lt3Dx9++CHq1asHb29v+Pv7o1WrVli8eLHJJUMjRoywatsjRoyQdjxEVDhses7R888/j2+++Qb9+/fHli1bEBQUZHG9hIQEDBw4EHq9Hs8995yUQokcycvLy9ElmNNqgQEDsi65W7MG+PBDwNKZ3evXs56j9NFHwNixwMsvA3z2mMM4ZZZItbLn6YMPPkDlypWRkZGBuLg47N69G+PGjcOcOXOwfv161KtXr1BqGDZsGFr+9wiCIUOGoH79+hbvQ7aGEAJXr17F5s2bUaFCBZll4rPPPsPdu3eNr3/55ResWLECn376qcnzGJs3bw4AuHHjBtq3b4/Tp09jwIABGDt2LFJTU7F69WoMHz4cv/zyC5YtWwatVotnn30WHTp0MG7j0qVLmDhxIsaMGYNWrVoZx6tUqSL1mGTjzyeSRdVZEjZ6/fXXhaIoonTp0mLSpEli165d4uzZs+Ls2bNi165dYuLEiSIsLEwoiiLeeOMNWzcvRVJSkgAgkpKSHLJ/IofQ6YT4+WchHntMiKwJvi1/lSghxEsvCXHxoqMrJiIJFixYIACIQ4cOmS379ddfRYkSJUTFihXF/fv3rd5menq6KFmypEhOTraplooVK4rhw4fb9B5HmT17tgAgLl26ZHF5586dhUajEevWrTNb9sYbbwgAYsaMGRbfe+jQIQFALFiwQGLFRGQvW3oDmy6rA4DZs2dj/PjxuH37Nj788EO0b98eNWvWRM2aNdG+fXt8+OGHuHnzJiZMmIBZs2bJ7eRspNYbwci56PV63L592/nzpNFkPf/ozz+B7duBdu0sr/fgAfDFF1kTOwwYkDUlOBUJ1WSJVMGaPLVr1w7vv/8+Ll++jKVLlxrHo6KiEBUVZbZ+27ZtoSgKbty4AZ1OhwcPHljcrhACU6dORfny5eHt7Y22bdvm+uiOixcvom/fvggKCoK3tzeaNm2KTZs2mayTnp6OiRMnomHDhvD394ePjw9atWqFXbt2mawXExMDRVHw8ccf45tvvkGVKlXg6emJRo0a4dChQ7l+DrY6ePAgtm7dihEjRqBnz55my6dPn45q1aph5syZuX5GasOfTySL2rNkc3OkKAqmT5+OU6dOYcKECYiKikKNGjVQo0YNtGnTBu+88w5Onz6Njz76CIqiFEbNVhMqnUKQnIsQAleuXFFPnhQF6NAB+PVX4I8/sqYDt0Svz5oivFEjoG3brAfPqvQHmVqoLkvk1Ax5ys/QoUMBwKqZ3wyXl4WHhyMyMhIhISEW15s4cSLef/991K9fH7Nnz0ZERAQ6depkNqPtjRs30Lx5c2zduhUvvPACpk2bhtTUVPTs2RNr1641rpecnIxvv/0WUVFRmDlzJiZNmoQbN26gc+fO+Ouvv8z2v3z5csyePRvPPvsspk6dipiYGPTu3RsZGRn5HqM1NmzYACDrkkFL3NzcMGjQICQmJuL333+Xsk9H488nkkXtWbLpnqPsqlWrhmnTpsmshYhka9w46wGxp04BM2cCy5dbnuJ79+6sr1q1gNdfBwYNAtR8vTARGZUvXx7+/v64cOFCvuv6+PigYsWK2LNnD0qXLm3xj5w3b97ErFmz0L17d2zYsMG4zrvvvouPPvrIZN0ZM2bgxo0b2Ldvn/G+pGeeeQb16tXDa6+9hl69ekGj0SAwMBAxMTEmj/945plnEBkZiS+++ALz58832W5sbCzOnTuHwMBAAEBkZCR69eqFrVu3okePHrZ9QBacOnUKAFC/fv1c1zEsO336tMn9RkSkbjafOSIiFapVC1i0CDh/Hnj1VaBkScvrnToFjB4NVKwITJ4M3LhRpGUSUeEoWbKkTbPWVaxYMdcbqnfs2IH09HS89NJLJs3TuHHjzNb95Zdf0LhxY2NjZKhlzJgxiImJMTYhWq3WpDFKT09HiRIl0Lx5cxw9etRsu/379zc2RgCMkx5cvHjR6mPMi+Gz8vX1zXUdw7Lk5GQp+yQi58DmiMgKef0PUlUqVgTmzAFiY4Hp04EyZSyvFx8PTJkCVKgAjBwJHD9etHW6MJfJEjkFa/N09+5dadm7fPkygKwrSLILCQkxaVgM60ZGRppto2bNmibbAoBVq1ahadOm8Pf3h6enJ0qUKIF169YhKSnJ7P05Z7Iz7Legz1cyMHxWeTWU1jRQauNKx0KOpeYsuXRzpNVqHV0CuQCtVosqVaq4Vp4CA4EJE4BLl4Dvv8/9WUnp6cDChcAjj2RN8LB+PaDTFWWlLsUls0QOY8iTRpP3/8qvXr2KpKQkVK1a1TiW2z3BOgf9+165ciUGDBiAypUrY+HChfjtt99w4MABdOrUyeJN3bn9G5J1j4OhecvrwfeGZbVy+/mpMvz5RLKoPUsu3RypdZYMci56vR5xcXGumSdPz6wzQ9HRwMaNuc9wBwC7dmXNhle9OvDJJ4Ckv9AWJy6dJSpy1uZpyZIlAIDOnTsbxwIDA3Hnzh2zdbOfyclNxYoVAQDnzp0zGb9586bZmZuKFSvi7NmzZts4c+aMybZWrVqFqlWrYsWKFXjyySfRokULNG3atNAfYJsbw31Lixcvtrhcp9Nh+fLlCAwMRIsWLYqytELDn08ki9qz5NLNkVpnySDnIoRAXFyca+dJowG6d8+a4e74cWDUqKzGyZKLF4E33gDKlweefTarsSKrFIssUZEx5CkvO3fuxIcffojKlStj8ODBxvEqVargzJkzuHnzpnHs+PHjVs281qFDB7i7u+OLL74wyfJnn31mtm63bt3w559/4sCBA8axe/fu4ZtvvkGlSpWMZ10URYFerzf5ZWr//v04ePBgvvUUhubNm6NDhw5YsGABNm7caLb83XffxT///IO33noLJUqUcECF8vHnE8mi9izZPVsdEbmoevWA+fOz7kn66ivgyy8tT8xw/z7wzTdZX23aAGPHZk0b7sYfK0SOsHnzZpw5cwaZmZm4ceMGdv5/e/cd18T9xgH8k7BRpsiQKSoiKCoq7o0Dt3VQrZa6Z9VaB7VVsNq6qj+trdZRxdE66qq2DlxoHa11DxBUQEFlKFtlJd/fH9cEYhJIIGTxvF+ve6F3l7vv5Z4cebjvPd9z53D69Gm4u7vj6NGjEgUWxo4dizVr1qBnz54YP3480tLS8NNPP8HHx6fcuzW1a9fGnDlzsGzZMvTr1w99+vTBrVu3cOLECXEpcJHQ0FDs2bMHQUFBmDFjBmxtbbFjxw4kJCTg4MGD4i6Bffv2xeHDhzF48GD07dsX8fHx2LRpE3x9fTV292jnzp3o3r07Bg4ciJEjR6Jjx44oKCjAoUOHEBUVheDgYMydO1cjbSOEVB36FkMIkc3eHli0CJg/nxsP6X//A2SMNwIAuHCBm5ydgYkTgfHjgTp11NpcQqq7RYsWAQCMjY1ha2uLJk2aYO3atRgzZozUw9GNGjXCzp07sWjRIsyePRs+Pj7YuXMn9uzZg6ioqHL3tXTpUpiamuKnn37C+fPn0bp1a0RGRqJv374S6zk4OODKlSuYP38+1q9fj/z8fPj5+eHYsWMS644dOxYpKSnYvHkzIiMj4evriz179mDv3r0KtacqODk54dq1a1i9ejV+++03HDx4EIaGhvDz80NERAQ+/vhjjY/nSAhRPR7T1XteZcjJyYGVlRUyMzNhbW2t6eYQHScUCpGcnAwXF5dyH3zWa4wBV64A69cDBw/KHi9JxMCAu4s0ZQr3HBN9gQBAsURUi+KJqBLFE1EVbYwlUW6QnZ0NS0vLMtfV6+RIkTeAEFIBz58DmzZxU1pa2es2bAhMngyEhHBV8gghWqVLly4AoLE7NIQQUtWUyQ20I52rIrpaJYNoF6FQiGfPnlE8lebsDHz9NTde0u7dQOvW8teNjeUGnq1TB/jkE+DyZe4uVDVEsURUieKJqBLFE1EVXY8lvU6O9PCmGNEAxhgyMjIonmQxMQE++gj4+2/gxg3uWSNzc9nr5ucDO3YAHToAjRsD69YBGRnqba+GUSwRVVJVPEVGRiIyMlJFrSK6iq5PRFV0PZb0OjkihKiRvz+wZQvX5e7774H/BlGUKToamDWLu5s0ahRw8WK1vZtEiKYZGxvD2NhY080ghBCtQMkRIUS1rK2BTz8FHjwAoqKA4GDAyEj2ugUFwC+/cKXAvb2BFSuAly/V2VpCCCGEEDG9To6oxCZRBR6PB0dHR4onZfF4XNKzdy+QlMQlPvXry18/Lg4IDQVcXYEBA4DffweKitTXXjWgWCKq9H48rVy5Et7e3jrbz59olqquT6GhoWhd1nOoRO/p+u86vU6OtKV8INFtfD4fjo6OFE+V4eAAzJvHFWc4dw748ENAXjcegQA4dowrBe7iAsydC8TEqLW5VYViiahS6XjKycnBihUrMH/+fIn44vF44onP56NOnTro2bOnSivTHT16FP7+/jA1NYWbmxvCwsJQXFap/1IeP36MoUOHwsbGBubm5ujQoQPOnz+vsrZVVkREBHg8Hq5fv67ppqjElStX0KFDB5ibm8PR0REzZsxAXl4egPKvTxs3bsSwYcPg5uYGHo+HTz75ROZ6s2bNwp07d3D06NGqOgyi5XT9d51utlpBAoFA000gekAgEODJkycUT6rA5wNduwJ79nDPJq1ezZX6lictDfjuO8DHB2jTBti4EcjMVF97VYxiiahS6Xjatm0biouLMWLECKn1evTogV27dmHHjh2YPHky7t69i27duuHEiROVbsOJEycwaNAgWFtbY/369Rg0aBCWLl2KTz/9tNzXJiUloW3btrh06RLmzp2LZcuWIS8vDz179sTFixcr3TYi6fbt2+jevTvevn2LNWvWYPz48di8eTOGDRsGoPzr04oVK3Du3Dn4+vrC0NBQ7n4cHR0xcOBAfPfdd1VyHET76fzvOqaHsrOzGQCWkZGh6aYQPVBcXMxu3brFiouLNd0U/SQUMnbpEmNjxjBWowZjXGkG+ZOJCWPDhzN2/DhjRUWabr1SKJaIKpWOJz8/PzZq1CipdQCwadOmScy7e/cuA8B69uxZ6Tb4+Piwpk2bsqJSn8Uvv/yS8Xg8FhMTU+Zrp06dygwNDdnDhw/F8968ecNcXV2Zv79/hdv0+PFj9ubNmwq/vrTt27czAOzff/9VyfY0KSgoiDk5ObHs7GzxvC1btjAA7NSpU+VenxITE5lQKGSMMVajRg0WEhIid18HDhxgPB6PPXnyRKXHQHSDNv6uE+UGpeNfHr2+c0QI0QE8HtC+PbBtG1eMYetWoG1b+esXFAD79wN9+gBublx3vfv31ddeQrRMQkIC7t69i8DAQIXWb9KkCezs7JCQkFCp/UZHRyM6OhoTJ06UuJMwdepUMMZw4MCBMl//119/oXnz5mhY6u6xubk5BgwYgJs3b+LRo0cVateuXbvg5OSEyZMn499//63QNpR169YtBAUFwdLSEjVr1kT37t3x999/S6xTVFSExYsXo0GDBjA1NUWtWrXQoUMHnD59WrxOSkoKxowZAxcXF5iYmMDJyQkDBw5EYmJipdqXk5OD06dPY9SoURIDYH788ceoWbMm9u/fX+423N3dFX6GRBSLv//+e8UaTIgGyb8vSggh6mZhAYwbx03R0VzCtGsX171OlpcvgVWruKlZM2D0aGDECMDJSa3NJkSTrl69CgDw9/dXaP3MzExkZmaifqkCKdnZ2ShSoACKqakpatasCYBLCACgZcuWEuvUqVMHLi4u4uXyFBQUwMbGRmq++X9jpd24cQMNGjQot03vGzlyJNLS0rBnzx5s2rQJTZo0wbhx4zBq1CjUqlVL6e2V58GDB+jYsSMsLS0xb948GBkZYdOmTejSpQsuXLggLk4QHh6OZcuWYfz48QgICEBOTg6uX7+OmzdvokePHgCAIUOG4MGDB/j000/h4eGBtLQ0nD59Gs+ePYOHhwcAIC8vD/n5+eW2y8jICFZWVgCAe/fuobi4WOpcGRsbo1mzZuWeK2VZWVmhXr16uHz5Mj777DOVbpuQKlf1N7LUT3TrLDMzU9NNIXpAIBCwV69eMYFAoOmmVE+FhYwdO8bYkCGMGRuX3+2Oz2esVy/Gdu1iLC9P062XQLFEVEkUT19++SUDwHJzc6XWAcDGjRvH0tPTWVpaGvvnn39Y9+7dGQC2evVq8XqdO3dmAMqdSnelWrVqFQPAnj17JrXfVq1asTZt2pTZ/v79+zNra2uWk5MjMb9t27YMAPvuu++UfEckvXv3jv3yyy+se/fujMfjMRMTExYcHMwiIyMV/gwq0q1u0KBBzNjYWKIL2YsXL5iFhQXr1KmTeF7Tpk1Z37595W4nMzOTAWCrVq0qs00hISEKnavOnTuLX/Pbb78xAOzixYtS2xs2bBhzdHRU6vpUXrc6xhjr2bMna9SoUbnbIvpHG3/XKdOtTq/vHOlqlQyiXfh8fpX8tZEoyMgI6NePm16/5kqD79gByOsuIxQCp05xU40awODBwEcfAYGBQBkPEasDxRJRJVE8ZWRkwNDQUHxH530///wzfv75Z/H/TU1NMXv2bMyaNUs8b/Xq1chUoNhJnTp1xP9+9+4dAMDExERqPVNTU+Tk5JS5rSlTpuDYsWMIDg7GN998gxo1amDDhg3iynCi7VeUqakpRo4ciZEjR+Lp06eIiIhAREQE9u3bB3d3d0yaNAlffPFFpfYhEAgQGRmJQYMGwdPTUzzfyckJI0eOxJYtW5CTkwNLS0tYW1vjwYMHePTokcw7YmZmZjA2NkZUVBTGjRsn864aAMybNw+jRo0qt22lX1/euXr37p3Kr082NjYqvyNFdIOu/67T6+RIZ6tkEK0iEAjEv8wMDAw03ZzqrVYtYNo0bnrwgEuSfvkFePFC9vpv3gC7d3NT7drcgLQjR3KV7zQw/gLFElElUTwxxspcb+DAgZg+fTp4PB4sLCzg6+uLGjVqSKzTokULpfdvZmYGgOse9778/HzxcnmCgoKwfv16hIaGirsE1q9fH9988w3mzZsnN9kDuC/72dnZEvMcHR3lru/u7o6wsDBMnjwZEyZMwLFjx7BixYpKJ0fp6el4+/atxHNTIo0aNYJQKERSUhJ8fX3x9ddfY+DAgfDy8kLjxo3Ru3dvjB49Gn5+fgC4xGXFihX4/PPP4eDggDZt2qBfv374+OOPJY7Nx8cHPj4+SrVTkXOl6usTY0xnx7khlaPrv+vo1gohClCkfzdRM19fYOVK4Nkz4MwZICQEKOPLFNLTgR9+ANq1A+rVA778knuuSc0ologq5efnw9bWFsXFxcjNzZW5jouLCwIDA9G9e3cEBARIJUYAkJGRgZSUlHKn0gmJ03/P9r18+VJqey9fvpS4yyTP9OnTkZqaiitXruD69et4+PCh+DkZLy8vua/bt28fnJycJCZ5iouLcfToUQwePBiurq7i8uO//vprue1TpU6dOuHJkyfYtm0bGjdujK1bt8Lf3x9bt24VrzNr1izExcVh2bJlMDU1xcKFC9GoUSOJOzDZ2dkKnauMjAzxaxQ9V6q8PmVmZsLOzk5l2yO6RZd/12llcnTx4kX0798fderUAY/Hw5EjRzTdJEKItjIwALp3ByIigJQU7k5S797cmEryJCQA337LJVh+fty/nzxRW5MJUSVvb28AqFT1uQ8++EAq2ZA1zZw5U/yaZs2aAYDUAKkvXrxAcnKyeHl5atSogbZt26JFixYwMDDAmTNnYGZmhvbt28t9Ta9evXD69GmJ6X3R0dGYO3cuXFxcMHDgQERHR2PJkiVITk7G4cOH0adPH4XaV5batWvD3NwcsbGxUssePnwIPp8PV1dX8TxbW1uMGTMGe/bsQVJSEvz8/BAeHi7xunr16uHzzz9HZGQk7t+/j8LCQqxevVq8fObMmQqdqw8++ED8msaNG8PQ0FDqXBUWFuL27dsKnytlJCQkoFGjRirfLiFVTSu71b158wZNmzbF2LFjJT7chBBSpho1uG5zI0dyidL+/VyydO2a/Nfcu8dNX34JtGwJfPghMHw4UOoLDSHarE2bNgC4JEXURUtZFXnmyNfXF97e3ti8eTMmTZok7j6zceNG8Hg8DB06VLxudnY2Xr58CScnJ/GdIVmuXLmCQ4cOYcqUKWWuV9bdoqioKISGhuKff/6BmZkZhg4divHjx6NTp07lHp+yDAwM0LNnT/z+++9ITEwUV5RLTU3Fr7/+ig4dOohLZ79+/VriOYyaNWuifv36SEpKAgC8ffsWfD4fpqam4nXq1asHCwsLie5wFXnmyMrKCoGBgdi9ezcWLlwICwsLAFzZ87y8PPFAsKJ2PH/+HHZ2dhW+85OdnY0nT55gypQpFXo9IZqklclRUFAQgoKCKr0dKshAVIHP58PT05PiSdc4OgIzZnDT48fAnj1coiTjL7xi169z05w53NhLwcHAkCGAAt2DFEGxRFRJFE8WFhZo3Lgxzpw5g7Fjx1ZoWxV55ggAVq1ahQEDBqBnz5748MMPcf/+ffzwww8YP368xF2Dw4cPY8yYMdi+fTs++eQTAMDTp08xfPhwDBgwAI6Ojnjw4AF++ukn+Pn54dtvv61QewDgwoULKCoqwoYNGzBy5MgykyxFbdu2DSdPnpSaP3PmTCxduhSnT59Ghw4dMHXqVBgaGmLTpk0oKCjAypUrxev6+PigS5cuaNGiBWxtbXH9+nUcOHAA06dPBwDExcWhe/fuGD58OHx8fGBoaIjDhw8jNTUVH374ocR2lH3mCAC++eYbtGvXDp07d8bEiRORnJyM1atXo2fPnujduzcYY/D09MT169fRrVs3hIWFSdzVOnbsGO7cuQOAG7Pp7t27WLp0KQBgwIABEon5mTNnwBjDwIEDlW4n0X26/rtOK5MjZRUUFEj8VUVUIUcoFIqLMvB4PPD5fAiFQomHV0Xz3y/eIG8+n88Hj8eTOV+0T0XmGxgYgDEmc/77bZQ3n45JPccEcN0+Si/T9WPSx/NU5jHVrQssWAB88QVw6xYM9u0D27sXvOfPIdfly8Dly2AzZ4LXoQOEQ4aAffCBOFGq6DG9H0t0nuiYKnpMQqFQHE+ffPIJwsPD8e7dOxgbG0uszxiT2UZVHFNQUBAOHTqExYsX49NPP0Xt2rURGhqKRYsWibddeluinwKBADVq1ICjoyN++OEHZGRkwNnZGdOnT8eCBQtgbm4OgUBQofP0+eef46uvvhLPEwgEFT5PovU3btwIWUaPHo1GjRrhr7/+QmhoKJYtWwahUIiAgADs3LkTrVu3Frd9+vTpOHbsGCIjI1FQUAB3d3d8/fXXmDNnDgQCAVxcXPDhhx/i3Llz2LVrFwwNDdGwYUPs27cPH3zwgdR7oOwx+fv7IzIyEqGhofjss89gYWGBsWPHYvny5eL1378+ld7ngQMHsHPnTvH/b926JX4WytnZGX5+fuL19+/fj/bt28PT07PKYk/efLpGaMcxlY4lbTgmZYq08Vh5ZW40jMfj4fDhwxg0aJDcdcLDw7F48WKp+RcvXhTfOra1tYWbmxuePXsm8ZCio6MjHB0d8eTJE4mHWV1dXVGrVi08fPhQ4qEyT09PWFpa4t69exJvdMOGDWFsbIx79+5JtKFJkyYoLCyU6I9sYGCAJk2aICcnB/Hx8eL5pqam8Pb2xuvXr8W32QHAwsIC9erVEz9kKULHpJ5jysrKws2bN2FjYwMej6cXx6SP50npY3rxArknT8L61ClYnz4NIwW6FDEeD2+aNUNWjx4wHz0ato0bK3VMBgYGuHTpkjiWVH5M+nie6JjkHlN0dDRSUlJgY2ODvLw8DBw4EKtWrUJAQIDOHpM+niddOabXr18jMzMTNjY2cHJyqvAxpaamol+/fli2bBkmT55M56kaHtOzZ8/EsWRpaakVx5SXl4eOHTsiOztb3NVVHr1IjmTdOXJ1dUV6erq4z60uZt3lzadjUs8xFRcX4969e/D19RXfSdL1Y9LH81SpYyouBi8qCvz9+8EOHQIvKwvlYTweeO3aQTh4MNjgwYC7e7nHJBAIpGKJzhMdU0WPqbCwEA8ePBDH06pVqxAREYF79+5JdGfRpWPSx/OkK8dUXFwsjidDQ8MKH9MXX3yB8+fP4++//9b4MenjedKFYyodSwYGBlpxTDk5ObC1ta0+ydH7cnJyYGVlhYyMDLmDqBGiKNEX2iZNmuhkvX6ipMJCbgDZ334Dfv8dKGcgS7GWLYGhQ7lnlOrXl7kKxRJRJYonokoUT0RVtDGWRLmBIsmRbj4pRQghVcXYGOjfH9i5E0hLA44eBUaNAv7roivX9etAaCjQoAHQtCkQHg7cvQto99+fCCGEEFKKVt45ysvLw+PHjwEAzZs3x5o1a9C1a1dx/8TyiLLDrKwslVSpIdUbYwz5+fkwNTWl0b6rs/x8IDKSu6N09Kjid5Q8PYHBg4HBg8HatEF+YSHFElEJujYRVaJ4IqqijbGkzJ0jrUyOoqKi0LVrV6n5ISEhiIiIKPf1lBwRVRL1qxX1ayUEBQXAmTPAwYNc17tSD5OWhTk4gA0cCN6gQeB16waYmFRxQ4k+o2sTUSWKJ6Iq2hhLOp8cVRY9c0RUSRv7zhItUlQEXLgAHDgAHD7MdcVThIUF0Ls3MHAg0KcPQNcqoiS6NhFVongiqqKNsUTPHBFCiLoYGQGBgcBPPwEvXnCJ0qxZ4up1cuXmcl30Ro0C7O2B7t2B9euBp0/V0mxCCCGESKPkiBBCVMXAAOjUCfjf/4CEBODGDeCrrwBf37JfV1wMnDsHzJgBeHhwBR2++gr45x/gvVKphBCiD4RCITZv3owdO3ZouimESDDUdAMIIUQv8XiAvz83LVkCPHoE4cGDeLdnD8zv3QOvrB7Nd+9y0zffAA4OQL9+XAW9wECgRg31HQMhhFSBmJgYjBkzBv/88w/4fD6aNGkCf39/TTeLEAB6/swRFWQgqqCNDxYS3SSOpfR08P74gyvmcPo0V+BBEaamQNeuQN++3OThUaXtJdqNrk1EldQRT4WFhVi5ciUWL14MxhgEAgEMDAzQqFEj3Lx5E0ZGRlWyX6Je2nhtooIMlBwRFdLGkpREN8mMpTdvuBLhR44Af/4JvH6t+AZ9fbkkqV8/oG1bwJA6A1QndG0iqlTV8ZSWloYuXbrg4cOHeP+rJ4/Hw7fffovQ0FCV75eonzZem6ggw3+E1FefqIBQKERsbCzFE6k0mbFUowY3DtKOHUBqKvDXX8C8eYC3d/kbfPAAWLmSe87J3h4YMaJk8Fqi9+jaRFSpquMpLy8PcXFxUokRwH2ZXrRoEeLi4qpk30S9dP3apNfJESGE6BQDA6BDB2DFCiAmBnj0CFizhutKV1451MxMYO9eICQEcHQEAgKA8HCuqINAoJbmE0KIPJ6enggNDZV7J4ExhrFjx+rsF2qiPyg5IoQQbVW/PvDZZ1wlu/R0LvkZPRqoVavs1zEG/PsvsHgx0KYNlyyNGgX88gu3HUII0YCFCxeiXr16Mse+KS4uxuXLl7FlyxYNtIyQEpQcEaIAbRnEjOi+CseSjQ0QHMx1m0tNBa5cAb78kiv7XZ5Xr7jEaNQorvpdq1bAwoXA5ctcGXGis+jaRFSpquPJxMQEO3bsKPPu0Oeff47nz59XaTtI1dPla5NeF2RQ5KErQgjRecnJwIkTwPHjwJkzQF6e4q+1sgJ69AB69QJ69gTc3KqunYQQAmD69OnYuHGjzCTJ0NAQvXv3xtGjR7XmYX6i+6haHVWrIyrEGENubi4sLCzoQk0qRS2xVFgIXLrEJUrHj3PPLinD25tLknr1Ajp3pnGVtBhdm4gqqTOecnNz0bBhQ6Smpsq9i7Rv3z4MHz68SttBqoY2XpuoWt1/6KE+ogpCoRDx8fEUT6TS1BJLxsZAt27Ad98B0dFAQgKwYQMwYIBiic7Dh8D333Mlwm1tuW0tXw7cuAHQZ0Cr0LWJqJI648nCwgI///yz3H3xeDxMmTIFr5UZ2oBoDV2/Nul1ckQIIdWehwcwZQo34GxGBlfcYd48wM+v/NcWFgLnzwNffAG0bMmVCw8OBrZuBZ4+rfKmE0L0V1BQEEaMGCHz2RTGGLKzszFr1iz1N4xUe5QcEUJIdWFszJUFX7ECuHMHeP4c2LaNS3hsbct//evXwP79wIQJXNLl5QVMmwYcOsSVEieEECV8//33crteCQQC7N69G6dOndJAy0h1RskRIQowNTXVdBOIntCqWKpTBxgzhisRnpYGXLsGLF0KdOwIGBqW//pHj7gue0OGAHZ2XBW8L77gikK8e1f17SfaFU9E56k7nuzs7PDjjz/KHBgWAPh8PsaNG4c8ZYrMEK2gy9cmvS7IQNXqCCGkgnJygKgo4NQp4PRpLhFShokJ0L490L0799xSy5aKJVyEkGqFMYY+ffrg9OnTEMgYsJrP52P69OlYt26dBlpH9AVVq/vvDcjMzIS1tbWmm0N0nFAoRGZmJmxsbMDn081WUnE6HUtPn3JJ0unTwNmzXBc7ZVhYAJ06cYlSt27cM0+69h5oGZ2OJ6J1NBlPSUlJaNiwId7JuePM4/Fw5coVtGnTRq3tIhWjjdcmqlb3Hz3M+4gGMMaQlJRE8UQqTadjyd0dGD8e2LeP64J3/TqwbBkQGAgo0n0iNxf480/g88+B5s254g5DhwI//gg8eADo4nuiYTodT0TraDKeXF1d8d1338ldzufz8cknn6CwsFCNrSIVpevXJr1OjgghhFQBPh9o0QIIDeXuJGVmcneTFiwAWrdW7I7Q69fAwYPA9OlA48aAoyNXGOKnn4DYWEqWCKlmJk+ejLZt28JQRvdbgUCAuLg4LFu2TAMtI9UNJUeEEEIqx9SU6yr3zTfA339zic+RI8CMGYCvr2LbSEvjKuFNmcINROvsDIwYAWzaxI29RMkSIXqNz+dj27ZtcpczxrB06VI8ePBAja0i1RElR4QowMLCQtNNIHqiWsSStTUwcCCwbh1w/z6QkgLs2cOVAK9XT7FtvHzJVdGbPBlo1AhwcuLuLG3YwA1uS8kSgGoST0RtNB1P3t7eCA8Pl1naG+ASpDFjxsgs3EC0i6ZjqTL0uiADVasjhBAt9PQpNxhtVBQ3yGxSkvLbsLPjCjyIJj8/QMZgkoQQ3VJUVIRmzZohNjZWbhK0bt06zJgxQ80tI7qMqtVRtTqiQkKhEGlpabC3t9eaqitEN1EsycAYEB9fkiidPw+8eKH8dqysgA4dSpKlFi0AIyOVN1ebUDwRVdKmeLp+/ToCAgLkPtBvamqKhw8fwt3dXc0tI4rQplgSoWp1/9HDvI9oAGMMKSkpFE+k0iiWZODxuK5248YBu3cDyclcQYbNm4GPPuKePVJEdjZXDW/+fKBtWy5Z6tYNCAvjBqV986Zqj0MDKJ6IKmlTPLVs2RKfffaZ3C/WRUVFGD9+vFa0lUjTpliqCL1OjgghhOgYHg/w8uKeT9q9m+ty9/gxsHUrMHo04Oqq2HbevePuQn39NdCjB/ccVOvWXCnxI0eA9PSqPApCSCUtWbIELi4uMhMkgUCAM2fOYNeuXRpoGdF3lBwRQgjRXqXvLO3cyT2vFB8PREQAY8cC9esrtp3iYuDaNWDNGmDwYG6cJW9vbuymiAguAdPRv3ISoo/Mzc2xfft2CIVCuevMmDEDaWlpamwVqQ70OjmSV+2EEGXweDzY2tpSPJFKo1hSAR4PqFsXCAkBfv4ZePQIeP6cq4Y3ZQrg46P4tmJjuW2MGQM0aMBVxBsyhEug/vkH0PIBJymeiCppYzx169YNY8eOhYGcYit5eXmYPn26mltFyqONsaQMvS7IQNXqCCGkGnr9Grh0CfjrL266eZO7c6QsU1OgVSugfXugXTtuqlVL9e0lhMiVmZkJLy8vvH79Wu4zLEePHkX//v3V3DKiS6haHVWrIyokFAqRnJwst+8zIYqiWNKQN2+4wWn/+otLmq5eBd6+rdi2GjYsSZTateO65mnoXFI8EVXS5ng6dOgQhgwZInMZn89H7dq1ERsbCysrKzW3jMiijbFE1er+o4d5H9EAxhgyMjIonkilUSxpSI0aQPfuQHg4V7kuKwv491/gf//jutE5OCi+rdhYYPt2rmCEry93JykoCFiyhNt2Tk5VHYUUiieiStocTx988AEGDRoks3udUCjEq1evMH/+fA20jMiizbGkCENNN4AQQghRKyMjoGVLbpo1q2Sspb/+Aq5cAS5fBqKjFdtWVhZw8iQ3AdwzUb6+XDlx0eTlpbG7S4Toiw0bNuDs2bPIzc2VWiYQCLBp0yaMHDkSnTp10kDriD6h5IgQQkj1JqqIV68e8Mkn3LyMDK4r3uXL3HTtGlcevDyMAffvc9OWLdw8GxuujHibNtzPgADA1rbKDocQfeTk5IT//e9/GD9+vMzlBgYGGDNmDB48eABTU1M1t47oE3rmiJByaONIz0Q3USzpsKIi4M4d7s6SaEpKqvj2GjYsSZbatAGaNAEMlft7JcUTUSVdiCfGGLp27YpLly5BIBBILefz+Zg3bx6WLVumgdYREW2MJSrIQNXqCCGEVLXkZK64gyhZunWLS6IqwswMaNGCu6vUujU3ublxd7UIIWJPnjyBr68vCgoKZC7n8/m4ceMGmjVrpt6GEa1GydF/b0BGRgZsbGw03Ryi4wQCARITE+Hh4SF3rAVCFEGxpOfy87my4Vevcl3yrl7lxmCqKAeHkmQpIIB7RqrU7zSKJ6JKuhRPq1evxpw5c2QuMzAwgK+vL27cuAFDJe/GEtXQxlhSJjmiqCFEAbIeACWkIiiW9JipaUmJb5GkJC5J+ucfLmG6cQOQ8xdvKampwLFj3CTi5cUlSgEBQIsWyDMwADw8VHoYpPrSlevTzJkzsXv3bty7d0+qe51AIMC9e/ewZs0azJs3T0MtJLoSS7JQckQIIYRUFVdXbho+nPt/YSFw9y6XKImmJ08U315cHDft3g0DAE0MDcFr2pS7q9SqFTf5+Cj9/BIhusTQ0BA7duyAv7+/zOWMMSxcuBCDBw9GgwYN1Nw6ouvo6kkIIYSoi7FxSRnx6dO5ea9ecdXw/vmn5GdmpkKb4xcXc3ejbtwANm3iZpqbA82bc4mSKGmqX5/KiRO94ufnh/nz52PZsmUyx9MRCAQYN24cLly4AB49u0eUoNfPHFG1OqIKQqEQmZmZsLGx0ZqqK0Q3USwRhTAGPH7MJUn//MMNWHvrFnfXqaIsLbmCD6LErGVLoG5dKvhAxHTx+pSfn4/GjRsjMTFRZvU6ANi8eTMmTJig5pZVb9oYS1SQgarVEUII0Sei7njXrnHJ0rVrQEwMl0hVlI0NlzCJkqYWLbjnlyhhIjrk0qVL6Nixo9zlNWvWRGxsLOrUqaPGVhFtQ8kRVasjKiQQCPDo0SM0aNBAa6quEN1EsURUSZCZiefHjsHl5Uvwb9zgkqbExMpt1Na2JGFq0QLw96c7TNWELl+fpk6dik2bNkEoFEotMzAwQN++fXHkyBHqXqcm2hhLVK2OEBXLz8/XdBOInqBYIipjaYkMPz84f/QRIPoCkp4OXL/OJUqinykpim8zIwM4fZqbRKytuSRJlCz5+9MzTHpKV69Py5cvx+HDh5GWliaVIAkEAhw9ehQHDx7E0KFDNdTC6kdXYwmg5IgQQgjRH7VrA0FB3CTy4kVJsiSaXr1SfJtZWcC5c9wkYmEBNGvGJUrNm3M/GzWiKnlEIywtLbF161b069dP5nIej4fJkyejW7dusLW1VXPriK6hqxghhBCiz+rUAQYO5CaAe07p2TOuwt316yXV7l6/VnybubnAX39xk4ipKdCkCZcsiSY/P8DMTLXHQ4gMffv2xYcffojffvtNqjgDYwxZWVmYPXs2IiIiNNNAojP0+pmjrKwsWFlZabo5RMcxxpCbmwsLCwvqr0wqhWKJqJJK44kx4OnTkkSpIgmTLHw+4O0tmTA1a8Y920S0ij5cn9LT0+Hl5YXs7GyZ5b0BIDIyEj169FBzy6oXbYwlKshA1eoIIYSQymEMSEoCbt7kEiXRz9TUym/bzY1LkkTJUrNmgLs7FX4glfbLL79g1KhRMpfx+XzUqVMHDx8+RI0aNdTcMqJJlBxRtTqiQgKBANHR0fDx8dGaqitEN1EsEVXSSDwxxj3DdOsWN928yU3PnlV+29bWQNOmXKIk+unjA5iYVH7bpFz6cn1ijKF37944d+4ciouLpZbz+XzMmDED//vf/zTQuupBG2OJqtURomLyBpcjRFkUS0SV1B5PPB7g7MxNpR9+f/26JFkSJU5xccqNw5SVBVy4wE0ihoZcoYemTSUne3uVHRIpoQ/XJx6Phy1btsDb21tmciQUCrFu3TqMGDECAQEBGmhh9aDLsUTJESGEEEIqp1YtIDCQm0Ty8riBa2/fLkmY7t3jBrRVVHEx95p794Ddu0vmOzpyxR5KJ0wNGwJGRio7JKK73NzcsHLlSnz66acyl/P5fISEhODOnTswNjZWc+uItqPkiBBCCCGqV7Mm0K4dN4kUFQEPH3IJk2i6dQvIzFRu2ykp3BQZWTLP2LjkLpOfX8nk4KCCgyG6ZurUqdi9ezeuX78udRdDIBAgNjYWK1aswMKFCzXUQqKt9PqZI6pWR1SBMYb8/HyYmppqTdUVopsologq6U08MQYkJ3NJ0p07XMJ05w7w5Ilqtm9vz5UY9/Mr+enjQyXG36M38VRKTEwM/Pz8ZHavAwBDQ0PcvXsXjRo1UnPL9Js2xhIVZKDkiKgQYwxCoRB8Pl9rPuREN1EsEVXS+3jKyeG604nuMN29y/3/3bvKb5vPBxo04JKl0pOnJ7esGtLXeFqyZAnCwsJklvY2NDSEv78/rly5ojWFA/SBNsYSJUdUrY6okEAgwL1799CkSRO6eJJKoVgiqlQt40kgAB4/5hKlO3e46e5d1VTLAwBzc8DXtyRZatyY+1kNuubpazwVFhaiWbNmiIuLk1sk4Pvvv5f5fFJ2djZMTU1hQhUTlaKNsUTV6gghhBCifwwMuMILDRsCw4aVzM/M5O4q3b1bMt27B7x9q9z2374F/v2Xm0qrXZtLlN6faCxFrWdsbIwdO3agdevWcteZN28eBgwYAHd3dwBAcXEx1q5di6+++gqhoaEIDw9XU2uJNqDkiBBCCCG6zcYG6NSJm0QEAiA+viRREv188kS5EuMAkJ4OnD/PTaW5uXF3mkTJkq8vVxTC3Lzyx0RUplWrVpg1axbWrVsHoVAotby4uBgTJkzAqVOncPfuXXElOwCIjo5Wd3OJhlFyRAghhBD9Y2DAPVfUoAEwZEjJ/DdvgAcPJO8w3bvHjdWkrGfPuOnEiZJ5PB737JIoWRJNDRsCpqaVPy5SIUuWLMGBAwfw/PlzqQSpuLgYp0+fxuDBg/HHH39ILEtMTFRjK4k20OtnjqggA1EFbXywkOgmiiWiShRPKsQYkJpakiiJpuho1RSAALhCD/XrSyZMPj5c0qQFz7RUh3g6c+YMevToIXOZ6Jjf/1rs6OiIly9fVnnb9Ik2xhIVZKDkiKiQNpakJLqJYomoEsWTGggEQEICcP9+yXTvHhAbyy1TBVHS5ONTkjBp4E5TdYmnMWPGYNeuXXKLM7yPz+ejsLBQawoL6AJtjCVKjqhaHVEhbay6QnQTxRJRJYonDSoo4BKkBw+46f597mdFnmeSh8/nuuf5+HDPMfn4cJO3NzfAropVl3jKzMxEgwYNkJGRIbO8tyzPnz9HnTp1qrhl+kMbY4mq1RFCCCGEVBUTE24wWT8/yflv3wIxMSXJkmh6+lT5fQiFXNnyx4+Bo0cll7m5lSRNosSpUSPA1rbix1RNFBcXo1GjRrh06ZLCr0lOTqbkqBqh5IgQQgghRBXMzYEWLbiptNxcLmkqnTBFR1d8fCZRIYiTJyXn29uXJEylJ2dnrlBENcYYwy+//ILp06cjLy9PqdcmJycjICCgilpGtA0lR4QoQFtuCxPdR7FEVIniSUdYWAABAdxUmihpio4uSZgqeqcJANLSuOnCBcn5NWty3fFEyZLo3/XqAUZG4tX0NZ6ePXuGCRMmIDIyEjweT+HudAD3zFFycnIVtk4/6XIs6fUzR4r0KySEEEII0Sp5edwzTdHRkpMqn2kCAENDLkESJUyiqWFDwNpadfvRsD59+uBE6XLrSjAyMsLMmTOxatUqFbeKqBM9c/QfPcz7iAYwxpCbmwsLCwutqbpCdBPFElEliic9VrOm7O55795xSVNMTMkUHQ08egQUFSm/n+JibnuxsdLLHBwkkyXRT3d3bgwpHbJ27VoUFBTg3Llz4PP5MgeClUcgEOD58+dV2Dr9o+vXJr1OjpQJfkLkEQqFiI+P16qqK0Q3USwRVaJ4qobMzIBmzbiptKIiID6eS5QePixJnB4+5O5CVURqKje930XPxIQbWLdhQ8mkqWFDQEuHT/Hy8sKZM2dw5MgRfPrpp3j58qXC3xGFQiENBKskXb826XVyRAghhBCi94yMShKU0hgDkpMlkyXRlJJSsX0VFJSM+fQ+B4eSdjRsCHh5cT89PbkufBrE4/EwePBg9OrVCytWrMCyZcvAGENxcXG5r01KSlJDC4m2oOSIEEIIIUQf8XiAqys39ewpuSwzk+tO91+yxKKjUXDvHkySksCr6AC3ortNFy9Kzhc92+TlVZIwiX46OKi1kp65uTkWL16MkJAQzJo1C8eOHSu3q11qaiqEQiH4fL7a2kk0h5IjQhRgqsZRyol+o1giqkTxRCrMxgZo04abAAgFAiQ+eoQG7u4wePqUS5pEyVNMDPfvrKyK7ausZ5ssLEqSptJTgwZV2k3P09MTR48excmTJzFt2jQkJCTIfVa9qKgIr169gr29fZW1R9/o8rWJqtURQgghhJCyMQakp5ckTaLEKTaWe96pKp7zdnDgkqQGDUoSJi8voH597vkrFSksLMTatWsRFhaGoqIiCGTcObtx4wb8/f1Vtk+iXsrkBnqdHGVmZsJaj0pREs0QCoXIzMyEjY0N3VInlUKxRFSJ4omoUqXiqbCQKzMuSppKT69fV02DXVxKEqbSk6cnVzSiAp4/f445c+Zg7969MDAwkEiSfv/9dwwYMEBVrddr2nhtolLe/9HDvI9oAGMMSUlJlGiTSqNYIqpE8URUqVLxZGxcMsDs+16/BuLiSqbYWO7no0dAfn7FG5yczE3nzknO5/MBN7eSO0yipKl+faBuXa6tcjg7O2PPnj2YMmUKpkyZgujoaPGyZ8+eISoqCi9fvoSTkxM6duyok5XY1EHXr016nRwRQgghhBANqlULaNuWm0oTCoGkJC5JKp08xcUBCQkV76YnFAKJidwUGSm5jM8HPDxKkqb69UumunXFd5w6deqEO3fuYNOmTfjiiy+Qm5uLBQsWIDc3V7wpFxcXrFu3Dh988EHF2km0FiVHhBBCCCFEvfh8bkBZd3cgMFByWWEh9xyT6A5T6Z+VGZBVKOS2Gx8vO3FycxMnS4b162NavXpwmDcPIxYulEiMAK4L3tChQ3HgwAFKkPQMJUeEKMDCwkLTTSB6gmKJqBLFE1ElrYknY2NucFlvb+llb94Ajx+XJEylp7S0iu+z9B2nM2fEs4f+NyUDeAzgiegnY3gCYOGMGRg4cCB1sXuP1sRSBeh1QQaqVkcIIYQQUk1kZ3OJU+mESfT/V6+qbLeFVlYw9vbm7jrVqyc5qXkcJyIbVaujanVEhYRCIdLS0mBvb681VVeIbqJYIqpE8URUSe/jKStLMnF68oT7/+PHlbvjVJ4aNbgKeqUTJtH/3d0BI6Oq27eGaGMsUbW6/+hh3kc0gDGGlJQU1K5dW9NNITqOYomoEsUTUSW9jydra6BlS256X3Z2SbJUKnEqiI6GSWVLkb95A9y7x03vEz3n9H7S5OnJTTr6B35djyW9To4IIYQQQggpk5UV4O/PTaUYCgTwcnOD2YsX8ARQ/7+p3n8/XQFU6kmj0s85nT0rvdzWtiRRen9ydQUM6Wt8VaB3lRBCCCGEkPcYGBhg+fr1GDp0KO5BskcSj8eDMWM4+v336FmvXsmdpydPuCkhASgoqFwDMjK46fp1WY3juuV5enJlyN//WasWPetUQXqdHPEoKIgK8Hg82NraUjyRSqNYIqpE8URUieJJtg8++AAHDhzAzJkzkZycLJ7v4uKCtWvXoqe8Mt5CIVd2XJQslZ7i44HMzMo1TCAoKUsui4WFZLIkmjw9ubGezM0rt/8y6Hos6XVBBqpWRwghhBBCKksgEOCvv/7Cy5cv4eTkhI4dO1aufHdmZkmiVDppio/nBset6CC4inJwkEyaSk+urnpXKEJvqtX9+OOPWLVqFVJSUtC0aVOsX78eAQEB5b6OqtURVRIKhUhOToaLi4vWVF0huoliiagSxRNRJYonLVJYCDx7Jpk8JSSU/Pu9AWlVzsAAcHEpSZY8PCR/Ojlx68ihjbGkF9Xq9u3bh9mzZ+Onn35C69atsXbtWvTq1QuxsbGwt7dXaBtanPcRHcIYQ0ZGBpydnTXdFKLjKJaIKlE8EVWieNIixsbcmEn160svY4x7Dik+XjJhSkjgpqdPuS53lSEQcNt5+hSIipJebmTEPe9UOmkqNbHatXU6lrQ2OVqzZg0mTJiAMWPGAAB++ukn/Pnnn9i2bRtCQ0M13DpCCCGEEELUjMfjii3UqgW0aiW9vLiY65YnSpxESZRoUsWYTkVFJWNEycA3MYG3oyP4Xl7AuHFAcHDl96lGWpkcFRYW4saNG/jiiy/E8/h8PgIDA3H16lWp9QsKClBQqiJIdnY2ACArK0s8j8fjgc/nQygUSlUb4fP5ELyXZcubz+fzwePxZM4HuFuJisw3MDAAY0zm/PfbKG8+HZN6jqm4uBi5ubnIzMwU9y/W9WPSx/OkC8ckEAikYknXj0lW2+mY1HNMhYWFEvGkD8ekj+dJV46p9O86Q0NDvTgmfTxPCh2TjQ34tWpB0Ly59DG9fQvBf3eYeE+fAomJ4CUlie8U8fLyUGkFBcDTpyh8+hTCLl3Az8nR+HnKyckBoFivMq1Mjl69egWBQAAHBweJ+Q4ODnj48KHU+suWLcPixYul5nt6elZZGwkhhBBCCCFl+PJLbtISubm5sLKyKnMdrUyOlPXFF19g9uzZ4v9nZWXB3d0dz549K/cNIKQ8OTk5cHV1RVJSElU/JJVCsURUieKJqBLFE1EVbYwlxhhyc3NRp06dctfVyuTIzs4OBgYGSE1NlZifmpoKR0dHqfVNTExgYmIiNd/KykprTgrRfZaWlhRPRCUologqUTwRVaJ4IqqibbGk6A0T7aiv9x5jY2O0aNECZ8+eFc8TCoU4e/Ys2rZtq8GWEUIIIYQQQvSVVt45AoDZs2cjJCQELVu2REBAANauXYs3b96Iq9cRQgghhBBCiCppbXIUHByM9PR0LFq0CCkpKWjWrBlOnjwpVaRBFhMTE4SFhcnsakeIsiieiKpQLBFVongiqkTxRFRF12OJx2ikVEIIIYQQQgjRzmeOCCGEEEIIIUTdKDkihBBCCCGEEFByRAghhBBCCCEAKDkihBBCCCGEEACUHBFCCCGEEEIIAB1Ojn788Ud4eHjA1NQUrVu3xrVr18pc/7fffoO3tzdMTU3RpEkTHD9+XE0tJbpAmXjasmULOnbsCBsbG9jY2CAwMLDc+CPVh7LXJpG9e/eCx+Nh0KBBVdtAolOUjaesrCxMmzYNTk5OMDExgZeXF/2+I2LKxtPatWvRsGFDmJmZwdXVFZ999hny8/PV1FqirS5evIj+/fujTp064PF4OHLkSLmviYqKgr+/P0xMTFC/fn1ERERUeTsrSieTo3379mH27NkICwvDzZs30bRpU/Tq1QtpaWky179y5QpGjBiBcePG4datWxg0aBAGDRqE+/fvq7nlRBspG09RUVEYMWIEzp8/j6tXr8LV1RU9e/bE8+fP1dxyom2UjSWRxMREzJkzBx07dlRTS4kuUDaeCgsL0aNHDyQmJuLAgQOIjY3Fli1b4OzsrOaWE22kbDz9+uuvCA0NRVhYGGJiYvDzzz9j3759WLBggZpbTrTNmzdv0LRpU/z4448KrZ+QkIC+ffuia9euuH37NmbNmoXx48fj1KlTVdzSCmI6KCAggE2bNk38f4FAwOrUqcOWLVsmc/3hw4ezvn37Ssxr3bo1mzRpUpW2k+gGZePpfcXFxczCwoLt2LGjqppIdERFYqm4uJi1a9eObd26lYWEhLCBAweqoaVEFygbTxs3bmSenp6ssLBQXU0kOkTZeJo2bRrr1q2bxLzZs2ez9u3bV2k7iW4BwA4fPlzmOvPmzWO+vr4S84KDg1mvXr2qsGUVp3N3jgoLC3Hjxg0EBgaK5/H5fAQGBuLq1asyX3P16lWJ9QGgV69ectcn1UdF4ul9b9++RVFREWxtbauqmUQHVDSWvv76a9jb22PcuHHqaCbRERWJp6NHj6Jt27aYNm0aHBwc0LhxY3z77bcQCATqajbRUhWJp3bt2uHGjRvirnfx8fE4fvw4+vTpo5Y2E/2ha9/DDTXdAGW9evUKAoEADg4OEvMdHBzw8OFDma9JSUmRuX5KSkqVtZPohorE0/vmz5+POnXqSH3wSfVSkVi6dOkSfv75Z9y+fVsNLSS6pCLxFB8fj3PnzuGjjz7C8ePH8fjxY0ydOhVFRUUICwtTR7OJlqpIPI0cORKvXr1Chw4dwBhDcXExJk+eTN3qiNLkfQ/PycnBu3fvYGZmpqGWyaZzd44I0SbLly/H3r17cfjwYZiammq6OUSH5ObmYvTo0diyZQvs7Ow03RyiB4RCIezt7bF582a0aNECwcHB+PLLL/HTTz9pumlEB0VFReHbb7/Fhg0bcPPmTRw6dAh//vknlixZoummEVKldO7OkZ2dHQwMDJCamioxPzU1FY6OjjJf4+joqNT6pPqoSDyJfPfdd1i+fDnOnDkDPz+/qmwm0QHKxtKTJ0+QmJiI/v37i+cJhUIAgKGhIWJjY1GvXr2qbTTRWhW5Njk5OcHIyAgGBgbieY0aNUJKSgoKCwthbGxcpW0m2qsi8bRw4UKMHj0a48ePBwA0adIEb968wcSJE/Hll1+Cz6e/rxPFyPsebmlpqXV3jQAdvHNkbGyMFi1a4OzZs+J5QqEQZ8+eRdu2bWW+pm3bthLrA8Dp06flrk+qj4rEEwCsXLkSS5YswcmTJ9GyZUt1NJVoOWVjydvbG/fu3cPt27fF04ABA8TVfFxdXdXZfKJlKnJtat++PR4/fixOsgEgLi4OTk5OlBhVcxWJp7dv30olQKLEmzFWdY0lekfnvodruiJERezdu5eZmJiwiIgIFh0dzSZOnMisra1ZSkoKY4yx0aNHs9DQUPH6ly9fZoaGhuy7775jMTExLCwsjBkZGbF79+5p6hCIFlE2npYvX86MjY3ZgQMH2MuXL8VTbm6upg6BaAllY+l9VK2OlKZsPD179oxZWFiw6dOns9jYWPbHH38we3t7tnTpUk0dAtEiysZTWFgYs7CwYHv27GHx8fEsMjKS1atXjw0fPlxTh0C0RG5uLrt16xa7desWA8DWrFnDbt26xZ4+fcoYYyw0NJSNHj1avH58fDwzNzdnc+fOZTExMezHH39kBgYG7OTJk5o6hDLpZHLEGGPr169nbm5uzNjYmAUEBLC///5bvKxz584sJCREYv39+/czLy8vZmxszHx9fdmff/6p5hYTbaZMPLm7uzMAUlNYWJj6G060jrLXptIoOSLvUzaerly5wlq3bs1MTEyYp6cn++abb1hxcbGaW020lTLxVFRUxMLDw1m9evWYqakpc3V1ZVOnTmWZmZnqbzjRKufPn5f5PUgUPyEhIaxz585Sr2nWrBkzNjZmnp6ebPv27Wpvt6J4jNG9UUIIIYQQQgjRuWeOCCGEEEIIIaQqUHJECCGEEEIIIaDkiBBCCCGEEEIAUHJECCGEEEIIIQAoOSKEEEIIIYQQAJQcEUIIIYQQQggASo4IIYQQQgghBAAlR4QQQgjRIvfv30d4eDj+/fdfTTeFEFIN0SCwhBBCCNEKOTk5aNGiBdzd3XHixAkYGRlpukmEkGqG7hwRQqTExMTA3NwcM2fO1HRTCCHVyPjx42FmZoZDhw5RYkQI0QhKjgiphMePH8PKygqBgYEoKirSdHNUoqCgACNGjECnTp2wZs0aTTdHJqFQiHbt2oHH4+HEiRNVtp+zZ88iPDwcDx8+rLJ9kPLp4+dMHSZNmgQTExOcP39e001R2P79+3H37l1YWlpquilaJyUlBbVq1YK1tTWeP3+u6eYQorcoOSKkgvLz8zFs2DDUrVtXp//K+fLlS9SuXRt8Ph/h4eG4cuUK2rVrh3379sHAwEDTzZNp7dq1iIuLw5gxYzBx4kRkZ2cr9fouXbqAx+OVu15AQACOHDmCDz74AHl5eRVtrtL7rYzExETweDx88sknVbofde1bWz9n6jiXsij6Hv/yyy/YsmULIiIi0LVrV/U0jmDt2rUwNjZGYmKiyrc9ZcoUNGjQAH5+fpg4caLKt68uPB4PXbp0qdQ2zpw5Ax6Ph+PHj6umUYSUQskRqZbWr18PHo+Hjz/+WObyzMxMODs7w9zcHHFxcTLXmTFjBjIyMnD8+HGd/SsnYwwff/wxWrRogT/++APLly+HsbExNmzYACsrK4l1NfVl8H2PHz/GwoULsWPHDmzevBlubm6YPXt2lezLwsICx48fx5s3b3T6y0hVioqKAo/HA4/HQ926dQEAO3bsAI/HU8kXRH34nKlbTEwMJk2ahOXLl2PEiBFVvj8PDw9xDPB4PJiYmKB27doICAjAtGnTcOnSJZmvEyV6ZX1RlrfOJ598It7f1atXZb62d+/eZcbh7du3MXnyZPj4+MDS0hLGxsZwdHREjx49sHr1aqSnpyty+GKZmZlYsmQJxo4dCw8PD4llpd8fHo8HMzMzODg4oEOHDpgzZw7u3LlT5rZ//fVXXLhwAfv27cOePXtw7do17Ny5U6n2qSIpUYQ6flcEBgaiQ4cOmDdvHgQCQZXui1Q/lByRamn69Ono0qULdu3ahd9//11q+bRp0/DixQssX74cXl5eUsvT09Ph7OyMU6dOoU6dOupocpU4fvw4jIyMsG/fPvTp0wc//PAD1q9fr9W/bGJiYvDTTz+hb9++MDQ0xL59++Dm5qb03SNF1alTBydOnMDJkyexYcOGKtmHNvnxxx9x9+5dhdf38PBAWFgYwsLCxM+oNW3aFGFhYbC2tq5UW/Tlc6Zud+/exZo1azBv3jzxvDdv3iA8PFwld0DlEcXBvHnzEBwcDFNTU2zatAkdO3bEgAEDkJmZWSX7nT9/vlLrC4VCzJkzB82bN8fWrVvh6OiIsWPHYu7cuejfvz9evnyJOXPmoG7dukp1X/vf//6HjIwMzJ07V+ZyKysr8Xs0e/ZsDB48GIWFhVi9ejWaNWuGcePGoaCgQOZrMzIycPjwYbi7u8PZ2RmHDx9GVlaWUsetCg8ePMD3339fqW3ExMQondjJMm/ePDx48AB79+6t9LYIkcAIqaYSEhJYzZo1mb29PUtPTxfP/+233xgA1rVrVyYUCjXYQu3SuXNnpi+XDE0dizr2m5CQwACwkJCQCr1+6NChbPny5RrZty7RVAxV5j22s7Njf//9t8rb5O7uLve9SExMZN27d2cAWOfOnZlAIBAvEx1L586d5W5b3johISEMAKtXrx4DwI4ePSr12l69ejEALCEhQWJ+aGgoA8D8/f3Zo0ePZO73xo0bLDAwUO7y9xUVFTEnJyfWvn17mcsBMHd3d5nL7t27x5o1a8YAsFGjRim0v4oo771WxP3795mpqWmZ66jrs1FYWMjs7OxYhw4dqnxfpHqhO0ek2vLw8MDq1auRlpaGKVOmAABSU1MxZcoUWFhYYPv27VJdA86fP4+xY8eiYcOGqFmzJmrWrImWLVti8+bNcvcTHx+PiRMnom7dujAxMYG9vT26dOmCiIgIhdp58+ZNDB06FG5ubuLuKq1atcI333wjsV5ZXSY8PDykunnExcVh3rx58Pf3R61atWBqagovLy+EhoZK/XWZx+PhwoUL4n+LJkWeLRHtOzs7G1OmTIGTkxNq1KiBTp064ebNmwCAFy9eYNSoUbC3t4eZmRl69uyJR48eydze5cuX0bdvX9ja2sLU1BTe3t4ICwvD27dvy23L+4qKihAeHg4PDw+YmJjAy8tL5t2hiIgI8Hg8qXMmes9TU1MREhICOzs7mJmZoU2bNoiKiqr0fssiEAiwYsUK1K9fH6ampqhfvz6WLVsGoVAoc/2y4kN0Pp8+fYrHjx/D1NRUpfsGuLFrhg8fDnt7e5iYmKBu3bqYNWsWXr9+LbWusp+zip4HWRhj2L59Ozp27Ahra2uYm5ujQYMGmDRpEp49eya1vjLn8s2bNwgLC4O3tzdMTU1ha2uLvn374vLly0q1UZ6nT59i3LhxcHZ2hrGxMVxcXFCrVi3s2LED9+/fR25urvjcij6XWVlZmDRpEhwdHWFqaormzZtjz549KmkPALi7u+PYsWNo1KgRLly4gAMHDqhs2wB3t8rQ0BALFiwoM/5E4uLisGrVKtSuXRsnT55E/fr1Za7n7++P06dPS1035Tl58iRevnyJYcOGKdN8AEDjxo0RGRmJ2rVrY/fu3bh27ZrUOtu3b0fr1q3Fn4fWrVsr/DtE1PUVAC5cuCBxDRdtIzw8HDweT+bnRXT9mzp1Kq5fv17m9UGR3xVldZNMSEjA999/D29vb5iYmMDd3R2LFy+WeW6NjIwwaNAgXLp0CY8fP1bovSBEEYaabgAhmjRx4kQcOnQIBw4cwJ49e7B37168evUKP//8M9zd3aXWX7FiBeLj4xEQEIDBgwcjOzsbp06dwqRJkxAbG4vVq1dLrH/p0iX07dsXubm56NWrFz788ENkZmbi1q1bWLduXbnJxe3bt9GuXTsYGBhg4MCBcHd3R1ZWFqKjo7F582Z8+eWXFT72Q4cO4eeff0bXrl3RpUsXCIVC/P3331ixYgUuXLiAixcvih9+DwsLQ0REBJ4+fYqwsDDxNpo1a6bQvgoLC9GjRw/k5+cjODgYqamp2L9/PwIDA3HlyhX06tULTk5OGDVqFB4/foxjx46hb9++iImJkSgK8dtvv2HEiBEwMTFBcHAw7O3tERkZia+//hqnTp1CVFRUuV/sSxsxYgSuXbuGoKAgGBgYYP/+/Zg2bRqMjIwwYcIEhbaRlZWFDh06wMrKCqNHj0ZaWhr27duHXr164caNG2jcuHGV7HfixInYtm0b6tati2nTpiE/Px9r1qzBlStXFD5+ESMjIxQVFcHDwwPm5ubo1auXSvd96dIl9OrVC4WFhRg6dCg8PDxw9epVrFu3Dn/88Qf+/vtv2NnZiddX9nMGVOw8vE8oFCI4OBgHDhyAs7MzRowYAUtLSyQmJmL//v0ICgqCm5ubxGsUPZf5+fno1q0brl27Bn9/f8yaNQupqanYt28fTp06hT179lToi7VIXFwcOnTogPT0dPTv3x++vr548OABjh07Jr7OeHl5wdfXV/yawsJCBAYGIi8vD6NHj8abN2+wf/9+jBw5Eq9evcKnn35a4faUZmZmhjlz5mDcuHHYt28fhg8frpLtAkCDBg0wYcIEbNy4ETt27MCYMWPKXH/Hjh0QCASYNGkSateuXe72DQ0V+5p09uxZAECbNm0UWv99tWvXxuTJk7FkyRLs27cPAQEB4mUzZszA+vXr4ezsjHHjxgEADh48iDFjxoh/l5RF1PV18eLFcHd3l/i9o+g1HAA2btyIjRs3YuzYsXLXqezvirlz5+LChQvo168fevXqhSNHjiA8PByFhYVSfxAEgLZt22Lr1q04d+6c3ESXEKVp+tYVIZqWnJzMrK2tmYmJCQPA+vXrJ3fdpKQkqXnFxcWsb9++zMDAgD19+lQ8Pz8/nzk7OzM+n89OnDih0LbeN3v2bAaAHTlyRGrZq1evJP6PMrpMuLu7S3XpSE5OZgUFBVLrLl68mAFgu3fvlphf0a4Soi43w4YNY0VFReL5K1asYACYtbU1++yzzyS6ME6ZMoUBYAcPHhTPy87OZlZWVszExITduXNHPF8gELDg4GAGgH399dcKtUl0LK1bt2bZ2dni+Q8fPmSGhoasYcOGEutv376dAWDbt2+XmA+AAWBTp06V6C60detWBoBNmjSpUvuV5/z58wwAa9q0KcvLyxPPT05OZnZ2djK7XZUXH66uruzGjRvs5cuXKt23QCAQd306efKkxLbmzp3LALCxY8dKzFfmcyY6NmXOgzzr169nAFj37t3Z27dvJZa9ffuWvX79Wvx/Zc+l6HP10UcfScT6zZs3mbGxMbO2tmY5OTnltlFet7quXbsyAGzTpk0S8zdt2sQAMEtLS5abmyueL/pcdurUSeI6kJSUxOzs7JiJiQlLTk4utz2lt1WWJ0+eMADM1dVV6lgq063u6tWrLCUlhdWsWZO5uLiwd+/eideR1a1O9D6dPXtWoWNTVKtWrRifz2f5+fkyl6OMbnUiZ8+eZQBYx44dxfMuXLjAALBGjRqxrKws8fyMjAzm5eXFALCLFy8q1May3uuwsDAGgJ0/f15qmej6t2LFCnbjxg1WXFxc5n7K+11R1vmsW7cue/HihXh+eno6s7a2ZhYWFjJ/X925c4cBYB9//HGZbSJEGdStjlR7zs7OmD59OgoKCmBkZFRmFzkXFxfxv/Py8pCamor09HQMGTIEAoFAYjyR33//Hc+fP8eoUaPQu3fvMrdVHjMzM6l5tWrVUvj1soi63rxv+vTpALhSqar03XffSfwVVlRFq7i4GEuXLpXowihaVrqC0++//47s7GyMHTsWfn5+4vl8Ph8rV66EoaGhwt1MRJYtWyZRAa1hw4Zo3749YmNjkZubq9A2atSogRUrVoDPL7mchoSEwNDQEP/++2+V7Ff0MPOiRYtQo0YN8XxnZ+cKD9zL5/Ph7+8PR0dHle778uXLePLkCYKCgqTuSC1atAi2trb49ddfUVhYKJ6vzOdMpCLn4X0bNmyAgYEBNm7cKPWZMzMzg62trdRrFD2XO3bsgJGREZYvXy4R682bN0dISAiysrJw5MgRhdr5vmfPnuH8+fPw8fGRuvM4YcIENGrUCDk5OTILInz77bcS1wEXFxfMnDkTBQUF5T7oLqpS9/TpUwCS3ajerxAnKqjx6tWrihximRwcHDB79mwkJyeXWywgJSVFoj2lRUVFITw8XGJStFtmcnIyrK2tYWJiIjFf9H4AXLfH0u/R+2S9Rzt27ADAdXsrXUHUxsZGfGdG2eteRdnb28Pf379Kh3hYuHAhnJycxP+3s7PDwIEDkZubi9jYWKn1HRwcAHDvPyGqQt3qSLWXlpaGTZs2AeCeH/jjjz/kdm1KT0/HokWLcPjwYaSmpkotf/Hihfjfon7jPXv2rHDbhg8fjrVr12Lw4MEIDg5Gjx490KlTJzg7O1d4myLsv2crIiIicP/+fWRnZ0v06y59LJVlY2Mj1R1J9AuwQYMGMDc3l7msdBtu3boFADKfm3Fzc4Onpyfi4uKQm5sLCwsLhdrVokULqXmiL+ZZWVkKbcfLyws1a9aUmGdoaAgHBwe51aQqu19R0tixY0epZbLmqZKy+y7rvImeJYqMjERsbCyaNGkCQLnPmUhFzkNpeXl5iImJQf369dGgQYNy1xdR5Fzm5OQgPj4ejRo1kvlHka5du2LLli24ffs2Ro8erfC+RW7fvg0A6Ny5s9SXbh6Ph06dOiEmJga3b9+Gq6ureJmhoSHatm0rtT3ReRSdO3lmzZqFrKwsrF27FtnZ2RLdqCpbqVBZc+bMwcaNG7F8+XJMmDABNjY2Sm8jKioKixcvlpqvSPnr169fyzy3ovdk8eLFsLKywqxZs5RqU1mfH9H4VaLzrw/K+zy9T/QHi6pIukn1RckRqfYmT56M9PR0LF++HN999x0+//xz9OrVS+rL/Lt379CpUyfx4KMdOnSAnZ0dDA0NcefOHYSGhkqUYRWVlq5MItO6dWtERUXh22+/xa+//ort27cDAFq1aoUVK1ZUanDHGTNm4IcffoCrqysGDBgAJycn8V89Fy9eLLekbEXIGp9GdBeprGVFRUXieTk5OQBK/lL4PicnJ8TFxSEnJ0fh5KisfStazlze2DuGhoZyt1HZ/WZnZ4PP50s8pyMi7/1RFWX3rch5K72esp8zkYqch/ePC1D+86rIuVT2PVBWedsX3Q18f/t2dnYSd9pERNsprzy+6It+REQEsrOzER4eLnddUUJb+jkf0b7LKqQgWiarnaVZWFhg4cKFmDFjBpYtW4aVK1fKXM/BwQExMTF48eIFvL29JZaJ7hYBwN69e5UaI8rMzAz5+flS80XbW7x4MaytrZV+j3JycsDn82U+H+Xg4AAej1fhuNFGyl4b3717BwBSf2AjpDIoOSLV2q5du3D48GH069cP8+fPh4eHBz788EOMGzcOp0+fllj3yJEjePjwIb766issWbJEYllaWprUtkV/OVVmnAxZOnbsiBMnTuDdu3f4559/cOzYMWzYsAF9+/bF/fv34enpCYD7C3FxcbHMbWRnZ0t0yUhLS8OPP/4IPz8/XL16VeIXS0pKisy/nmqa6JemrDsJQEl3meowUKiVlRWEQiFevXol9aVJ3vujTHyoct/KnjdlP2eqIjr+yn5eZanq2C1v+6L572//1atXEAqFUomHaH1FY0IRou5prVq1Es8TbV9WxcLSbVS0LZMnT8a6deuwfv16ucUk2rVrh6ioKJw/fx7dunVTtPnlql27dqW7dsl6jywtLSEUCpGeng57e3uJ9dPS0sAYU8k1TxQDsq4RVTWGnCpkZGQAgELFNQhRFD1zRKqt58+fY8aMGbC1tRU/ZxQcHIyhQ4fizJkz4q52IqJ+9bKqEcl6BkJUbSgyMlIl7TUzM0OXLl2wevVqLFiwAO/evZNI4GxsbGR+sUtMTJTqjhAfHw/GGAIDA6X+4vbXX3/J3L+on7mmBoht3rw5AMh8BiApKQlPnjyBp6enwneNdFnTpk0ByD5X8s6fMvGhyn2Xdd7evHmD69evw8zMDA0bNgSg/OdMVWrWrAkfHx8kJCTILSNfUZaWlvD09MTjx49lngPRe6NM5bDSRK+7ePEiGGMSyxhjuHjxosztFxcX4+rVq1LbE51H0bmrrHfv3okrDAYHB4vnW1lZwdXVFXFxcXITJFH7Sj9nKI+RkRGWLl2K/Px8LFq0SOY6ISEh4PP52Lx5s0q7YjVp0gT5+fkyy70rIj09Xfw7p/R7VNbnR9m44fP5cq/fom6IsuKzvO6V71Pn7wrRc0iiLrmEqAIlR6TaGjduHLKysvDDDz9IPAC6YcMG1K5dG3PnzhV/UQOAunXrAoDUHaWLFy9i165dUtsfMGAAXFxcsHv3bpw6dUpquSJ/ob569arMrhqiv+yWLlvdqlUrJCYmiseYALhSvbNnz5Z6vahM+ZUrVyS6tCQnJ+OLL76Q2RZR3+6kpKRy210VBg4cCCsrK2zfvh0PHjwQz2eMYf78+SguLlZo3CV9IHou5euvv8abN2/E858/fy63rK8y8aHKfbdv3x716tXDiRMnpIp8LF26FK9fv8aIESPERQGU/Zyp0rRp0yAQCDB16lRxdx2R/Px88V+pKyIkJARFRUX44osvJBKYu3fvIiIiAlZWVhg0aFCFtu3m5oauXbviwYMH2LZtm8Sybdu2ITo6Gt26dZN43khkwYIFEsUwkpOTsW7dOpiYmODDDz+sUHtKe/bsGfr374/o6Gh07twZQ4cOlVgeEhKC4uJizJ07VyqxS05OxqpVq2BgYICPPvpIof0FBwejRYsW2LlzJ+Li4qSWe3l5Yd68eUhLS0NQUJDc8XGU+YMBwD3vBQD//POPUq8DgAcPHqBnz55IS0vD6NGjJe4chYSEAOC65ZXuPpednS2+wy9apzy2trZy726J9rlz506J3wlXr17FL7/8otTxqPN3hej9Fr3/hKgCdasj1dKmTZtw6tQpDB06VKpfee3atbFx40YMHToUY8eOxZkzZ8Dj8dCvXz94enpi3bp1ePjwIZo3b46EhAQcPHgQw4YNk6rsZGJigv3796N3794ICgpC79690bRpU+Tk5OD27dt4+/ZtuX+RW7FiBc6fP49OnTqhbt26MDU1xc2bN3H27Fl4enpi8ODB4nVnz56NyMhI9OnTByNGjIC5uTlOnz4Na2trieQP4J5xGDJkCA4ePIiWLVuie/fuSE1NxR9//IHu3bvjyZMnUm3p1q0bDhw4gCFDhiAoKAimpqZo2rQp+vfvr+zbXyGWlpbYsmULRowYgdatWyM4OBi1a9fGmTNncOPGDQQEBGDu3LlqaYumde3aFWPGjMH27dvRpEkTDB48GAUFBdi3bx/atGmDP/74Q+o1ysSHKvfN5/MRERGBXr16oU+fPhg2bBjc3d1x9epVREVFoV69eli+fLl4fWU/Z6o0ZcoUXLhwAfv370eDBg0wYMAAWFpa4tmzZzh16hR+/vnnCicw8+bNw59//oldu3YhJiYG3bt3F4/FVFxcjC1btlTqrufGjRvRoUMHTJgwAceOHYOPjw+io6Nx9OhR8TXtfU5OTnjz5g38/PzQv39/8ThHr1+/xvfff6/081ei52kEAgGysrJw9+5dXL58GQKBAP369cPOnTulCkYsWLAAZ86cwfbt23H16lX06NEDlpaWePr0KX7//Xfk5eVh9erV8PLyUqgNPB4Py5cvR48ePZCQkCBznW+++QaFhYVYs2YNvL290alTJzRt2hTm5uZIS0vD3bt3ce3aNdSsWVPhuzIDBw7E7Nmzcfr0abnjVWVlZYnfo+LiYrx+/Ro3b97Ev//+C8YYxo4dKzWAcKdOnfDpp59i/fr1aNy4MYYMGQLGGA4ePIjk5GTMmDEDnTp1UqiN3bp1w/79+zFo0CA0b94cBgYGGDBgAPz8/NCmTRu0b98e586dQ9u2bdGpUyfxOejfvz8OHz6s0D5E+1HX74rTp0/DxsZG4feAEIVoqoY4IZoSHx/Patasyezt7Vl6errc9UaMGMEAsB9//FE8LzExkQ0bNozZ29szc3Nz1qpVK7Z//37x2C9hYWFS23n8+DEbN24cc3FxYUZGRsze3p516dKF7dy5s9y2njx5kn388cesYcOGzMLCgtWsWZP5+PiwBQsWyGz7b7/9xpo0acKMjY2Zo6Mj+/TTT1lubq7McY5yc3PZ559/zjw8PJiJiQlr0KABW7JkCSssLJQ5DkVRURGbN28ec3NzY4aGhjLHWpFF1r5FZO2HMfljuTDG2MWLF1lQUBCztrZmxsbGzMvLiy1cuFBizJ3ylDUOh2i8jdJjo5Q1zpEyY0spu9+yFBcXs2XLljFPT09mbGzMPD092bfffsseP34s971TJj5Uve+7d++yoUOHMjs7O2ZkZMTc3d3ZzJkzZcaxsp8zZc9DWYRCIdu6dStr06YNq1GjBjM3N2cNGjRgkydPZs+ePROvV5FzmZeXxxYuXMi8vLzEYxsFBQWxv/76S+H2lfXZSExMZGPGjGFOTk7M0NCQOTk5sTFjxrDExESpdUXvS0ZGBps4cSJzcHBgJiYmrGnTpuzXX39VuD2ibeG/saYAMGNjY2ZnZ8datmzJpkyZUu7x5efns9WrV7OAgABmaWnJDA0NmaOjIxs0aBA7d+6czNeUHudIlp49e4rbI+8zdfPmTTZx4kTm7e3NatasyYyMjJiDgwPr1q0bW7VqFUtNTVXqfQgKCmI2NjYyxzoq/f4AYCYmJsze3p61a9eOzZ49m92+fbvMbW/bto21atWKmZubiz8T27ZtU6p9L1++ZMOHD2d2dnaMz+dLXdNevXrFPv74Y2Zra8vMzMxYmzZt2KlTp+Re/+Qp73eFrM9rWdc/eWMwJSQkMB6Px2bNmqXYG0CIgniMvXcfmxBCCCF6zcPDAwCkxiMiFXf27FkEBgZi9+7dCncDJBX31VdfYeXKlYiJiUG9evU03RyiR+iZI0IIqWbCw8PB4/EUHuCSEFK+7t27o3fv3li6dGmZ5ckrQ94AslWxH0XGd9KUzMxMrF+/HlOmTKHEiKgcJUeEEEIIISqwbt06BAcHV0lJeFIiISEBn332mdyqhIRUBnWrI4SQaubVq1d49eoV3NzcaPDEaoq61ekm0dAQPXv2rNL9PHz4EObm5lKDoRNSHVByRAghhBBCCCGgbnWEEEIIIYQQAoCSI0IIIYQQQggBQMkRIYQQQgghhACg5IgQQgghhBBCAFByRAghhBBCCCEAKDkihBBCCCGEEACUHBFCCCGEEEIIAEqOCCGEEEIIIQQA8H/bBVlpRswEug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4"/>
          <a:stretch>
            <a:fillRect/>
          </a:stretch>
        </p:blipFill>
        <p:spPr>
          <a:xfrm>
            <a:off x="1334128" y="872601"/>
            <a:ext cx="9172846" cy="5472173"/>
          </a:xfrm>
          <a:prstGeom prst="rect">
            <a:avLst/>
          </a:prstGeom>
        </p:spPr>
      </p:pic>
    </p:spTree>
    <p:extLst>
      <p:ext uri="{BB962C8B-B14F-4D97-AF65-F5344CB8AC3E}">
        <p14:creationId xmlns:p14="http://schemas.microsoft.com/office/powerpoint/2010/main" val="22668406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717753" y="3959786"/>
            <a:ext cx="4190571"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Mô hình</a:t>
            </a:r>
          </a:p>
          <a:p>
            <a:r>
              <a:rPr lang="en-US" sz="4800" b="1" dirty="0">
                <a:solidFill>
                  <a:srgbClr val="0092FF"/>
                </a:solidFill>
                <a:latin typeface="Montserrat ExtraBold" panose="00000900000000000000" pitchFamily="2" charset="0"/>
              </a:rPr>
              <a:t>Naive Bayes</a:t>
            </a:r>
          </a:p>
        </p:txBody>
      </p:sp>
    </p:spTree>
    <p:extLst>
      <p:ext uri="{BB962C8B-B14F-4D97-AF65-F5344CB8AC3E}">
        <p14:creationId xmlns:p14="http://schemas.microsoft.com/office/powerpoint/2010/main" val="4624111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149B-A108-8655-45D0-A4104EF7D27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565152-C05E-D44E-8A8F-B1A534DE8F82}"/>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Montserrat ExtraBold" panose="00000900000000000000" pitchFamily="2" charset="0"/>
              </a:rPr>
              <a:t>Mô</a:t>
            </a:r>
            <a:r>
              <a:rPr lang="en-US" sz="2800" dirty="0">
                <a:latin typeface="Montserrat ExtraBold" panose="00000900000000000000" pitchFamily="2" charset="0"/>
              </a:rPr>
              <a:t> </a:t>
            </a:r>
            <a:r>
              <a:rPr lang="en-US" sz="2800" dirty="0" err="1">
                <a:latin typeface="Montserrat ExtraBold" panose="00000900000000000000" pitchFamily="2" charset="0"/>
              </a:rPr>
              <a:t>hình</a:t>
            </a:r>
            <a:r>
              <a:rPr lang="en-US" sz="2800" dirty="0">
                <a:latin typeface="Montserrat ExtraBold" panose="00000900000000000000" pitchFamily="2" charset="0"/>
              </a:rPr>
              <a:t> Gaussian Naive Bayes</a:t>
            </a:r>
          </a:p>
        </p:txBody>
      </p:sp>
      <p:cxnSp>
        <p:nvCxnSpPr>
          <p:cNvPr id="10" name="Straight Connector 9">
            <a:extLst>
              <a:ext uri="{FF2B5EF4-FFF2-40B4-BE49-F238E27FC236}">
                <a16:creationId xmlns:a16="http://schemas.microsoft.com/office/drawing/2014/main" id="{493BD43D-2C1F-07ED-C828-B42FBED33160}"/>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05B2FE0-1612-765C-9C85-D873DBE3F9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E6E5BE2B-41E1-B705-D92A-A724AEFFF7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F643F134-F9F3-4DC4-6584-7324AD79CC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6" name="TextBox 5">
            <a:extLst>
              <a:ext uri="{FF2B5EF4-FFF2-40B4-BE49-F238E27FC236}">
                <a16:creationId xmlns:a16="http://schemas.microsoft.com/office/drawing/2014/main" id="{1A28BE84-1732-F2CA-2CD1-6153C2F509BC}"/>
              </a:ext>
            </a:extLst>
          </p:cNvPr>
          <p:cNvSpPr txBox="1"/>
          <p:nvPr/>
        </p:nvSpPr>
        <p:spPr>
          <a:xfrm>
            <a:off x="254479" y="820461"/>
            <a:ext cx="11683042" cy="1881990"/>
          </a:xfrm>
          <a:prstGeom prst="rect">
            <a:avLst/>
          </a:prstGeom>
          <a:noFill/>
        </p:spPr>
        <p:txBody>
          <a:bodyPr wrap="square" rtlCol="0">
            <a:spAutoFit/>
          </a:bodyPr>
          <a:lstStyle/>
          <a:p>
            <a:pPr algn="just">
              <a:lnSpc>
                <a:spcPct val="150000"/>
              </a:lnSpc>
            </a:pPr>
            <a:r>
              <a:rPr lang="vi-VN" sz="2000" dirty="0">
                <a:latin typeface="Arial" panose="020B0604020202020204" pitchFamily="34" charset="0"/>
                <a:ea typeface="Open Sans Regular" panose="020B0606030504020204" pitchFamily="34" charset="0"/>
                <a:cs typeface="Arial" panose="020B0604020202020204" pitchFamily="34" charset="0"/>
              </a:rPr>
              <a:t>Gaussian Naive Bayes (GNB) là một thuật toán phân loại thuộc họ Naive Bayes, dựa trên định lý Bayes với giả định rằng các đặc trưng đầu vào độc lập có điều kiện với nhau khi đã biết nhãn lớp.  Thuật toán đặc biệt phù hợp với các bài toán mà đặc trưng là dữ liệu số liên tục</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và có thể được mô hình hóa bằng</a:t>
            </a:r>
            <a:r>
              <a:rPr lang="en-US" sz="2000" dirty="0">
                <a:latin typeface="Arial" panose="020B0604020202020204" pitchFamily="34" charset="0"/>
                <a:ea typeface="Open Sans Regular" panose="020B0606030504020204" pitchFamily="34" charset="0"/>
                <a:cs typeface="Arial" panose="020B0604020202020204" pitchFamily="34" charset="0"/>
              </a:rPr>
              <a:t> </a:t>
            </a:r>
            <a:r>
              <a:rPr lang="vi-VN" sz="2000" dirty="0">
                <a:latin typeface="Arial" panose="020B0604020202020204" pitchFamily="34" charset="0"/>
                <a:ea typeface="Open Sans Regular" panose="020B0606030504020204" pitchFamily="34" charset="0"/>
                <a:cs typeface="Arial" panose="020B0604020202020204" pitchFamily="34" charset="0"/>
              </a:rPr>
              <a:t>phân phối chuẩn (Gaussian distribution).</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D7E79A83-2A9A-4373-33F4-C993ED7EE3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8975" y="2812793"/>
            <a:ext cx="7732494" cy="3531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0132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Ý </a:t>
            </a:r>
            <a:r>
              <a:rPr lang="en-US" sz="2800" dirty="0" err="1">
                <a:latin typeface="Montserrat ExtraBold" panose="00000900000000000000" pitchFamily="2" charset="0"/>
              </a:rPr>
              <a:t>tưởng</a:t>
            </a:r>
            <a:r>
              <a:rPr lang="en-US" sz="2800" dirty="0">
                <a:latin typeface="Montserrat ExtraBold" panose="00000900000000000000" pitchFamily="2" charset="0"/>
              </a:rPr>
              <a:t> </a:t>
            </a:r>
            <a:r>
              <a:rPr lang="en-US" sz="2800" dirty="0" err="1">
                <a:latin typeface="Montserrat ExtraBold" panose="00000900000000000000" pitchFamily="2" charset="0"/>
              </a:rPr>
              <a:t>tổng</a:t>
            </a:r>
            <a:r>
              <a:rPr lang="en-US" sz="2800" dirty="0">
                <a:latin typeface="Montserrat ExtraBold" panose="00000900000000000000" pitchFamily="2" charset="0"/>
              </a:rPr>
              <a:t> </a:t>
            </a:r>
            <a:r>
              <a:rPr lang="en-US" sz="2800" dirty="0" err="1">
                <a:latin typeface="Montserrat ExtraBold" panose="00000900000000000000" pitchFamily="2" charset="0"/>
              </a:rPr>
              <a:t>quát</a:t>
            </a:r>
            <a:endParaRPr lang="en-US" sz="2800" dirty="0">
              <a:latin typeface="Montserrat ExtraBold" panose="00000900000000000000" pitchFamily="2" charset="0"/>
            </a:endParaRPr>
          </a:p>
        </p:txBody>
      </p:sp>
      <p:cxnSp>
        <p:nvCxnSpPr>
          <p:cNvPr id="10" name="Straight Connector 9"/>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a:extLst>
              <a:ext uri="{FF2B5EF4-FFF2-40B4-BE49-F238E27FC236}">
                <a16:creationId xmlns:a16="http://schemas.microsoft.com/office/drawing/2014/main" id="{CBA2DA02-449B-9FE2-88AB-C057A3A8C53F}"/>
              </a:ext>
            </a:extLst>
          </p:cNvPr>
          <p:cNvPicPr>
            <a:picLocks noChangeAspect="1"/>
          </p:cNvPicPr>
          <p:nvPr/>
        </p:nvPicPr>
        <p:blipFill>
          <a:blip r:embed="rId4"/>
          <a:stretch>
            <a:fillRect/>
          </a:stretch>
        </p:blipFill>
        <p:spPr>
          <a:xfrm>
            <a:off x="966159" y="995491"/>
            <a:ext cx="8278375" cy="5226008"/>
          </a:xfrm>
          <a:prstGeom prst="rect">
            <a:avLst/>
          </a:prstGeom>
        </p:spPr>
      </p:pic>
    </p:spTree>
    <p:extLst>
      <p:ext uri="{BB962C8B-B14F-4D97-AF65-F5344CB8AC3E}">
        <p14:creationId xmlns:p14="http://schemas.microsoft.com/office/powerpoint/2010/main" val="12610403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3A80B-D4E7-D16F-37BE-9FCA6EACECD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259DC81-8A59-02B8-4420-3DF70ED7CFFE}"/>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Montserrat ExtraBold" panose="00000900000000000000" pitchFamily="2" charset="0"/>
              </a:rPr>
              <a:t>Quyết</a:t>
            </a:r>
            <a:r>
              <a:rPr lang="en-US" sz="2800" dirty="0">
                <a:latin typeface="Montserrat ExtraBold" panose="00000900000000000000" pitchFamily="2" charset="0"/>
              </a:rPr>
              <a:t> </a:t>
            </a:r>
            <a:r>
              <a:rPr lang="en-US" sz="2800" dirty="0" err="1">
                <a:latin typeface="Montserrat ExtraBold" panose="00000900000000000000" pitchFamily="2" charset="0"/>
              </a:rPr>
              <a:t>định</a:t>
            </a:r>
            <a:r>
              <a:rPr lang="en-US" sz="2800" dirty="0">
                <a:latin typeface="Montserrat ExtraBold" panose="00000900000000000000" pitchFamily="2" charset="0"/>
              </a:rPr>
              <a:t> </a:t>
            </a:r>
            <a:r>
              <a:rPr lang="en-US" sz="2800" dirty="0" err="1">
                <a:latin typeface="Montserrat ExtraBold" panose="00000900000000000000" pitchFamily="2" charset="0"/>
              </a:rPr>
              <a:t>phân</a:t>
            </a:r>
            <a:r>
              <a:rPr lang="en-US" sz="2800" dirty="0">
                <a:latin typeface="Montserrat ExtraBold" panose="00000900000000000000" pitchFamily="2" charset="0"/>
              </a:rPr>
              <a:t> </a:t>
            </a:r>
            <a:r>
              <a:rPr lang="en-US" sz="2800" dirty="0" err="1">
                <a:latin typeface="Montserrat ExtraBold" panose="00000900000000000000" pitchFamily="2" charset="0"/>
              </a:rPr>
              <a:t>lớp</a:t>
            </a:r>
            <a:r>
              <a:rPr lang="en-US" sz="2800" dirty="0">
                <a:latin typeface="Montserrat ExtraBold" panose="00000900000000000000" pitchFamily="2" charset="0"/>
              </a:rPr>
              <a:t> </a:t>
            </a:r>
          </a:p>
        </p:txBody>
      </p:sp>
      <p:cxnSp>
        <p:nvCxnSpPr>
          <p:cNvPr id="10" name="Straight Connector 9">
            <a:extLst>
              <a:ext uri="{FF2B5EF4-FFF2-40B4-BE49-F238E27FC236}">
                <a16:creationId xmlns:a16="http://schemas.microsoft.com/office/drawing/2014/main" id="{723B835F-E856-0D21-7779-7F9F1980A1F3}"/>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64AFB41-E1EA-6055-98A4-09891FBFA2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3AF414F7-E34E-69BF-7DED-751434DA73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CD00631F-DE22-7993-54AC-8CCCAD0A5E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14" name="Picture 13">
            <a:extLst>
              <a:ext uri="{FF2B5EF4-FFF2-40B4-BE49-F238E27FC236}">
                <a16:creationId xmlns:a16="http://schemas.microsoft.com/office/drawing/2014/main" id="{249E187B-760B-BCE5-8562-02F28C68E880}"/>
              </a:ext>
            </a:extLst>
          </p:cNvPr>
          <p:cNvPicPr>
            <a:picLocks noChangeAspect="1"/>
          </p:cNvPicPr>
          <p:nvPr/>
        </p:nvPicPr>
        <p:blipFill>
          <a:blip r:embed="rId4"/>
          <a:stretch>
            <a:fillRect/>
          </a:stretch>
        </p:blipFill>
        <p:spPr>
          <a:xfrm>
            <a:off x="3132133" y="3191556"/>
            <a:ext cx="4501515" cy="992213"/>
          </a:xfrm>
          <a:prstGeom prst="rect">
            <a:avLst/>
          </a:prstGeom>
        </p:spPr>
      </p:pic>
      <p:pic>
        <p:nvPicPr>
          <p:cNvPr id="16" name="Picture 15">
            <a:extLst>
              <a:ext uri="{FF2B5EF4-FFF2-40B4-BE49-F238E27FC236}">
                <a16:creationId xmlns:a16="http://schemas.microsoft.com/office/drawing/2014/main" id="{BCBBD59F-6EED-1546-2E87-6A887268D884}"/>
              </a:ext>
            </a:extLst>
          </p:cNvPr>
          <p:cNvPicPr>
            <a:picLocks noChangeAspect="1"/>
          </p:cNvPicPr>
          <p:nvPr/>
        </p:nvPicPr>
        <p:blipFill>
          <a:blip r:embed="rId5"/>
          <a:stretch>
            <a:fillRect/>
          </a:stretch>
        </p:blipFill>
        <p:spPr>
          <a:xfrm>
            <a:off x="3372493" y="4245996"/>
            <a:ext cx="1796575" cy="898287"/>
          </a:xfrm>
          <a:prstGeom prst="rect">
            <a:avLst/>
          </a:prstGeom>
        </p:spPr>
      </p:pic>
      <p:pic>
        <p:nvPicPr>
          <p:cNvPr id="18" name="Picture 17">
            <a:extLst>
              <a:ext uri="{FF2B5EF4-FFF2-40B4-BE49-F238E27FC236}">
                <a16:creationId xmlns:a16="http://schemas.microsoft.com/office/drawing/2014/main" id="{56189B14-5C66-AB3B-BDC7-D15B6F90649D}"/>
              </a:ext>
            </a:extLst>
          </p:cNvPr>
          <p:cNvPicPr>
            <a:picLocks noChangeAspect="1"/>
          </p:cNvPicPr>
          <p:nvPr/>
        </p:nvPicPr>
        <p:blipFill>
          <a:blip r:embed="rId6"/>
          <a:stretch>
            <a:fillRect/>
          </a:stretch>
        </p:blipFill>
        <p:spPr>
          <a:xfrm>
            <a:off x="2901977" y="1649635"/>
            <a:ext cx="5284566" cy="1266849"/>
          </a:xfrm>
          <a:prstGeom prst="rect">
            <a:avLst/>
          </a:prstGeom>
        </p:spPr>
      </p:pic>
      <p:sp>
        <p:nvSpPr>
          <p:cNvPr id="19" name="TextBox 18">
            <a:extLst>
              <a:ext uri="{FF2B5EF4-FFF2-40B4-BE49-F238E27FC236}">
                <a16:creationId xmlns:a16="http://schemas.microsoft.com/office/drawing/2014/main" id="{3B3FF124-27D0-82C0-F4B7-C33605F00E30}"/>
              </a:ext>
            </a:extLst>
          </p:cNvPr>
          <p:cNvSpPr txBox="1"/>
          <p:nvPr/>
        </p:nvSpPr>
        <p:spPr>
          <a:xfrm>
            <a:off x="999858" y="3503776"/>
            <a:ext cx="1342162"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Trong </a:t>
            </a:r>
            <a:r>
              <a:rPr lang="en-US" sz="2000" dirty="0" err="1">
                <a:latin typeface="Arial" panose="020B0604020202020204" pitchFamily="34" charset="0"/>
                <a:cs typeface="Arial" panose="020B0604020202020204" pitchFamily="34" charset="0"/>
              </a:rPr>
              <a:t>đó</a:t>
            </a:r>
            <a:r>
              <a:rPr lang="en-US" sz="2000" dirty="0">
                <a:latin typeface="Arial" panose="020B0604020202020204" pitchFamily="34" charset="0"/>
                <a:cs typeface="Arial" panose="020B0604020202020204" pitchFamily="34" charset="0"/>
              </a:rPr>
              <a:t>: </a:t>
            </a:r>
          </a:p>
        </p:txBody>
      </p:sp>
      <p:sp>
        <p:nvSpPr>
          <p:cNvPr id="21" name="TextBox 20">
            <a:extLst>
              <a:ext uri="{FF2B5EF4-FFF2-40B4-BE49-F238E27FC236}">
                <a16:creationId xmlns:a16="http://schemas.microsoft.com/office/drawing/2014/main" id="{0D2B92C7-ADDF-ADE6-97BA-C018A413F8BC}"/>
              </a:ext>
            </a:extLst>
          </p:cNvPr>
          <p:cNvSpPr txBox="1"/>
          <p:nvPr/>
        </p:nvSpPr>
        <p:spPr>
          <a:xfrm>
            <a:off x="892846" y="1064106"/>
            <a:ext cx="3201517" cy="400110"/>
          </a:xfrm>
          <a:prstGeom prst="rect">
            <a:avLst/>
          </a:prstGeom>
          <a:noFill/>
        </p:spPr>
        <p:txBody>
          <a:bodyPr wrap="none" rtlCol="0">
            <a:spAutoFit/>
          </a:bodyPr>
          <a:lstStyle/>
          <a:p>
            <a:r>
              <a:rPr lang="en-US" sz="2000" dirty="0" err="1">
                <a:latin typeface="Arial" panose="020B0604020202020204" pitchFamily="34" charset="0"/>
                <a:cs typeface="Arial" panose="020B0604020202020204" pitchFamily="34" charset="0"/>
              </a:rPr>
              <a:t>Hàm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lớp</a:t>
            </a:r>
            <a:r>
              <a:rPr lang="en-US"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3495912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82CDB-F6DA-0B92-AC2E-B68BA59DD8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B58980-1396-2EB4-2C18-B4475A54D434}"/>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Montserrat ExtraBold" panose="00000900000000000000" pitchFamily="2" charset="0"/>
              </a:rPr>
              <a:t>Chỉ</a:t>
            </a:r>
            <a:r>
              <a:rPr lang="en-US" sz="2800" dirty="0">
                <a:latin typeface="Montserrat ExtraBold" panose="00000900000000000000" pitchFamily="2" charset="0"/>
              </a:rPr>
              <a:t> </a:t>
            </a:r>
            <a:r>
              <a:rPr lang="en-US" sz="2800" dirty="0" err="1">
                <a:latin typeface="Montserrat ExtraBold" panose="00000900000000000000" pitchFamily="2" charset="0"/>
              </a:rPr>
              <a:t>số</a:t>
            </a:r>
            <a:r>
              <a:rPr lang="en-US" sz="2800" dirty="0">
                <a:latin typeface="Montserrat ExtraBold" panose="00000900000000000000" pitchFamily="2" charset="0"/>
              </a:rPr>
              <a:t> </a:t>
            </a:r>
            <a:r>
              <a:rPr lang="en-US" sz="2800" dirty="0" err="1">
                <a:latin typeface="Montserrat ExtraBold" panose="00000900000000000000" pitchFamily="2" charset="0"/>
              </a:rPr>
              <a:t>đánh</a:t>
            </a:r>
            <a:r>
              <a:rPr lang="en-US" sz="2800" dirty="0">
                <a:latin typeface="Montserrat ExtraBold" panose="00000900000000000000" pitchFamily="2" charset="0"/>
              </a:rPr>
              <a:t> </a:t>
            </a:r>
            <a:r>
              <a:rPr lang="en-US" sz="2800" dirty="0" err="1">
                <a:latin typeface="Montserrat ExtraBold" panose="00000900000000000000" pitchFamily="2" charset="0"/>
              </a:rPr>
              <a:t>giá</a:t>
            </a:r>
            <a:r>
              <a:rPr lang="en-US" sz="2800" dirty="0">
                <a:latin typeface="Montserrat ExtraBold" panose="00000900000000000000" pitchFamily="2" charset="0"/>
              </a:rPr>
              <a:t> </a:t>
            </a:r>
          </a:p>
        </p:txBody>
      </p:sp>
      <p:cxnSp>
        <p:nvCxnSpPr>
          <p:cNvPr id="10" name="Straight Connector 9">
            <a:extLst>
              <a:ext uri="{FF2B5EF4-FFF2-40B4-BE49-F238E27FC236}">
                <a16:creationId xmlns:a16="http://schemas.microsoft.com/office/drawing/2014/main" id="{71D8CC60-F664-5531-35B0-45184688A4D4}"/>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DBE14B7-9BD8-FB11-E3BA-9A2EC1212F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DD5E3417-9A2E-5270-F085-A7DAA781B6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204CE477-F789-52F1-6C6E-34730B376A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3" name="AutoShape 2" descr="data:image/png;base64,iVBORw0KGgoAAAANSUhEUgAABpAAAAEyCAYAAAD9UJOqAAAQAElEQVR4Aez9B5xcx3XgC1fdHDqn6Z4cEWaQIwGCwJAEQYI5DUiRokzLXsiWlnqWV5bX4f08/PY9h/U+eX/Ss/2oXa+0Dmsv6CBbtmRFUpFKFCMyMJjY0zndHKrqq6ZEmpIoiaRICgSrcGvu7XtvhfM/Fc+ZaXCABUaAEWAEGAFGgBFgBBgBRoARYAQYAUaAEbjUCTD5GAFGgBFgBBgBRoARYAQYgVdEgDmQXhEu9jIjwAgwAhcLAVYPRoARYAQYAUaAEWAEGAFGgBFgBBgBRoARuPQJMAkZAUaAEfjZEWAOpJ8de1YyI8AIMAKMACPACDACjMBbjQCTlxFgBBgBRoARYAQYAUaAEWAEGAFGgBF4kxBgDqSfQlEsKSPACDACjAAjwAgwAowAI8AIMAKMACPACFz6BJiEjAAjwAgwAowAI8AIvBUJMAfSW1HrTGZGgBFgBN7aBJj0jAAjwAgwAowAI8AIMAKMACPACDACjAAjcOkTYBIyAozAT0mAOZB+SoAsOSPACDACjAAjwAgwAowAI8AIvBEEWBmMACPACDACjAAjwAgwAowAI8AIMAJvJAHmQHojabOy/o0Au2IEGAFGgBFgBBgBRoARYAQYAUaAEWAEGIFLnwCTkBFgBBgBRoARYATetASYA+lNqzpWcUaAEWAEGAFG4I0nwEpkBBgBRoARYAQYAUaAEWAEGAFGgBFgBBiBS58Ak5AR6BJgDqQuBRYZAUaAEWAEGAFGgBFgBBgBRoARuHQJMMkYAUaAEWAEGAFGgBFgBBgBRoAReMUEmAPpFSNjCRiBnzUBVj4jwAgwAowAI8AIMAKMACPACDACjAAjwAhc+gSYhIwAI8AIMAKMwM+WAHMg/Wz5s9IZAUaAEWAEGAFG4K1CgMnJCDACjAAjwAgwAowAI8AIMAKMACPACDAClz6BS0hC5kC6hJTJRGEEGAFGgBFgBBgBRoARYAQYAUaAEXhtCbDcGAFGgBFgBBgBRoARYAQYgbcqAeZAeqtqnsnNCLw1CTCpGQFGgBFgBBgBRoARYAQYAUaAEWAEGAFG4NInwCRkBBgBRoAReA0IMAfSawCRZcEIMAKMACPACDACjAAj8HoSYHkzAowAI8AIMAKMACPACDACjAAjwAgwAozAG03gjXcgvdESsvIYAUaAEWAEGAFGgBFgBBgBRoARYAQYAUbgjSfASmQEGAFGgBFgBBgBRoAReFMTYA6kN7X6WOUZAUaAEXjjCLCSGAFGgBFgBBgBRoARYAQYAUaAEWAEGAFG4NInwCRkBBgBRuB5AsyB9DwJdmYEGAFGgBFgBBgBRoARYAQuPQJMIkaAEWAEGAFGgBFgBBgBRoARYAQYAUbgVRFgDqRXhe1nlYiVywgwAowAI8AIMAKMACPACDACjAAjwAgwApc+ASYhI8AIMAKMACPACDACP3sCzIH0s9cBqwEjwAgwAozApU6AyccIMAKMACPACDACjAAjwAgwAowAI8AIMAKXPgEmISNwiRFgDqRLTKFMHEaAEWAEGAFGgBFgBBgBRoAReG0IsFwYAUaAEWAEGAFGgBFgBBgBRoAReCsTYA6kt7L231qyM2kZAUaAEWAEGAFGgBFgBBgBRoARYAQYAUbg0ifAJGQEGAFGgBFgBBiB14gAcyC9RiBZNowAI8AIMAKMACPwehBgeTICjAAjwAgwAowAI8AIMAKMACPACDACjMClT4BJeDESYA6ki1ErrE6MACPACDACjAAjwAgwAowAI8AIvJkJsLozAowAI8AIMAKMACPACDACjMCbngBzIL3pVcgEYARefwKsBEaAEWAEGAFGgBFgBBgBRoARYAQYAUaAEbj0CTAJGQFGgBFgBBiBFxNgDqQX02DXjAAjwAgwAowAI8AIXDoEmCSMACPACDACjAAjwAgwAowAI8AIMAKMACNw6RN43SRkDqTXDS3LmBFgBBgBRoARYAQYAUaAEWAEGAFGgBF4pQTY+4wAI8AIMAKMACPACDACjMDFQYA5kC4OPbBaMAKMwKVKgMnFCDACjAAjwAgwAowAI8AIMAKMACPACDAClz4BJiEjwAgwApcgAeZAugSVykRiBBgBRoARYAQYAUaAEfjpCLDUjAAjwAgwAowAI8AIMAKMACPACDACjMBbncBbwYH0Vtcxk58RYAQYAUaAEWAEGAFGgBFgBBgBRoAReCsQYDIyAowAI8AIMAKMACPACLyGBJgD6TWEybJiBBgBRoAReC0JsLwYAUaAEWAEGAFGgBFgBBgBRoARYAQYAUbg0ifAJGQEGIGLlQBzIF2smmH1YgQYAUaAEWAEGAFGgBFgBN6MBFidGQFGgBFgBBgBRoARYAQYAUaAEWAELgkCzIF0Sajx9ROC5cwIMAKMACPACDACjAAjwAgwAowAI8AIMAKXPgEmISPACDACjAAjwAgwAj9IgDmQfpAI+8wIMAKMACPACLz5CTAJGAFGgBFgBBgBRoARYAQYAUaAEWAEGAFG4NInwCRkBF5XAsyB9LriZZkzAowAI8AIMAKMACPACDACjAAj8HIJsPcYAUaAEWAEGAFGgBFgBBgBRoARuHgIMAfSxaMLVpNLjQCThxFgBBgBRoARYAQYAUaAEWAEGAFGgBFgBC59AkxCRoARYAQYAUbgEiXAHEiXqGKZWIwAI8AIMAKMACPw6giwVIwAI8AIMAKMACPACDACjAAjwAgwAowAI3DpE2AS/mQCzIH0kxmxNxgBRoARYAQYAUaAEWAEGAFGgBFgBC5uAqx2jAAjwAgwAowAI8AIMAKMACPwGhNgDqTXGCjLjhFgBF4LAiwPRoARYAQYAUaAEWAEGAFGgBFgBBgBRoARuPQJMAkZAUaAEWAELmYCzIF0MWuH1Y0RYAQYAUaAEWAEGIE3EwFWV0aAEWAEGAFGgBFgBBgBRoARYAQYAUaAEbhkCPxIB9IlIyEThBFgBBgBRoARYAQYAUaAEWAEGAFGgBFgBH4kAfaAEWAEGAFGgBFgBBgBRoAReCkCzIH0UlTYPUaAEWAE3rwEWM0ZAUaAEWAEGAFGgBFgBBgBRoARYAQYAUbg0ifAJGQEGAFG4HUnwBxIrztiVgAjwAgwAowAI8AIMAKMACPwkwiw54wAI8AIMAKMACPACDACjAAjwAgwAozAxUWAOZBeD32wPBkBRoARYAQYAUaAEWAEGAFGgBFgBBgBRuDSJ8AkvKgIzM7OcjMzM/zRo0fFF8fp6Wmh+4xWFtLIjjcJAUIIPHZshn+I6nN2ZkZ6XqddHQNAmC6/p8du26ZReOiho+Ls7IxE+TwXn+O1/ahIP/P0VcaLQmAHI8AIvHICzIH0ypmxFIwAI8AIMAKXKAEmFiPACDACjAAjwAgwAowAI8AIvIkJFIvKeASkJMfpF5r2EKKxUmkPRrKDPU/Ot2KHH3hAooZ2Zgt7E6i4q6c/+qNfVeon0mk75ffxvdERUSQjPsf1Kemh9MzMrypUjLe0U6TrYCPHjvGTBSU6Egt62ktwOGwpY4kEnlC4cKxerw9XBvy+sKEmDh8+LAEwy9o+bTTPH+zMCDACL48AGzheHif2FiPACDACjAAjwAgwAowAI8AIXJwEWK0YAUaAEWAE3uIEPvShB+T/93ffk1YTcFKU1X2cb11j2s1D1XrpGqtjXOOY9rTvmTuVFpw4XzIz3b/MoMggjey4OAnAXYNeekNPfO2mNYUr0knt6iBsH+zUy1c1qqV9lXpppys0RmdmfiH5vb+uuTileB1rRQiAT3/mL7S5Augb6I1vzWT0q0QRHXQs45BZr1/TajYOWvXWVXajesAlxmaeTw7efPOi/jyv6dlp4QHab949++7I0V8/Gu/Gd37gA1HquKOOptex4ixrRoAReNMRYA6kN53KLvUKM/kYAUaAEWAEGAFGgBFgBBgBRoARYAQYAUbg0ifw2knImZEI8aURCfJXCRx/DyDkF33P+0XLcn7BD4N3IhzeF4b4TgzJ5RjKo2GYUKihnDmQXjsVvJY5wa5uJEkd1gVhv6aJ71BE8As49O/3PPte27bvClz31hCFu4HODeq6Lr6Whb9Z8nr44RlOiSoJJKGNsizcqMjSz3MY/HyIgnd4jvsO33Xuc1337b7nvw0hdB3E3FaOs9NUvq6DCK4BaySwCmKSLGWAKhUIEPsFycm1QTtC32EHI8AIMAIvEGAOpBdQsAtGgBFgBBgBRoAReNUEWEJGgBFgBBgBRoARYAQYAUbgZ0RA5pEaVaQeSeRHIQ4nOs36UKvZGOy024P1enPEdvy1iqpvUyOxSSkSHxJi8chxAISfUXVZsT+GwLFjs+LmIRCLCMIGEIR7m+XKVH21NF4rrQ436nWqS29CkOQNoiiNc5xQ8FVVpQ4n7sdkeck96n513fbRmQjwvVHoe1ci397pWO31jtkeadUrw6Xi0lCtujrSapTWtFulDUanussxq1cg5O6BkrTtHb/8ixvjUs/2SE9htx7ruVwRk5sQJ49hIT5ghXpy5tgxnjphmYP1kms5r6FALKu3FIG31AD7ltIsE5YRYAQYAUaAEWAEGAFGgBFgBBiBn0CAPWYEGAFG4FIgIBHI8ZCIAiASR5CMQl8GOFR4DqjUEK5DyMVESUnygpQUREUXdEXQ5wGziV2Eyo+7uoitIA4wGEZesMasdwpGo52y2kbEd4MIdZ5EOJGP8oKoQ0lUCNL445OTby1nx4MPQqPtRADEvQSFm1DgjSPf6cGhHw8DLxL4ng4JinMgSBNkFXBoTvh+Z2vgO5f7jrPfsr0rajVrf6Ph7qvV/N2Wy02FnD4IgJwBUNKSn/scN0vLuAibB6sSI8AI/AwIsMnyZwCdFckIvE4EWLaMACPACDACjAAjwAgwAowAI8AIMAKMwFuOAMK24wRuxXPsc9RxdDIRiy725HKrfb2FSm9fbzmRTBY5QZjneHEFE9jAHvYkqYDexKAu2arbdUtEhIv5dqg5HV9qNUxgt107cEhTlfWqqkWWOY4/R3W5LMtinZOj/tSJE+SSBfISgj1MHWZiEKg4cOM4DJM48KkjLUSqIpmpeKzZm8s2Bvp7zN580ovFYCgItorC1oDrtA9YlnmLbXpHKpX2TUsL9SvPn69uq9aCNSjQ8iHSBSJGcG9vL5qdnSUvUTS7xQgwAm9BAsyB9BZUOhOZEWAEGAFGgBFgBC4mAqwujAAjwAgwAowAI8AIMAI/DYHA9ywE/AUOoK9AyP+jrKp/F4lH/jmZTH0ulUx/MRFPfFlVlK8IgvAkB7l5ztbs3t5V5kD6aaC/Tmlt2YUcz8N6s2O2WmbZtXER8upCNJo8lYgmHouq2udFQfwUL/DfhlBcTIG6Nzv7O285Z4fPhdAPEXZ9z/U81ESILCuy/EwikXwsl89/YWBg4PGJNcOLWzZNgInRXi2b1FI4cPpajcZoaXl1YmWxPFYqNUcsEw/7AUxiIAGEuKaLOON7zqO3HNPXqUmzbBmBHyDwdy57BAAAEABJREFU5vvIHEhvPp2xGjMCjAAjwAgwAi9JgBAAj83M8EePHhUfeOCwfP/99yt7ZmbUaXreTu/N0GcvmfDiv9n9j3S5D1GZ/vD99+kP3Htv7IF7H4i98wMfiB6dndVmZ49JMzPHeADIW+urKy5+vbEa/hgCdGPOdfvp0aM3ae98583Rd7/73ZH77nu//sADH5LpM+FSbs/dseqR2VnhoaNHtT+mcn/gne+Mvp/KPjv7UeWhh74tUvnfcnuUrszdsft975tR6Vm76aaj2p49M2p37Aazs285Hj+m61xcj35Ebbr6nJ2ZkT5I9fn+++7Tu+27OyfT+7RvAzZX/Qhu7DYj8NMQeNfsR+xf/u3/byUXHfl6rjf/iXzf4P8uDAz+XX6g71/6Bwc+01foeSSdiH0lqWtPpGLChVzu3Tbtk/inKZOlfX0IkFBBnCC5xXKnVKmb55yAOy0riWdz+f7H+wv9nx/o7f9kXyb7yR459bi1sm3pwx/+sA8AJOAtFOi+jnBEC90A2bYbVr0AL2IsnFTk6GO9vX2f2bBpyz+tn5r6/OTU+qc2b5psrRkfwr09KVmCRHNMI9qo1OP1SiPWadpxFHAJjCAPOM4iPFfCkGtRlG8pnlRedjACjMCPIcD9mGfsESPACDACbxkCTFBG4FIg8OCD98tP5M2UjhaGfItfZyB3c0KKb4Z+bEr24oOr4ljszSjn7Ow0rxSPR40gM2E3yTQUxetDhdwoOtq1vBfb2eLbY5lttdjs7IPim1E+Vue3HoGuo1ddXNQTODGuhOpu4IuHTNO9hhO9y21QnSz6YnZm9uFL1pHyR786oyy2Sz2qzu9EAFypg8hBLqbtNdz2xiXv3CBIjUfAWyjMzs7SPVlFS6X8Pgj1zYHjXMbz1h4tDrboq83+6ePHNWoook7ytxCUN7uo80/GQNIdrTfEnTwU9/u8cYXMRTYs1+v5Bx54QHqzi8fqzwhczAROABCigmWYDl7mJHJaj0lPq6p4XBLVczovrcgSqKvuGmt29q3lcLiYdfaDdetrAFtXxBUscs+Gkv4Yp6U+zymJT4mC+i8cz3/FceDJKrFr6TSwH354pusEJD+Yx0/6/GZ//uCDDwKkKqYvKEUkKCd4JfptRUt9ORJJflaSYl/ghOArvAL+XhGE/6XJ6t/0pDLfGukdKA0Veiv9uWw5m4iXM/FUNRmJFTVVPicI/DnEo/nQc6oToGG/2fmw+jMCjMBrS4BuVl7bDFlujAAjwAgwAowAI/DGEiCEwO5f5wzJbn5df3JDbyZyGd0sXGGY3u6mjfZ0ENztYmmyHVF6pmdnBUDfB2+S8NDRo+JINRnPadyYGrq7sWdfZ7eN69qGfa3phoc8KE97Smw7BxO9rfiQ9iYRi1XztSPwpsqp6yjotun2RDyjJNEaleP2giC42mwb15imdU3H9g6YIdnihsJAf6wTAeDApbZWf+6vCTOBm4eosRn47kHftq8zDOOaluVe3vLwThOJWx0uNvAH//iV6Cwhl5r8P9ReP/mhB+Rdk1J680TvZF8qvpsP0bTV9qbNlnOFbZHdbiCucXU9U9V18YcSsxsXHYFuH59990xEkfwBDuMdRsu4ol5rXtlsmPsNw97csMlQyQSx5/6y7KKrPasQI3BpECgUCryqTkgTl18upoc3qHJ6JMrJ6SjPKyp2ApF0ODw7e2VIpSU0suMiJHDl7Gx47Tt+zQ6JsgJl+SSRot8RtPQTQMmf0Ht7l/7sz/6o8fAf/ZFDx1yqR/iW1OPv/M7vEKypFg+VZSLI35aUyNdVPfmtVCJzajS3fuGBX/9/i4ncufOaInxHkrXPaLL+2Vg09oVEPPmVZDz9WCqRfiwei305quuPqIryWVHkH4MEnxYx1/4u14uwYbAqMQKMwM+MwEW0KfuZMWAFMwKMACPACDACb2oCDz54JR+mI3pEk8eiqjitqeKNoiDcYDvhAdsH02bIHXB5flsIxYGGqcvTDz74pvlNdiEsKbwi9Cg82MYT/yDxvZttyzpEDXEHHQ8dDIFwLeaV/SEvjRpIigMWGIGLmMAB8CjnyUsqgOGIJJI9AgevB0F4o91xDnVM91DH9acdhHd6mIyGgpBsx6riRSzOK64aNUjASXBc4CEeAzg8AFBwS+i7N1q2fXXb8faZAbncDsEBBMAU9sye1Ic/dUnJ/1LA3HghQhA/FNX0aVVSboQY3ug5/qFOx7vS9sk+PwQbw0Dpc4Io+6uVlwJ40d07LsSlIMNBblIAZNoyOwebjfbVnba9r+MEW72AjNs8n+kLE8pFV/U3vEKsQEbg9SLQ1IgjpiEMBziO2wAx2M1juAP5ZNL2SJ/nuewXjl4v9K9dvrC7ZpCB1+ZltGSIwZlOqC4cr++qz87+TvDaFfPmzQlCSHbsuMnOjqWXCvner6Z6C1/tG88/kVf7q9P33+91JTty5GH0zAqonD5f/PpCvfUPNQP/T6xm/3eyMPJ3wxMbPj40MPrX+UL+LwYK6T8v5LL/Gh+KP/MXf/h+9tdHXXgsMgKMwPcRuKgdSN2vajh06JB+8+XX9N6059C6q3dft+mK3Ycnt19+3+Dk9EwEAAABC4wAI/CmITA9PS0cvWm79vOHt2ZvPLh98Jr9uyfovfHtB28czG89nB2enmabafAmDKzKP1MCH/zgjDqe6suPpKQdEYEc1AC8wWnbOyvlzrpy1RszPXF9COPrPaL2IixFxI5FsscnL/rf1Dv2vhn1zz5wd29qMLVdkcVrQBhcZzSbm5eWltNz84uJCyvFxEK1njUBNwr0yHggS+kAqvLPVBk/XDh8z223pY/eeuvY26+9cdutV92666orZnZtu+Jtmzbtv29k3w2/nJycmWVG4R/m9obeOXbsg+q/HJvNf+z//XdT/8/sLXvf+549V993z5XX3nzzzdddc+Ndhw7c/M4r99/y7r03Hf2Ndb/0/j/MzRw79qocsN3/v+tcmB2IaNqeqIhuVEB4W3N1dcvKwtLg/IXlbLFSyzQtJ4s4PgsEKeUHfEQMDKH7F4Y/CUj3nY/O/kri937l/uH3/tyt22+/+fDl09ddN733+tv377vj6O5Dv/CbG65552zv9Ltn6fqZvOHr5+5X9v3j//1/9Gz25zdJAb7W9d1D1UbtslML84WTSyupc7V6puQGY5YoTyrZ/Ho+mRkMeCXZGMm9KtY/idfF8Lz7l0ef/B+/kU0oZIeE/Rut1ca1zcXm9pVT5d7ScmuoXneH6HDdZzog6SOieCJ/Ue3bjs3OSH/1e/ckP/Rrt4793ntv2P6ee/bvP3L7gSsP3X5o/8G77946ff8vDU+/+92R6e5fvYJLPxAA4H/7zZt7CghvTSf46wD0Dtbr9S2lRmd0uWEVim3U03D4tMdFYgHReFnRaBLwisPRo0fF3/zFm3ve9/Zrx3/5jqs33XFwx9arr9i9aff+ayb2HjqUo0ZDBczOXlRt5RULyRKAY7Oz0p/8x3uSH/yPM+Oz77l22/vuP3DFkZv37z90aP/e6euv37L/llsGpt89E+naSxiu5wjAY3Ru/tzf/276i8f+fxvHU/JMJiL8H9iwf7W0WP+5E88u3XBmoXNooYb2lG15bSXQU9Q5wf4/sufQXVw/vv3QUfGRj/7e8D//8W/tWS/XbhNFfINtBteWG+7BYti6Qu99ZtvP/+r/3f/u2T+m65mLq+4/q9qMjx8OQBR0PIEzrE4Y8r1G5vSjD21/8lN/fPvf/X+/dVcEr95RrleuXal7m1Y9IeMIETdQogs8Dx7HAv+kJJCTPPSWXaB0eldXEaCOKfCTAnvOCDACbzkCF/PiEibdOTkThhkJ4DFI0HYc4MsQEraHHFjPccme3puOqmyB/JZrs0zgNzGB6T5Hiyl8jyzyayQfbwmcYJfpoB2WiTZLidwaqI3Rfj2rsX79JlYyq/obRoBufLnuV2EN4VguzguTusgfCF13X6vR2lytNEaqlVZvx/T73YDrI1AucLychpyoK6HKV6dOwDesoq+yoDAu6KIsDkAu3EEC/4DZbu1sNhrDpVJZL1cbaq1taB3Xi4TU2E4kOQcERYeyIL7K4l7zZF2D+QffN6NEpKCfc91Nge1ebrbN/UbHvILqYZ+gRbeGcmQkJxgxZgB6zfF/X4aEEPh8fPGD7r3jx49JhSSXVRPRKT3O71MjwrWKAA/bjn24Uqsdbhv2dZ6Du3/ldgggZacF1JH8iZLeNVS9OK+fdN0tS5BITBLFYVUT9wSus89sNXfVytWBcqmarNUaEVpWxPID3SNcJABAxX4otQhd9f6EzB966CHx4Y/8QUyMKBOSIu8WOOHKMHCv6nQ6023DmHZ8dxpwyn4tGtnYE+/tnfngw8rMzHedYD8h69fkMSEAZqemRIxIP+HxtjBEhx3bvrzeqK2fLxYTi+WyVup0YgYC+VCU+4GqDUBVzYliNJqNqBfzXuVV8zl2bFZKjIxkevpSG3kQ7PNt68raam1Ldbk6UlyopRtVI21ZQZoQMQ2BFA2JKAUW5F51ga9xwkeoU0ju603msz0TPdnkLk0Vr/aQf8hyrKsNw5p2Q7IHEXFK5Qs9QtHRAXnjnZavscg/Nrsuj7+avTcqJGJreJG/wjTNg+12+7JyrTFG56pczXSTbRenXCAmoRSNEk4XPFeFPzbTl3j4iYdmte0FUMgmIhslAi+zzfYV7ZZ5udEx9hAQ7gScNMZZOD1z/LjwEsnZrTcBAQIAna9mOXUkyGaGc+s0jdsbovDKZqtJx/TalYbVOmD69j5fQFtwqI8sx2Lx7dSpCN7igc7J3ETWima0yFhCj19FAv8Go9O6pbxSvKlcLF1ZWq3tqjaMbW3D20D74bgfctkKmFToWvoV98O3OOrXVfxv0/UMiK6J8yDcwiH/IAn9W9qt9vXlSvVgo92+smlZV1m+Nx3y3EY3hH33z370DV3PvK7C/xSZQwgxdSL5aaOGc2mk66q0iWZ3tR+4t1mOeZthdG6utVvXVDrtvRU72GTI8REn2quTnkkzsSFd/tifzJb+9Pd/o/mx2Z93aZ/ANC07GAFGgBH4IQIXzUbkB2s2Oz3Nc146ktLwiAT8HTD0riYIHQoJORhiYS8icG0cRbOTxwFbIAPwg/jYZ0bgYiQAAeRyPCQbFICuEgG+gQToFs8ObvIRvA6q2pWA0zapsN07/o36RWMEvhhBsjoxAl0ChUKRRykzElXglMbxhyQe3tZstLc9+fRJ/uTpC3ChWBMdFyUCHysIE14WFUVXoqqtq8pyPcV387hYIwEACqEQVXh+jMdkh+9aO5aXFnLF5WW5Wm0A2/UAhjwQFR1AUeWAIHPUkcS5iIPgIgnNZFIOQilNDacbCfIPeIZ5yGy2rjVaneshkW6XxOj1kFf2IhDtBf39EgDkoqn7RYLwNalG13HzMADc448/3l0vct3Pz2f86KMP8svLbgIo4qSi8TfouvA2TYP3yRK8wzZaNwikZH8AABAASURBVC4vF6+t1TqHLQ/fAqF2JMTqda6Hd/oW6Xn0RFV9Pp+XcYYPP/wwpytqSlXliXhE2dNuVscunD+jLczNc5VyDTheAHwCSUA47AY4dH0SAOpZEKJJBCGkXeJHl5LkrSiAaISX+GtlRXgbL8Ajrm8frjUqV1Zr1atd17uZg9y9kqIfVlV9W8RGmeRU8w37a72HHz7GWTlXlUU8TqXYQ0J0bbPdnFpZLSaLlRJfaTa4tm3zSOBl6gxWfAAUwIuqokdk5EgX7V6FyvKqjm4bjAApLqrSZESL3IEDdLhRqW8/feJc/OSJOXF5uao02gaPMOaisbgYicVERRIFCYQ8Nez8zHl061AtOHpc0kYjmnpNIqYeiWjyvb7v3NI2WtfVG82DphtcizDcT0R+StYT6e3vepdAYUEaL7mDdk5YVYq6EI2MKIp0BS9yNxcrtcsXllfH5xZK0VK9IxtOKAQcr/GyElEj0Qid3RQk4y6TV8Sj0270yTx3mcrxd4gcvsu13Vs7rfaNnY55PULgBoQE6mwQx5ogqb6ijNnLFw2Bh48d4x5+OCZHo9pkLKreqMrCPYA4R+q1EjWil66pNRqHHM++CRFyI8/BK1WFH5YQioK3doDZrCVKJOiLa5HLk7HYO33L3Lt47uzAN7/2tfgzTz2dXF5ayZbL1XTTMPOEE0aALOfNwIkDcIB7a6O7uKSX+lDEw8GIyKFrOIJuD1z3xmqlfHBh8cKB5eLKvnqrdZ1lu3cGAbkeQ7BdC+ysMrTwlv8Gk+66AtB1phzNRBReGJN5/giE5F7Ps29sNRvXlavlq4uV6hWVZvtwx3FmAsD/PBD4m10INweNBO0HF1c7YLVhBBiBi5PARTdhEgIgdR4JXhYlY0JrUPI6U6FZ29CplScbtcrGVtPc7ARwO+a1baKeWC+qQnbPzPvYIvnibF+sVozAcwRmZ6eFh2ZvUtMJdTClSFtkgvcFlr27UatvrtVbW1ode5cbwgMuETbaUCi0I0h8LiH7wQhc8gRemYAf+tAD8l/93i8n/+W33jOUPx9uznh42qxbh+rVzvTpMysDz55e1p46U4bnVpqg0jCh5zq8Z7W5oNMSoeflZITWJLjItiEgjd109L9kpmdnqQHr4nNcUCsj4QUREojFMPCVMAwUEgYCRiEHCAKCwANBlADkafU5DhHAhRiKNHIYXCShlQh5qAiyLMpJSRJzPAd7ICB5EOJeZAdDwMPjKq+tVQSp3/Li8ZmZhy+6NdlFgvIVVaO7iX7kkVnhH//xH6N/969fKvzDV745oT/2+KQtR9Y/+vTTha9+9auRRx55ROi+B8ABoOuioIiiTvWUkUWtoApar0ikgiyqeerwyXMcX8AY9oaY64e82CfS3Tmna2pUoY3wFdTsxIkTEPIej5Ev+J4jOrbBW0aHo+2b7vEh4DkJCIKCOVFFgJcDwosBwDAwbJeAHxG6hvxPfvJDshTT+/hIZIcL+A1WgMcM18l7vpvFgZ3GvpH2OrWsVVspOM3SetuobTWJsbUtKf3vO3ZM7ebxI7J/zW7P0JwEV4FQoELhQKX1izm+rwS0TwMcQg4SIHCQnmmk74iSqmvRSCqRTmT6JlKxs4TI39UXzehNejxCx9q///v3pD/zt7828fl/+M3LFME/3KyUblg4t7T37OnFkWefOa8/fXqOnyuWuI7nCF7oQQ85nO01FS8wCoCE66BCNn5q3hq79n0fTM3Mzko/KxQHAOCApWYJUtYAIl1m2WiqbbhDng/yfsjnMBCzHKf2CIKakaAalURFzm3YQMdu8rOq8mtdLnyE6rP7lZF//Xv3D//v//z2rRa0r2z61s3zxeq+43Mra4+fq6TOLLeU1ZbDtx0Xupj2fT6QQuDmbLO+BgXm1lAhG2Z+/b8O3vwHfxCdOfbj/yLwGH3+iYdmNUnRRgRZ2RIAbtL08FjT9PpdxPdiKOUxgT0EkBTiAt0C6KL+JZHXWiGvYX5wZmaGf+CBD8l0bBRew3xfVlaEEJgEc5FURBgJgLghIMJmD/NjARL7EJCyHgJZOnZmbdvq8VxzwnfaWwFytic0ac07fuN30z/LceFlCfgjXqKsORqlD80+EPv93//1OL3WaHzZ/J/69J9rUQf2SUjb7Zhod7tpj3RaZrLT7Iim0cKO08a+38au2wh8ry16rpELiTOJeH7TeX5p4J1/8GdvdQfcj9DMG3O72+4feeSjyvFvfjTPR8AGOS7uNXxnbd2ye6umm6hbfrRlupFOu500W62c12kPINPaBDrGTuQ6OzUChx6YnY3RNvPWXUefOCF29kzFlWhkHeGUyxwXb+rOy+V6J9G03LjpegnXc9KdTjPVrK9mjfryiNspbYOkdWUAW7vf/Xt/PP7+P/xznTJ82f3ujWkdl2opTC5G4M1J4KIbZB98cJrXByQ5LsF8RARrVBJuBq613mo1hjut5pBhWuNeQDZgTt7GSZFNAs/1u5Fs9/tP4ZtTBazWjMClT2AylhU1MR5PafpITBU3QYy2Ba4z2W61h9vtzojl+OuCkOwMMVkb8kKPase6DiTWpy/9psEkfIUE8qGgi1DpDyHejIPgQOi5N3Ya5jXlUnP708cXIk+cWAEnF1pgqWaDpumAwDGB324At1mVkNEpINvaFATeNAjQVl9UBtWzKW370ed+M/wV1uT1f90NXIQRckM/MEgYdiRR8FVJwIosAEVRgCRJgIN0GYNhSH1KPgBcIAsKAhdRUIAMJEXp/lEFFhURyQL1KfGcyIVIFRBJyIJUUKhtleekRDLZpMJcRJV/E1bl2LEZ/tGPPShbVi7qCKjgYXeN56IdXggvC0K8C4ZgRIpLCXl8XHz44e867CSJx7wkBYKguNR55Cq8FiicBpLRBN+TywlRPSJIkswDXuIEUeGoAZeTxCSl04309DKPycnjRBZIgLBvu57dDELfhjxEiqoQVVWBLClAFFXCUwcSFJSQNpMQChJSLYe8VBFdg8vk5KQAQCQGCBkmhN/mhHCAOpAiHdcDIUJI5AFSuRByXov3GsuS1672uU5rKiThbk6Ba7kgnTNH96gz1Dj9UmW8Vvcephk5sOsqgm5AkGEHQZvQWsmShDVZBBEadUnsOpFo5ClvRdc1LRuN6n2pRDQPTRA/B4BEZeZphDS7i+N4mbWgBhmO+iqVJC+NcDzZDXFwg2cbd7QajcMXzi1MnTx+PvXkU+fAybllsNJoQgf7XAA8GCCLN4yqajvNQd+2thGCL+d4fgsm4WDoZaIzb+DXEL5Y1CoAdAjjso5LRl2PrOuYQa7Z8SQ35OkTFfNSJBRFjUY1FGUl4HiB9DQacPbBB+GL83mzXh87doxrDYFILi0PJGLRbQSDqzzHudEwzVsWV2s7jp9dyR2/UJPmigaoWQhYQQB87MEQW4LntbOGUV/veeZegoPLPBBs5B29EL1gdA3m3EsxIYRAtXlC9jmQ4gRxGHPCWhdxPbbPRQ0HyphTeU7WCOF4H0MYYEJr1Om8VFbs3o8nAGfvv1/u0/uixFpOV+e8+MzM+94QJ/vz1Xr00Y/JXDqZocrc4BGwzg7AoOlxEQ9LHBQiCAgyxhwHEQ5EEnpZ4tlrYOBvp3c2QRUOK7qeONr9CrDnM3xznGEBFJUsqKSABPol3+8XBCNLq651nXn0/BOPtunEYIiH/IDsdmw0Va10tE7LIa5D51mI2qKAWrIYtGXetThgkcBrxTHxNxIS7iUIb0Q+n6PjtEDn0ktijPqJwC6yF86d+5RUiCspmecnocjvIQLYbwR+b922hYrt+0ZIbBdB23e9ANk2wKYpY9MYxJa5KXCcvQD56wQQywEwJL1FdQgbeUOxsZGn48NmRPg9ph3219uOVqx3UNsNfBcRD2ESBp6JXLMG3faqHlj1UeR39gLi7wMc2IJ0vgeMj9O5iHTnItYXLrJ+wqrDCFwMBLqDw8VQjxfqUChGJTnBJ1OytCalS9vjirhNE+EoDr2E77sinTaUEJEcJyjrBVHbCjl9jcyrmZmZma4sbKB7gSS7eLkE2HuvLwEyO8tlcVLP6Gp/TyazJhmLjYe+q9m2xVuuK9BriYS+ikKkhwgmCeLTGPLUqH2UGsZe37qx3BmBNxMB0jUiYS5HHSjbeRDe6HvOHY1y/eC5kxcGn3ziDDh9pgSWV03QcQAIqBuFoBAQxwB+pw7selmorS5nKsXShla5fshz/asggjs13e8dBaPaxcghxI5puf4FyPHflmXlm9lMbjGTyxrpdBLEIhpQRQGIgAAYBD4JQweGQRg4mFwssiTGBBcFWh0K2mlZjz2ezeW+3tffd3xosG+xkEksp3R5VSJBTeYw1COy2tQtZrz4KZWnBdtiKB4dVDlxq0DwHi8A+9uOf03T9g82rPCARYSpQIrnvVpNzmaz8Itf/CLmOLXjm/ic64WPcED5jKomv5QvDJ2dXDu1vGvrltLWDesX142PnOnv7XkqnUg8EdXVk7oGq31axH0F1SUzM8ewF4YNQNAckITv5Ht759auW9caHR0Je3pyQFMVAAEkOMS0VRMeE8IHAHOg0PuSxTz++EcENRvGVFUbo16pYcN04i3b94wAlqAUOZ/K5U+Nj4+e3jg5UVw7XGjnk2LAhS3o2fUkAXhK0dT9vMpflYxII3vFbPQlC3mNbs4cOYJbbeBS0c4pSvRbmWz+0aHB4fNjo6N2fy6FexIRkImqIK6pQJNljoecJEtSTlWUNemouJ2LgLVJADKL7XZsHgC5Oxa+RlV7Q7I5NBmTEwFfKCRjV8UVeCdAzt1Li+cue+apJ/q+9e3vCM+eOAsWl6vAow2WAAQC4AFEXICwLfiepbebjYFaubwlDNBVnMBfBThpt4fIiLit9jP5jWsLAK5jmJFqpS0VqXWq3rCrjk2WeU4/m4xnn+ovDHwjEY18Uea4xzAKTvu+VxsGwKcGWvyGAH+dC1HVE3Kcl9ZmctrBfDbxc8j3bi0tr1xx4sTpsVOnLsTPXSiBescHTgBBgCHABAPft0C9sgIq5WW9UlrqLZfKW5ud9v4A8tdAzO/GITc2T42fL9G24ceoUxzFhLSQUidsFPQYXigaPukQKVpL9gxVM70jc+me/ifjieSjuqo+rnBkHsQAXQm8ziAuoey73LuOQRtpI5CgXcAjV/gI74rx8rrFRVt/I0QlZJaLSrBP5PiNgiTt7FherlQ37LoRlHygXohm+k71Do4cHx4evTAyOGD3xCNcFJIY79sDPMJbgCBdqUF1sxhEemeO/fi/aHsj5Hk5ZRAAun/Nx3OhMCRj7goZSdfyULjKctF2AMzBqb1TUaoXHvzoAOm4woU2itVbXl+j7qSqVVNYLbaaloUXBFF9lq4Zvz3Q3/PU2jX957duHu+MDWd8ggyfGs3XhEFwECFwEwrB9grIZh5474elH10Ue/J6EQgCJy/LcCcngXsQQTe5KNzgEMK5gK+EknpBiadPZvJ9z4wMDT2DB/n2AAAQAElEQVRbSKfmIhyoB+2Gb1bKMafZnEBhsBFAYX1LbCUf+PBbT4ePPPII77WlJPD5ySDgJn0XDrZNhBpmaLRd0EacsihHkyeymZ7Hx4aH5tYO97fSCgx4p8F1Kgsawt5aXpH3yKq43/eF8dT4pyK033Vtq6+Xylm+jAAj8CYlcNENDLzuK0LI9Qg8Xi8CtCnwvcEw8JMhCqWArq595POu66qeFxQc1x/3AzDmUYfSXHJKnvmuE+lNqgpWbUbg0iNAqMH74Sy1B6WThWQiuUFR1LWiKPdxnCBxPDWBSIDjecQT7PGhYwkkDOI8gVlR1tLN5sVp1L70tMQkerMQgJAaoyRBRhCmqX9oJCRg3A1Qf7vjaPWaiVyXUGM4TzRFAN+NPJAlDsDQBb7R4sxmU3GMTjbw3VES+uM8wANAFOJA1i7KDXPdFWzkoyUI+CdESf56MpE4mU6n6j3ZNIhpClA4QHgUIOD7LnE8FwcoFCE1UYM3JlCjhfCH971f/8A7PxB9//v/sPu1DxK9xz1f+upqL+p6ygNOPC8pyjciseTn46nUF7KZ1FcK6cSTmahyPiqSVVUkJh0QkcIjjhraX0j/fD7dM13f8Pfff79y9OisdhONMzOzUvde9xmLAHS5f/uhh8SBqDKS4OU9SoCv9drGFeVKfUuj425pe3iTRbj1LhB7PaDQ5qPw0Wi0a3jCc3OOF0B31TbcJyBQPidKsU8kE7lPDfQNfmHt6OhXxob7v9hfyH4+m479ayKufzWqRE8mw0in0TgcvBL2EFLnUGAaiPBLCHJPZPI9J/uGBou9/b1+LpcG0YgKJIGDHJ03IUIcBIiTRcw5nSZ8qXJcN68kBCXFhdyoAJUcwSIgvO4KSqKiRLMn44ncY/lc9gsD+Z6vDw9kFkYHE7iQkeS4TmKAOCmex2tFAW7hOTwCgJsAr2OgAhD9+PEgCNEK7QtPRuOJzw/2958ZHxrsDPdkUF9SB2mNB7oAkAgJ4QBdG0AY5SHXCwGY5BFYx4VgRFOUnG5ZiVqtFllaWlLpGkOkRg6enulrr16AbvvpGlynZ2eF7jV4jYPuIg4jpHLdr0EMyRj2/THbMHKNRl2v1CvAdC0CJQL0qAg0ykEQEBAE3HUnwsB1Bc9x4o7l9AZuMELHuVFe4IckjqQ4zCvHj0/+VLKDVxGMep04vh8Ytt9pNN0VxwHnMFCeVqTIlyJa7LOpVOpfdVV+RID8d8LQXwl9yaBc8aso6qJMksQqDwU/yfNwWBKFTQShCce2C416I2KYJu/7CMmiTOdiDaiSSvs1D3iCAPZt4BjUxNlqRDpGJ2fZ7pAfovEAo16fRzEJ+NxLCczzJm9hongoSDh0HHEx10RCpCLFMgvxnv6TyUzPV2Px5CORSPwrWiJ6Iq4LZblafUXj00uV+1a5R9sm9+H3vj268rVPDkgamuI4sCvA3B4UcpsDwA9Tg2qk+87ryaM7hj388KRAoJiGUOwFgpgFgiIiTrWhkqpIkewJLZZ+NJnMfSafz39poFA4O9Fb8MZ7ssm8rvYkNXVEU6UNiqp0x/XeZHP0JdvS6ynDq8n7Uw88IFWDUg9y0Hq7g/YarXB3q+1vNW000bBx1rdF+cSJEz9yjKPcwOTkJHRCXgpCIrcNl2t1Aqdjg0pIxKcFUXk0Got8IpWO/Ushn/7c4EDmmZ6MthpXiSPAIAJJOEDnwfW8AAbsMIx6afnHOatejYgszcsgAEMUo7rsh4SbArw4jDklxkkRm9OiS7wef1aLJb4UicU/lU6lPplLJr6ei0UupDXFj0mcJgGUEiAo0EaSJ1iOqY4uvYwiL6lXpqeniYCJCDFJAsKlAyzE7VBAQIy7kcygoyYLJ7Vo8pFoPP7xQi776HA+e3JtX9obTGtyVEAxiMOeEKNhwglTkqT1IuLozdE3xxhySSmSCfNyCbD3foYELrrFBQk5TeTCfgHjKRwGG4xOK2E7Ztd5BEO6+PZCH1iWCUzLipuW3Wt74YgXcjlelNS55MGLTp6foW5Z0YzAz5xA9yuCEgqIiYo6EtX13ZAT1gJOyEqKKkSiCkgmJKBoAADiAa/TpCc/JnJ8Dy/zhYikRekDuh6kz9nBCDACXQIkDAH2EEYe7Uge5MQQiiAgEiKc4sdjcZRPR0lfVga5hAySMRXEEhEg8QRg1wKuYYLAoXvmMNA4guIcxDFN4hRd4flu5hdb/NU/eth513/9+9WO5z8tQeWxeDL+ZCaTLvXlsyCuykABBHO+FxDHdolLBfM9RD3R5A2To1JRTJVPc7KW5X0zTcvV6vW6SM/PHdTghN/1kY8Es3/6p3Oz/+2/fe33/vy//XO8kPv7wXVD/7BmrOcrowP6s71xstwTgVWF8y3QA0B1auqlxjyYz+cFSUpHQslOKFyQDHSgmfTecwWxH+DGQoGv6KuqLkqbIiJ3WAbgTt8wpldWS2trbXOUOpAGTSD105iwACfXHYF7HtuRI0fQFVe8u3nltQ+cspXNn0+k1/3N1MTuP9u6bvtfXr5968OXb1x/bNu6wv8e74v/9UhOeCTTJ59+//sP2bOzED+fx8s9v2v2EzZC1VXTNJ9I5fueyfX2zefyPU42mwSJmAY0mdqlYdfZ4HIQBBwUCddD28VL5S8IQAMhyIlQHtIkLS6LETsa63HSPcPVvrHJp0bWbv/M2IbNfzsxMfBPUxN9z05N9ICJkXSkkFEjIDB5kUM5nicTtPcPSRKfeKkyXst7Rx5+GB35zQ9XBYU7jjny2YnhwZNrBgebY/kU6k9qIE07tAT8EKKALvcRAIh0jUDUGELGIATrqbzr6FDVJwCQFUUxI0lSrNFoqFu3bqW3wAv6fDV1LtL207+8LK0BBek46H4t4KvJ5UensRQeK0QKYQAh8TEMnQD4Lo1hQEIOIT0pkVx/DPQUoiCVkoGuAKBKPBCo4Mj1AXJCEblIcw1H87wgKvAwAXlODUkogO5/MPWji35dnsiehz0fNS0LLRsGOA+w/mxMzX2tPzv+8ZHsyLGH//uf/N3f/+nvf+6f/vS3nv7E//P+2qc+/F7vhyvy5r3TMRyIAk+AACsQcDFAnTuhjzjP8ZAAuSAViwSFVALnU0mSjsRBVJKBynFA42kK3wNm24CWaYqu66luGMYCFIoYE7KU8hCkTQS8RPCBB9wghA7gm64YWRDThZVE38jZ3omprw+MbfrndaO5f/qXv/nIY5/6nx85//GPfaz16KOPhi+RDbv1AwQIARCA4wLS5QwRwEZRwDuoqnaFCO4OMD/pY6UXAEkvFov8DyR9TT8+/PDDXDzuikTgopzIRxAQgawlg0R60CoMTFUGR7c9kU6v+Xg+veVvLtux9R+2Tq77+rbxMXPz8GBmNJ1O9UT1noiiDImCNMZxoLdXeuZ1re9rJXxTr2sh9sYDD21z7HBXs+ltbDaD8bZB+ts2iHaCgKfsqY5+dInZbBYiWcYugWHDDi3Dg40ARJZ5OfkNJZ77p0wm9pe50b7/OTCW+ev+gvZIT0o41ZuWLLqWCiDyeEUSEhIvxOgHpWS33hTcfjSNN+cT6kCSUQgimAg6gIogynFXiWcb0XTfXKJ36JuFkYlPJDI9f6GL4l+M9/Z/eu3wwMmJ/r5gIJtSIrIgShynI8RTJ5QYsZAgvTkp/FS1xhLGWKRZECLxGCo84vRQTw+gkfXbw7H1O77TN7jx4+smdvyP9QODD68b6H9s1+SYu2GkEBlI6SkeoIgXBAnAS4NAEjNAi6urz7w5xhAqMjsYAUbgDSTAvYFl/aSi4COz00KU56IRiS9Q+1jOdr14tWnwNdMFRoipkQwDHHoAmy1gtxrAardEDvIpnhOSqMPpUtMSflIh7DkjwAi8hgR+YlYneEjtXwHm1niI2x5yUpZXdNDTPwCGRobAyEgB9GQiICoTwPs2oDaThC7Kg/FEZkzKpXt3P/Dh6PTsLOvXgAVG4LsEQs6teIH/bcDxnxMU/dORdP4r+cGJb42u2fDUyNj641NTU6u7t2/Cm9aPkZGBHIjHVJLMZUh2YAAU+gdINtvTiCeSJxRZ+o4kkGcgDFYDF9nfzf3i/MkLUWo28x1EQoOQ0KMbHWpaQUDAARFRgGBArZm+64WhG2AvwK+nFAQA+MH3vU/9rx/47bUAKfsdx7wVW+YMMcJbnQq8QuVyw7OzswqNL7m+kg3ZECBZFiX0tAzhUxFNPAERWeJD1FDPnvUf+Z3fQeB74aGHjoqzsw/EPvDbv7LOh3Bf03EPtzroVt+Bt4Y4PAiN9PqZ931QnfkZ/T8o36vmRXFyhZaSIHJOCMg2ZPi7ygulbKVYibcbnYTRsSTT9qDhhsQNISG8TngewjlV/SGjVLVaJSiMECDLQNEjSkSNRFOJGEom4040KbsIekEHLKMfSgheftBBFouR3lCLRn1ZU3xZFQhPZzmCAwAxop4QDEUIqH+XcDgMoW0YELxEUJFCorzoRwSupgpgSRHAWUXkHxM5/kscId/iBbwCTGAKAreoaNrXBTX6cS2WfDQWTz6RiiXP6JJ2QSJ8URG4liTJb5iBX22kUSHaa8eSOS6SoMYfXYeqwNP+HAIBBdSf4vsCCV0eB6aMw47OAVcBmAc4jOPAzXFhmAusIAl9JVouG3q7zSnnzp0TCCHwJTD9yFuf/OSH5L/+6z/r/fjH/9sVm6BzLW+aN9XrK7c0l589fPl9v7Pv8nfO9m4/elSkGbyifOn7P3TsAf1+6Po1HIRf4TnlC7FY7uv9/SNPTazbcGpy8+a5Ddu2LG/avqm+bfeWYNOWKTAxMQay6SyI6nEQj6ZBNtVj5DP5pWQs9Ywmyt+BQfgU9IOlmGB0pk6coMPSDxX5ut5Y7e1FLhGWUEgeBwR+hqL/FAjho1gI5iJupEMLf8PrRMt8445U3eM4dJZuTb/oI3RM0qOfSff0fq1/eOQbgyOj3xwZHfn22sm1p9avW1tdPzEBBnMFkI0kQEzUQE887Q3kexu5VGYuqqlPyRB+lc5pT/u+ueI0GuglhCBzc5HA7Qjtjgfm/QCcpC39cQzIoxjiLwIOfIuIQXl5eY8PALy0uYPXPjz64P3ytkz/xER/enpsOHdX4Jvby5XyoOl4fdTH24OBkPKIJDWbvfC1L/3fcpyZmcHp9KQfWG4dITTHQfwUIOCb1L31ZQj4TwOO+zaEfsXzig71dtV5jvtGRIs/GtfTX0qlek7H9MQcROCcBPhFTRTrQNcxuMjDp//wvlwun5jK5pJXAoA2lyqt7NJKM7G0asQ6DkgYFpZavk9+khjdedsNPMMP0BLHw+9AQXgUctwnAYFfhwidL3i6A8CK7bphKQy9rxBEPqfr2pclQfg8wOhzrm0+4jmd04jmIQdi+JPKY88BAK8hhO7cHXiB5bv+SugG36H6+TohgOoOPoox+TztA1/AAr7AcZzJxeMmL/DneV78aiQefyyWTH0nkUyfEkTlXBiGKxz0bdF/yXH0tCoPjgAAEABJREFUNazxy8+qK1s3vvwUr/5NMXQcGKJlCIULoqqdjScypxQ1+lUvQP/Ic8JjAMJ5mnsocOKiIkhfBkD4W15Q/kWPJr6pqeqTIi+chCi8gMOwTsyGB94EYwiVhx2MACPwBhPg3uDyXrI4QgB85JFZXpB7o0ldzyZUZRATnLa9QG06HtfxAuBiAkKC6DzvA+yZwDObwDVbAkBBDBIcdzGONKKBQAuANL4WBzczA/jt24G4fft2cXJyUno+dj934/T09PNfdfFqyoR0sch38+jm9cPxqNjduHbj7OzsD+mpe6+b9ujR7eJRWr/u9fNxZmaG70bwEukoGNhN233+fATgufy7ZXQj7L5D4487aB6A8vluOd186MvdtN3YTU8/vuTRffaD8SVf/DE3n0/fLYun73Vj9/r52H1Ob7/q4zm9HKVMZ6jOD4+Py904Pn5Yfj4ePnxY7sbp6dluewMvDl223bTd593YbTMv1u3kzIzUvX/48AM0jwfkyZnZ7/vKo+/l9d06UMNF9yuLupEyVm86elSbvv9+5Ue1CZqW6mWW67aD75Z5lLbdo2L3c7de9PkbfUC1CQTaY3tsHw8bLhpyER/lZJ1ke/vQ4OggHhvrA309MZDSeCCHDpBQEJUI7BUVZZ2iqUMCjCe89qQIXqMwQ/tGl8d3+XT79Yz0Yr2OU91u336UGm2f6xMvuy3NzgJudnZamJmZlB6geXQjLUe5f3paoWVSA+/Mc/HwAw/IR6lev6eP78u/u8A8RuvXff7i2NX39Owszbv7febUbAB+OBAAnmsz3Xy7kZb53BjQvQY/fXgu726d/q0uM91+9331/14xcBaA59oglV94nnP33P38fOzWD9CdHU0DaXy1B23v3x2Huvl2y6D5dr/Wi8ZZ6ejRh8Rpyu175YDnQ5dJV5aujrqxm6abtptHN3afdfto9/70c+nBS9axmw+NQjeP52M3XTc9mH1l7Qe8jEDL4j75oQdkAZsBCdqrAQ+f5bTYt/Rs37fzgxOPD49tfmJodO1T42NjF6bWjHSmJgbCsaE8TiQiQTybwem+PtI7NIJ6+vpX48nU47qufEsU4XFd8qt+uuH+YBUI+W6b6rbpbuwyeqlIOXXbQnf8/cEsXrPPCqIzvMiFIUYBIIga7xHgcfhdgzMOCHUgUSa+C33fB6HznAGu258oM2GWjpkvjg90++BDD4nP1Zv8cH+iaWhfnhU+RN+j19QRdL/SHYO76WZmZ6UHZ2dlN1QiDglHgsDb4jr2FY5pTbuWdQUJ0XYQ4kEAYlqxWOhyeYEBoTxpfkIs2YYJ0gmDcNnAfL2lyr4hEw/Djifr+rroL/z6f468jzqF6LvS3FxSA4BPiRxcwxG0w/f8va7lHnBN6yrkhfugj9Z5Ri2m6yd+4hhJAIDd8eUhOv488MBhuSvTi2O33dIyu3qE4GWGbp5djrPT00J3LdJtJ93Ynee6sdufaFYvOz/67is6ujp+hPbRTzw0q9FmUeB9YWOnaU82aq3hxfml6MpSMdKs1aKddkswDIujTiTRdELd6KB4qRMkQNHpfgXaCzITAOCmXllLxmCPiMkkIWiTh9FGLPBjiiL3qjE5mcgllBgAPH0XvOowOQWUdIrwkgigIECe5wAHaY4kBJAgKBAARcBxPCQQBMGPKcYCMgyRRDxHl1A7JoVVhXMXRBAsBD6qGxbEID6khOoG5Ku9K0BPf12NZh6LxNLfSsSSz2iS/LQE4XGBk4o8BuaPKegVP+q2925be77vvY86Xbvxgx/8oDo3MKC2siOqz+sqEVWJEyTIcRygjlXCoSDkQ8/lQ9uEnlWni/0aF3gd4Nn0shW3Oq2edqNRaBtmrlKr9tg2yjQdN3665GgPP3xC7Lbhbrvono8dOyZ97dgx9ZFjfxz5xz/7s+iHPvSh2B/8wR9E//iP/zjy53/+53rVjPdImrBWEOT9EKADvuvssy33SsfxphHhLsc+GI76vd2vpoTgpwyPnjgBcRv4dsefA1h9SlFSjydzg0/2DU08Pbpm8pnRdetOTEyuPbdual19fO2EOzg0BFLJLIhFUiCdyINsqtDIpQtn49TQo8vKN4XQfhoE9ipIJm0qK/mB6tG5cfaFNXq3H3Zjd/yenJyRttM1TjdOT88KNG23/YNXEo4dm+FT9boYA8sOEJxyAOEZ5IAzHhIX7DpnF6Ui19V1N95//6zywAMfkme++/+x/NQcu/Wkwj63JunK1B1/upHef03ypvm8nAMuLXm4ZXaaDcs9Wze8r3Fq7BvJfO83C4OD3+gfHnpsiMbRkZHHR4aG5ocH+rzedA/OUUdgRkuBfDxr9Wd6VwuJzLMpTf2myIdfB8g+yztePQsA151r6Hisdb+utBu780G73eYvdGyn3fFXPETOE048EXDhEzyPjkOeLKmId6emTojdMb2bfmZ2VpqmY+PL1W/3vS7HmZljPCF03AHfH7rPu7/Q0NXpc3HmfWpXtzQNXW/9yPXg92fyA58I+e4ao6vH52O3jXavab48fR3S+LocBND5kLbjT87eGwuS8kBMhXs5iK4KAvcK2zLWttrNfMe20k4Q9HgA9NooTDdUL3qYrgu6jAB46XUh+BGhy7QrE+UodNem3XiM9gn6+YX+1/3Ls+3b/xlh5HQ43y9zCC0D7C9g37vgePac5ZlV09RILDYhVTyPuKG2qinpJ/VI7suJWM/jmpp4WiDCswLHz0myXAXZLP4R1fmxt7t16tb1+dj9/GMTvMKHxyj3Tzx0VPvk//j5rJ6LTkkKvByB4HLH89ZWakayWO1EKw0rbtCxve3hVKVD4nPJpDY9O6scfeih576y9KXqFPoOna6DOieAeV6Gp0MAzgQ+qVTbbe8rjiMVi65w9mwlvHBhacX10UlZVp8WRf4bEOCvWLbxNdO2zyLP6yQtnSYFPy68ML7SlyCNLz6eG5to/32uL3b7I+X43Jj7UnV+ccIfc/1cnrOz311ndddaR+kYPk3H7278KfIFP0V4jsHs7IzUHQ/e/e6ZyLvf/e7I+9//fr37uSvz9+r1g3x+qMhu3wAPPgjDluVgy62Ejn8G2f45zkcLXIguYMu/UGvWFirzFdMwDNiNdOIxoBJd0GKpZ9VY6ik1Hn9WlKST1PEx77peJwE06kz/oaJ+qhtdebpraHr+vnmTfuYeeeQR4RMPPaR98i8/FPuHP/qjxF/9yZ8k//t//++ph/7X/8r8+T98PvXwpx9LPvSJb2vd92glnmPSHYMemZ0VPvrRWeXYH89G/uwP/iD6odnZ7v9pSOMfR2ZnH9Ie+NALcydN9uOPEw8/LDZW25zdano0GDjEDVFWyhDyc4ZhP2OafgnYottux+SylbUDP37BxfKXMR95RNPiX1Vl7ZuyIDzJg/Ak55p16DbxKF1OUvnoPmhW6c5D3Tg7+1H6+ZhE7wu0Rs/JQs/fdzw/tnf7wQy1c3XnpG5f6K4FaLrn54zvS/OiD7A713yU9vcP0nVjdw3ZzYO2qdd1TnhR+eySEbjkCfy0Ar6wcPlpM/pp0j/64Cyfq1YUUZcLsbg2Go9o4wTwcTPEwAYEBLSWmA4bmO6FCaBzAnEAovvJwG7xvmWonutEecDH4iHqDmgvOZi90vrNTE4K7dM9ShQN67xVism+H+9GNQxjlmXFfN+POI6jffrTx+Xp6Wlau1dWAl0kC3Nzc3Kr1YpIrhvlaZ7d2L2ORqO6mjcjqslHor6mPzoPJADI98lVr39DHB2NqbyZj5j5fEQQBF1VVS2Ijap01ajOuUl58vjxHxrcZ2dn4XF6f3l5mRblyq7r0vo/Kk1Ozgjbjx7laRSmZ2d5QL6/PPBvobuQ4erfGBddd06uVqtqNy9qOBUnZ2YEMDPD/dur33cFu2XTCaBrXO46zvju9fe98ZM/dBlwXXbDw8NSf3+/1Nu7XR4enu46AaizZHtXDz+qfPBywnO6pGwqUaSbsh83RTHViUbT0WgnHY/jVDIJk7UaTDowkhSyRf0HDcXzjz4qmXk1QhtHEptmKi3LccmVor6vRnxVjahVN9bwxYSJmyk/wSUKOS/6DboRf3HdupymqF56m81oznVT0HWzPK/3iCGfzypKOs/zkWKx+H2bPEL1dezYMW5+fl6azE4qAwMDeibTjPKJasxR+7RHH52nbQh0+b24qNf1mszOQgUoYgC5XNsJM6t1S6CbAYhEDdONtjc8OhisWzMIRgcyoJBQQAQERPRtFXh2j8hLGyVeWiNGpZwct+TXoKK0/QGuHyxLWcHQo1S/PM/HZLkUVxQ/0dWraaZTaT+RkDIo+ijl+Ira53Ha9s+q2qCbizliI2FAJ5kXxVRTkrLABXngKnmEYjnV41NmKhXp6ryr5+fl6urvwQcf5E9ks2qKNyO8+d3oV3x9wNd0tQ40kD2hbj/6Edqnf7hvPjg9zSdpmzlOx6N5qutuvwYASN8r56fpE7DbJxQamqgZzegoKhRpu6d9r3uflvF9R1em43QcUOnYCOjY5tNxshsRQnp3rDMMQV8NYuoy6Je2H32X0H3/+zJ4BR+65X+DjkPt9mmlW16e9i+zZMbboZJoCM1k1Z2PxWxVnZ59lAffGz+7nOu0v3UZo55I0orH04LrxgaiUT0WBGp3HD1frcZgpCcJIvl4lsr6o+rYNaApxeN6NJFI8Kqa8mhUsZpaWGhGD9MyflS6VyDii1+Fk5NAILySBAFtwgSmnCD0XMitgEj8FB/LPyXEeh+X4z3fzqRix3sz0YWJkR5rfKgHpTJxK55OB8l8Px4YW+/1jaybS+X7vhDJZr6mx/RTJxXPeHh2NnhxYd3rBx+c5hWlrahhIerSdk2ljCVon+n2G1eSohafiFXVfOQ4ACodkynj1298cXmFCwMsYA7LmIQCwQGANPIEAREQjiNhAJDrEtd2A6fT3fzDj7zrXQKo1zUhqaQDTcs6kpRrJ5NppChJcb4eS05NybO0z3Vl/YH4XDojyqeI08g1GlJOiEYzHs+nFBMkKhZItFQ+5fkoZ5pWX6deH21USiPtWn00dLwJgEGvCzzq1Pn+v4h+8MFZPkXro8qkJwD2KMb+sB9aQ4bfGXICZw2EeCoMwykxFEYdGfbUvVRciAoJxAk9osSPUAfDGs8yJoxmc73RaG4IHXcrDvw1YsBnLMn5iWPkg7PT/MKQosyL1RjvqSkFW+kgCDKuC7MuF0m5rhg7fhy8oj7ZzXNPP5DAJFA0P6onhVyMjqPxNO2HaRPEg9go7X90PQHA6zL3fOQj7xLEAVvVvLAAA7yVeOjW5YXy0OmTF+CJU+fB3IV5uVIqRhrVMm+0mpLVNhNGyxyqVVvrAotMWC6f+9jHHpUInT9Jt46zs1DmuD6e+PsICX/J871fshz/HaYf3BdgcJMk8btEWRpIp4aos+LhVz2uWhbgZE0WwxApIQrUEPscoQ5R+gN0PVMCgVDiBSBBgSCMiWZHafXADwUNhYENK2oAABAASURBVESCLlSIJUlhRxGwKYdmTTbblThtX4OQI2MBweM+ESZadiRacmLVDkk9iWDyK7qaekzhI19QeO0LHEEns2m9/kMFvMobXZ6PPjrLN1J8hK6GUh0Is9QgmpNluYeun/MYu/2+z08UjTBVNkKx4wMYEB7wnABo50acZ9vAatb9dnnFaxQXnWapbLfLvtlajTYqy4VKeXWoWKqOVFvWeNN2R50w7A18P2WJFa1QKPAPP/wwNzQ0JI2qYcwT6z0hBgMW9kYCAMaIJg47PBoMYNAvydxGURH3Kpo0TSDZ2u60R9ttY8q0/O2Y8HugIK6hesp0+8WrRPFCsm47taUg3un4Yr3hNYt1/9mmJT7uAv3rhBpvIunMl9K9A1/tHRo63VMYqGd7+nEs1kPi0TzoyY6AnsxAsSfb++2knvisLmhfjAji0xl7oUbHuZAW8n3t4xhdh9OxRuz2zSwdn/tUVcsKgp6ne4VCIaRTlhtT83wkNmqrj84DiaZ/2f2zq9uFBUXh00ZS4mI5GYA0IZ5iABSzsZORZS8fw1IP52s5uubJJpNCmosaiaFvLnR/mYZ7JWXRd1/yeNfRo4LSVpQsyCqgCtQ2vaZzkEBfftly0Hdf9TE7OwuTli44Fq9Wmha8UG63Vi13vhGCp0NRfQyI8pcERf2CKAlf0DX16Uwy1cpEU34+1gP60wOgL9nX7E/mzxaiya8mNf1LugS/qUGzOIRq4ajjdJ3aaV3X8/G4VdCpv0mWOz04k4m1COQy6lAjGx0sIhstyT4oajxv9gqemNacOLDtTC6SS3l0namUzER3/dJdA/4kQbs67a4v9uzZI01NNeV3vau7zvy3VIQAGIu15fp8OqZxXI44To8f83MarGSTycEY6O/vGgS7ugUvN3Tz/Mi7tgv9AEi0jSrd9Ve3nXbbqJDN6lSltL0c6+b5uuj04WMzXPXRrOpG5REoCVfQ4fhIGNjXLC0uFmrNerZlthP1dkPpeHbOI8FECN21Ah8O9UXzCWXohbb8csWF76LrkX7K6SxdAyB9NYp6reijJ6pqkY5X35/J7wDRD30eeT5wTMD5Ng+wqThGJW03Gr1QRkOuaA3gkMsDPh6vucpqI9C/asPEIxyXfFSRol/XOfWUGoZV8MUv4u/P+2V9gl0bgUv3E9RpqdAUUvczPb8meui2tbirKCKPeiVItqsKd5Mgg9s7Vmd7vdXuL1ZbkVrLUpumF+/YXp/r44kgwGuBJ/bGgJpygyD2KO3zAPzb14w++OCD8MSJEzwAFoCSjUNs+p5vcoQP4hbx+xFWRqKEFICnFUTRzRsGzjSbJl9ttEoYgdMKJz4pSeAJOpZdAMuTbbquCKm8P+p4zgby3Tmh2+6fa6MvvNsdG/oBkES6jxDo+opzuZSiKImBAV//xje+Ib7w4iu46I7nU0lXLhYFHaFM1DTzEZ/ml0jMR0bpGH78eJtW/fVZY/2oanblnARAkLx8nA+MPPDjAzxCg27HHSAO6Rnsjgv0efe9H5VH9z4h5IV2JWHDxR417jlunfcCR3I9CbhejAvdFGo5WYztDMY4LQRCxndBygqh1gm4VQuLz7Zc7jsuJz6laPBMXuxUAVh1u/m/tvG40JxKyqpN7RRUtufznqT2wmq1qvNxUAhcMObx/jpI/Ck+IJt4X9zsh2izw0uTokryK46qPc/kYWqzAZOTiu7G0iHhhgDxRgHHjcmcPMYpZCjU5EIUZxJDC263Hz5f3EueuxyRFuhVu5Vp1OqFZqWcqlcreq1WFZutmtBut+Rms543fXsQSX42CEj6gg2VFVNdrnny4xbSPg845VFFIF/VEf5WErpVRbJlOrcnYjEhDVSQ0TQ7x2k41wnsrGnWE7Y9oM7MfH/7f75y73rXUWGKskpRe0c+X48bBkpinExbVoNuD0Civ3+P9Py7Lz535ThGufBWb9QWOllPdnrsqJCJROpxhQbKjn/x++yaEWAEfjYEuJ9Nsd9fam4yFourg2Nrxtcf6OvvvzKSSG6KpFNxNZ4I9VQyVGM6VlQeCDwGkHiALqYA8Nt0rG3RfaapYs9NCJKcAUSMfZp61r8/95f/aXYWcA8c3h17/027RiJ5bkdUS17Fh+BaGMLDyPcPW75/nekG1wEErvV9eHWjTfY3rPqeWhDbsufat4/vu+GeJDU6v/SgCADs/jbmb7zntvSv/rvb1qzvVy7ri8GDER5d72J8gxUEN7iBd4PhedeXSqXD9XLxWrPaPgixcEAWvJ23vfv/Wnf/r83m3z/7/tzs7AP92cTwhrSi7nEc56BhVq9zO80bGm3/erNeOrxaKl3necFV0E5evunGo1svu/X+4Zve9rbM237xF3uWlo6PxtRgSzoCr2ivLhw8f+bMNasN9xDWzWubz7SvNeb5g63j/pV7f/73d1x19D+P3fzOP4h+9zcIZvg//MP79Id+/+jA9LbENrnQf4WO8UHgrF4HvNZ1y9Xl68KFueunGtVrtt1y5xVbbr1ny5Y77p+4/O67e2+cmel75ztvH2mUj2+NKOa+WCw8GEDn0Mli8arBK6+5fPDqWybXXnN37/abjmqU33OTQ/d8dGZ7/N/P7Bq5+/DmrYf2r9+/e/v4Nes2jB6uGbUbsSzcRBTlJiy0b7RJ6foWWDk058CDmR3TV+QP3L6zf/89E2OH7sv175lRqVPruTzBjwmz908rv/WOq/qmB8CWiSHhqpQmHlKi2mFZ5W70Hf+GsNO5AdntG4jn3cARcr3V8Q93Ws2rLj85v+vqe945MnP//fmff/fdA0pvZFNE0Q7wAr6ep/oMLeuwi5rXhmHrkNe0rrXN9vUWIjeaEn99A+Nra214dcuMbT/0i7898s4PfCD6wdnZVDo0h/rW9uxSdO4Q8Tq3BaZ9u2lat7db5m0NX74u1LP7i4nerbf+9v/df//srPL+P/xD/Q8f/EDP8jOPTeYh2uuHy4f8ZuewbTSux6Z9vWNa1zRUtHfvXe+d2nvf+3OTMzMS+J5B/ccg+akfPTwZk50kiCPApagDSS82zaBm+u1OAEpAUs7EkvG5vnym1J+Jej1REUSBBwXP4qDv6govDIscTw2soMfx5e7i+FXVp9unZ4/epP3pb8305sEd25S4cmUkwl8vh97N0DNvCR3jVhwat7p+cIvluTdjIl1PePFgYKf21OS149P3zya2Hz0qgh8R6GJG+F//5T9k9hwY2nrF/g1HtuwYvHekN/N2yIdHzKAz07E6d7Y7tTvbTuuOjmfftlIyDp+a96btsLDrG3Vt5J1/8AfR7m9kP/wnf9gzFhc3RTnrKtgyb7YrK7cuLy3dstBYvblldm4IXOc6S1CuHko5W2Z+5yMD989+VOnq/td//dfj73v3u8eL2exlhu8fDpTm9SveuZuq1ZWblprNw52lylWfO1/dOf0L/3F83y//x+TkzKz0vCi07tLsr9yfeP+/v2/kl9/xtk3vuG1mz8xNtx04fPimA3uvO7Dn8F2HL7vz/lv2pQcih8t+89blpn3nctG8veTCm2pAO6Rvv2Lz7Q98oP+d73xn9D/+8j3J3zl646B3/ps7Y379Wqirt3uyejvhuNt84N9qIf9WG+Obq55xs21YN1SWS9daF4Qr//7pYNe2mf84voVyfr5eP+pM68vNvnsm8tv3HRr5rbddt28qDQ9lUe4mXPdvsZzmbXWzeUcr7Nxuttt3uIZ9mw3BzbIDrh33ntnz3v/00Ph/eeihzMf/5mNDV2wY2rllcv2t+Wj8iORZd3md5u220bql0WndZLfbNzlV4+Z2y7ml1rAOm468/5mOu/ntv/mbhe5vPhK62Xlodlb7sz/4QG+2AHb1Z2I39Cbw2zQpuNuzzRkvMO90Qvum1VPlq//pyQtb997znqHD9z4QO/pj2tCPkvfF9x/5X7PpQVHe2NuXvSOXS72DE8V7XarvcsPYd26ptOtCpb2zbPqb2x7pt/xQ8X3HkSUORaIKkiOaJ0cj9BwFSiwe6ol0M5HMLWSivZUBsGw+Ojsb0rIIjc8d3d8onH3fTMpdiW5Ncdp1sqTdw5nkiF8Pb28Z1m1G27jVabRvtezaLdhrXe8b3lVm34Zda+7492vHZx7I9s+8T30uo9fwh2G7EAPEYYh5ADEHAAJ0HAY81YcA6B3fCzwqc0AcNwII97u/8Z6U1y9vSMaCq1Xo3xWY9bvr9epd5cWVI7Wl6q2lUvFwpR7ue8YUJ2d+43ez99Nx9NixWekTDz2UWZdTtw31J29BZuttVqV4r9+s3mNUlo+srq7eXK+Wpotta1PZ8vsblq04XsAjTHgUYj4MfJEaXZTA93WRk3VJ8qWu3o/Nzkr/83ffs6YXl64WRO++Zr3+jtXV0tuK5dXb51cXbj41d/LGpdLCbdVq+c7VaumuRrU50yyZt6ysFPctrdgTHdOJ8bwgirIk0P1TBCCcCGw3DQI/JaAgyQM3IYad9C/90i8Nv+99D+y6/xd/8YqZ+/7dgV/49792+b//wG/teN//+X9u/M9/9J+3jAzeMD28cfLnhoeH35mO6PebrTaVq3aX1ercaVTNO1oWPEx0d+/xJXf0nXQumpmZ4cFLBEIIPPbH7478/R/9yvo9ud3XrF0z9I6okr3Pd8J7VorVI6FlHeH5zl2hU7/Ltyo31x87M73jhl+Y2nn9/fnJ7twzO0v19xIZv4JbszSPT37yAXlHfmSIj+n7IPZurpeK18+dPrPr1MnT2RMnT4Nz5+cBZQir5VWutLIIl+bOwfMnT/HHn3pm4onHn7ji2adPHZ47N39526mv+djHPh57+qlPaxeu25qNSGAaBNYNpdWVDefn5vuPnznfM7dUmlhptDa4mGwIOJJ1Q0+izn4IXmXQm20I3JA2X8LTdswBjCAgCEBCAG3okEYA6S0aiSB1P/1QQbDLgLaxLCTeJMbOAc9tH2q1itdVKvNXLyyePnjq1HduPn/u1J1nT5y+++TZxZnTS8YNSxXhiqWGvq7upCIEyzU+gEshkJesjtBytm+ni+sfKueV3oAf+tAD8l/95/f2LX2rfLnkO7fYfv3trtV829Li/N3fefrpuy+srt41v1qfOVer3nqyWOu9UGk4dSsgNqIYoIQpVBf7XtMzmiueUSsFVslrVeaHl84/M3Xq2W9t+tbXv7j1y19+5LIvffHLV37pq18//NWvP3njs2cXD56cW9m8UFnN25KkZ0UrumYw1oNA+wpkte6YO/3MnSeOf+vIiWefuPv06XN3nZkr3n18rnTvwnJjX7PjDVDnIJWTgzxPTTwERsKAxAzTTTqOm7JDL1bVwatts/CpT/+h/vQ//9FoT+/AlVEtfheV9eYzS5VDT5xYPnB6obZvoWRdVusE2+sW6o7dgo/4FgJ8A3KSIwgqkqUIkSUNKaLe0hR9JaIIq3mi1v/iv/ya/ZGPfIT6xAChlX/u+Ojs/cqf/+H7R8hlE/t7hqP3Eph4u8S597jxX1JkAAAQAElEQVR28y7qqL7bNDt3u8R4mxW2jvid1h2VhebNqFq/+uq7/sOOa9/+K4Xp2VkBAEBVAF4yfPSjs8r/+q+/MTIk9E5nIul3CBL3c06I7i3XWnc4nnWH49pHyq3y3QurS/dcmD97b5HqvFQq3d6qONfXTGun0rNp8PADD7ywBnlxId128xu/8Z70+9737vH73nnfjtuPHLnyxre9bd8N9923obt/ufnmm6O/MDOT+ndvu2PKKa9c5XHFOy1SmVn1KzMle+GOIJU/vOmGt+/bfNN7pnbO/Fp++v5ZpdtHwGsYjh2b4Y998H3qZf1gVIvELw9D4bpSzbr+1HL90PlV88Byy92z6oTbaoE/2vScZNuzUID9DgaozkHOkwUZRNUYSOopJ5fsqaWjycWMwldHpQBNqcYIT8r7jNKZG+3q8h21xcUjxQu1O0pLzdsWKuFN9Uqw227qw4+truqPf1cmPJAGkZEsnBrsgbdyXvXOdnnpruLC2Xta5cqMWW7cYrSlQ26D33EVXYfcdPSoBl4Uumy6snzu7/5k9PPH/mS6vQQOGq36oUpr6TqolqZ/4X3/165f+0//eezDH31o3V/91Ud3yzB7g+W3ZubOPntXuVg8Uq2UZxZWSrfOra4cqlU6ezuJ/nU3/x+/2TMzMyt1835RUS9cPvTQUfHYQ78e/9eP/Z9TH//j915lxodvdnH1DtsxjzgA3LVkOW9rGNY9TseZcS18S1v94uEbfu692659+9HC9P33Ky9k9FNe0PVbVG+Nj63fnrxWgfztnVr1ljOnzqw/dfJU6sSpM+LSSlGq1OtitVnhyo1ydLVeGiq16wdatn1j2fJuRMTflx7atf49v/G76V//9aPx333PO9K//YszI7/8tps33XnDob133nrr9MzMbVfN3HfbgXf+6juu/He//vOH2n71pjMrZ+5YXT5318Lq4h31lcrNfgiuU5pw52/99/8+9P4//0P92PFj0qc+9eEI4PgJ33UvM9v1g81a6crK8sKB5aW56+bnz9+2snT27uKF+XtW5or3LMyv3n1m1bzmQpPfWDJlteNJloj5MoJiI5YcNH/nd36HHDt2jD/2x7ORv/nQr439j//8K9v+6++8d98v3n//FTfedt++m+765ctm3v7La+9/97vz73nPe9JH33t08N+9+/7Nhl872HFrt7hu587FxcU7zy4s37J+3/TVk9fcumXDLT8/QOfxCKBz8CtVwyc+Mat95m9+uz+TG7siFtVvhZjctVIs7jt77tzY8ZOno+cXFpVqoylWW22+1m6r1VotW6lXt5SrtYOlSuMGo+Nch21+WiLOxqA/KNB2JhBC4OTkJBwd1UVFBlkB4DVeaO1sdGoHzi9eOLSwunxruVW7u9Rpvb3WNu+pVtt3lyqlWxeXl/avlipr2p2O7iNsh0Cqy1HTfPjhIwgAQGh84aDlcLN07fKH7/+l3B/8yrvXDSaze3R59SqXtA51+E/uvfrnf37yNvrsl973S33V6oX1no4P+qJ7u9co3dOuXbirvLJ6R6VZv6mC4we33fTLl+2+59cmrn7H76a7+dKi4AsFveii++zY7Iz0P37vfaPFNbHLsSDcBgxyd7tk3GtXrHur7eI9nXrl7rn5M3dUzdUbrr39311909uOrrv1/l9JTE8/N46D1yN029NX/uwD0a255gRJ164EwLg1CDpH6s3VmXq9eaTZbB6pNqp31J3Vw/X63P52UNv2gf/022uP/v7vD/7Kn350+D/8978amv3TP8/NHjsW6ebVdf516/kg/VGp2AC4nkZ1uNa3zG21avWyWnn1mtWV5VtWFs7PFJdLb2s0Wvc22tY9y5XKnSvl1uGFSnNXsWmONL1Ad7wwDOuCRdt9QPlhmuVrcnzyQw/E/uo/vXciaceuqFSC65dW69fVV9r7/8N/+P9t/09/8Efrq63W5jC09osQvU0E9r+zGitvv3D65JFnnnzq9uPPnDxy5uzSkbMXancuLtT3LTQ7o7HJSfkTn3hISzrNPt4vXSd4jXvaK0vvWJw7ec85mu7MyTMzZ84s33l2qXX7/Ip7S83iD/yHD39i3a///mfjhJAfai/deemxh/9IMezKULta3LK0srDv2ZPHtz7+1JNrvvmdb08+8dQT2+fOn9h/+sTTN507d2Jm4cype87NnT8yt1C58UzFv+yCoQ2vuBHZ8yQjHoCGiNrOcAzlRqJkVwT7tyuocZddLt55/vyJGVo/qofancsN85alpn1IzNe33/2BP+v93n4BztJx+v2/dFsuDoob6+cWrrzw1JevXz5z5tZmpXFHx/Fua3vODZU6vHLBsDff/ouz/UePPvR99pWPf/xjccm3JvPp6PW5WPQ+uqW7p11pHqnMz922stI89MiXn9p56Ja7Bw7dd5/+miiXZcIIMAKvisCr3RS9qsJ+VKJYDKSgoE3KsnaVGokekFRtTSSRVKLJtJ3IZJ1EKuZHoxKW6FKBJx7dYJsABB1AXIMPHEsLgjDNAaEXylJKtjo6eIkBFvz4ALuDX6y9R45roIcX4CaAuSsBwjdhhG+jq4lbAxLeGmJ0q4+DW8LAu8X3/JuC0L/eC8JDKCBX+BhuDQRYqAb69y3Su8XSlQj8yNGjgoVQVAbSkCJwu3ieP4QguS0MyR0hQncECN3uhsFtTuDe5nnebY5j3erY5s20nBsJJlcj4u5yUDDs+LAfccKIIMAdogivgti/MQzcWzzbud2xjTsc277dtR2aR3ATDuG1AAhXICivQ5xcUDiuTxaE9RIH9nLYOxRSQ6frujd7jnWbTdN5XnA78sntKORuIQBeDThhU6gGqabQK09NAZ4QPqqowpgq8vsEgT8EcXhj4Lq32h6ts+Xc4fvuEc/17/AD/yYCuavoO9t9nxsXeDIhQLhJEoSrIIQ3oADd5vk+lde/JQi4wxDKl0FFncAwTCyDfolO/NxItKglOL1X5oXtAidcTTdftwQI3REG4RGMyF0YgyPdiLB/J8b+HTj0b8dBeCvycTf/qzAHt7mYH+UFlOidc+WuHn5UPDYzw4uCExcFfz0U8QEogFsB1Q1C4HYvJLeHz3HxbwuprIFr3+r6lK9Lo+/fhAJykOpjE6+JozInToiysIvjwXWEoFux796BQv9WHAS3Is+71bdpWs+73fW6jMLbghDcgohwIwHCPl4U1+kgHZdVvieiC2tFmb+SE9DNQZep5x6xHGfGML07XTe4JQi5azEvXAYhGUvGYlqC9xKCKg3KEn8Zz/nXAt+9PXTdO3zbuaOr0yAMb0YIX4MgtwsCbjCn92nT0w++pHEQvAahu8Ahj8wKa/vUaCyq9NC6pp2AKNW261VMv9lw0KKN+Wc0TT/ek45f6EnoVk9UAgkhAFJgccAxVRCGBYxwX4hAnvdId+MIX0XVIDg+I6hymOJFtF6VpIM8x90MAL4TheEM1c1MiLyZAIV3er57p+fRNux6twc+upn2gWtD2qdVKPXm5F61Oz4A8H0LN0hmZ7mt6qKqc3gYALQfEnwfwfjnMI1+ELwt8IO7fNe/y3XcI45rzTjPGVj8W10X3Rgick2I0SZswHwpEJMBEgYljtvFAe4GGKIZ5DlHfNc54roG3Uibd3jdekF4C4HCFQLHrfWAH+EB0HzfT0sCnKJtYZoj6Hbk2XcENDqmN0P1fxt9fgNleDU18mx2HNgTzYPnjCrdBWdKqsf1hDoYkYXtNK8DvhMc8lx0c+j7NxPaXjAAhxDP30B4YQZhfDdtS3f7bngXbUt3Yo6/hXDkMoFDo1Islo7qfJ+syBuIgGnfI7f5YfA2Gu/2QnSXH6C7gjCY8YJgJvS8O3Ho3REG3u2U0y00r0OYk7bKAeh9zlFHmb6UngkAMFX/hsiHQY8gyZsFSbiJx/wdCKG7fD+4ywl8enYpb5fWs8vNPuLa1AhBF6wY4OvonLCVB+JgAOCUpEj7JVG4myP4XhR6bw9d527Pd474vn3EsSwanRnf9Wf8AN8chPAaCIRdOJQGhNVV+cjDD3PRhB9VI+poRBAOSDx3J0D+fYHv3uv41t2O797lBnScIuAmyPF7gcitJVE+VQoT3TYMXmkgpPs1K8d4QeH6AMGXUWZHvCB8h+sE9xi2S51enevK9frVlWbzYKVjTjcNd0u17RWa7Q70wxAAnsOcLPmcoiBekQgvKaEgyXYsG2/IfZrd3Wi9qE7PzYMRQ4jRHdygwHP7IApvQ274DhSge8MgvNsPaL/xgzuDwLszDPw7Kb/bkBfcGATh1SiEuzgkDUcRSQA6pgIAIHgNA8d7kICQAxDRfDEdogl1IkHA02JwGAS+77rEx67AWQKv6RlBhNs5gA4T5N+DPOse1zTuMVrNezqdzhHTsm/1vPCQi8EOLMB+D0QioFlQPYXr5QDZy0F8BIf+vb7r3OcYnftso32PaRh32rZ72HW9vXbAr2nbJBZgyPOyBgVRhlTfJAgDqqJAkGVR5WNIWd+r6ZZWSYkCt53D+BbP899pO/Y7DFqHVqd9a73duLHaqF3fbDVuaneat7RbzduMdudO0zJvt13vYLvtbOyYdjxEBEqSjHRdlwWO00AY6AJCGvUtxHSOZGIcPyhJZDOE6HCI8U2BH97kBsENXkiuwUA8gKBwJSLcTQSAXwQQ/CJC4c97vvN217HfZlnO3Y7l3GW77m2ej+i4xE8FOJoB/XskAOjb4N8CTQ8/9eH3SoqkZRVR3INBeHvgBb8YBME7fS/8Oddx7w18/+1h6N3n+y7tF94REPg3EOJdxiv8WM4VYnuOH5e/O55+f97/VspPvjpwAHCql6aOynBcgORKWt6tnXbzmsULF9adPXs+fursHFhcKYJypQwatQooLS+A+bNnwOmnnwHnT5waWpy7cFmz3jhkWeY+woEpH3ppybazdFxZi5F/tWubVy0uLuSpMVF54tkzwtnFUqbUNAYdBMccBBImdATwk6v5Y9/g/RDyJIS0X0OOYADpggYSAmgjhwDTlVIICUQAi1DGAJRfyIsQAr/97YeE227boxJIRgBAu0PsTzu+fU3H7FzbatevabYq1zbr1Zta9frtjWb9znq1dluj1rq51XSv73T8fZ1OOF5ucPBkKbD7O5PtXz2yxz0CaWkvlPLKL7rrtmOzs2LeRUmE3XWB610XBM4Rx7HeYdvm2w2rc49hGm8zbfPujm3e2TDNW89XG/3nVut+1UHYRDzwgUAQ4NwwcFtWp1l0jWrdsyvEMatrGrWVTUvzpzadOvnU5hPHn95x9vTp/efPnb9mYWHpulK5cU21aWy1Tbuv1W7HbAnFOej0Q+JN48CZsYzmHY1G+c56rXxnrVa/q15vvK1CDVGlWntPpW7kO7bvBIgEoqzQ7iVLGHOS74UiwkgFCKleMkbHnFfOhBrMBWTCDB+CbT7tj34Y3mvY7h21RufmlXLj+tVq69pyo3NNrWldVaubW6pNu7fV9oDlEDcIOQ9CcnRfcQAAEABJREFUCfOcTHgg0XYg2AIU2wInmWEoeIAuSGh84XhkdlqQE/G4ooItBKAbke//AtXBO2n/vD9w/ft8L7gv8Lx3hPQ69Om857l3h557V+DT9WkIrvY9cY18HMS2Hz0qAPDDfbOrX75mxjAKNoUovD5A6H7HC37Osp17Tce7qxvp9d2G7dxjWua9lmW83TTse8wOHVsM5zbL8fa7AVqr4Ejke/0fdEM33+4vLaiOmk0JwjgXuruB513j+u4toR/eENrBPo4IY2JK7wMxfohTxcswQDcFYXCfH3j3er79Ntd13hZ44R0Y0fGeiHv8kBuvNfz4X36jLnbLeC0ioV1TbU7JkVw8Lcl0DQL56wIf32qZ/m31pnVTtW3fWGs717UM5xrLxXtdQjZ0Qq+n41mC6VpmEIYhB3kgizLQNT1IxNNWUot0CpoYpGU3JkGyWQTkWoi6a3fziNkx7u60zSPttnVnp2Pd3jHC/a7Pr3dCPm2trqrZLJAgBHkBB7s4Et4V+sZdnt2+27PMt7uGeY9luUdMy73Vtbz9HhHWtGwt/rzRvyvLZKwt8zEtB3xvG3hujxLc6pnO7abh3mG63i0hIdcQgrcDwu3BHDkc0n2X74dvtyzrLtNs320arSMds3WHSfepjoeuoWurnZDXxiJbB+Pt2KTc1St4Ueh+7kOpiAJBv4iDPYCgW0gQ3IWC4F7P89/uuP47XNf/OTdAP+f6wb1B4N9NwuBIiMPpEPDjEkKxF7ebF2X9ii+jspuk6+xJHpCbcYhutwzzmvNnzuapsVc4dXoOLBfLXK3ZpLEKKo2yWm6UCk2ztc/xvRtc16f7dnwNHap2qJD0xbloH6+DMU0F2wFGB3w3uM5xnFvcILzVJ/hGhMitgPAzBIK7AxTc41juva7jvo0+n0EgvA1waB/EeCIJYzGw1IlIUiTDCdw2OugfdD3vOsswDraaratajfr17Xb9NrPTvMvutO+xjM49Rqf9tlbHuq1l+Fe2LThWdzjdEDjHd1Rn1ZkLH374YU6WL2iqFhaiEWmXLAnXEBBS2wC+IQzA9b6LD7se2YUCfq2gquOyKm+mTXSaAr0ZB8Fdnuvc43nO21zXPeJ74Y20/lfwsjDJi5ncpvN0nzY7y9F3X/aBS36U48GQBLmrRV68DQXhLeVSdfOps+fTT508JcwtLcN6p8O3jA5stptSvVFNNjutDZ2OcZXbtbkE6CbaLg8FQbgt9HBfateu5/7atFQqCYoSaJCAAR6grb7rXGEYnatrjca1zU7nFsMxjzi283bHcmj7de42DPN20zSupW13d8fuDDccN9ZuNuD8PBWFUE3R0/PH7CzgwPy8pKfDhCIGE5wA9nquf8hy3Jsdl+4XMTpE95WXybw2DnlxPcfxOzkO3kQwuTsMvbe7rn2Pa9t3uQFdLwf4FgLwIQylbbYIBx+tZLXp2R/ei3f7yvYCUPj4RFoEeCtd7x2mc8fbXMd7h2t799Pyf67bXwLPu891vXt8x6P2kPAWjOAOAlFvbHRR7eYBXuPQzTNbPaESQSsIvLidI/AmANCM73t303HhiGGad1lUVs+zjxAc3MZz6AaFw1dBMdgNAzJJ56INOITrfVnvBz6fsLJZcfJ3fofOrQ8+5wTEKJApsywOgq2WZexqNOq7643GQRpvMY323bZjv53q8ecs23wHbRNHWs3mzY1m+6pm29jhef6o3XbjJSHknndK/TTiE9oOqLzCIx+9X3Ed1CdywU7go+t9P5ixbe82y3ZvoDq5yvPJ3gChfa7vH/Ic522ea/2caTTvajZqt5VLqzdVyuVba5X6rbVa51a6P7uyY3ibOiU/HVpygQjcBozD20Lfv88yjLeb7fZd7WZ9ptVo3tFstu/stKwZx0VHQo87jDyyE3Nu7sEHH+7OaZTZd6Xr1lNVD8oSDxPED9aatrWz1qjunZuf3/T0ydNrjp86PXXuwvmdpdWVK6v10o3tVn3G6jTvMY3W3Z1O5456xzncMIJdbVcY7oSCDDkeaxDyMSEcUQW4XyToCAmcexyrdZfRadD6Ne+i9bvb7Nh3OR66NUTiNIf48eTUQZny4gFvaUIoDMAQ032zd9h3jFsd07jTMo27bMM+YnbZefj6IASXAT4yWgpb37c3xjZJhcDfxgNwMwfwz2HPvc93rXs8350JPdrGQ7QPQ2FMcPnodwmwn4wAI/CzIMD9LAp9cZl0wOGQGMkhXt7Q8skE3TvljICD9HNV0LW5ZDqxnMlEG7mk4sToTKRxIZCIBXhsARLYQuDZMUBIPydI6zCAQzaRUjNHHnzue9BfXM5LXT9/b3Z6mp8GVVWuxvqigrYxxmsHgIeucq3gStPy91pusMvBaJsdutstx9jZaVV2W+36XrNjHGi37YOmhQ65LnelZYKNTd/JPZ/v8+f3PnBYqsvNhJxAY3FN2R2P6NeLULg28BA1+Fk7DdvZarre5lqzsanerG1ptWvbK5XV7fVKaU+73rym07EOG05wTccONzoYjECR65c1flIU0VaCjM1ms7KlvjK/ZXX+zLbS0oXt9XJ1e7NpX2E48IBPtP0+UCcdAnuxxhdUTRyNKGQzcuvbrebqDrNW2lFbWdxdXlrYW6+0Lm92vKtMG1yPgXItL0d2E8j1d0I/qutDYhxE9YikDMV1eYfCk+3Yt7e2apWN5WJx62pxdWejUtnXqNevohPfdRCKt4mCdn0Y8jtDyO0SRHm/pqszAgfusO32tbV6ZX+13jrQtuG1iNeuVuLZXXo8OhBVnCiYf1SK8JHBuMrvSarCnRG5m0651bTDqzp2cHnbCXdbXrDT891tyDG3YMfYgczObrfR3uu2jGnXdA75hD8YStruIJ4ZEzOFeLedPa+PHzw/oS4kIJHGowqYliV0LeTD60wfHagb3u5ipb3VMK2NrmVMmc3yhnp1aVOtOL+1Xl3d1Wm393VcfBBDcR+REzsFObpRULUtgixu9532VtesbQ2s5g63Vd1t1it7GpXynnqlsqtea+6o1jo7DAtdhgX9CkFLbZDj6QFP9pKaLvUnEvpUPC7v5Tj/skZ7dcNquTixUFwduVAsj6w2zI2UwU7IqxtkNTrIIysei6uZ3pg0kY9JV2kguDowGgc6q8U9tWJpd71U391ueXsNC+x1gbIz4LU1IDmYAdNDwg9yeK0+nzjxsHgyGs8KPLcmHtG3SrLSA2RVwlLEdznVbAV8udJ2nmm1jSfdjnE8JoFWPibj/oQEItAWgk5FqiwtivVqJc4BPo8A0aenZ3nwCsPRo9sFKRdGo7K0LsKrV8UV/e2yKF3nh+iyjmluNBxzvekYaw2zubbVrKxrVFYm27XqDrNl7vdscpj4wlWiFN0Ww5l8dGSHdvToR4RuO+rGrmHor0A9ggS1oEhwb+CZl9fqqxuK5dWx5eLq0MpqbaxabY03Gq2x1fLy0HJxYXhpeWG81W5vd53gSssKb3Z9cJXlSdtcIo0SQRnXJXmjJnCbeeRstuvFKbOyNNlYWdowf+78llKptifE3NVI1PZzSmITzwtp0ZVjMsclNZGMaiLaKAOP9unyxtrKwlS9tLqhVCxvLZcbl5kOPuARbhsK0UDYaiQW7UX9iSdyiUQiMpmJxw6m4tG7eAhuazbbB6u11uF6yzzUcYP9HuQOYUk5THU37YTh1nKtPtpumxN0g7wRYnAZDMNJAZjDimCORmPitlRGu0YQwEHbtfYtlaqbVmvtqXrbnmwY1rp6q7mu3qistTrV9W67sdluVneFjn8NCPgb6eb1aj+Am/Ugm9/z3a9i+CFNd8dQg8epqAq3xTXlUEzT7uAgf7VpBTtq9fb6Sq2xttqsrSnXi2Ol0tLEytL82uLiwrZqqbTftrybEUJXY8zv5AV+N+S43QDgbZ5rrO00K6PtRmldq1beXKuUt68srmxbWaluLVfNzW2LbHFDcSOB4lpOELPUCy1NnTjB9/X3xAZy6dF0IrKdst9ptkpj9erSKNXzWLFSnKgZrUkXcluRqG6iuhrnBD2jJzWa/IfE+ok3Hn/8IaGgnY9BQDZYlOv5haWRk2fmM8+cPB8/efp87uz5ucLc4mKexsLc8vLwYrm8fbnRmap0vJ5y21FqlgtMCtcJA+CGIXE9N3Q8F/mGB5pNAF7YhQAAZmen+YOjyUhUI2MRkb9cIuiKwDJ2lpdXx9u11oRruROWYUx0Ou1xo9Ucs4zGuNWpTzZrlW2+5U9DLBwEUNmNeH2sL8wlJmdmuxsdmvNrcwQ0G0IQoYYnGgn9BGn9u0sYDvA8j0RBCKjTPRQFi9o4vFhMEUY5HKwzGrXxZnl1pDJ/YfjCsycmFk+fXV9aXN1Ubxp725a7veOAYctG6Q7PJ0RJHCAQrwmxO+VZnZFGeXlg8fSJweUzZydK80ubG/XWftsJDyEgXAfkyDYt0TOayPRlEvlCOpLL6IIqOLwMAw4ZoopbkYhOBjWd36nL8CAIvQOL8/Oj83MLhQuLy9lz84uZC4tLmYXVlcxScTE+vzQXO3f+VOLM2ZN9Z8+dX99uGVeYjr+djiEDHcPVUQAlRVKjqizTs8BHFF5P60LPQDq6JhvnLovL3HURER4hnnNDq9W4utE0Dlsevo1X4kcCKN/S8eD+lumM1hvtvkqt2tus1YaqxZWRlfnzY8XlpfXV1eq2Vsve5zpou+/JEwLmYkcfeuiFeaI77j1OP/ORnlxMjm6IxbQbLNM6MDd3YWJxZWVitVJZ02g21jRajQnqtBiv18tr6Fpmk++2dkMQXCEAchnB/Hpoar3Vqh6dnJkRwcwMT9dvkCrzFR2Ok+KxEOg8wQUY+hNmuz5UK6+kLsyfAcsrRUDXFsByA+B6HnCtDuiUV0FtYR6snDsLSgsXQLNckl2n00uwOywKaFgizgBA3jZNIjPtZnXd0tz5yMlnj8OnnjkNnj69AM8u1aTluqsYPtQsT+AcX8CvqMIv8bJK73EkJDxGmBoQATV+AUAg4IAIeSBA6kQiMOQI7wgkEosR8L3w8MMPihwnJqK8NU54crlLwumyYaQXanXhfLEkza8sJZeX53tWixd6Sstns8X5k+nzJ55KnD9xojB/emFtebG5o14xL6Ntaht0UO83Fz6jzM7SrvS9/F/t6TmDV8rOxRPqVgmQ/b7V2V8prm64MHdh6Pzc3HCxuDxUb5UGF1fnhxdKC0PFVq2/Zhn5RhAkmyEndJAATCyBgAoVEhL6Lp1JHMP1nDbGoakY7VJ0deVc9MypJ/XjTz8eeeapJxNPPP5E9DuPP5N89uTc8PxSddAOQI/jibrVrMXa7Uqf57YGXacxRNP2rizN5U6feCp75uSJwrNPH+99/NtP50+fWRpaWK4PLK824rSv6IKkaYoaUXQtLsViST4SS0El+ursFFRhcBjHksixJjngX1+r1y47P784cvrCUu+z5+dTT509rz19ek5/5uRc9JlnzqeWl5vjRhtv61h4kxvAIS/kIr9YjcUAABAASURBVCECAiYE8HxXK0QEMJQI9vlm7yrs3vlehN2+uZgZpM4jMhHX5RtIaF1dWS1OlldW1pWLpbX1WnPNd2NtTbVSGW+UyhPtcnm9WWtsd9rWft/lD+NQOoB4flOv0Rufnp19rkTwojBA1w186A9IGO8zGp3tSwurAydOz+WPn10sLJQbg2eXV4dOLS0NLpVXB4qV1UG6bh1YWS6NLi6UJ+fnS7tXS+1dLcPf7PnyQNA39QLULKho6bCnLyqBA3QZeLcY2He7RuMW2kevaVUbN7imd4MkR66Nq4lpNRbdz2viNSEf7DPd1qZmuzxRqa6Mri4vjLZqtc2u5V0OAHcdDuHlvheskbGgv0iEn+rywx9+QNIiQTYrCNt1wF8jBvDGdtXctrJYGzkzV8qdOLvSc/z8ysD5xeraloP2clr0WkFT9rvEn6pZzZSNfcmHGPgEgwBjKUBOlPBhHEIjB0JzMKaQjREBbQF+e12rujy+fOHc6Pzc/Pj5s4vrzpwvbihWOpvr7WDS6oQF1Anigu9HFREMcticCNzq2kbp/Mjqwqmh0vL5keXFC2sX5hc2LS1Wd5crxnbTAmttD2Zm2u3uOgR++L0PSHyMy8VFMM177Vug277Zadaurq6UrlhaWN5XLjcP0fHhRgLl6zHhb6ej1NvoeLqPrtnXV+vVoeWl830XLjzbP794cmS1VtzYdpy9IZSneT2+TxS0rWGIe4ugQMeV2e4ETYd4AiepnnWVG0rHxP0AWIcCp33INBq7mo3apkq9NknXcOuqteZEvdYardfqa9r1xubA86ZBGOznsb8D+Xho1bZjP5USv5dYlqQEh/3hwG5vsox2f7PakFaLVa5UboFmyweWi4Hn+3TuaALTqHDNTkmuNauZerMxRBmsC1G4ma4/twoCNxXR4OXJiHxTVBfvFmFwR6tav6Zarl1brjQOGaZ7ZYjgNZwgHEI83GvY9saVUnG41qytMS1jYxB4OwlG6yUe9esYZZOq0hfVpElekS/HEO5qm062VGtml4ul/Mryck9xeTG/urLQV1q9UFhZPpefO382P3dhcfTCUnVz3Qz3eViZ8lwlCTQ7EhctzRJXoqrZHkto8IqepPhzUYXcH7r2HZZpH2p33IMdug8xXf+w44fXKpHIzbFo7BZVU27kIdltdVqTpcX5iUpxaU2tWlpPjfjbbS/cB2X5KkHWtglRZXAPbU+vxKknCVjlsZjjQ3GCuHDEbHmRlWJDuLBUBuWGBZq2DczABD6yQOAb0GlXRLNTTxpGe8C0vXW2G0x5TjhpOU6v5bSiF06d4k5YJ0QtvKBb5WoeOe760A22N6ut4dVipWepWE4vl0rZlXKpp1QrFZZXF/sWFs4NrixfGK5VVyep7vc4nn/QDfyrHQ9v9aWw7/4HH5S74+n3mgooFm9SBL3TI0TgJkUWr1UkPFOrl69aKRb3rVbrB0wXHQS8ekhRY9eJunY1L0kHoCBQp4K/2ejUhmuV4ki1tDJuNGtTrmPv8RE+iBB3VYjgDoDtYTAPIuBF4btlFxWegOF4VDkgceQ6HARX1aq1Dat03F5eLo8WS/XRSqUxVq01xxuVxmSn2dnuGPaVfuAfABjtII7Q99nvLL5mY9/z1dszqqtaWupNRqU9MZW2Aw7SvayzqVZvjpYq1cGlleX+4srSYKfdWMthe1dMwYeiGr5V5vCNbuDtczy0KwDiBsgrA4oUSzqWpUY+9Snh4YeBEHe/qfCyP9ixWutXyitDiytL8TMX5uBTJ0+qJ86eSa+UywPlamWwTOeWhcW5wXNzpwfOnjs1sDg/t7ZWKm3z7XDaDYJtYc0a/kY9JT5f51d7/tiDPy9vLxiJ0E9OSBzaKxH/1sDuHOw06peXSuXdlXrrylrbvKnthrfUDedQqdHcdXr+fO7UmRMybWOx+fkzmfnzZ3rOnTqdOHX6dPLkmbO5lVJ5V6PZOeh79l7K4TCR5VvpGn9Ho9EcLi4up1eXV3Kry8uFpfm5voXzF4ZXFpfXdJrmFtdGe0wHHLAQN2ZE1NjsLIFdubpt5dGPfUzOhHbOx3jStI1dlWZ184nzc+knTp+Wv3XyNHz63Jxw4ux59fSpk/Hl+bO51cUzvStzz/QvXjgxvLBwdu25pZUdi+X6vprpX9EJuHUhlPKaqkYUBQ/Lgr9RAMa43V4ZLs8/O1hZPDWwdO740PGnnhi/MLewuVZt70VEnOZ5dYvEJ3uKTkEPVSWuCvwg55tTwGpuCdrlNfWVC+MLZ8+smTt3YXJ+qby11Pb21lxumwW0MRBNaTMzx15YbwihG+FROBLa5oBnNPucTn3AatRHjUZtved6GwNM1oeQ73MD8pq37y5TFhkBRuDlEXhucffyXn3t3yKEwAMHDnC2C3UzIKmGjeWmh91WQFYcwJ8FknwiEoucziYjq31Z3e2J8SihEqByIRCIByB2eeR7Og7xAA7BBkjguEiUHjMPlE8Uiy8MSD+m5s9tvDKDfJyLScOxZHynKuuXhz7ZY5nh+pbhD7o+LGAopKEsxQVFSvISn+UhLoSB0+9Z5pBneeOW6U52DGcTNbysdz2+b/zwAy/8hu0MNZAMBiguce4wAN5Oz3UuazeNbbWmMV5vWn2Wh/JuCBIYQI3mHRVELiXwqIA8q9ds1vvqKyv9tTIdgButje22sbZtuQXb97QQI4mAUBP5ICPxXg9PnAJ2jIJvGr2uYfRZbWfQMfxRDwljPuLzCEg6wZwAcCBA7CkyH2YkDvVB3+/DjtMX2lZ/YFoDTsceMExvKCTcesKJE5CXk6oWlS3Lhr5HsBcEHh3EbUAQzQxFRehlQeB1F269nm31Oh1jwGy0xjqtzqTRsTZjRLa4HpgyXG9tx7DWtDqdkXabLgY7xqBtucO+H0wQDCchFNaJHN8fV7hePjc6lElE9wgC2G8ZnZ21Wn19qdwYbhveoOOTPgSFPIRcVBV5JRVVlLjMZzQYDgi+PURsZyw0nfW+E1AjGNnmY3nKF/jev/zG2QiY/e5m5vn20P2T9N8/OhPviURHVRVsAzy6rONYU6V2q79muoWOT7I+lT8AJEpAGBNFkoXI6XHtVs5q13PtVnOg3uysa9veFtsjGwMoDBJeiEOOSJIMoqKI0jxw8sh3egPH7g1cu9czrR66Yc/appvzfZQmgI8HgBMR4SEHREGJ6hE9pmXVqDKgRMReXuJSCOJ4iHEcAy4BoJCBUEpDqhhFUvi4HpXSipJSRWFQAOEU8qwxp93oNY123jSMHqMbW2a/a3mjGIjrOVEd4GU5CYAtgNcp5HhDVogykIhGt2YSif2KIvcRSImIGsRSJPBErdP00IJt2Wc9x55LKrKRiyooG+FBlA843uvwTqPK+R0jyhHYIxAQk3bo8sutbrfPdb+2bkzO9YjAG6dtd1Ot1ppaLTUGGx07Y3phJIC8BASepwg5TRdFXeF1CQbJwDQyVp3yq7fHHMPd7DjBbsThDYKW6JPlVbVer4ugUFQ0kMmoCW6tBOAu2+zsrDXaE0ulWrRYbSuVliO4PuapvgAvCJgXeQC5UAgDS7eNRsZsVOmGtTxB+8GmtuVvaVSNgXKroxvUQ4yCIIRhwMkgjPCBmwaemfMtM++adsGy3L4AgXFqaxv2EIkjSCSexxCEIRAhgYoAaJe2o8i30sQ1e5Dn9oVBQIcfMB6E3DCBfJ4aSPNxyA9mo3iD2a5dZrYr+5rV0vZaZXVjabW4rlKrjVRbneGW7Y+37XDQcFHOCYCOiSTyvMJJvEjLgogLA58PXEFCXlIi3hrP87Z6nrujY7VHDcvqCTDIIMhHKQCJlwROkgVeUzg1qfHpiBD0EKueD4zWgGcZE9gPt0EAN0BFHhby2Uh3UQxo6J4/Onu/8l9/8+aePOQm+JCjY0m4rWM4k/WWkaO6jNP6aURQRU6WIScLQJQ5meeQTjwzbnca6Va13FtaXR2rlCpTxVpjqtayUpbjAdvzLBz6SCCBxGMvBQI3i1y3J/C8nOcFWcuF6QCJSQTVaIh5mcrCubJMaLWAjGVR5PiIJksZVRGpoxTEAKSLWUg0wEMFCqImKkpUlBRVkCVREumMJUmwm/blRkLnxvPHHooLi/WRaBDu9B1ve6djr18utxOLZUMutUKpaQWC5QfQC8LQxwEKQhf6yFXp56gd4FitbYnlhsG1nUB0AsT7GGM/8Pwg8P3QNYjshQRASLp16nJOg3yO0+1NAi/uEThhX+AHo7blJW3bl1wv5Hz6OgAcokYToqkiryq8JnM4AX0rixxjJDRbG5Fn7wqCcGvAR9Z2QJDtn3mtvs6uCuimggASEoIxrXK32pDa2zlAAA/oLYwRQkEQgFAICQQCpqIhCBAQIKFDo6cSj/YN24q7rU6azlEFynQo9MEAJEqWo/q0wrBr4IOA52izpaOsSGiLCnXiWJGg0445jXq6Xan0N2q1tfVac3O9ZW1qWN5w20dxl+N4LPE+7Rwm5MMAAENKqlxfOqptjyuRmxzb294xrP6W5SpN2wcty/fbpkvtOJ4RBkEnDD07DEzfs5vY6tRko1FONSurw+1adZ1p+VONtrOmYwd9TkBUTGsnUCVAHGoC8oaFwNwr+faBsF3fU1+Zn6ivLo/Wy6WxcrkyvlqqrVsqVjcsrtYnlqqtQrlpSW3bg64f4i5LjgQCDG3Ftzpx1+rkXNMYdoNwrUfnfyhzQ9wqTh47dox/6KGHxOt2jUfAKCjoOrcRYbyrbdjrqw2jb6XUiFLjj9Kh7RFDiQOQBxyNsiBwCg8UCfhJCTtDvN+ZDOzWTmI1dgecuaeAspdfCYcvu+LeX9955bv+z82HH/hPY9e+bzZ1+IEHZPAygoxjBGOICCIBx8GAFwASJQgEkQBBIKDb5WhHpbQg4HmORggEDgKRXoscXXVg34XUVAWAo0Vkf9zstLdXysX9Fy7M9Z0+c1o4c/Y8PD+/DBaLdVBpOlzLorUOILFCjG0/wOCnDA5wAUcI4QAmtBfStk0zJADA7j/IEUwIwiFBgeOi4iqg7RzARx6ZFTakMwXNQRv9Tm3atO1Nhm3nynTuKHUco24FLcfHJs3ClgXOEgVsCcBxsNMI3XaVa1dLWqO0mq2XqyOtlrW1ZtkTZQBy5ujT6swxwoNXEbrj9LEPvk+FYTgUUaXLAOKuCYPwcupsHWp2zHTbcDU6/kgBwRzgMG06Hgp8E3hOhzesltRoNWVqfIHVtoXbXoitkAgeIpwPkGe7ru24Vst1zbLndpqBb/g0LXaMJtesrgrllRVhdaUol8v1RLXeSjWabpz2K8kKAAgCL8A4oFn5Ic8jgRq0xMBpS2arotZLK9rK/LxWXC5mFpfLvecWin1L5UauafpJyMlRRdFkWdaIKIhIlpRAjiepZl4+nC6Th2dnRNto99I1w5rVYmX9SrHWS9tSpNS0hKblAdNDyHR9z3IDzwtQGPih6jlexunYOaNlJJqNpmg7DodQCDjaQDjM//TcAAAQAElEQVQOczgMBd8DXL6egs/X5qMfvV+ezFZyaT09KQrcLtM0purNZl+xXFGqTUMwnYB2Eh4QwiEOwECCEIkk5LjA1rDdSQaddq9Ra07QPcN23wkvo61ySjsj9B267/36zMwxnhAAjx2b4aP5XA9G3Bqjba2hvHvn5kuRxWJTK9ExpeX6nOH7oRN2eSMf4xCjwBUdo6136rVkrVzJtdudUcv21jlOMGbbIH/vA7Ox2f8ymwGaPq5HwOXtdnW6XVu9olZa2dYoFdfVy5WRerU53mwZG2tN84pG272ibYS7vIAMA45LQAFKggRlVeG0qCSkgO9lvI4xGDj+Rlr8ViBIG7Gg9m6icjzP6qc558N2BnbMdaFl7W/XW9uqleZIo2knOmaguHTJFmBRxEAWOUFVBU6MUQXlIEHDYej0mlYzYnmGYIcuCCCmcxQRQ4GoAY80hLDKA9wdrgRZxJImggiPPd23Olqn0Yw1661Eo95JNjt2X8vyei2XxM0QKi3arEmACaK4Qehinnh0uHWjoWdEzU4j0W7UM4ZB95h22O8hrkAISIQ8H/293/u9xODuxBq64L08cJrXNKrLu5bmz1Nj5cJAcXGxb3lhpbe4Uh4qrdbXLi9Vtq2s1KeqdaOvYzkRP6A58Bz3XH+CrsJBN46Qm3Vtb8C0vI2GEe70MLjMheKImohGi9/9/33gRz7yLiHIqGnLcSccw7ys2ehM1eqt/lqjEzO9QMWcKCM6jwM6y4uCEIoAQg4HMvHMCHJavchqTgZGcxtyw92XH7zpssunb79s35V3777yhl/cfvVt/27NoV96f25mdlZ6ufqVOR5CnkAAMODpT4HnoUQnD0lUgCiogONFAHgBQIkHhCcYgTCkw7FPMPYhCXyAAxECO8eFxmbPae+zjM6VtWptZ6Pe3NDqGGtqzc5ItWEM1tvOYLXt5BuGm7D9UEGE8BzPA1oe5jmCIA48EjoEuJamyf5gaJubLdveazjesOEFkbYdEGojCAPM+bROjiRJjioLjiYDLECPc8wa36pV9Wq52tNqmes7prnNJ2g79t31quOt7yHhNhH606HTuKZVo4bblcW18xfmRldXV8er1erEaqVC62psaRrO7nKjs6PetrpOmjwGMCIIvKTInET7V1QRQZZgP+977phpWZs9TLaFnDjpo1j29NCQ8nK5Y8QTgCBCPnFxCF0eiCHPyYQXZMCJIoACDyAly1PuPD0DDmDI0RQcCDgIfYCwi4LARIFn0jW7x6Mil7WtBAr9Ybtpbq9XGlOV1cZApdxU6k0bU3x0TMK+i0LPRz51CwaUOxYEGEQgstO+1eq1rdZGy2zuRSC8QuS4TZUqGHysDRIz73535Fd+5VcSven0IO2UGyEke1vNyq5SqbipXC6uqVZKw41ao69Zb0zUq61NxZXK7lrD2mx7eNTxUTRAmAccgaIIZUmEMQGEKezafb5hjLuOs9l3/Q2mE4w6ghoBhMDnGQ4BII1EI/0CB7eLBF4XUoeYZbojbdNNOD7UAiBIAeEg4XhOlCQ6ZvCSLBCdJ36aC+wxYne2Ebe9JwKMy685fOTyK2m86saZXftvmdl4cOa+wVvvvz8xPT0tPF/eKzknQy7FE0JtNmg3Dv0tnusN+W6gOX5InjsQ9kKMAnpwgWskzWZ1xKjX17cajc3tVofuEf0NQYDHPIRTPsKaiJAkSdVIlldziqKO0nXpVNMw1yyVK9pcsYzPrVS9Ch30DD90QwKcEIcOQr5HSEBPNnStptSul6KNykqhUVpZZzXa28MA7pCMcM3Mz38o2x0TunPxK5Gxu9799idmtQ2TY0MpWd5NbPsas926qlJa3VEpFUeL1MGzurrSWyytji6XyuvnV1Y2L6xW19H+U1htGlLNMEM7CBAiCEIQCL7bfm6tsjJ/VimtLA5UVpe2rJRWrjy7VDywWKpvW6m1kw3D4T06lGMICACYI6EvhY6pOc1GvFUup5u12pDVcTcYpjPs+kGqWPgI35VpZhIIQDQyIPTWg9A+YBqdzfVGs3+pUpWLzRZXMSxSd1xkeK7vB65LF/tYo8OrKnoR5NWj7WYxVq2sZhvN5ghdR252bWuy5gQDISGK5we+5zlG4JsOCQwoASvKIyOCnE7UaLXi7VYrbRh2wQ/JmpAIg1CQEyrPKQKWeNo2edp9qXmF6FFqw5JgmApci6ZpJpstI9syg/6Oi/sMH2ZN01OSySbXlacbaf/GYRjQcRYFkKCQIwgJHMCyyANZFIEs0fGClwCQX9Y2AbDACDACrw+BFzrt65P9T8j1wQchmJ8XWp7Pt+wAVJygs2qjpaIdPtsKwVOByD+lx6PP5DPRlaGeuDuQFnAuCoBOpz4ZhoDDPkdCTyU4GERhuIUuNdYSyPf5XEKN+nv4n1A6oBMLnATHBayCHlGSN2mSco3Eydd4LtjR7vj5esuTXCQKQNKxGo15eiIaROIaoSs9iWBf8WxTdy0nbnbsfKtljHh+uIYgOBgXatEnTFPo5p/PmwIShB4egilA/GnHti5brTRGFpcr8aVSU6T7SNEHfEAkyYgmIk48oRFqmVRFFKhuvSavnjsFSwuL8VqlOtAxOqNtw8q0LAubjtnC2G6pCoExFUhxhVBDDVI539NCw4o4LUu3On7U97k0QqIeYokLELC9wKS4W42YBkhSF1WJ4hQB1nhaHrZs1WmZIl2I0nf5HOGlQkjkCIayEGvLCDmuvby0sri8tPAdFLjLskSsuA7o2gqoPEYKch3ObbfFTqWqVYvlVKPWGECY2+CGaLzesQrLlZpYqlRhrV7jrI4pB7YXCV0/TjAoQASHeYh7dRGMQo7boqjy9ZADVzfq9ZHzc4vRk2cXuWrDkrwAyryg8HQSaadj0drEQK7Zl1RBSoYROfCi0LGToWXnfcdb57v+FrrQ2hxCOBJEuPTk8eO05YDnAwR6oGHgFiRJ2CwIwh6E0bZqu1U4u7wKlhsmaCKewGiK4pNcTuL8eEKRFYXIJDBFq12DtG5KpdLMtTvuOtNF633CpwMI6AmXYgnJjMYEJEuhSHAoYj8QOeQL2HY4r20B3/Zh4IchJrDj+qjWCcIGL8q+Fo1BORqRtZiuRlNRKZaJATWqQ0XXOT0WF3Q9xqmKHoqCXFdkyYhEdC4Zk+OSAPNc4Pf5lhFtNyhfu8PZjsnZtsWZzY7idtwkIMIQ4aS8KOkx0NIEAMgLi9bnobwW53bdV2VOHtFldU9U064VBWEIA14FgiLwaoTwkZgbKNGKg4NljPFSMhYxM3EdUYMriIghkLENsNkGxLUjAKE8gCCJxJxC6/ay6nsF7XNAggkIwBgBaIdtu9sWV6p933n2vH2h2Gg37bCBZa2hRGOVZDpeHiik2309cScTpd3aaYNOdZVvlCq62TLGPcffy/H8bgLgGi8q6qraLw16aR1TI4bE8XsIRIct09paqjVzpxYq7oWKYdds1MGC1lBj8XIinVzN5dPVZDLSUSXi+WaNNEvzYmXpgtapN4YN091crnV6T86Vw7MXLpxtt5pncegvx1XBi4hUWyRQRYBU37XFZrMFPR+nEeF6PB/pDuIhRqENXKMkAb8YkUGJuipcBQa8iEPqKyK6QGCUrmTTKMRZBEhO47gBAXIbOAEccG1julVfvWxl8Xzf4oXzmaXlxcxKsaSs1lpKzQoyq21PKLU9s2XiMoRqJZfM13tS6dWkKs+Jrvm06JtVmfgKh/11nuts7pjmZKVWjzY6FuRljZf1qK/FEq10MlHqzSVrQ71pazQfE3IRoECnKrqNVcFpViN0wbiGtsQpmmiNAlHiOAC0bQJQLBb5GmjHgMhPyCK5DBJ8tesFO6qNTvb42eXm3Cpd9rqooWd6qolCvpzIpcu5fLaTSui+JmCCrBZplJa482fPqAuLi33FUm3i/HLVXa7Wz1eazccx8Rc0lbd0mTZOHkgiAKLEcyKEAu8hESJOx4SLeEEgtl2Pt3RB8AsFaofBiDYrQvugABRZ4SLRKIgm4mEskXJptGPxhK1HI7Ya0VuKrrd4FbrA9RF4ReFBaGO7V8BwOwfxzYHrXdZq2f0rFVsodwgysE58IeJBJdJWInolEpGqEZ2riQJu8hzyQwzVWsPkadvi26avuD4REAY4RKGDQ8cLsIkQ7+Dnq+QCFJOIOCpA7iqe46+FgL/Csv1k2/LcAAsdmrwaAKEoqMoSbdPFnt5MvScT9ZK0kcrE5ojViPqd+kBo2zvDMNwLobgTQ25YFNTYazXOYBQQQkJCID0BAGj+AAMOEBqDEBHXtYGHEXRcgHGIbM/1ixwHl+NxvR6RBU+XOBgTBUDHSdFutbXQQxFIYAzwYhzygtqBPu5gv05bwKqsiKuUqZuIyCSpSEAOAxB26EawuCJVl1dSxZXiUKnSXL9cbY3MVxpa2bZcmrbpQd/0ieMT11Z0CY7LknSVIsr3tjv2+lK9LVkUugNl6o5QSiEnXRBE+VxE0c/RcpYTGqxGRL8tItNDdo2vF+ejrWp5OPDITtMKd1NdrKsbruyGhFab5wLf07HnjBPHugb41kG3Ud4898x3xMUzJ5TyymJ0dXkpcmF+MXr89Fzi+JkF7fSFErxQatotJ2gCUazqulKJ6WIrrnCuSByE3Y7oWZ1Y4PvU6AlpfxTWQ13LLy8vS0JeUALsZwQirJMEcR9G6Aoqf3pxtcEvlU1UbfmmFQgNKZKuqpFUOR5Lruaz2XIuprbivO+ryNI4tzVK3PZ+HDg3EoyPUC3eBzn8dg6AuzhEbsYY71UJGIwIaZ2q98ceuZyMRYQ8zyfVEPNzejS6lMmlm4NDBVIoxEE2rYBkTAKxiAwi0QiIZtIglc+DfF8vKBR6QDoVd2QRLHDEW+WR5esiWmuarZ2rxYVNp86cTD797LPgwvwCWC1VQb1pAcNBwPIBsjzsWwEIfAjRZLVKwE8RJImn6THNgQ4NhF4+F+lHSOiSCGNCSOijIGi6VugDCYPZWThejYkQwLXY967EgXubYXTWlJvtcKlhNUsmXjWwusjrqYVkpnBhYKBvbqgvO1/IRVdSUdgUsWl6jaLbKC6QSmkl3THsLbbtTDkuHuo4QWzKmhdp6a/4mARAAGE8LvLcJh7DW2jlbwu8cE9xtaG1DJdzgYA5Leao0WgzGtVLEV0sKRKpwtDs2J16UKuugqWlJVCsVXHTckIbYclFQPQIDBzMmW3bLbUN4+nQd85qEldNRhVLV/mA+BZ2zRYx202u3TLEVsNSqg1HrRoub/ic7SGh6BO8BHlSjMZVKx5TgoQKQz60iN+pgU65CKqlUmRpZTU/t1gcu7BSGSzWOznECXFOVCWO4zAHeE8gyFfrBnklYAp07qI6U0I/HKrXGuPnzi9kzi+UlPnVDm5YwAn4iKnG04aixxuRaKSWSScaqsQ7oWMRq92WmuWqWF5agWa7DcLAB5AHz5VPQsyJQgANowG79aFNBsq+FKEfRmWRu5yOhleWMRpULgAAEABJREFUa/X8QrEMzi6tdkptq24jvizpyaIeSS7GYvH5nkxyORNValHOtwW3HfrNmtAursbstjHp++F+hLgriAAnecwlAXhMevjhGW55uV/iBWGYtsoN9VqrZ2Gxqp46VyTFmgWaFgqsEDYxJ60oqnYhFtUWo7pUUUVoAs8KnXYdNMslYHbMjOv6Y7RNr8GBP8SLnTxwwSgHyU5RgLcY7fqByurixuWF84Xi4mK8slJSy6WqWqm1e6v19q56y9rXMrzNpotlLMimGotU05lEpy+XCofyaUmiM6LTbqmeZQ2EAZnkBXkrlrlRq4NTXVY/TexyVgJuIHD8nb7jHqyUa2vOXSgK5ZrpO4HgaZFskEz1uj09A1ZvtmBEVc2Age/A0ImFvplwrabctlp8xzNBIBCAJY4PBV6mexPR5ziCEHbpcFDWBFhOxWQvpsBAgihwLdoeOiawDBu2TSfSsqy45fuajwWeuoX9aqtVD31nBeJwKR5VnGRC5SQegdC1KO825zieEgQkgjCfxHQtqAdc0hO8PkmC+3ge3O47nevKK/NrnnnycXDm5Elx7tycNHd+Tpi/sCTNL67Ezp1fGj11ZjExd2HVpOuuWoBBNZVJ1rPZqJ3LaCiVkAWFB5JrOXq7aY202vZWL+AvDwk3IUvJhG4lBTqOgaSlCyJAvZ7nTppta0e13Movr9Th8mrbon21I8XTLTWeXInGkwu5THaB7gfKMZHUgFWpIqMsYKs+jlxnP+0FtwDM3UMIdx8B8F5E8J2EF/aLCI/bZfcnzhvge4HulB1O4Ou8LCxoutpIpxKotydPeukckUmngK7pQFY1oCSTQIrHAklTDU1XyhFNWtQU/pzMuxUetQUQdLZ5trXPaLYuW15YGlhZLqabHStVrreVYq0lFhu2vEAX0vOrrWrdcEtEkEvpXL6cziRX4rp8TiDu05zbXIZWlag4WBME/j7P9a6ut+xoteW0mg5p+ZxSU6Kp1Xzf0MLQ8PD82MjQwvBAtpZLyqZIbNtuV8NGuSi1Go0Bx7F2Bji8PgR4Hw/gPg6jG3gS3BE6ncMrS+dTJ44/Db/z+Lfh/NxcdLVYTCwsLGq1emOI1nnj8mqdGsSb0XLDtBHhW7FYtDHUn2/15ZM4m1IlkcdS4NupTrM55gd4B9XDViEUB9UgGfke1p94EqSEAwJYcyz/LArAnK7GOj25vN9P5+VMOg7iMZ2y14Aa0YASiSApEvG0SKQR0SMruqKcp5PfcRI6TxLknOGwVfMsj0euS43Y3uYQeVfXqvWNC/Or0cWlhtto+01ejjRETS9R/S1LVHd0LVjuycbMbEIlmkgE324ItkG5Wc1tCOCraJu6HEG4EfhOQZekjBQBBUnTNkBV2kvo/qNaK02dP3c6U1xeyFRKq9FapSKUVyvJ4srq0NJCaWq11Bptdvx4ve20XYRLajRSzWSSTi4dx1GZ54BnSXazHvMse8TzvDVhGI76jhObOXKEA98LiSEquiqv4wie5jC+2bG8tZ2Oo7VsEoZixFGSPYYUS9YiyVQ105Nt5LLRVioudjS6euORkUZ2eytE4Y2QgHsIwO8EkPw8hvBtHAevJzDc5kHYG12zRvpeca/sJPl5EOINJAx2+LY3ZrUtxfOwiYm4KmqxRT0WW4hEI0uiwFUdo+2VFhbU8tJSolYs93VaxiQdj9bQtfpA4Dl6gFxBinACxk6Kuo9HBAh3eEGwo9Gx6D6tjE4tlg26Ues4nNKQ9OSqHomdV2TpvKKIF5LJyGo0IjYlukRwWiXcLC1oZTpvGK3OzjAgVxOEL8ciNwqcggrAgRfYvhxhs9YJse0ISY4XtkgyfzNG4T2W0Tq0tHBh5MLcuci582e5xaUFZWFpMXp+fj598vyFvtMXlrOLlbbUcEngcorJRWLtWDplZLJxR5eJj+waqiyegeWFs9HyytxotVI+dH5hdfep+ZWBk0uloGJ5TSGWakXSqVY8He8kopqr8yQEdhtUFy+AWnE1YnWsQcewBxttI+evSjyVBVZAVlIU3MeFaBcJ/Jst01hXb7Zi1aaBrRBgLKuYDmSurGutRDJG9+Gp+mAhYQ/mdV4VbOh0SqRVWQHtViNh2fa46zlTtuMPWXTxtFJrL65Wy4+32o0zHHEbuYTIpXQINQlDDgecazuwY9miE6KMj0Eai0oUx1MikMQQENLSFLEeiyidbDoupmKqpHCACxwbmKbFm7anGE4QoU7yqB8A2fefk4eKBIAXYNPxgnleEJdlSS7JslKKRiOlTDq9kkzEFuLRyIqqqs1EVPaeS8B+MAKMwM+EAPczKfV7hT5+Y4HX4pzeHQXaIW7ON+z5+aZ1smzhZ+jnpzEhT0sSeDYTlZb6sxFrvC8RDlLrY1wDQAAeCD0DeJ0mMOo1rlEty81WK9exnB7PtuNOsCB9r5gfeUrV/1JcKc6l4xqc4Dl/51KpvPnCcrn/7EKVr9kQeDDmYSW5CuXos2Ik8tVcoeex8dHhuU0b1oLB3h6QjGpAFgkQuZCIdKwHvk+tel5MB2G0RxSlWPvTcr8apjMRuE4R0GWG0Zoslev5s/NloW4C6PNRT4xmS2o892wkkflqIpX5cm8hf3J4sM/KJaMoqvKQIwEMPZu4lg1IEEbCAAk4QC0IyVxE5U71ZPSFvh7N6M9rMB3lgUY3JxwgBPIiJlDygwDYvg/peI3bbSso0c3GeUy8Z+NR4Xwhq1TXDEmwkIBQ50PAE0QjobZ3AfCQh4CIwA8JsVyI+/cs+3EpbNMFyAWa+7cgxF+LR9Vn1o0PVNcNJ/3RvMzHJAhEjABNBHzLBb4dykEAswFUMy6nq3QlXPOh3NYjSZBKpUAmEUUpVXY05DcEt9XgnTZJyyCfikU3iZI6gqCYajohdIkEOCUBtHge9BQGrInRseJwX+Hp4UL6qbF8/NyGwUxrfXeRKwKgBS7gDROghiGFLSdBbDxMPDiIfDWHvKhMjTAcdexxH3jnzZGcyg/2qMIumeOucG1369xyVTtTbIMLzZA4WsaHyUIJxNOPK5nU13PD+acnNo421q4f8sdHe0AqrgJVFIAARcgDJe77QqxFja2G758NufBLSkT4QjqtPTkwmGomI5IfoTgjQAASgUDiOJCJJUAmGjOiEWVeUcR5jheKgaQbvKY3xViqkij0N/vH13Y2bt9uTUytb46Mj7cmJibc4cGBcm82dzoZiT0Zl4T5pCT6isD7qiB6UvdaUZCqqkARZNCtGaSWBZUa0CLJONF1PVTpcx5ALMg6AQDSCF7TcPz4MUmVIkkRyhNOx+03mpaGA6Aokgoi0URHkNUy4OQV38dNI0B1jEFZj0QriUS8M9CXJgm6auJDkwSdCvA7DT0wzTwOwoGAh7mjRx8Suk37x1V4dnZGCgU+k1S9TRC7u+giZ1ep6Q+uNEF01VBhM4y2HTF1ltNTXxD0yD8oqvzXiYT2d8O9qa9tXd9f3jKRd8bzMaATl4jIVTkc9NCONOkhMO6ETqIhtDU+8JIR36Ub4fbOWqW240KxnJmrOMKyrUNXHeiImfGzSrLnX9Vo/G/1qP7X8Xj8H3pz2a+MDxYWx/LR1kAMe9Gw7kOrITvtdgrRBZgNVORD6RThxC9IEv+ZTCLyZH9PujJayIRpXXajVMfUvQUFCDkIeNrwJMEWdZfY4SrB+HEOhZ+XOPIv2Xjk2ZHeXH3tUB/M6nLAh74NEbIhJKEsCVJEgbmoJqyNKuIeu10fLs6fVxfnFrlmvQEgRIDQ9gIkOvBEemSo5zFQC3UoJL8jKfFPaar+N5oo/JXKg7+ROfTxpBAczyrAz0TUAQi4HtMKuBAorhJPtwojI5We/sITqVTiX2NR/W9SUfnv+pPqp6eGUk9tHk6tbhqM+VnJQZxZhdioy77ZTndMt9+0UNKsAwXQ0NsryDJKFhJiYq/GRw8SLE2vVN3CUh3xHZBwcSS3JKR6vg2UyD/SfnNMS8SPpXOpT4wP9T+5Z9N4ON4TIwkJY7p5poZmV7a9IFUzXL5mh4umjz8lScIn8pnEI1vWj61Ojvc5w70Jkk1Eg2Qy5WdyA34s2dvSoz2rihI/r0h6LZLJ0MENAI6TXMhLVUqzGknkWiNrNvpj45OV3oHhU0PDo0/1Fnq/Ho/GHlEV+WtUX8/Q9rNihnULvMxw7NgM//RfmGpUMterILxcdNF+o2IOLi22uZqjAUsouDgxWuYTfV9REul/SGVTf5PPJz4+1Bv/0rqh5GIhqTkSBLxtOLhec4BpYM12kOC6AQl80w0C0xX4wA8Fk06xAM7OTguaIA2rnLybC/n9jYa77vxSQ6l2kOVBbV7L9n1dy+Q+pyQS/yjq6l/LMel/R2LqP/Zk9c/25fSnx/uinZTouoKxCrzSfDKo19dAX7hMwJGdBGTWrbvt36fGDz8gg58iRDWJdJNDAsl3GymdngAP8HORo21X4Hhe5SVOkKhNIXD4oOIQ8m1BEj+t6do/9BRyx4cH+1v5RAxlNBXEeAFjx7Vdk06umEPI50mjGrqhAVcwwV/lBPL3uVz6c2vGhk7t3roRjeZTJEXnejXoANQuUePzCqjUqnCl2YbLbRM0Al+waDWwItqcwgNJIEmegN2lcmvqqZPUGFe2zKorrvha+gyX6Pm6ksx9Uo8l/7eqRf9K16S/Tkakf+hNqo+s74+dHE5xxYxktnmnFJi1orZ4YanvmWfOZ545XYwXW77eDgXBgSK2Q2TZvh2YtP80Vub51vI88BttgOj8Fxgd0KlXQb1aA+W6AZo21jqhDDw+thQIka9CSf54LKZ9YqA/+c2145nKWH/MzacEInMOwNhN2YEzHoj8xpDjJrj+/uxAIp7vK8Sm+nPRm1RJuML3/NHFUhsvVDyjbMltJOVX5PjAE5La809aJPNX0Vjyfyai0b8cyMYfnepPLE8kgdQn2P2aXV8X1lc31Zbmt50/fWbbubMLO5dWG5e1HXzAIeKugJdGDSLHwE8I//zPq6iuREyO404FkPssEcW/i+eSn103tWZ+at2oOTk2CAayKZBOJEAskQZ9Q2NgdHIqWLtlizE4MfotKsw/pZKRf8hE5MdSOijFVJi1rE7+3Pnz4NyFBbBQLIGG4QDLDUAYYCBwIm1pvO97pO061JRp8Ojhn1DHn/SY9xEE4Lkhhb5KL0E3AtqmA4KwGzp+x/cCwxWolYzqkDw6BKSTqJSEYWezZzV2V0urE4uLK9Fz8zVSs+WoL+Z5ITlWV5JD39ai2c9F9MSnoxH1C9mE/I2hglocSOEgK7dVzllUzMZ8bLW8ONC0zJ0GgVc2G7XNZ+onemhFXukBxTjQFCkYR16wzbW83XPnV9NnL9S4hk3tq2rGljNDK9GegW8lMoVPZVLJY4M9mc9uHiqcv3ztgD7VE40WVKCJwOZ8z+A6riEZKFANACQLyMhCqmV58mII+E/TsfRfoqr+xXWDA4vrB/tauZjSTumiH6WdTSIQ84hDIOCR5wWFqe4AABAASURBVEp+w7DbbRsv+WH4ecAL/5jNZ76zaWq0fuWeSXnTWJorJHjAIRcYrRooFpfBiblFcG65Iqw2bdEMIIKSasYTmWo0kqhrutwZ2CB3PX0/kQ0BAD509KgYG+tktTg/ZTvu+kqtM3hmriLPr9hBpS006cJyTlTTX44mUn8Ri0X+RzwifyweEf8+GxceT6u4JvmtULCbUHANQDwLBHSIsl0bhyhAogiRSGWNRuu0KAA/8uBRtSAkhoei8Wt5J5w2m+bUfLEO5htupwEiDVeKnwrV+CNA0f9KUJSPSor0Z6oi/kV/T+yzm9cWzuxcl7fX9+pcBBkgbJbi7dXiqGU4+2wb77Gxst7S4/FSKS/4viQhIZ4L+Ehv2xWAhfUQ6gUc7xlzsn3jC5ls4QuxeOJvNE35bxFd+Z+FXPJTE8M9z2xcm++sGYyBhO4DDliq61k52synoIDWERGN6GluF5DxLtOqratVitHlxSVUr7SJaXqA6g54jgeMts1X6rZa75B005Jjpq9VQxj9hqjG/j7Tk//EuomxJy7fssHbNDoICjGVczttbHbaMdfxBxHCA7wipsBPEY598H3q3//Xo3nPD9eXq411x08vJE8tlLgLZcMysFzi1OTjeiz1t4qsfUwVpYeisvxQVhM/WdCFM/1RHqdVpEvA0gHnCR4MQMOzQTP0eJM2WYsjyJG0VsgLC76PvyUI/Jdz6cR3JsaHSts2rQnH+gteKhoJBDo0SDwPJF4EgqCQEPJBO4Zo1+XO+yH5OiLgk/2D/ccnJ9fV6f4U9/dmcERVQvp+QMcuLAsSJwuqmEiK0UhE7AOBuwW5nW2txqpeXFkC8xdWwEqpBpqmCWjHAH7gAKPV4WolU66VPKXZwHyIlRUlFvtGIpP6h5Ghwpen1g6d3bxupDOYTniCQ83IhosCK9BMNxywvLCnE4ZxPhPv/n8kfAcAlThwoF4x+86dLyknzzfRuaXQNEmmCbXCSSWV/5wcT/yTElH/RpX5j9H1+Gd2rOs7d9X2IXnnRKpvKE7WQqu2sUbnjbkLF3YtlCuXrbTtfQ0fHDBCbqcTcmt9LGTun519bu0IfkKAvFzCGH6TtsW/FEX+f6Xisc9snFpb27ZpHVg3NgD6C9kwlUwGkViGJBI9jVS6cCqhxz+XikU+OZCJfnHDeMoY71d70tFgrWO2c8vztD2cr8GV1Q5o0TbrYwiAEOE4vVfGat7Bcm4BSsmvyErk7xVN+agi8f9DFOBfSlz4D33R8MJ4Ukj2yeEB1GnuXLiwnFxcbcSqHRwN5XSCj/Y2hFju26Ka+JSiRv4poqmf7s3Gvz3Sl1yZHE5JOSXgYLuEGwunpXppsb9pdna1HGub6TnbcWjv7bSbI9VSUZ1fWOSKqzXS7vjAtDvA96hWsE9abUNaXm3p5UYQa1liGID4IicnvqzqsU8m09FPD/SlnxjqSxZ7EqKl80FAnA4ILTfjd/wB14W92OD0n4D7hccSsjo44M9hRD5Nm/MxRVH+fmSo5/S2TWudLRvH8ehwH47HEkiWIkTVEm6uZ7ASi6S+o0rKpzSZ/ztRIn/Pw/DTAvHOxCTT6k+BGPbbayyzubm4Wh5dKDbjS2UndEikJWqZ09FU/tORWPLjmq7/jaopf5FORf92sD/z+Z2bRpe2rS34w2lRFZwqaa6c58vz5wu1cnWKOmp2GKE23iH6YACUPozgOtPy1y6Wq+m5RcpxqcS7dtce4wHkmsBptWGn2pLqlVay2rDVpg3cQIwe59TE5+Vo7G8HRoYeXTsxfHbdYC7oiwpICwzk1VdFq15KhLbTx/lBqpqdUsHsLDczM8NblXoENVtrG8Xy8PL5Za24XEP1dmBykZ6Gnhs8G+0dfiyay/9LPJ3623RP8tiGyYFv79063DywbSA12af0xkhztLlwfHL5xDNb50+d3bmyUNlbqTqXtz15lw8TmwStb1TRs8kHHviQ/IJiXuYF8Z1U6NoDRsPI0nmCt+ygCaC4IGvxJ6Lx9Gf0WOIT6UzmM6NjI2dGB0da/el+wLkc8NqBBAIuhb2AQ75rYew1EW63++gUleKsfimwdxHPvLZteOuLDS92oRq4VU9p+HLPUiglvgbk6N9xgvjfZFH6s0hE+fNkXP/bQjb6jcFCpDSQEsyU4GJglCW7URto1zvbQiRd4yNxr9XyJ75SPPOy22cXQ7S/IOf1ZJb43oRjmhtr1Wrf6nIpujBfBOWKAdpmAHzkAS+0gOl2YL3d4aqmx9dcKLRIZMWWUt8mauZTiZ7cV4aHCqfWjKZaA0liR7wV0y+dCipnnhJPP/ts6vjpc5GTi1VQdoWaIcaeDrT4p6Ro/OO5Qv7T69eNHB/rS5X6I9BKYBPxZg10aqvANFqpIPRz2OP02dljYlqDogRwDvten29avZbl6l6AAadofqLQ6/WPrakPjo5/M9vT93Fd1f57NhE9tnak97F9uyeNHRsHyESvyuuoiVBzhZjlJRl5bt5FIFMyPK/mBGftIPgiEfh/7OvNfmfHprXu9slRuHYoCyIKZ8iK6IuSCADHAwI44LoucEKPwuFqPuKOcwL39Ug09s2x0eESnaMdaisEhWws0BU+AGFIuusYiZcwoK3Qspqwy74b7Y5fxzz5hu+hv/EJ/H85Wftvmhb5M9p//6ciSccEjv8cfe9Z05Ob9MwORoAR+BkR4H5G5YJvf/shUSqhCNSMvB24esvx7BXTqSxbwWLVA3MNJJ4HAn8W8uhsOiYvFFLRykhvxh8qJEEqrgBJIAD7DgjNFnCaVdiulkXb7CQ9201bhh8jvEdHth8t3XeNZlldFEEBALQGoWBjpdYcWio3kvNlAzZdAbp83ANKahWqieOKHn0sm89+bXCg9+mhwf6Vob5Cu68n7aQSmhNVeEMRcFvksC8DBBWA5RTpyIiH0aSM+0QJTnEAbas1mwPL5VpsYbXNdXwJAjntyol8WUkVTkXTPXRhnv9KTyb3eE82ez6fSdd70nE7HdcdReQMiPw2h7FDMLYICBocFy5FFDifS6krhaxu9eUikBqhAH0XQIIBhJD+4AK6+HH8gNiei412o1N3bWOFVnMuGReXchmlOdSrwUyM41QeAx5gwEEIBE4APCc+FzEUSBAI5MiRh9HPz37MTbTyVezC8xwJj6dj2pmR/mxtuDfu9WZVLiLQtJgAEoQAeQgEPt10hFAJ6AzkQ8W2QmEJ88qyHklUqZG2kU7Eq3FFWlRgeEHwrUUJe6YiQoGDXAIRIIQE+h4WWoISa0XimUYsmSll07m5gULhxJqh/nObhvPlqcEcHs7GSD6ukLhACJ0BAXAtiEyTR5YTAT4uQARyApASkA+l6Ucf5QB4lBNDHJMEMKRKcIdrOZuaLWtoYbUlrTQ8WPdEqsiUA+LZFRBLPC5l09/oGcx/q2+49/TwaG9lbKzf6c2nnWQiatKFbVsUZBcA0XF9XDcDcCYEwTf1mPilTC76dP9AttaTjnjpqAyiogAUDgIRAhCRZBBTlCCuyaamSIakSKaqRD2gJztCPEGN1T21bP9gY3hiTXN4bKIyPDq2OjoyWuov5M8W0pmnM/H0qbyaXNU46EpQMCBHGhwvlGRVa8VSSSeVSrvJVNJNJONuOpe2U5mUEdO0hiZLhsBxnpYyMHg9QgVIyIIx5IQF3wqSRsuRfAcTDvAdSVbmeV46FWLujBeK9dDGDY+Hq5ygnFY1db4nn3FTcTnQRIQ4t0OIZSihaac4DIZlXh04n1Zih9/7YenHVVtxgKqrUk9MVjbLnLCDhGSzYYF8wxI06jyCjpBq4Uj+vBDt+aqezH0hkUx9rpCOfna4kPzK2EDm2fGBTGm0N2lmIoKtCZi2/BByHIoCnsR4IsgRjFVkmUm68B+1Op2JetMYLlWNSMXAvAHSBGu9FTE1elzvGfpiJFf4XCKV/Ww+1/PZvr6erwz2ZZ4e6YmuDKblVloOOzJxHORaCGAMAqpDy4fzSBa/HY3IX88k46eoc6Pam4n7SVXyIiIXagIHRI6n3YPneU7gfRANf+9P/rQFWnheIu6Tsgi+2pOMnB3qyTRH8hmSi2hIBcTjAXE5AEPAQV4UOV3k+ZTAgV4c+lHb6nBmu0U8xyEcAAByAoCiDgQ9A6GSsYmUKhIx+aQsp7+cjWc+k9Hkz6eF8IsZ0f16QXTPRXm+o4i8AAGH/RC2oRSp6vHUQipfeJYuhB9L5zNf6MmlvjCajXxhOKM8OtEb+9ZIjz63pjfmpmQUcl6bILvNI9+OAoxzCIKIj58bu6FuYk2EfB4EZCvyyVbHDNfWGn68anDYFZImjOTmlXTv40I896iayX0+3dfzhd6+vs+NDfR8fWIgNzeQi9d64qpB+3iH44gXEIKp0d1p+txSE4HHZEX5wkA+85X1a4cW1o71GeNDOZJLRcJkPB4m01kSi2dCTUs5shirS6pmAV3Ha9asITavBhgIBhA1Q9bTZiY/4vQNTVT6B8bODg6OPtHX2/9YOpP8ciqiPhWLyhc2y37zUx/+sAdeZshauhg4YQx5zoRnWZuthr2mWbVS5bIDjSBCfCnTAtG+szDR/zU9W/h0YWDgX0eGC59bM5T42prB5HwhpRqayHPER8SzQ+C7WAp9wqMAY4x8nyAn4HATxTpN+LEH75cncuujsqCMAsJtNjv+WroJzi6UDFC1QNuG+pyc7Pl6pKfvS9F84ZFYf+8jyULi0XhOf6RQiDwymI88MVKINvpjIEhzlsCbVZ1YZh9www00vy1Uf2sjQjITj2jKyxT/R74mUJEA+u5jQuBzmxYCOYBoJBwPOY7jEUGiJYhUymy70ybnOFH4lpbQP5/vyZ7qzWeauUQUpTQVREQBQx+52As8AgBGCJOWJfidTqdukuYJQSZfLPSkvzTYmz81Mdzv9WeTKK2JQCcB4FyLeGYbma4bmkHoWQA4HgctJBALKpwpy5Cntcq5tru2Wmv3nZkrkcWKY9ZcftVTEidAIvt1Nd//hXhh+Av5nvzn8+nYF/rTyudHs/pX1gzEjk/0yJXhJAiiwMLIaknNSiuxUmxGVssdpe0Q3gG8GwpyLeDgCiFBgyA3DO0WRmYbcJ4L+NAHPA4A8j3gegG2PIw8JCEfqB2PqOd8PvYNKGifT+finx8dSD41MZSqDvdEvZ6YCETsAoLDeEhAH+bEcSCI/XTdkeRFIQu5cAyAYC9G/nrbdnPlpsuVDQ4ZJBEQrVCV46Mn1cTw55O50c8O5tf8a1++51MThdhjozltbjDBg4yCMirx+ohrDFrt9ki7ZYx2TGvEdNFwQLh+AoQeTGCC9tUfO8YDGmZnZ/H117/XO2EhupqKPYVV9dGe3vxXR9cMnxod6m2P9PeAQjoBErEY0aMJksr3gVz/sNs3Pl7pGx371sDwwGcGe7OP9Kekp2ISLos84oLAlWmjwS3DIB3bpU0YAdosAJ2ugQB5arYHgecFJu1Hnoh5NHVihtCq/FQHhoTDcramAAAQAElEQVT+62bRLYW2aXoiVAMIBMhHru8Ftu+EnD/gyXjFqEu+acZ91xz3jM6aRrXas7xYVM/PFblSzVdbrqz6fEbgtX5DTw6WE+meUiqVKCViYiOT5IO44nMyaUiBVZTMxlK0WSv12K495SO0KyB4HQAk063JK4kf/eisTJc2KY2Ha33bW9dqdIaWik11qWKTTqhgrKRrcrr3dKww8Fh6YPgLw/29nx3r7/nSVF/2+ERPwhhKKCQf4cWIiCFHPM7zbd5FgeAgDB3MIxtJLjXSVxqB/KTM8V9P6vFvjvcVlkb7ci0611lxTQl0iccCgAgSgGgyHLgwfNwE9pPWcr1hB09BUfpKMpN9YmKkv7p1clRYM5CCubhMaDLsOyZuNlphud72a4bjGLRL+xhWOE5Y1jV9TpGVkuwpRjOZxC+Hy4Oz07wy7MYiujSkSGC757vr6dqyd7liiqVG4DdssRlyyXNKJP9YvmfoE32Fnn/uyyU+mUkIn87H+aeSGihHoesr2AZiYNPu5oIw9EGAQhxiRAgHMSEQl0ppQvsAndT9mE/7D/DxHq/jbzQbdn61ZuOKhVumEFn15PizSEt/TUwXPiums59N5xKfTaaUz6zpS3553UjmycmRTG2iEMF5DfOC3444rUrBbLenTMvdADhpwoNS6mwjLbuuKvqYF0NOBQ6RO1iKNaVoTyuaGVhJ5waP53p6H+nJ9n22P5P8TD4Z++zEYPYra4ezz6wfTrdHeiMgpWMgQl9AgRtFOOxHgBQQwRnC4QIGYQ9CXtSxDc5ot33XdnAYINq3eCr7/5+9P4Gy7LoOQ7F95ju+sV5NXT1jbs4QrdkCJdkaLMmOHTCxM8lJFrViR1qJY3slK1mLhWStOIoVyzEj/RA/ipXoW4nZ/rJEUhwADuBMkAQxdgNo9NzVNVe98U5nzH4NoAlOJkDJjv9aOHXOvffdd84+e977nFPVDdCgyy01iEoLUtuo0ja6bmnriaTVffTo8aOPvfXuO8+94+5T9Z2rAxikEYe6oqauU2P0EkJZYoy355uzKD+C7XXXgIz+7L/+9ajfoourC627PSVnxmV9+uKNnezy1mG4OW5mZVA3IWo/mbWXPpq2un/WVurPVtvpnx3rRJ8/kvEXj7Rl04upVNRIQh014KDGVnlPK+tJDcSWXhbjKNqdueZ5IemTvU7r2dPHVnDT7ZhZXeo2nSyykjPglACGOvDAPGam7nf/0e/WY9PZ89o87zn94vLy8vnjx4/t3Hn6hF9ZHvgWjou4coJKD2ghaCOMgpBAfArB9by3C3Vd8rIoQlGUoaoaMMYCOrzgvQejPdQ1BrciaGTp0BL1oso7X1k8uvLInaeWv3LHiZUXMc8aLedJrbTRblb6pqhkWdY9jDud2tnkcKumx48DT0OSskCPlFO7cuP6obpxs6Lbh8RUYWFE4uUXo8GRz+dLK5/NF/uf7nfFo2dODr74zjtXnn/nnUse40erG7klUpdHi8n01Hg4uXMyq+8otTvlCD/huVwlTPYY5bGbpQxeR/nl//76ZK2bX9ZKfT6N5KcW+r0v3Hny2P6dJ4/6k0eXYLHXdnmW2STrhbyzNOkvHLna7y595ehC9/N3Hln42qnVdGcJs+h2Tns0mHg2msFs0kBRWsClL3gWAVHtQKJewPz5MIj+RRYNHo9aC48NBoNHVwbpo/0IPttOZl+9pwsHC8ItsLq8rx4OT29c3Whfv7qT3NwZx6MSkipEwan+RLYWNtPWwkark28OuukI90V0JyFc+YLa8TaMtq6L/b1tPMQ4PLE3Gp8aFfXRqm4WmlpndVPz6Xjii7L01jnwTqOMG9QL4+ta+/FU+0kZzKxmBxayC6AGX2l1ep9dWux+/uhq97kjK+2bS92oTLiztpiBLqpcF7ofHOvbIKLXwfJbXd7z99frL940e4fjw2eCI19Ic/XI0WOL5+84uTK8+9RRt7Y08FmSWiUTP18Pd/urw3Z76Vyetb+4kMrPLXLylZV2/fRqNNk91vbiRC86Lqi/p2mae/YPJks7B7N4e4jeBPIhTxZfaC8c+WxnceVTeW/pkaXF/iPHjww+eero4qfuPrn4xMnVzs0Tixlts4pAscenezc7mJecqLQ/UzXhdGH5cmWhbQPtWh9as7Ji4+kUZtOpd9YADQ4o2olvLNjCUF0FXlXIGsN2Lcue4Xn/C3lv8MjJ08e+csfJIy/hxrtZxmQj9pX31UTYYprpqlrQWrfAQrSOHDpzBpipplkw5uhkf7S0eXVT7m6PyKwIDdIzjHqrL+arx77UXjv+mYVjq48cP7nyyfvuWfnyW+4eXDpzuk+O9EQrI+WgGe4fne7vnZgeTk7Pps2psgrHteVHLFGLwESX8ihq+oevy1YQrds12KZr6mplcjhujQ7HbDyqauPFWETdG63+8hP5wvIXl9aWPrd29PjjR5eOXlldOIY606qYV42gwtDgD0kwmxz0Xi7cLB7tMlZXx2zZvK2clu8+PJwd3dor1e4kNFOX7vt46VKIF78C6eAzKkke7fV6j64t9h9dWWw/srrYevzIUuulk8vZZLnFnLATaopxt5xMTjaVud/q8A7C4ztaiuYPPvih102rbBwlhESBQO6s76JfjGdFyYtpBU1twTlMBYgD6xtoTBVKY2yBZlQ4MZuS7FIdLTzu8sVP9ZaWP796pPfU8ZXW7mqHVG0YGTvccMPNa2xneye7uTsSW+OmObBie8raz5qk96moP/jk8try5+64Y+3Z40utnSMtZlqkCLQaQjXaZ7ouetq4xcB0axdA6sCYJ0QhTtgctwFTAqGKuN0Z9ZeWN1eOH3vx6MmTXzh66q5PrvUXPn5icfDxu0+tfP7u08vP33V8MDq92oYsFJZM950e7hNTV52qsa3NydS+tMu2DurmuSDpF0+sLj9/98kjs3tOHQmn1wahk8dlmigjpMB1GASDPqXxOmgS2fXf//3Z//Hh/2qLCHi+3Wk9s3ZkdePo2vLsxNpSWOzmpp0orXD9xTGXYSF44SyBtdsqBv/jf/pPZ1e3yis3ps2Xtir4WNZb+Vh7afWTS/3lTy3myRdbLfdMXG/dfOSPfgcTpG+Ne/PpTQ68yYH/tByg/2mne81sw2FioFnmhNzrvcEN3kmomapqkUzrKBsVIt0ntd+2jF7rJvHFXpZfPLm2UpxcW4XlQQ+SSGLw1kDKEejhLsb/TQwes8SYJq/qOptVVrxmtu96HABENXELivpT3tR31015x+bBYXJtdwxbUw0jG0HN201I+zskXjifxp0vxyr+fDvJPttpdz57x+lTL73trffs3XlqbefIcvt6L2OXBrm42sv5fi7BLVAfM8eXFKN3Cxre5q2+99qNjfTStS3YHmKiznOQnWWdDY7sxb2ll2iUfTMSyZeyrPWZdqv3ydMnTrzw9nvu3X77fXfvHF8ZXG8n8qWIwwUJ4SoLfpfqai+jbq8Tkf3FdlIu99rQxo0xKRh4/AneeWwWaKiR+NphyrIPybSf2WFM6X4i2H4nU9PlhRa0EklwGGGMAqUMKGHAcZ0hVBSiKPE0ywLCuFV/4+GHbbN/pWCS7eSJ2Gqn/LDfjpuFThoizjwLIYDD7oHijbnGkrqyfKcJ8qJn6pxKW0+1e4MnFpdWzi0Oes8gDl9KJTyOtD3bkmITx+9URbM5nFSXakdfiFsLLyyvHX/p5OlT54+vrnx50Mk/05Lsc8cHrZ1Ty/1sqdd5S8TpAnU1E9wiDRpCqADm23p1JcGYNgskl0xg7iv5dHoX6R3ETIjQBe5OCcJ+5GBvtHr92m60iRu0s1oCkX0PIp94ll7zPPo6j9uP563WF6MkeWT5yPIz99x3195b33r3zp2njm0stFsX21n6QpLEL2DC+5KIWi+kwJ8Rkj3e67WeWVld3Dp+rF+tHWlDnnKIGAAPHpizeAcZc9lSQqTU09gxwmoiayKSQxKleyrrbLV6SxtHjhy7eurkyQunT518dm158SsLWfTlPqEba3E2NoaXxazcqypzGXObJ+Nu99La6dO7p8/cu3/vW99ycO999x3edcfJneNHlq8POsmFfhptZJKMQmUd/McoDci6sfFsXEezUc2raeOLWTUuZ/VlXJB+ydb1Z5tJ8dXd6hDPAvq4meJvbO8PP288fHVxdfFwYbFd9drKt7gHaUvmi3HGGb2DieQez+2a7y+nKGDy/VBPgsyzJDq6kGfvTGXyDg7yzsaITulR/FEfVOfIsLV88nLaOfKE67NnZ8PmRX3on8gi+Riq/J8vL/WePnly+cYdJ5a2V/rJRirsdRx5M+H+UETOdMgssuOiNzs4XDncn7R392d8f+JJFTKiukc9y5av0GThmyFtf8MIeDaO4/PtPv9Guxt9cTDofhoXMOfuPLq0ccfRhe1Bi19XobpMfX0TaNhm3WTL2fhKwsOlNIuv5WlykKdxlQhuUil8JhVEQlBBOfVoqc5oQgiE9bNnzZGI7mWcvNhup5v9bmuy2GmFXjv1rSSysVKGM+FIAM8ot0Ch1MYMo1hMu52szhNqY0E9IxwYi0CIzMdJr0HV3AaeXGi8eFYDeTZ3ref5ePFSl9KNYwvHdhVLthmPNsCLqzaIS55EF/L+4vPdwdLX8lby0SSJHgk0fCmF9EUrJs+1qf2KcLPPKuaeWuylZaaI5qFxtp6izzBKxTxjnAhNEUMUcMpjPAB2K7a0d0wOiuXdzYk6HFpSWtmwbOlQpr0Xok7nSd7tn89K82I8i58XiftKysmnYg4fW1noPHPq+JHNU8fWthc67Q1O6XUuo02eZjfbsbnC4vybyytLX19cXrpw4sSR4d13HYelfm46qfLdLJWpUpngPLOOcIfGeR+cgXnxzgXtuLchsZbmDW4QzFSytN/tHb3aby98faGVfSlN1Vdzll4x31yY4Eafn497vY1XcdwQvTSdzE6N9sdHrl/ZZjtbUzKZEuJJ6qlqb4q8/1XZWvoSZdFXh1I+mVD3xHJbPXlyuXNxuZ0c9GPlMylIxChhODsLAJQAMBICao+PoYKMH4g6jVpEy6OCqXu8JXfeuHkoL98YmSu7TbVXioORjy7NrPtqIPC4L9jT41brepcvXdJcPSOh+dJSN/4Gzrl152rbn15K0w6pBdezPJTFGrPhHkHkXTxtr+RpP3699P+gfmG+w0UoLlxQ+YGCwxYofiaEaMfodCwI8tx989L+JNPselG7J9M0vdjKs72FdmY7aRTm9qQoNZzggsszIFQFqhJXFEVj7WiPQv2SEOFxCeFcqtis18rsoNOGTMWguHRSKB1FUZG082FrsbuTdNW1uM2vRYkftWIfU2eOHOwedG5uHvDLG+Nic6hnhzXsTIl42jD2eO3d46lpv5Cr/EoUjS+Lnn5qoc+/PmhHz5w+2h3hxm602lE8hsCamWa6BqINdwY/Eqluxnn6XJyoJ9NEvJTE4qCVRhpjKeYAAHnCIE0UJGkOUdp2xMlLmAAAEABJREFUMu6VIuntEt66XDn65Mzzb6ImPMG4/vpyN31hsZPt4133Ek5AlxQ8YIoguoRHA0ZVV0qfkKC7tqmWdDk8WsxG+WgyZTNDhZWdiOQrMW8dmYnu2lXa6z85k+3zKicXSgPP5qJ4usWa80tt0SzkIoq5S8A0sW2ayDtIAnobwqQDGh0QrvZM4DNLhflBOvDq97/+6+9vKn5s6Ovy4lJv4ZlWt/dUr9s+WOx1oN/KoYW5S5S2nEq7Ico7k7Tde0m2OhjPsy+yKH9Wgr4qwWxbW2+hSg3zVu7ydh6yPAOpJCjFsbFAcacoeK+dsaWtjXHTCq3qoVfReON3XDA33BJPCEHgBAhaJ6FAgAJWhA0OwFtM4kxpJ/bC6lZI6FjYomrp6aRXDg/bhze3ycbl6/zyhWvq6rVtsbk16u2PmjtnpbvHGXIfCfJelOVd3vsT1poV3UzyaroL09GmGA834+nBTrspi+NWm3ucdychQBdef5nbGF0soUMInOCUvG08maxevb7tbu5X9qASTcW6tZPdKzQbfE21+5/nrdbjecyfkU5+bSGNvrYQiyeXEra/2lawmEnIBAHmcGPTGGOt1x6IrYHq8VSV40vjIXPseisSz2POtbHQbg+XF7q6lcZGcI6xLTjrAwrI+xq8iwDsB37zA1ptdQ4EV5cZ599c7vVvHl9ZgtWFPgxQxnkU4TimnaM1ZckYWLwNIrpIGDwNzH8DnP5GsP7qcZWNz773QQ+vo9zXGog0MUcUp29PpPyZWtd3DYuyO64snVqqSxIfBtV+gce9JzJoPc6a5jli5bmoDF9dbItnewnbGKSiaUsCIphAcJMyoGCAUXAUoDY1blLXfm8P/H3nzhHXkN5sVByfjqu7D+e/ZLBVwrSkpgnR0MvWFUi6T8qs+81E5BfHRxevLy7u3RyV9GLeck+kCfn80ZXs6om1vLr7eFt0lVFmshvvbd/sDUeHRzwRp8GFpfHY5JAkfKzhsPLsskhaV/Lu4pXe4OhL3d7yNzqdwedToj4TAjnfWly8uYvw1xbz59a6yTNrg3Syiq6/nzKIeXABtK/qKqqaOtLIz0lVjzAX2aGM7QjJR3Es6ihmOomUi1QCTMRAZQIyaQem0h0q0uexPUtl+lQu+ZMx8GdOL3au3LHan622YuhHXCWcSjxiibwxCQFoOS7TOw4OBB4i4Ud43eXhh3+Dz+qon8X8niSTP0MVf9vUmCNXdg/ozUlpRhZmjYhuIHJPES4+HXiMMTJ/upsvPjvoqGdXuskLq/3WZCFNXMwokOAB4yjwKAZgLDTGBG2D04TprMiqdBDtMl1cBV893+u1dlYXe007U00acZtFAmP33CNg7qFNqOtmTsf8ENEZKw6oDy8S5l+MYrmxujJwiwtd28oyk8SJY5SHShsw1nkcpY2HiQWyGyjbVkI1rTzzC/2277ZSn0YSUaSBsSiIKPfI95rG+SaI9JnA0y/LqPUF6t3jrch/oxPx5xYSuduSpIyYcbaahHI8IrNpwYsKHUBp0AlMSc/HIk7TXDC57Cws7O9OxXQKsTap8LQ1s5Be0lY+bmX8tCwXXgRQ11uxfPL4YvzkqaXWeCETNgqWgDHS1S6pZ6bdNF7awJyMklkSp7MoVmWsmKkde112OmfefQ+uG3k5O5SMXMjz7KlOJ97v91K9MmhDK1NeCuUj1YI47lVpa2mX58vPQ86f9b58vpuElzoZ21hayIpOFuk0EraTpwF5DlIkwNI2kKxjicjHnkbXHFHPNC5+eljxFxaRPln6m1DXWwn0dweKssTqQb23nR5ev55sXr6WX3nxYvTSC5fZlWubsL03GhSVudsFfg9l4m5K+F3amlNVVSyODg/Y+HCPTYZ7fIJpy/bWJr14+Rq5vrGdXNschb2D6WVCxUGed20cJTpWwmYpQZpEkJw58F4TymdURnueyqsWxHkb5BPGRU8IPIePoHminbMXOgnfXMjTKiYkNNMZrSalqGc6AgMpcYHP+fl6G+Zm/pcO+7Naz24Qbr6eZey5diu6vjro6F4rCZiz2lhGNlaZjqN2kcbty62k9SxrxKXDfrK91ETFSsuxQS5Xe1n040rwt1ob1g7GM7k3NWRouNM83wu8/aLT+ouE0G+4VvxsPWEvJZo+kTD/KDqHf9dT4kv3ri3VJ/s5H6gQuckuraeTTl3pE1Vtjo9L3R+Vja8DmQTB94XkwzgW0yRlleDECSYglim2LESqrdO4MxEi3wgkfV776AlNoq9HWfim4PbJXiIunV4dmEErAgWaSfCSOBeXVZXWRR25/ZE4h/4cNVlwbRNmdacYjdKNqzdhOq65dzLIpDtirPVcadjnnLdfnYbqG3k8/Saw4acWWuTLx5bSnX5KdUy9DDXmWJVOHCJiMZsyDrQlYuYIK9H+68Y4l47H4fXK7NV+FOpc10X/YH+P7+3sk4P9IYYwkMBiWwPfKRi/0G11H2+14j9dWTr65SPH7t5eWjq5u9hfxpjdejFT9OmYuWfaKmweldY2teg2s+pUOS7vGO1PjmzePEw3bo5xVRjVTHU34+7Sc6rV/zrGsGeKg2J7Z2e8aWn7ctvGTywO8q8cWe59/Z47Voen1vquo4LxxRSKw8OkHE9XjbGnBLp+otIerIF8lYYfdJ+4qS1qMwPCDyiXO4GKsZBJ0251oJ0ryBMKUqI/pwAuBM+FnPEo2eVRdjmI/Gkvs6+CTL+YpeyxViK+sNgS1xcSWuKBMaNNQepihnHcUgPcGJ6OyyA3Zk49x/L8CyqRX+r2kq+2WuzJXkYOlttE5LQizEyYLsfS26aLac6Cbny3krN4Cx3ptG6mTaB7nqubUdbe7PSXbq6tnbx27MiRb5xYWX50udv5GG8lX+506pfyJP96W5lPgav+fb+dXji+0nc58w1rqoaUU1tNZ2KEdnQ4deRmIxuU4xBXBFeW2umNXisdHlnsmqPLfb+40NatLPZKMrB4Umdsg74EoWp7W6fadWe3FWcX41hewb6Hi73Md/PItNPYdlotLzj3RmtPrbs9Zi4bgj5mfX3dL95xcZSsFDdgBpcOQF5qVaOr/TvXtouimJ49exbzYwjz/m+2NznwJgf+/8MBdIH/yScmIQBxWxs95senY1b9mCL1PWU161TOqJkHuq8d7JWOvDSJwwT2tLV2DITsJVGmsyyHBJuUAhhg59AANFNwxSEx5VTpusp8gC565/T+971PoCOa00hepXI+9/yvj3hler1MHF/spme8N6fGs2l/dzyVu6WFCUkgtJaAd1eNFZ1DC9keYXIbLFxTlD5FGf9kFEUfztPkTxd66Ud6neiTnZw9lqjw9VS6yyltyiOrLkk4HI0IvGU6mqzt7h0mo0lDSycgRD3g+RKI1qKGpHVIkuwARLZfJslWLMXzksWfy5Ls4+1266O9Tufjg27rkwut5NNZxL8SC/pC7Px+Bq4mtiHMNkwRoIozUEKBYBIIUKzozxkuGnzlLdTOBetUbTxMATuTefIInGE3FoAwwJevaQQw27C46GiwacBEF7+8XQOcWfSMUlxkWE+h9sEV1pvCMeoI4wyYjIDHKXCV6MCjoQF+yQbyJBHxl6XKPhvH7U/EcfbncRz/uZLik5yzL0jvvykEuRAsPa+1+Zpx5JOERB9NsvYnW638491Wii1+ZCERzxyJwmQtE6epc285PBgt7+wdxJsHQxhrA1Ww4ImG4GqgXgNHWigKzjkNVd2E8eINulFMJEDVK4p6eTIpV3Z3y2RrqyIHQwJNkwGjXS9oMpU82Y3j6AYRyQ0p5QVK4Yu4Nv2YiqL/OmtlH+12sk/0++mjacI/kUj2WULJcz7wze6aG0de7EYq2UqTdGt5uVetHulAtysgjQkIQDwnI6gms6wZN8ddEe4ijp+sKWlPiRFuLkOGxwEso5SmLs9b+608u5DG4kt5HD2RKnkxy49MTp3Km1WtK0ajPQPsRUP4YzRKPhH3+h/rLC8/snhk9TNHjq09trK6+JmlXv5YrsSXUxFekKD3VlYQCfjLL00zjWbDMp0dlmy4N3V7m6N6fFDo2WQ2nY0nN+rpbHNS6oPi3DmDtmlha7XamUyvT5vmBR3COa7UpJPHTPoSQjmUdnrQZh7ulUS+PYlXTwsW93/pAx+QEHCd+z3QZ2BzaNxSqP0xXej+bKylNtwGno9FNthkKr1CBL8KSTxanaryscceq//gwx+eccJvkkC/ToR4RETyw+1O/PG8xT+RxuETktnPMdc8nzJTtEkToTEtaO0Ho4mLd/edGxXIUZdOVdy9KlR+gSf5pVyqYaZ18Yd/+If17/zOH5UdkmxGkj+ZJfFn0jz5WKeVfbKdx49mCXssku4ppv3GtWvX6nNFYaQSDnEghBHcQAqeQwDmHaHeAsFnoACNdVB9i/6Qnhh4m8WOcwW3zBpX6sI5ioyiDPsRQkMAMbeIXUzXXvSEfEUodb7T720eO3m8XF09ajrpostUNyQiM7FIJpLz64SSF0H565UpDv/wD9frs2fX9cMPP3xLdraOh8b7S86zxzwRn6Aq/ngUJZ9WUn1BcfrVWOVXBtZOzp49W/9ULHSr29NAaGkZrYIUlicRiRPFGA2UBgNgGsTQBNbogChDMT7I6nHTQRtR5bgm0zHu9TlZU5buqyR/kYnoEo+jjRWzVHz84x9vcJ5q/5KZUMsvM0I+m0Txx1rt/MO9duuTrSx+NFL8s5LxpziIDYDVukqOFXm/vc/j5FJ/aeHg2PFlWFlKIRU10ZMN0ky2Onq2u+ydPuJr2j5ffA05j5s4AKxyJN6fer6DB1qbew2d1iKSUT/JssGslfYORV+NVmEL+fVeN6fl9TQUEPnsZ9e5jVW7ofLIPurv5l6RXr46Jnt7htiaWUb4pmT0RcbpU5TKG3bcHf7R7/xOqXrNOBVmhzh9UfhmM8dLV0FoywDS60Z4Z1GP5kYT5vpjGSMiKeOlbrbY6cb3NtofHU1ta28SMPZyfejTupStoY3b24WD63ZWH37lK2er82fPauSzfuSPHinznB4M8vRmt5VdObnYmd6z1mV3r2RkMQ6M1mMZqmnPVNPlorKDQ9fEr4cH36/PDn6hsQGhaBME9QMtgRDw83eAd0/AImGoSeTWK4CAeLrtA2aaRlecgRacWowxGCMD4WCweYQVQjCoxcb6qtbh3Ln7wvve90GbMG4kC5azELggFChOxkRgUcurrD+NWwubabf7Qt7NH2+3o0eylH6qG7snBxk0GKOWEqXumM4auT9x5qDibupUUUG87xi7poncGvF69JGPrKJ+zPl5Hm3qiUqReCw42+q14tHSfCOrn/p+K4FExJDKDFKVNamK9iQXTzMOn2GCfFYweJST8MlWnDzVbve2eguLLm11g0haLmr1ddZZnrUX1vZ41DrnWfI168XX0M9esVaNSUtWmYhdJgSVzhFhHVEeULUkpSwjLihiAiMOaefgOQ2NpL5R4BuOAR9QL3qU6gAAABAASURBVECLhJD2ApgobyoelTrPynZ9rf7ABz7QzH1fjErApT9M0nic5UmRd1pVnKdNlGU67y7orN3bU1nneQj8i86SLwcPLxBXjOF1FkJIeO973+t++bc+0AgZl4LFYw5MI8oIgQBhCijiGHgMjirvWNQQHhWtwfJU3bNYraXN2LqwVTf1U5zTbw4G/RdPHjs6ufPkUVhZaEOnFUGkUJl8Za2eWa9rF5xGtTtE+H+xWkcAjjPEixBPCARsgLpsLSGYAoPxqJqYziQu4HyIw9hLZ5q8Hk7i2f6QH1zdIqONPTnd2ou2rlxl1y9fEVcvX0qvXbp05+VLV+6/ePHaj754cfNdFy7v3vPSlZ3exvah3B/PoDYW5wOKyo9hxUqrmwi0VqHWHF5n+ez6OrtvAAmepR4J0NzZmPrYpKjSmwfTaq9mbuyzpma9fcOyC0JFzwYVXzV5fvDP//n/u+xA/1ACvOB08wlFyLODLN1b6bbsYiuyuWS1dGbKrC548E54PFIUNmxurriBq13qaZCE0ohzFqsYuFCEoC8LgkKgHmr8McyF7uZmAGTpeQALump8RUviRUksL4sRblkVoVaiTbJkocmyhZ0oaj0TJ+kXoiR6hFP/CRLcY4HUTwlqdgHOW8Dtf3gdJeNSdBk9Qurq7no2fqvR9WLjLLOCz1yktoNKroIULzGV3Xz44fVybiMffPjh6l37ZpLRsJ2IcBN9ctXvxCaSRKOMvEU1NpRyA542poaZq/wDD4A/f2aPOOPaw7Hp7u7U8sb1Sbh6bVSPJmHWWHGTyOw5EOoK6/R2P3L/av0Exu2HH37CzGMl+o0DEbuLMiFPZC363PHlaLbahaajasfdDGw1TabTSU+bpmddO5mW1JbOXTMevg5SfUkmyaNxlnw4jtXH4jh+PDNmT6lpOc8N5vB7sXJpzEkeMWjHFLqpAI5KpuuiQJhTzJ8mxorhrA7njbNfcSF8Pm+3Xlw+srK7tLIwS9tpQ4XQPMlrkbT3uErPe8q/5F34nDce8yV+/e6727N+X9puRFhPBZkzSyJXB6IrQpHnaE4CdYDTgFPPZXfuHJnfXm9bBRALHbXGuHmr981PFlavHWgtDoHUBRNjHSV7mvOrhrEbe1fU8F3HkuLs2d+tMK+tW9zuE2+vBRteIsA2W1nHxAK113PQhQHXGC98sMISS61yOMa/730P20FbmkgJHytOpKSMEkMIMcCYR12nhHP+nTSEoz2Fbi0YIYnFAc6H4AALDsS4BSQQIOA9WKymtNOmdJtNY79srPu4SvNnFhcX9+46tUaOLfftoNez7fYiyTtLNm0tjnjSesFz9WUMmo9C4E9pr2789m//wSy9hTWQNHiSck8yaYkkFWWkYYIA5YEG4lnQqMSjysnK6KTWOnPGJR5NmvmIcZIRQTMtIJ75zI3yIS8//vEPzPM43QOYpCpsCQrPU++vCcLH2M/HosVa6SIsdBang+7gepokTyglvskIvMC1G55pTwy8zkIIhPesr1tnhAbhayqDYdw5xi1IyYiSKAASIx1RCCbxJMQG4rjqyd40OP8cDe5LseBfP7rS23nn207T++48AsdWFqGbtWEerxWRDad0hwK5EgJc9JJsV3Y4mdvIvH3wgx+0iKr3ZSlsNYvr0SGv9vZ5vb0rJzc26f7V6+TGpYtw7fLF9qUrL5188cIL7z7/0os/ee7ipR995sVrp85f2uxeurFL9icFNNaSpmmIbgxoQ8CiFU8bsTecwVd8kJ+XUeubJ0/dUd5z12ly/OhKGCws2DTvaB6ltUrT3ThNL6Dr+jLFvB0kf66OxN7bujtNK6ehE0vWllJElDGJHRRVjIKgIVBqHMF5HYE3WMj6uq8cM6LVrmLFMLEIDtU3JBQgY4xwVFaCDo/RKDCWaEh6tT6dNY+hvHq9A7IkdT+29R2iat7dFHp1Mm3kTLOgeWJC1itCku/4NNmKge0lZn/y2B/+YT33S8mxDxe5MHso0HMRJc91JL++1orKO3oJPZYKkoKR9XScIy+XZwbSwptxE/xLSN5TcSLPrSz3N06eWJv2BwtVkneMUDmouFdj25a8/SQhyeMhiK8DRJc6C/ne0aNQtVMSBLeUgw4cHEFdpdY6VGtgEU+oFJJGsoM8fBBaLOZaO1VWjWhqTU1jMeOd810ABV75QMfAo4Mq9Kcfefjh8v3v/70iIpM9sPVVPME9543eEoQ2sVKQpXnI8m6dxun1SMbPCcHQTuhzwMhVtNFJu9028EaLd4IxJzmjNACIxoa8NOR4aem9XnTOBJ8vXdyegS5hh8jsCRK1Pqqy3ifzVvfRPIsfySP5hVT4830Zin4SpZGM1nQljuN2yNL2zUpODh3XNXXg1SEl/Aqh/DlO45sDuzp54oknzLydxTXI7549W+UiuaEi/nSeq2fylri2NEiadkwwSSqJHe9TP5vkyrlFZnRHqP3o9ZLabU42zJIdG8izjvDPJVnr8YXB8sWTJ09VKysrrtddgDzrQysf6E5nadLvLW63stYFwdk3KKdPeyJfgjjej5zb56bZZ40uhAsm5SJEKgpJ1rJZf2mm2v0tlrZfIjJ5ztP4Yi3EwcGJt026LVV1OqzptGhotYDFkSGMNtSZSgRnMvTlXcdgIegm3UdMMf7cbAj7uqXyz2iS/Xncan2i3ek80o7TT6ZKfa6dyqv5ysr4Ax/4uF5E7yvSuJGxmprgG48llzHrypin6I2FA4we6N2M8ToQv7W16pxbNiqKQMlIKpS7JAQ4wRI8gLeBY+qFn30A6oVKArxS7Cq4KFFWCA4ClV5wH3ABAYwEQuZ9fPBWmzArXEiHk9vj5l/N23vfe9b9xm88bH4L1xLz9cQ6yh3jpEX534pv8z5vtjc58CYH/uNx4AdBpj+ow1/29wHdxNmzD+K8pg96eidz9buJq86Yplgpq6o3KZv2/rTojQ4PFzaHmwvXXvDdnf1KTGYaXRr1gWAg5RIopUAJuizQQFwBoZ6Qppop09QtzGIXiWCdfFen586d4+h0bvmrOS1n3/sgPQ7A2y210I6SU60seisEc3wym2YHRcWGJkDJMyDtAfDe/AApH1c0Ho9MmFwe6wOmq5ea2fQL3tcfjTL679aO5H968nj6sWPHssdOLtJvHMnslV46KwaCZDGHo8z7M7PxeGln55AWlSeWpEBThN1a9ry92Pg4GQaRTAjPi1179yRqr12nJPpG3Oo80um1/nSh3/nIqRNLH7vvnmOfWRtk38idu/SWpjtSocJAaSX3LibOcYILBOQI8oQDoxww6yCBaDChAgt1IIhIEwlqU86kI5wRDHUBmPOaBPAAFCDgExC847PxJjS6CVpXuCSv56z7tiYpwTkbbBWxzTQYPfMUPGGCEypj4HEOLM4bUNmew4CqLXtSRK2vp53eF7v9pU9nefcT7fbgk4tHVz7XX4q+sXczeh4X09dGllyoDuwTjU0/FavOx5f6xx89sbrw6bvWOl94y7H2k/cti52lNES4HXRfU1X3be8cdjZ2D+XNgzEMGwO1d4gF5uVBAw3WKwqWeud8UzmmrV+rKjKqamXB9KZV1T8cFe39/Uru7xuYzgRYkwGHjuckmiomDntxtq/y/KC119zUe7OnTOUf0TU9m+TZv19Z6f353Xcsf3JlIXpkISNfiEh1oWvtAcAD2nSTqVLpPgbUjcFiZ7K83Lb9BRXyhAD3DZTjQ5geHqbF4fRIU9b3hhDuIYQuTiuXl54o7aUyXkljGZMsmmDidTkJ/qu8ac7lCjbvG+zW999/v33g13+9ObTxaKySK1rlXyL9lU/Ey2t/Nrjrzo+sveXuP7/zrXd//I67jn7i+NrCp0+04y8fy+SF4/r6wcO/8Rvm2wT6F/yAZk3C+jrVs1mqq7pdjmt5sD2Ezeu7Zm9nyEcHE3awu2W2t6+TjZe+Gpdl2fpbf+uBzkef/kL++LUde+lgdHBzNLpqQiiUpAwBET875GZ6mAdjTqMo7yUkPk1k1O8d9tSD7z1LvxfKgkLmGj9opmZQTnQ6HWmvjaiA5ijH/iXgyUt1YzeA5/XZM2cQbYC5ys/y1dHWnr4wMfBZzeHPukvZh1dXko+uLrBP5OTg8x19/YXFpih6jMaCsAVT+/5kBmp/TH2hMaeDbKLizktRlL6U5PHGsjpSnz17Fg0L5iU00dLYs9FLSav7+U6r/9H+oPexk0cGj9x5qvOFhT59riX2trG/e/BBgCC5AMYjH0Cg6hLiAyXe490hrgFhBu99CI2xt/CfT7AxBqZEJqmg80RZel0TVGbKvOOA44FgQZBTzXcqz845Jj+vkvjJ3mBw7fSdp6fHjh433daSa0X9kIrcJEJOFNAN5e1lrtzuMb1dzOd5bZv/qXrvkF0blvGXCpo/KtuDR9JW/7G8mz/eAzj31tXO6MEHzsiP/v7/upMcv39B0GyxDKJbOprOAmGBS8aVYlwwwogPzNaO1oVXzntMY8EblzRlk1UjtJeR9fXMWUqTKpKtnThuvRDhZlwG432cyr2K15yHg8LvqkZ8I2930Ycu/9mRI0c+emx19ROLC93HWnH6XB+qbYwJft4aRwvL1KW8294cLPaKhW7sU15Dc3gV6tGNtB7vLDpjjhmve7tlyj+3t0dnpRKVhXR3ZMTWQUM39msxLEIbRN5Tqg15O9Zz+5rDfxWv13V/aJ3oGzPlueg5Lo4dzkxn86CS1zYKMhwGsFoaScj1mNPnCameV6bcP3t2fW7H4fCwb/S0GA9Hu1eIKTYyGWbdhPleRIIiuuJgNA/WoSLd0hlhGMmhSmTMlxPF7quMXRlObDQsaBiZxM5oRzeqPw754kHSzvcGA6i+g4bwL/7Fl+uFvHvYTpPLJ5e7o7vWev7uo22ynAIRzYj4apKZYtbT1i6UtYu/Y/wP9RGVHzygxWIL80ZwFwghuQDgPD5gTZIEr6/UOwGEMoQQIIR4SnFtSjAikmAJCQ6o84EY76nXQdYNQjkLDz30EHG0YTRAygQkgTrpwFGLEYVGbafyxUneX93oLS4+s7DU/fzySvLnK3366Kkl/9yxPtB2zI4ISk6XlWbjwpvCJ6EmWalZekg521bdeHQeF0MA669gDPMSXCBN7fl+loq9Th6Nlhdyu9htY8zIQx63QhblTZ6mO0rxZ4hrPs94/UU8NPwUB/eRVpp9rdNduNEfrLisu+BV1jVJe6BbC6vT/vLx3TjrP+tV62uUy6cD1du/XBTmWDNgJFBFA41IYynRjkTAmSAKeRV756U1jqNVOmQQ8Yw4P+cTgA0ePDSBgOXobpIWGKEcpjduTshrWyDMBEKKOI0mSZ5Psk6nTNq9Kuv26s5gue4sLG61OgvPOMI+P502X3bj4kJr49zrPkB67VyNI945MM764NE1OlQIFygJTBFHJJggiHGUGc/JFAfeNb0//PiD/8t6s57uHUyGT0exfHxldenJu04fP7znzpOwutgFlAMoGYIkMLZxAAAQAElEQVR3lXO2sMQ0zusqFFWOuoJA/kI1AoucdgSoJwABCDYKqJHEOkKMpdAgR2cqDoCl8E3kjO+Uk1k02xuxw409mO2OeDWcyMOtrbB145q/ef0K2968eWRnZ+/e7Z39t2xtj+7Z3B4dv35zmGwdFDCurfFUGhHFWkSyYcTX1GCSZ2xDXLA4zeurx4FDApnk4Sga0Z21qVYmVR3tjqtmaKMwY230H4Ndx9sXuWi9yGu3B+fOVUhu2AKob+7cuH7jyo3PRASe7KTxzZVOZlbaqV+IuI6DmTHTlBw5zp2FusTU8n4AojjHUIFpNSSMUIWZFCUUzZQz4njAhgpAUS+bBi6srt7i2fvfvx6ckaGZBKLLYDC8zA73yulsHBrBuzTPlqtu+8hmqzX4Ri/vPLa21P2kYuZTptr96lvjlRfvil4avxE/LikT3IVVW+lT9WR6sq6rtg7GQ8SHJJU3aDt5KSTRFargAF4pBEX/3rNnnQ9mmAh6c9DLJ912WieJaJhgaHSEeDo3JEdrV4Px4VbsWtm8ixjn8tG4yjY2p/7axlRfv1k0oykUTSM3GU+eFyq5GY/0FNbXwyvT3bqNO6I01G5q2XwjSvw3jyyrvdUOLQaJtTFUnpiSl5NJSze6PwsuOxgxe2DtjdI1T7E0+UraaX9qMGh/pN+PPr3K2+dW8YDqwTNn2D//x/+DdP03f6lVVkXfmGYR/ZRiYCGScyobXdflrNZmqA0Mq0YdbI/ic80kfEUD/exgeem5oyePba8eXS3avXbNFW9U2qplnO9wlT1lQ/ji1My+sD/bP18dVntKNT5TECtq0xhMGrmacYvZhamBBkfFLeUAeovgH+JyT6q4JP4IAXOvNfqdE10v7GsdplwWdZwchizdMlJec1zuPvbYuv0OPZnZWt+sZ+Xz3rFrraxXJzJHNUU/VGoItbPCE82NdVyPbstGRBmNUozIlCrUahFCw4FoyphHz0wIp5zgCu/bqJnZbcqc4RGnghLPtK69NY5AICwEzwKgd8FI47Q3o5GfjGajzY3dyVfKyn80zXpfXV09cvOeO46Ro6sLbqnXs73uCnS6R0zWWxnyrPWcleJLVvDPzBp64b/4P/1vhoB+KgISRd5n0jsVgeOxsFQKTSU1RFICPITAnPNpLQhhgoEH7GpFQGYg/kSgP1Z4OMCD8oQIHxPmsqx/mw+yxVF9/GFdlc/pxl1iJBoKmvk06pFuZ9GvLK4drq0eubTQbn+ppdLHlQrPz1hviDKw8AYLE4Y4MAyYDQ40+t8GGPWItaAQouCtBKsZpTpiywc98pu/+Zt6urV3wZfVlyWjX7jj2PK1d77tjnDm7qNwfHUAHYyHmUhBUdlIFnYl9dc5t9ec8ePzt+L+ywjO84zjV6/yupzKejpR5XBIyoMhadC3lzsHMLm5bXevX7fbG9fV1s0bi1s7m/dt7my//ebO3lteur6zcvHGfryxO/WT2lrPuQGM4JSxhrOoJiSZND6/tjtTX65t/Ok063/p7rvunN1zz53k9Mm1sLAwcHm7p+NWt8nanb2807qQZdGXU8W+sTB98cpfO5YURgy4EDJLKWtFjOXcEyFBsEgkVFJFKXAIAbMWiioGb7zEeZ+MSuCMEsFwNUB9Q3gwJALCuHFAjCMBsw5sFK2FTDdX0IkAnFTNXGSL2OcO1JK36VmzMB43tHIy2LitaW+h8Hm+67IM8+Pfrc6ib30Vu/V18Ftwfw1abkQeLmWcXjrWTqZ3L+bkjm7M2hTNsZxGzpoFbV2KTJzulg0eIIVvdtrZU8eOrVw/fceJ6WBxqUzzruYqDyrtV3GyuClU9+uct77irfhm5e3mL/7IlVJNBizikHFiMqsLAk5TjvQFDxSAgZRxiFUa4gRulSJ2rCGBV01DrEUeAAFBBeHYAEMcpcQQEdk474X5AEII1PtRZZrJ9mQ8fK6umpuMiSpNc99udW2nvTDrtLsX2632E1mkvhpF9OkuT650i83pD2MrHD2KwEuSyiCU5B5IWht3tKzN29C//LTRzdt2DsZr37wyjK6O4ca+Tj5D2yufbi+ufnp1pfOptcX+19612Lu01JU6U6EjqDreaHZkMvGdzZsVTMaeeiMcC+KAeHqFBvpCMxsevrLOmZN8u+0OwyEH+7yQ8ESaiAvLS526lzKbhCbY8YELxURR2/SC0x3TkFc4fHv4930489736g+fPzwYWvNsTeEz/aWlx44eO/Hs6TvumKwsrxo8MII8G0C7tdwsdI8MlxdWbyx0F55PBPk6Dc3z0Oze/OD731/FtKpZXdekMmbuWhT6vDTKQqvT172V4+NsafWG6i08Hyft5xKpbvzh+nr9892u7+dAk4jILAs8TTxTkSWUaxqCFgA+Rj3ICaNdAyQp0yN2u4m3hqr19THP/9S3ex/tH1n7+NEja59azrLPrRL3zRV4afKrsCX+5P/2v+n1+wsrxMfLjaO9WWVEUeoQsVjkMpI5lywGhlbELBDmRN3c0jGl+gzDkWKMpzQACx7t0jnmrSHBWeAkBM5IYLdWYN9K3R3MqEf1ZQxi9KeCAoIFQ4k3NDhPnA+3btY1fid/WZ+/r1De/OJNDrzJgf/sOIBB7D8tTg89tE7gPDCwZd+V42PlaO9YMT68x1aTd84O99862t//kdlo9rOzw9EvVtPiV+rC/fJL25OfurY1vOf61jDb3BvB/nACVWMgYBQmpAESSgBbENsUsTF6QBm/Cx3aSZO1l2ZyOfrI5iZ7lcph9zKdHsRyKWsvttPkjkTItwKEpXFRQGEcNBjXHe7fWqq8Y9IAl5jiiNpNK6svdy30b5ZiIHcKwS4x8M+RmD7FanKOEPnS1LCteMGMSLdp4tBkwppVZs1xU+n2FDOlqva4u0HBYSBhcWZY0qosFTNMm3TFxC1n3W63m+7a2pBrfTE497SV4RvOqaelrS7gymD35s2b5dbqhdAmkidRFGVJkkDwoqpKKKsCXbgFFUmgBHAiRxklhEIggloa00NGdc05JZx6KoIP3GMAwOUpUOohOAPeWwACIEXkoij2jEn4zrKyOSWMefzCxxgJpMD8RnJ6S5c8DvbzR0yMIMpqKtPdIPPrnMorGKtu1sZs1EpdraS8HBGzocbd4eTy5eqJJ279Nlbo9/tmk7Gpq8PNWNKrqaLXe61sdnSxGx9f6pzu5tnbMeN85+F4vLBzMBTbhxMYlxpqF8AHlCQEwLAEwBnMqYSAJ2TIdg/U1ilxzeAiAVaKaVO1huNJtrN3yMcogVpjWhdyxL6FLfXgRRkCL3zlazFKdfvMmebQZTOXhpveNs87Qp9CHj7ZEP6M5sUFFjWbN/v98uEPfnC+kAznzkWN53IvMPFS3k43Fhbaw9XVjm+nFIiZQT3dgeHOddi8cpEUw4OjTldnLJi7GxuOjurQ3R4bvz/xdlJx0jiuIfAhh/pKtuB2bjxpqgceeMARQsK8Pfjgg/7IxcNyDOUW1dWLYJonnHBftt58HoP8ZwWILwnKn0oguqKXYb4hEuAvuTz22c+yx+4bJEryAeCiuyqq5f2dg+61a9fzza3Nkzv7u28fDg9/bDI8/Dnq9C95Yn7ZOfLLY+J/YWN78ldfvL7zlivb+4Obe3vR3uE+6vIYmnJC6skhHe7uquHeYaep9TEzrXu6kWrvzHnynSQgUYQASbV2rcmw5NXUAaZuzgeJu39kq9L+KevgUsSjXSgxm3n/+3HIy1Dev77urtV1HVm7aYV4nln2TRPk04zpF4gxNzoNPey3G91K4w4lbGk200lZUWVCjmelKyHJBhOJmwmKi21K1PjZ/qFDyLfhY7KOz2esasFWRZoXiQhPNQ3eW62NE53O7IOoN9gftr+wzBsjlHM0dg6E90AFF0QJSSIpA3jnnHWWckwD5wNeaUY03PiQMK5SxlhE8D0llHL0APgIjFISRyl4mePZTbhZNux8nkbPddrti8uDxWm33TOJSk0aZz4RqVcgtQhszDw7qCe91x6GzcHdbu+b451lo3TcbMVxuDZOmy03dYfolqq1qGgLB/cREL8Egf4dG8J/q7bwc+PavG1nWHSHRakqa0AqAZFSPhLKqghHIPT1hx7CnBtSXbt0dFD5pkQIJOWcxYZQPoLgrxFD9i4DlLhA9Djkdp3jdIi2SL3fQDk+D9Y/K214MUrDjXLz+eL973//XDa3+k/AlaOivlRq/VRjzTeVoKOEmcCqHbCjDVePbjJnisVgTL/cK7LyG1M1rEtVNCTeb3zYr70bGiZmXqToC3JDOQcY3IL9Ri8Pr2wyG2W5iuIlJdXJSamz/VFFDqcWSisgsBT9ALsZCFyPPd02kapxjoAN9wfXA0dHWM7sQcT9TpbK3V4nrvud2CWKNoK5BoJtnDfGu8ZZPiVKmiSEZtG5+q6mqXrjoqKlBeJ4zHhrgTme1oWhs40ZM9/J4/mchJBAtS+JC5srC+2DteV2udCWpKU8Vb4BaArlmiqzHnrgRIQ2QOfjfvgmwQGDQAjcIhoBEXwI2OaeHz+C8z402tx6M/9sr2xTKlKUqBHWGa6NJc6h+LEfCR4o8V5yYmkQvlBNOIOHyj/zM0Bj2pcsinsIr6t1g+rjaWA0EB47meRF0urtZq3W+TTJvikj8vWMsIunurI80hFHI2bWgqkWZtNZVGIUoKrDgmxpz7NZ42EIvJrLbY7et7XG0QY82zNNdYV4c3FlqVceWezbPE6bJE58HEkjJR8zIbcgia7WvHMTU5+LioQnGIFzUZRsdLt91+sObKe3YHuLy77bX2jyvDuMkuwK+oKrVX9l+qMYY4fdLs0yqbzWcVNVCfGOSSAkloKyAMEaZ70D7T3VobamKZvCWj/xhI6dJ5oEAhHjhLtAfdWwORuFoPJl3cdT8Fco076yPJAaddrwKHaBx0Fk3ZD0lkI+GIS01RkyJV8iPLqU1mz7gRMw/wu3b7PnV0D9wNtsNCKTccGsQ8UMDIwNYJ1H8wfwAVWPCB48T0OQkZsExBWQYhJ+/ddBq8BuUEKfY4x+dXl5ae/o2ir0em2IFJoz5kQkoBZ7F5AzAGCx7WP7i1eCZY4EIHpAAAIhwLgEiUolGKNSUKLYiL5zfE70Iow+TCzUsyYpxhWbTTXUlSeYwgUsRQh2Zn2DaayuGqvrWV1jmuxqi1sBgUQzGbeHnf7y3sLyyvby0tLNlYXu1U6iXkw5PJ/wcEVQipvD8PpKCly5OhOSrFEGJ6tGd2ZNo6ao74bl3KueI2n30Ml8j4M9OITe/C8LbskV/UDIeFKUBWwSay4S667mUjQLScKW8kTEBDQzpgZvLaEBJVfS1a0ukSpWMlaZlCInQJKqrNg8PhKMbaiuYIMPhBHcEEENfuxlMubrjWmlGHjKyolxszFGFCcMZYlDJxeEbM2UbG/GIn2OEvEMlXA+NdHG8kxjnvTArb8MeRnSD76G9XXqi5GyhV5opkVnejDms2lBykY3ntI9xsklkcrzXKpOEQAAEABJREFUIRa70G9X3wkR/eiYU3aTcboZRfKg12k3rSz3MeoCOLSzECBQ8Ix/y781dRXtH4zU9Y1dsz+sfWWlp6RVM5qNXe327BhmH//RvsG5ArbX1LPWz+qZ8f5FSeGZVkIvpdKNM2G9CLUnthKg8ZTU6UFV6l7DxvywaZqDg4OhUrCRZeZqWSZXqyo+gMU9fRxADu3m0UjQdzAqHtifjN+zMx7++NWtrd7mzi6MZyVoF5zntMFtqWkV/EQTNZ6O67HI6CYFej5vZZdb3c5ur79gOp2Oz9LcCikN43wshLhGhLzAqb3cZLPxnKajjaIQAh5yVd1gmhis5syj2ikBiVAgkOGUMkeAOrgIAOjb8fq6a0Uss3XVrWflQl3MWkXZyMIGh0gVXql9r+QmEXSHSzL9LqB7e7qq3bj29JL3/Jrg8ViwyMRcQiZUEB6Vuywb21RmPCW37GKuqxoiQYEl3nnlrBOMUCY5p4pzCC4QYyyBW0Xdus4vexMMii7IxprEeRuRAIESIIQB9+AZsp1YHI1SNYWrmptwswyqvcVBvhiY/Fq/371y9OgKDHotl+eZz7MuZFnPpWl3FiXpFS7lJVv7m5PL1fyvq+jDD7+P54xlipIOCyGmwQoIlklGKaeEgLXojrwDyjHQjoC3iScxxXSFYR5CNBqjpWBM8LV3ruLe1YgzSzdgzOCVcn6y4arRcDqbVpfrymwREJVSrRDHbaqidkC8RmmWX45V/A3V5i/O6oPhj/YP53r+CoTXfysBhHEudtYJ7x11mJM2dUObumbOeYKmxzxw4WhQo1HDCSFhcFdcMEI3grZf7XeyFzFWD1dW+qbbzoEFBrjG8KmIdMzpTHEyir0eH+k09rVYrWxuMr1UKF1WcTmr1cHOkI72J1DPdLCNb4z2U93YfZT5xFtXGatL62xlva+0pYUn0TjK+gdZr7fXW+7trJ5cvok4XO8l6krC6DMMyNPBqAuJjJ7qtVpPry73x6tLPb+y2IdWmrk4yX2/v0Tbnd4sTbNNIdllL9u7Z8+cubWGTVkh0ai61IeuILTFCYoYGEPvSgXjZK6TBIIj1H2Hb3ktld//ubeaMlA89kDzACFzzjHbaIKhi0jOKGec1XXFKz1TzhWyGqIaAEBmOYWm7kBtlolxR2zjsqoG5mhMqMq9yNoNUdGQ0niC3b+rrq+vh2Izrbq99kGv27pxYrVf3LHSpcsdqTLhBHWooi60Mfq0G01loaNDmZBLaSqf67Y7N7DNcC1VK5U4FWeQ5m2dtVuHcZ49T2N5kSfN1i+caTdf+MKMVzCMYkI6qPMd7ywN3lNckrEkToiSqBXGOmO1b7QOgCWNkAwuLcY5yxT3XKKLIxZc0MySkHiAXAif8f4hw+7zGmATTGMAl1X2amPomLAoCJWBinMrk3aRZm301+3nKRNPBx9fy+/Kx/N9ivngN9qSbm+adtoHaSu3USKAUkcmo31+uLe1cri3/Z5ydPg30bT/Tm2aX3zhxvY7LmwMu3uzUBcN26aBXyXMHKTH0mYwGJBUxj0S6InZzLQPh4XY3h3DeGx40xBiDZuA5fvBu/0dk2rE8xZ/8H67JrhvVE39bq3rp7lkzy8v9WbdVDQZa6wwMxdMwZq6TE1T9+rC5rcHvo4H1BEfG5gneecx7nyp1c6eXF5e2Oq08ypPE0gi3E2RSS1FfKikQj+kXkjS/IXYJvuwsYH4EogCo4IyFkvB8c69CTQWcWjnPd1ZWC7SrLfJZXrRC7lhC7h18rK9/QVOBI2UYhljLibQcEo0wcAGUjJKgDDUIel0iAPq5t4ewHjgZ0KELVTGC0Ko887pF51j10MIB0myZ4/7vMMDfXvO1N+UTPxd3bj37u9Pf3481ceHk4YXRc2N8YwDo5wLp7gwwnI3K6M5zykALsoJm9tp6glwhItoOEappwy/xRpIcME5H16m4mUG0yYSBnwcCKSBOOWdhuA1CwE9KeBbIIFgjGACPFzEM9qXh715fZMDb3LgvyEcQNv/T4vp+3G6rLdMMGbmTd30y+EwL/Z2++XO1lq1tXm0vHnzjtnNrbdPdg5/enRY/rXNvfKvv7Q5+4kL10f3PPPSzezCtR08QJpCjRHTo9/xYCBAja2iNpjUeb+qLdxnHLm7cfzYjLA015gQ4Lzz2qhFmmBcTkiESRFf8h4W0HkmBcKr8YMhAGHupjkFzF+Cp7gA8cwzLkKeX8A14mOYXP1h/YEP/JvJ/+m/+OPh7/7uHxz+F3/8x8N/82/+zfyfaqr6/Y+bdnvsIuMiqHTblU3HFE1UFw1ozB8xHwXCxbx5QGftCLeOMp+m6Rw9mAcubPr//P/8f05/9w/+4PDhhx/e/4M/+N35ffyHf/iH9WOPPWbvu28QCOZyBAEFoDIQDCqItwOLHLHICweUUsIow7wFHwOh3uEBUoU8coE0GCxYIIx5oMF4IDiCMQRAA44P4Px8pUocBW4JME+NCPCasjWsiAsgOBVKMhlJwgQjlBFCgDAOREZAcLMIZFQ6Lvc9lYeGhwl0oXzkj/6oOPv7vz/7MNL3R/Pns+t6ThNgMAEsSLtHms19w2HDowlbbrmFYy359ozYnx3u7/zszZ3td93Y2z9yY/+w2hlPNoZ1c7kBskeFqCQnXhFEDOEQQNUONAQPiCqSRUighQwL9RKpSCIwoCWN93GhLSuMI5UD7BhBgHlTgYCwlHLtmbTTtvev4rW+/nC5/i//cDSX++/93u8dnP3d9cOzv/3b44fX18vH1tct4DyAKnT27FlHAhkGwl8Sgp1DRl3q5XHRTqjLuEHoEzDTLZjsXiLVdLvn7OgU5+6dDYS3jx29c6dk7b2SqzEG4RrXNYHQagbV+PJXvoKLuPdY8vI8OBXglCS8B+f+jd9YL3/jf/3b43+8/n/ZX/8n67v/x//t/3Zb2MmWGV/a0YfnD37zN39puv7e92pA/LD9pdZ8dkH2MtlptcTJOGb3WFevjkcHrY2NG+L6zWudm9vXT+4Pt398Mjr8a/Wk/NXpqPi10aj51dFB+SsHh9Vfu7Y9+isvXLl58urWdr55cACzuoCymsBsfEDGB3t0cjhMzKxZCgY6ICEewH0UXlNQPhT5zzgXCSZPSVE4UhYe6ppAmK+hA516Z2+Cc3s1radTuemQcbchEOTJXGbrDz9c/st/+S9H/+z3/tnB76Jsfxtl+zu/8ztFazLRnHQ8BJqEQPNaB1k3jNYmIkzMF7UtE0V8JCTMVDlrHgDUudvQbz2g71j3/+gf/W7127/98HiuP6jnt/QGcb8tT8sxzyaUWh8YRRPlTFASbtnwLQtBGoy3jfbWeSbsbbvsEEWVpEJyUJyC9A5zOsAhBJBPqM4EjZvzQEhsStOpZjM9RLs9zKQc5pHSqZJeKQ6cMmycJDwiMVEm4aLpsQUHALfnwufblaAeIv56zrf19d+fPYz28YEPfGCuY36lk5zOM/6As/WvFMX0Vw4PD3/h5s7hj23tHJ7e2hulh5MZLxrsOp+Ty8BF4gFSTM4jcnBwwCy4CH15XDWENoYT6xQhLAqMyRoYGRLuyyceftggMt+G2ys42X+Cclv/l+toq+uHv/3b/+vx7/yTf1Igz838exxzq243ZX1g9U2tm6erqvkqJ2QjE75o08JLfWhJeUh8XaB91ovI8qVRPO3OtM9K9B0T790IoBkT6gvGg0EaLOPozjXScQv8G7ocPfoWmgGLFY0WYqbWnAm4y2ph3HiogwheRAaYGFFCR8GNi27xgn3NBOHKwQ03M6OSijDiCg5kzAqZ0IZJqAnzCMVogztijWl0RBofmgLdpW0zapcBdG5MwzT6QhcIBCqIY9xoKkz7KA79PvKvrWkChAOp6I5SZC+JiVbce9KUEOqKel0r/B7Jcuqxx+a6COQ1OL/hR0JRr8m8eQQUXm5hfkdQJAREOgCU+OHlunZ0DWrjGWovcwEYxjZwaMV+DgIRox4c8c6A1U6WCY4FuHBhkzjQDBHF3VgqPAD1wROP3wbKkS1SqziZSan201a88+C737133/Fq2s2B5hEsc1IPnCnSpilFYy3RgYMhylmaorYz3ewp9zJ2335dgRUDxIzB1BsE/OUsjvbSOJolSmjBqCckIBk4FJ0AeFfvpk31fzp7dtIL4z0p2aEQooijKCgpsMmQRIqkUQRpEtlIipkANhucS+f//KTfWh3i+avhEKxA+gWFQBkNwCgl6DCQYKQW14TeeFxIEjOtYVI2Ybtx9EIIbFcQ3sTB4yK7gqicMFVOU1kXKZttqMvdT81B3CJO45GTNY4hCxVQ3DERSeRVykPUoixpMZGkRgk+zSI+/crZf1Str697HBiwveFqtAY8yACDLLKoGQ4pQZmDDw5jgEUNdgSAsACeGUrI/+fCE/gZ35B1/+SNpFCZHDHBDrMkaZIkASUVCI5co6g+noTggvfe4Y9/ffjBDyo1+toQKIIOwUPAH0IJEMoIIS83SgXpE0Lb7WUBVLUUk4tVZeZ+gZWoojoo60VaijjdU2l8RUbyPJHsaRDkSSb5U1ypp6WMn1Jx/mTa6j7R6i98rb+w9PhCf+ErC53WFzuxfCzh4Ysxp5ijGNyO+EE4v/y9hYpxFmIgtueDHVS6Tspai9I4YjEWEZ76wCJMqXlZeldV/W/7hYrwtcO+AZjMkJljGsgk4dwnjAECDNJ5S53XYH0zF14Uz+PC+flHVNMgKAPFGBGEAg0YZr3HnNej2qBUKDD4rlIUYDRiaYOzFgw2FKUATyPwRDVAxFRRts8IHDyG8eKRP/onxdmz6xowfMIbKB84eFwwHccYuNq43ZuUo4pUMw1aexsImyBqW0LADdTJyewAfc53wOaEFij9XUvITU/YgYoik6DJxER4arwmxmlHwTZcIKUAW8MhqZtClE0lRtPSj0rjZ3XAVYDEKaRxhNSOGAvr68icb59sfR38Yf9HDUzhgFqzybzfUgyKlqIoAwPK1Zy5Cg3VdAV1naIBORyPA8b2Zn19vcQ2+/3f/4ezn/7pZXv/CrROrCb3HD+y/LO9dvvvTJvmV6/s7P70C9du3HPhxs386s4BHJQNTD2hDRXMMOk1k7pEUrZd1NT1sOq0l0dpK5tFSdJkaRZiFaMKM6CAfg8wpgiJDoaPBs2lyfmzZ82cpp28TxgYhWJSAB5FCJygraArA4LkUsz/OWFeMO5l1g/46g3ValhQUkHqS5NU40rqyiKrgguEY4zlBzxWW0JGh0qI7zoMhHPg+MyWTUN3jKf7lKpSMGoVIyGiIXCH8m907SpnYz/9lnxqpMRSAp4REhgQTwmxBPA+58Wt9jIRzcs3vEZxQ7ikFIMUA4e+1hvAAYQS7A7IQPBggvWNbdyotvbs+ofMPA9FQY8bw3YjlUzzPIMkxtghuOfo8yQ2JaRVQk04k5NH/ugfl489tm7PnTtHmkZRz6xEBCNCvGSEMgqMUjRJhu3WtJ6CQzqLSgfvZ9o31dRbe+cpswAAABAASURBVMCJG2UxsYo3mE8XltEiorTs1NQMklgnD6yvc8CystkNFfKiKhw4zRgEgfPNp4oI8CgEEdUkUWOI1J6S7fHHP/CBuV56HPqGq2s8C55w8ISAw1BhEAzGkIAaY5wnLgQSCKEUFWqMpjif4D3vWbeMy4IJsZNnyTjLYhPFKiglQXAJyJPAKHEC00LJnI5i1uw2t/Ko+fBb7ehbFJUxxNb7zGiTTaYVmxbW11ZaC/GIsGxDsPiC5NGzSqonlZRPRlJ+U6nom1Im31Aq+3ra6j7e7nW+0llofWVxufulhV76+U7MHksl+XJExXOc9/cymh0mqZzksfR5JEmKbIwiCVIowoRiSkYO412dJfn0mIZ6bluIYGCGMcZVTBmNGaWKEsYpoZQSQhgBQiEAkhhAa+z+xuu0Rg9s8RSCcEUolxaFYJDXFpDfFAgwTxxonMoxKi078/J/QYpRoyZBm8jrJnGNTquqlrPaUAOYwTCB+iF9YEwbWRv43iX8xsMP27yVlCpLh+1OpDsdSVpJYBGqPyaJ0tuQEkcziR3K0PZS9qdRqztM41aRqMwqqoJkEpsArjiwmGue82HUysZfOfu7t/KYfn+JxPPlGB6yMkIiCGjQFChhFFk4R8wDISR4TEqbxqC2nQXkvhGcl0zJMsqUztoqcBVsEOj5he8GQZadc8v2oEkffPBDbA5l3iZD4w5myBEnvYOYBRZDYFHwXDkWp3Xcas26jB1O5WYx/9cRcGKcbz7yjTXEa5fK6GrayQ9anazudCJgoSD1eCcZb19dnu3dfPt0uP/A1o2tn7++sfuei5vjn7p2aN692UT3DJvW8qRMEjERhFKG+sPiALRbN42cFRWZlTU0LjAXOLNzD4lpWgmJbr+8/vguRNcfe8w2S6Yo9WSTMbqdJKrKZHAp1cDsLHg95VVTxHUwrSZir/ArkO8C9H1evOfvr9fxSTV0zu+gzeznqShiSWwsKHBCQFDqBOM1Y2JEGR/GXI0Gg/7tv3jjwhIugFFJleRC4fcy5hGNeQJp3PWRatWMZxNK2zN17GQDAESphkWcCcVFzCkRhHicyQElQDhjZF6CD+jqCXPAaYk5/hdmy/a97/1H1X//v/9bk7//9/+Xo9/4jf/1+B/+w384+63f+q2m52MRCXna15OfqqcHf3Nva+MXr12+/pMvvHj97ktXd7vXtyZkWNS0ceitkShGqMOpHA/ghUoCYHFuRC0KygF+CQEcOEIo4kX8/Ft8A2Gefllj8fO3qocarTgwD0EECDTguACeUgrYcDIgIQTrDa7ArmXbt+b61ug3n97kwJsc+M+dA/T/bwh6FrnSpNODIRtvbcvpxo1WefNGr9y4sTK5vnF6unt4/2hYPbB3UP7s9d3Zj13cHN39jfPXsudeuoEHSLiVrg14dF0O0waPAQOYmTuoHJO9I9qEtzYO7ms8Pam9yKBI+Kt05tOKUEuZpCwXgbd040VlPKnQQ849uCPox6gHdPyEc4I5o6XBO6qVoNPpXeRVOD/oTp0WoTZST3HhUTZU1xpMYyAEhM0ZAELCRwiesQCCWQpULx/gW3hdRamIBEdorR0PXBCGiSuVuO4gBlfINRAmKMdgRdDXo4+mjJJbso7n0GsAThhhQAlxARi+Y3ghnIJHDIzzYG0w3hBDLfGEof/HPrcrJnKSSaaYlKmMEkGFpAHDAkF4QgCL00Cj1AQVY2iiB07wMu7GNl9dRebehvJ9H0IAsrG2IRNClwT19wsG/23i9P9kdHDwd65v7dz/3LWN7JkbmzcvHIye2jfhcSviK1GcjnLsnFKAKABg1AIkBkFR72Eu1Jenm0YVRUwFZyzC+IvZFaMVdiyDAwu4hsAWsAHlngELlGEofXnoG75OJJkUNVysquqbTjfPZoqOMLnXfUybMlYB1ftQja6RpthMrRuuMeXfHTj9sdKTdx00YvWgVq2hiaOZ5rR03ifFwOLC3b9hRHDA+9///kDIt/iAr/5SqyROca4X4kzek6TsHSHotelsmN3cuk6u3bjIN7auLA9Hez82m03+elVUv1YVzd8sZs3fnE71r01n9pd2D4qfunR9+57Lm3udDTxAmuoKptUUxqN9GB/sQzEaRaasBrbWHet4ugcDCiGQbxHxGL0Am5KLCLnLVVlBKG7tYQP2Y0ApGAA/DcTP3LSpn1hddTgWNQWvb6AGYwUm/ApPfWljGWkMJ6jwFOeFSFGTRcTmnfEPJSN4pQiDqBqPixMJkse3FNhYR7z14I3W1tQ62MbXGp3WK2PKxhABlkpGBNLKPWo9Jr5o3oT4AMGFeQEfPH2FZ85T11jqHe4EeCd5CFLiyGDnAwimuZjBZkz45JX+r0z0g2/kwQcfpAcHjwvF4B3oGH4N8f3Vspz9wsHh8Ge2tvfetrG1f2Rj60AdjGa0RL9o51JgEhhHi0erB6dY0zQM6VONh8j6mDdGIa8FzDNyoYRHxJsAci7DH4zRf6DHb/3WB3T3yM3d/d29Zw/2xl9Ca7/cFnS4lATXhplWdhS8nrat0yvWuuOgYWXqTbcMPp5SYieMFTMp6jIWVR2rUmeqDr0EBfgfmPT7fHVvnBMFcZzQuBPTaIVhjMQDnTA1DhqKkuKRBSorRmWdNmCHw5//Nj077Gehst544gpPw6EXfgoylET6OrDQOOKa2lRlWeNPU3lCNINgEs58m1Efk2C4swgYA6gz3hMIYe7Zvw+6L7+O8NxJh2mly83alBtchIIGjCBVAb4qiG9qBsQj4iA34gMGMBf2y0Pf2HUJQArgnAIqKA71t+6IIxAMpBS1nEMIFrdeoMSvX6nDSUG4QZ1mjBDKiEWqHDDwBCU9XwV579CQDFjvpkV1GzlnNUL1GD0x/lGGkAEcGpHH/gSIkZQbSkBbVNLz58/jvJwmjMSJdIsUmrbVhXK2Yho3V8oGQuOF81x6yrLbc7yC4u3b+z74sL3itmcAfjsEcpUFuMkIHUaCGZSTs1ZTa0xsnVWucaIarhICENITA88AgBIARgAYUseCRQodVzRwDNA85fOu8wwHO2K9D5u2E4JqxRjDSEg9AUCeBn9rPMfFHrGWBOs84q73R+V4UvurI82/7iC6qkQ8zY02bfTRrWLIZDls0el+pz7cSGELBIJHeCgaU/PQIM6N7RhHu5Yluaa40qeKOxEJUJLJGLG/lZjgqL9Arb0PzlpvfAgmUPDoU4DSAPjGuwYc6jYBG4h1wWKf1bvuD6+dLnFoXYRJD2gtIUAAisMlcJYABB6sQzla5/HBR1n9bWNfC+f1Pst56hYCHi/64L1F54wgCQWcGucDZB7KLBDCKKVSZirivCUYX6xrm0xrx0qIQMuWgaw/yQdLN3pLK88OVpe/kC/mj+aL7Y8Nji5/fHF16RNLq8ufXDt27BNHj538+NETd/75iVOnP3by+Ik/v2Nt+SNHu/lHFhPyySipn9Z1sQuvs2C4ochI6b3JnNd5rWtZa0Nri9yjaInIRusoSoPbUMRucO4+JO5bwN///vUwgD3vgXokzyvKkcNob02DOafDkd4E42prnJ5VlQcA30ADhliCeo7xltFIcRIwa7Noq6i6AT+g0PCKnV9bOfHeB2cI5ZYylKMlRBtCDM5oHLjG4CxGa1E07rXj3ujzcv+kCE6livA0NCEqJzXUpUf1I5aCLEgIh47ZPW4xI3z5QO3bpmhqWteeH+I5xUbtYJ8wbhFWiD2uWGpbgDG1ccZoh0Z6a+Q50LbijWtYg5wsGguzSgftAkG+4nRzb3Cr4/e8vH99PczGVVNiRlTVzYEgtMmVojFxGDYazl0VKRFagvsWd3UETZu9BhDBXJQOz59XMU1XhSI/FSfR35WxfF9jzN/Z2Dv4iWcuXTt2/tp2cnl3BLuVg5EhqgQVOx6h7Svk/1yum3DffWfA5ShWwjkXgiuJ2kAY8dYRQJVgSImUzBHMRh544AGPOARskA7HhJBAKCWMSsbRSBiCYNpYghIF6gJKmHruSIi7m7fGzMe93sbqiPAGhJ8ZUY8q0KUhHl0iBIaLSHYYK7lDRZgGNMPvhPng2bO+FWVN6cjEeo6OlteMgpfUgQjWcWs0Mbqh3qKNvCxP5KdvHEWlJxaCtMQr7xscpAnxBoAThiGQg3UOcAkHr5Y8U2H+zNFjYO8QnAEakF0MKD5Q7z0Y6503zsXaIf/IvDvoRoU6oLAp85QxYLgUpZSGgOjgFTBCAmIAqZmf1z00H0QexJH2yjZuKBoaGIZADozgQBpiStCKSZCEMwWUMkDKoAncF8VmNT4YHurJ5Cax9W6/I0wa4a4xnxjOZylVeoAEHAnEdPLNTYmOl2ytamaFiFygiwTEQvC85TwVJjDiCCcG8Wwo8Q3zLu9NcTgi9kPWGGMPw7EEqA+4j+oMPoEASjmgEyIOLAnMgwUAFVW35+q101vPUklgUpAABAihIIUEijoL3oIglqDq4sjvrjcOGxZAYKbpW9a5dlE7VhjmGtrSTvZ2WbJ4sdVe+2a/f+SxlcHKx44dWfvY8SNH//z4ytpH11ZPfOTo2ukPHz9++s9OnT75Z3fcufKnd9+x8Gf3HIn//V19/V+fyN1jx1nzwj//5/8Yt+wBJKFCgeeoPQwlA4JxQimn2mKmSAiTUUK94ARwbf8qplxGRFDOCGUcrQy/pGxuaowx1DRLwGnCnH+1+xu+L/QXgHFJGZMMcB4bKFiKYDkDQ5HfxBOcmVIZiOSMzA4OyHySabVFrC6pLivWVA3MyopMy5pqT6gJwHzAdGhuMI2ed/9+LdgosZBEhUwpPgaIIgeSe0YBpNdBoS4kkVpoKZWoEHLKWCtIkQbBYhAgifCUImOAUE+dMIwIEyhDDF6ZsTUuSEtYQpG/FAhDADiAk4AvtGmIsxo4p8iDVwbgrXvfsCEJTHnMJ0ke1b1BBnFODYk8BRGWHPfHDYQTVrNO3T2v0GfQLa3ZYePlsCZx5VWkQyRskBShY8RE7KQQLIo5tNuQv849GPg+Zbdwm5bz8/lC58bCYm+8utQKudTgZ9twcO15GO/cOIJyetf+zs4De/vjvzGaNQ9OG//3Kg1/q/HsJxon1rZnMzXbm1FngrAuxLWuaG2qYNDCPEXDZpw7KrhD7nQs5RXmud8HHXy9510NE/BhQinUCv1rQuexa0K8ndHKVtJQl+GqPZ0tb/MHH/ze//Q9Avre9XMADS72iNeegvGC2MCJRU9hgXj0TgE8oKETNComXHgVCCEQGMoeJLDAAUOaiDpJqnBdx2XAnJfGnNOIAjDQxoXu5vDW2DhuEU4El1xKSigDfBtCAII/nHIET8AFErwnwaK/xhffWQm+IAGAzIe16ipF3N4WdPOzuhj/2u7m5k9fvnD53qeeemnhueevR5eu78E+blJVOJFHM/TEzylyBg1PxC/7t6apgyfgHYA3iIwjHggNBPCtn78FHEzmU87xg9tFKR4cODDIIodeNCC1BHUfyaKMouIgHnyTAAAQAElEQVQjimgHGJYqv3jmjL898M2HNznwJgf+G8EBNOn/tHieve8cmVlOMUOCxqmgLcZpF6EriYBjLhOhI8olDzH6WFxLxEylkQHJJwbQYSrLZOTiWEAnZ9BrEUgiAM7RXWL4CWVB3HQSFeNpty6bVePICu4VZyMj+XdSKTiOokRadIIOHRz6ZGAMAF02ADpIo0uiqxkH7zM8i0kSlsjxoqLwOgvm67hMcM46pxGGYxgAJE7A0KvbpgZnGumtSzmTbUllbAJnAHe+TujYzQAwrkiSpOCcIzXCnPtx/Aac9S97e4+MCTJ4z6GYNWSGJBtNghIkcMaJ4pKkcQbBcWgqAI8xAdGEgPyoq8ZVZWUBZTKH+drWOzhOFAY5xYXkjEXBB26MBWs9OAyzgSC7uXQgMJchonZE2OkUITyG7QfU9XWg/+gf/XhUTf2dejb8CdfMfunKpct3PfvchfyZc5fTizf2Wnuly2eGjmtPrmhnns2S6EonSw8zxW2CPFYYlDkhgBUw3uGM+BQowQdoNV1CDAYvH6h3llhdB4lfRzjOExQVJjFAAjHWKW1t4gTJRMyQoPnoN9ZaL8W6qcTQ2XAVPLmA/L7aTdR4uZvAQswgwWWgq/ZAz/aYHh/kk929E/tbu/fs7Azv2h9X/VHlSGnJuLEwcdZX06VvLV7gDZaHHnroFv1vcNjr6v7Zz36W8zxe4Eq9HfXwrbXRJ3FDQ1EpIWu3IEpj4BJZiBgYY0hTN8w7z7yd602QdYUL9NpS629tEmihpI5T6ZOMY1IPEJox+Gocca8XuXcL3tFWDDfl+kOAEOFWWVm5izRQcCxKChYLxgWjhAY/z0sMcOJCgglNhPkpV3G4NegNXLYw8Ra43+U8pmLaa62dAw9BUAYEdYkgRMFIoJjUORjMJ30D0L+7K8MFVPCG4AYdFVwA5xICYcG70DhjK0zqjA64O/XK0AR3egh4n0SSpnHE4iQmKlLAhQQhRGCMGw+kMtzXuKyyg8EiCBLdkkE1K30xK0NZ4s47ZuGUU2qtRXZbAZTzQTe9zedXpvu22/r6Ov0H/+DB7H/xvr+98r/8B792+mSveWfXJA+cv3Dl7ovXNnsb2wfscFJBbQnMSg3FrIamMYB+C4UbCAWs2DxSyF+BjHKknTynsYqo8w7t0QDqDnAuiIojwJeBC4lcf2XAd99e75vw4INnvbZyjM7ihpLi5kIvn9x1coGt9BRtq4AYkAF34S7k+rsEJ2+vjbu71M1yA56FOGrSQderVo4HNXwUgFd2JNzrnfy1/bb2hgTzdtRQrxi4zNlGWueokBI85cR49Eu4KWYMeL163L927Px5ZaUbIkFcaRp039XYe3eIDB5TRisgAU9ELDZfgHcFgK1CILULpinryhpTUW8roesJM6YgECx+dpEzXgHcPwf/PVtTFwHVzgRnC2fM1BqDa5FgBBLirPfG2AAYYzkuI74ngDfwUmsDjdbBeRd8QPNzFsnzQXAawIXgkDFRxCFJkttQ47QiqpdRAM/QfChDI6WUIE6AuOGOLAKs6lo3pnLqlc2hra3VELSzuM1bWG1w+Rgcxa0CznA95zxYnKdBVt7SX6XgHOY0SVJyEIRTQhidzxU0B68ZAsJmAPenZVE2cdH4+DAX/DaCr3kgBGB19QkXKK+5oDMZqQIIaSrduFqboC0uhUmQQEkiO514MQUaUIjDzZoDxaWqc8I0NUEnQXgASpxlwaMuEUgRL8xhqNw78+3/9KdknKhbDAzEW4e0aZySgBCCcMnxWTgzsU1dsgnu01ydluaLztJvCMou9mJWJTC1enjV6tHNlpnu3CWNfiAtNn/qZ3/6Z9/9t3/2p9+J6+L7N7Yn91+4vLt4ZWMoNg9KN26cdYSVlNE9KfgwkqxpYTh+DSt+qMfgkFwIc9sLAVCFfUDV8wF5EBhyipOA2Yz1QJwXFr98ZZYAQH7mZ4C2B/04a+d9tBXlnLnFC8QUYWB1ITjn5z9GW+f3Xvff6sD3Lhsb4JwOpq6CbppAAkGMCfiA6GFgQYUlglAiKNq8lEQIQzB1E9gtIlwwT1gojPVeKBO3e2Wrt3iYd/oXmYi/QoT8DEbTRwl1jxLrH3HeP8K8/xSC/Ywj/nPB888LSR9nwM4j7693I7W/nETlCTiBBvW90f3Ot5GdUuLruUkoCiH23kk/FwByXhsbtEaGBYGs5QAd+K7y0EPrBOABaIxjzgVG0CgBCKDEgCNkDKvGW1s73dTQFvW5++4LaOYeQrCUUuOdcXVT4UAgsVTzFjih3lSNnZXgB4NzAbC8f309VNOxd3iK6bxBVniMGzxwJYFwzApwTpw/ACCe2P8vUruRZYig1Lg3brVj3iBYh2Q6ChB8QBX03Ne+6gQ/+I4DtVvz1hzxYzUie0ACm8QqcWjYnjjnqHUVaDcLdSilm/hb/ecX6n0I1jvX4NQYIVD9dV3Jqq5iS0RShO/ta+ZD540vdj3y21HGLVdRkEoSCn7egkS0GVjcAfOBoUwlO6C/vv7r0fr/6n0L/4f/3f/8RF5P3o4Zyl/bmui/uVe4X7lxMD19c28kZ6UWKFduDSZ0zgMaDJRFAwE4kzIWFPWXAQNJcyfTNBTFVdo0Q5lFMo+ZaIO2uM/tKcefSMVMKsWN1dKbhs3/AgYAhQbfKqh3xAdP8C2ljBHOkWuoC6hLztbGV3Xj8wurAd7/fhTIt8a9nieMOaTRDdR1BVZbgqwmDCcK1vm6ro12wTYYir4TFkGJ7wMmik1dUkorKYWNBPcRRncecAvQWY17aiULrolyf9vuiEeIIdSz2aycFgUmtNIxJoJpLCAuwVrrBWM+wfj66px1iUswzS2C1RSYUUISRinKMIDkHBQXXlD0BISYq3ulfXUcmh5mmUTVdSOqug61rok2mnrnADWKWOcY6oZkSgmA97867NY90Ln/DAHp9OAhAHpWFiSh6LV8IBSQRMA16rwzxlMnS43GCjeyVra1emzFLi1nrNtBs2WzVpKGdyx207/tCfmVw2H58/+tv/d3f+zghvtrl3fMr04q9otTC/cclEaWhFNIIh/12kamcUmlKKjntlHqW/Ywn/ANtqoC9EMe/bBFNQKvuASKQQDBBCk5EAagXQPW6TCeprd1yFDHo1YrxUEt710eguMBAsw5T5AFyBtCQqDgPWe4JXvqOzbCb+UmiWQ2OGktthACGr+ZOleSOB6lnd6NuN1+ksvo88jORwi4Rx1zj3rqH0Ggj6IqfMYY93lv4ItA6VesJV8Hz59TgV9B3IfVWoxHjwRo3kqo5HhIZZS1muq6gaqqwTlP0qSN4s0kJSwWKhYpHKfwmuK9IYJRqjjDgrQARhDngTNOIqmAAwVF2W2evGboD3wcTQpCqJ3rGfUeEAWM0JSDAzpvxDNCMfAxQiiFprkNL49FYIzqRjfVaHjYNFXjgjVQTibUNnqObkwIzwiI6Pag7/EwbapQ2tLJWPo0z6DV7kAUpYRTRhlQgUjIuja4alRKyjhBwDn1EJMAAunmAq2MUYr6gUMoVY64pKK4Zvq2uRLAg2YqOGfgAyUAlDFKuBDzBwjOAVgAxkWYD3sQ1yLtiFcqSTYWlvr7J+84BksrfZIkXOpi1LbF9F28KH4lqotfyauDX9za2Pq5UQa/eGPi/vqNg/Knr+5Pli8fTM0QXa+WqeZpa8aiqGaC2zZO8AC2v0jNM3XTgXvcOv/vUCyPdFr580eWBgenjizpE8s918slUVRLsLNssn8juf7Ss/FLzz2zeOXChbfubk/+xvCw/qtX98Jbbk7N4sxB2zHIojRWQjFmbUVqXdHKWOUJ6QalFpo87y8OQCLOBNt31fvODULprSfBIxedFYKizc55SyBQQLcEaIEU/R8NGbf45rtA/AdfXFjZJFmE+XVouLc1M7ogtqmAoZ2jSVCGFy6k4iqSyBdepfFtPDWXBAgwF5wACIyghGkgjAUmiKeYeskkj/Nk0G4LvbrFAEs0zUgQlBHGI84455QDRweEAS443YSgrQUbtKNBe7Aeh0B3OKQf+tC6/LM/+O38//Uv/09H/5+/s37v//1//4/e8c//6f/spx6/cuOB56/deNv13eHSzqiA0ayBaWVCURpb1To02hDjDDhvUD0NUAFBoIZ7BK9mdbgP8y7GOp7AXEuhCcH5EDySFYAiNxmh+MYHF8AJKpyMEqRyjhWAaXjw3gWGvBKMEcUFlQytCyiOCuhhgyOEG2+EeQzAvzzqL+36JqA3OfAmB/4jcwBdwH/kGV4DPoRAsu1lbqI6sjSltY/NtFGTxqYjIK1RJNP9PEl3+51sr5Wl+0kW76s42iNCbjoqr9Eovp62s+3BQjY9spSaI4MYFjIBKbpnhg6QVAVxkymvRqNEV3XXGNe3FrIpqSW8UpbyOBiJKTxlAIwBejSgnAJ6NHRrAdAdArgGdFVAXRXcgW8RynKCyLR5g4OAvALqe97e/34IK5txsJy6MN81Y6QhjDjJCGA4AeYxYdC4FiwKVhez2FrXMZZk1cyqevv1B7i5YybOegrEo+cPcw9OELV5CwFJwG88um4kEAA46DDP9QHaOQ1ccGAUqeIUy5wkCmEeIjwAJQS/YyF4541B3x6IZ+bl5AawIGiSTysiY86lYJJzpgjBiUIAQhgQbEBwPEXWEWYJ5wYDJ0LOcfR/sM7/coGV138ybVdhSdLwlqoqf2Q4Ht9/fWN75cXL2+rq1kTuTQwvcH1ZBnZggF2HYC9lEdvJIz5TjM4TBUAsgEDAH2SNxwYec0Gce76RsQAgeCAC5S/wvQg2SAhBIJIEaoDQgLeGBh8SH2ib0qQH0Eoe/NC3/lwcIb2uOv8z+W9cmeIGpN+klF6JZHQNdXtydLkDix0JLemBuwLsdEinOzvR9uXr/a2rm4t7N/cGo9E0nVba1M7vNs7vIV5jdWMR+fi6pr7VKYQAmACQVxt+Jre++Eu8zGH29A1lDCxjVvOuSenumJauj1tijMVJmXY7B0kr34nieJNzvoF82EDhbKCebRBKbhIgG8HDzRDYBqHyehQnN1ut1t7SYrfudxKTqGChHoZQHEqop71gyj5o24maRDwGj9FXSdnaGhIVpYQLwqXkQkmCN8zUmEPF16icBjgqCBGcxZzQB8+dI6+OfT33+86dCy7DPX1tG2d8Fby3qCSegQHqtCO69l5bH4x9QzL6jrlJWtSEMk3wuAC1siHBazTwgJqKj0BRNUNjGlcb46ye4FevAEjLGW6w0SAl4xIp50IAYRy/RTIJDajY1nrToJyMGrcc7k/gYELRPKCsaosnUta4ua1gV0IAM3LqacCk17C6GCIQBPXdlXzwfe8TrfG5zpGEn2q1yI84Z396VOn3bA2rn33h+v7pSzcP+cbeZDwqzLYJ9KYPbB/1YJZEkU+UCoojnqgAJOCWMvEEMUL/1CASAEmaEqUkqolHGTqgFNu8D/GUUkHranpb/t+N2ut/g+SGa+eKMtTsHGhZpAAAEABJREFUII7UXq+XTo+sdGivzWmsQDHr+sj106bU7zTWvsM6f48GOOYFU7g4a+J2XsokGhHG9i0PpZXevP7Zv71n8HN9tSRgBPGhoR7lH9CTIUOIQzZYVC+Mad8+6DWfWB75EIyxztaU0JpTgasfhg6NOOKDg0BqBFMzN2sQVuU8LRFuDeCBM4uL5pIGWzGH2T/CSKy16dbWloD19e/Ja3SOIKWCiCsqRYSsZJ4S6ZmIPVCGuKDrdc5R61371j9F8f1U6TVEfM/HHdyI1OACggwvdwgBH+a6QyBQ5BjShiEXv0uxvVKjIidEe4aoMDLXZ4bcpAFHWdxORiqdMTpY02jvolc2h9BfhooF75xtgguaeoJ2TnAOCowSAiQQ5y1xGMpfmQZGgBz0wftAGwLgOPGUBc2YayjxFQ22jn2jERmaEctu5yM47HYNSM7m5v0s5ZRFilMlOcFAFSyCfrkRnIBCAPzOAh90W+Shhx4ilkcUUWLgHSNzDKwDvGNYJpQD4ZRSBRAkngUygJ+5Pd/8gVA0OcooDQgCEcAJ5lfwSIRHKIaCcyzozUNajg6q3b2t8rwz9FnJxcXVxdQutAONyIhQM+wFPbsnePvXtDV/fer0Xz9o7M9tTuCv3tzXP/L8xb0FPEBiBzPnG0dLYHyPMnIB902uRcIeSoaOdI7QX6AFXwbnjScBwlxZyZyS4MEHB0CCRyIDIw6PNTzyxbCVV/4JOwgBFveAGheUp9AG4gQ6cnBOg0chz4fPwaBp2sZrY71xNXAPf4GCh/Lor70P1nniwHMiAiWItUewOCfx6C2JDygwyHAegzkYfuPnEg6MBccoWIJiEsLKJDdpe7Fp9ZcPo7x9man7XrrwyGMvfOUjj7zw2CMvt0984hMvfuxj//7CR//rP37pT//tBy6t3tPbXDuSFcePLZLl1W6aJINs5f78e+olTv9dtaoxrbMB2ekV8jYK6K8gOEoJ4EeCkWre5tgzMI0ie99xcAlYPnfuHKWSUyIwYQQCgVASEEJgEAjx3hNvPeGGau3OnD8fGPoVlKYLITgfgnfOBRIoMIINZwUPzqLnY6728//LDKe4VXF7CnsFjwUCqgYTc6tg4CkhjswbI2hf2DfB9sPXJjBqjebWosV4R8DjbCjeYHF6g65JO26Nof39+X+tcPa7JorBehaocZ5UjIka80WPxguIaQBrDVpIDTbUjc1RFV4ezgLxlAbHqcV+OhBoiLZ1ZFzT8iR0DQvJ/fe/T2BvlAxev7NuAvA0CVQpwpSiREaccsEYZQTTJCsobSj1hnEbFnIa3xO1FvsLrbdQAz++P5y+Z2vn4Gevbh38xJW9yX1X92bxzVGB4d8fKC7H3TxvumnqW3EMMecgCA00IIV+jgoJlJug2u2gtaQAREjO0pjjwtAiOS5QBoRwxikjjDXGMK3nrhW+rUhKCeUUAgkE6YV5I3NoNMxVxGKaZH1t3GCAB4pkPu+3Df8BH6ZgfQPGGTBWY/xpqDOaOWtlcF6YEDjq1PcFOj3YCcF6Q8EZgReJai4pA0Ep8gGMt67GWK6N97flqYn3jbVNWddY6xIIWIr95z4qeOe8s26uVVzB7TFVMQqYE3rBlZVUOsUERV7jbAF5DjgfCTygqgfqkkFxe5ysMb9EXlvvqXY2WKTTBXRGCHp+DwF1mHrOSKDnzp0lABigXuFYCCSgGB1i5J0jHjzFbzhy+BayxGEH5nE8vl1fX/d5Mm0M55tJN7+5uLo8XVnth6XFJI5F0wpmekd1sPeT9eHBz+vx9BeKYfXXd/env3jt5vDnLm4cvPPGwXR1a1ZzPIUDaLfqeKEzFFm8yyTbZ6gaw273Nk043RuuXmjENngfvMOrp0gFViQPPKMBReAgOB9wW8C3a3Z7rthJhsebSQghheBjAIda5wE/32IVAoXggeCdEG8ZvOave15FErkb5s/ITgIMAkKwNbENRLIS7Wyc9vsbWWvx0jc/9e9feOwjH3nhkf/6Iy98BNuHP/zhF+f+/MMfPnvxT/7kjy+f/aM/uvq3fuFnNo4OloaDvOVO9TviTgD12c+us7TNIiQqRT3jzgXi0UugmyQOX0oZz21MhuCVtIEfgJ4LEl4uBaJkQTBCOIqWgJuzBdDa8D1DKBQIatnLfd/4tY9DIsvmXoFRoIxR9MtUQGAcDKHgCX7HBaNcEu8s6h8OwNpUKlDKG7QDzGVtQ711RKONzmbEliV32kTW2Mw0FmUCt8fh0G+rPHYB3VFgQgCTEXCZgOARCKao4hGXTPJgPcrOsZg6QS0gPIfIeEoCytUDCizghRA0aBbASxYse+0kJWCqwyQhdM6oQAHI3GMRNqcVKPoVtDTvEQjcKoRAUKpXKxldHwz6m6vHVpulxS5pJUKGYhqb0eGx6mD/3dO9nZ8dD/d+8XA4+hsH4+Ev7wwPf27zcPSujVm1tFl7WqoWQNauVat1yGV8IBibRDm181/EuDXRD3n5k280Y/y56Jx9DIB9Jk2zL/e73XMrS/3LK4u9G/1uvN3O2biXc0gIymK8KWbbV7Ph1o21/d29d43Hsx8/nLofnVlxZ83kClFRJ0plHMeUM2YgBEOQI9JT1gculoPkS0yL9IH19W/jK7ymSOYcgHM0BEsY80RIoDIiwNA9A9EoJhMQ6LLl+PjdcRf+A2X+q3M2EOoRtPcaAsYBvAAlAFghAH4HBPNFIgJjrC6m89cwLwlePPX4GbUDPKIXgBFCGKVo6URCoJILXABzYEWrhf0AplFJKOUUm8BGKTBggQF1AYK2Hpy14B3GlICGyuzchn4qnshl1u532s0d/bj5UWqL9xwcHr5nY2/vZy9v7f/Upd3x6WvDQm6O6p1x7W9qT7dw3mESqTqLRRAsIJIGldB4T3QIxARqy7AHL/+WFGPgg0cOemdRQIEg1TSEQAEfSAjoU6xz3hpGXFGZgGTfqhOYQMQ5JFKxhEummKCCMCopIRx7cDQbHpjXoedwfenx1Zv1TQ68yYH/BnEAfcB/MmzJY489xBqMxcKlHct6ooZusTvLLh/a7gUbH3kpXzz+3OqJk0/fcffpp06dXvv62pHBl7v9+HN5N/903u98qr+08JmTJ5e+8Y63Hb3+lruWinuP9+BUP4UFSUFqDbQqwE1HUO/vgZlOI1fq3Ba2BQVVSCXBBrN+FrKF3GlGGlC8jvIkxIkAKQCdtAVoaoB6Bs1sgrcZbqiFbvDQNU7lOUvkgw8+SNGJkjms79UIetet1SdciJkOiWxYFjVRIm2iOEj0t8JqYLqCangAk4N9Uc2KXlNXHe8haWDCvhfM73qHMVBXhdNlYerpTDMPLhISOFCggQGZz+R58F4EYLEHgXkPJkneJsRgYKWKEakoCxBYVdVknvJHiuFYD3iFKFIgFPccI7M2RTisvv3/VtYncpooxYUSUmJMkIJRITnEUQJSRBhWOATrYR5ZMFYQDIckz2H+C6d4+d51fX2drK1tyDwNi5iF3YdM/tHpbPa26xu7Cy/dOFCXNmcw0jFUpF070R5Skd+Mo2izFYnDlJhSBO2QWiABwOMPxjOwuAFkweAi0OKkDryJUW59iGkUcql8RwrfiRlBIRPALSERKgh2igvFGQUCLcLlYh34WvBJZ/y1OkIcKQJ6IzWcPXsWw246Snh8M5bJjZXlweT0yWVYXUqh3xLQEhTceAy7l67BC199Gi4+cQ42XrwC4/39UNbTqQF9zRB3VQPsdLuX/eudHOM70gpkMBjcbogLfeX96wXzA/vNYVLGM6vJsbqiP3Y4cUv7YxcaEjvV6u22l1afWVg+9nhvsPr5NO98Omu3P9XqtR/NWq1H8zx9pN1KPtnrtj/e7bQ/2co6n1laWHz89LGjL7z1nlPDkyudWVvokjWHzs22hZ3sZLaa9qynXecaNYA9+iqCKyvdwEnHJ3g6mApK8oQIPCtmUWSBEo0mrDnxJgkCokZR2e1252PJq+N/0P38mTMB96W90aHyzheChIZD7bmbeWandahndbE7ceV++YNA/Ye/X10ByjRhtCZAaupIRWtbg3Y4axDaGKia2tfQWEtrjdr+MrgiyQhu+FAuGMd1F3f42jrUfmeCRaS10V5ra2cWM1H8bl4dMN9YYosGD6Qwc6RSeh180MECUwTTW4DgHZn3/V4N7YGUyW6aMnZnKsIDsSB/11nzPxzN6v/Otf3yF569PjryzNXx9MqOPn8wI1+1EH2h0+89feTI6sapY0f0kcWB76RxoM564nB7W4JnzHn0WH4RJ4yUColi85WtT2Pvs5gEh3ZalRUNniqSKvaXps9nzthBi1QqicZpHhXtnoKsJRguISM3q9p6Wp0whXlbXep3NNa/FQS/K4qiLIqjWnBxSCnfooFsMqsmk/ONQfTfcG2KSQjWG+MLHUjdANE+QAN1MyPBakoJYdY6psuawlX47vLEEzCbzYDg+pbjEiRRMYtlxFhgwDwj84Ze3TGq7LnrjR3ppghUTEScTVTEXYxuP5KOQih5U48jZ3Wb+NBJ7EF63zng3z0hQNoe0DROoi4Ktpt3F5OoFUuVUSZzT0XmCJPGOVMZY/QTDz9sEcZtncXn111bExWUYD4E1EtggVMegBDwEIJ3Dv0iDYKKgKYC5cvrnluwp3FNCKsY8MCBOQyVmlhfB+1q54gzyBqNGm6tAD+Ki7B+axTA/HcNIhGBZDhwHiBxCoIbakpxgrGOUcaYdg4mkwYAHgRZJlaXtKwauk+AFpFgQVGHo0tOzJgzV+YCdI862lNVGsH3KA899ABbVYtxnKqOUmJAOe1wKSIaRYHI2AGPcXWmcEKlCW4W7g27AbDkCe7fB4MLOu85QYkhP5w2AZ8J44wSxBYofuFLgt1v1fN4lZoH5xgEB5RRZA8TAJQB0hVmjfEzo21hjC2q2huRW+jWlcrhEH3fxTTil48f78qTJ9vZ8oqIY6UXiS/fGrz+ZW31g2XT/Pem2vwPtovwq9cO7LufvrDXffHKEGonAxfJMIrURUXtF7mvvyHNwRWYbv0FHScA6kHwTjtKPNLugVEPhIS5jkDAQjAKCB9YzEDGMVXN0TYFAAJYrm33yMiUfKorZb1Gv2KAhHlDGPPRnmhUgUY3DZqfdlELdeX97w849Ieq1TQPvJ7LK/KMRoGxCPHlgKgDWB1AVwEMNl3esmmtK8MEKzzjY48aRSUNUSQc+ntc0BPKVSuSqie0TV4XTpHsJ0mcHuOSvRWY+BFU9XuMbgZvhBja4L6Ddxy8Q2wcYyQQTilJpSSJUqh2c/ayV0B++8HlfefOkb/y0zOStRQXccQNIcRRRoNU3JFALbGEK0LQcAgcvAwC091gdPDWgieeeYk8A0/ANS7YxgTfOESGIBh+mwcPra8TLiMC1DDKgZFbjSJigVjXkLk7CYxTCxwqNs8g4YcuY8zjNLUhCFQ0BgFnA28c8Y3hxIUkWB/byqqJ968y5dvmGqYtUhvHFEGvQwSjDB8UH+8AABAASURBVNHlFOgcW+8AHDKaSx0hqfOBK904yEho9DU2VcAVM5SFihFiskB83/iwTAP0D44mKcD6LT2H7yhxqyJeCUGSLLJCKculFEmKri8CQigGWjJJOJuJtvJ5THoZ5W/ppOpXaQh/dzia/b0Xr2y+5/Hnrp38zDM37NcuH9y8dNA8p714Ym1h6cX777pr9+2njjf3Hl2F04sL0Ga8IWVVUu0Mn1tThchgHIvjivRoYAkFqYBEIlDGXEAygAQHxFhHaquhNACvHAy+LN81gCRRqPyodYKBCQZqWweLd2SV8+gMgrXW2cZhnjofM2846eurU+zmuA2OGvDMgrEVbapSog9IHcZFTkXXo2c2TUWw6/esWcoCD6gTpgaGs0siQbGY4Firvdd1AD+aZPjNy8MbMvXaz7QFXRpvixp3wT04NAsGXBBHaDDGVa4ZT26PmY+MIgDFU4QdUZyDCdQaHgJwb4E5TYg3ROBaCDk47367Ue8DwvSUUQ8ctWWua9gAgvfgvQ3WW9qEM2fO43zklXFr4K33zmA1zlgXUFo4HvB77IXfAEUtVIkg83+m7Nagc4Du0+5m3YXr7ZWlm2unVvSxYwtJrmxe7d/sbz3/3NHJxuaPmsPJ36gm+u9tb01/5dyFzb/yma+d73/txevq6rQiTZZYudQbZ6uDK1E7vYB8vRIZXp5973vdrTl+yIuSPAj0Yowif4nz1mkISBIEG5xGX+yclwx9tSJ2tsz9q9NwlVLBk4gxJikDtHhHvDfgMO92NgCyHrzjHkeGNBm8Ouz2PWILPuFJzSNRi4hpVIsgYuJwya59ZKmRlgcWCMS3hiBnb92/52Weiw+HQ4UWvCgEu5NScwoTh+XJ5GhMCY2sD5FxnnrCgckEGI8x3giUsEePhc40AEdqWWc2XyO/PEUKKaA3wLzKBQoaiNeBgQeFDslrAFTp0GgSND6/POI119fxOJ6Vcx9MIyGQBZJTYIRSDpQrsDjjPIPBaE2JiKlIe6hceCSGcOsU8x3O6rydloNBt8kEd8I2QMsC9GTKpoeH0XQ6a00bnT44368BwLHwXSWPYtLKFHVEkMYyqDSdUweRTKGV5xwbpII2CWWOI3cENQScJcEZsNpAUxuoKw3WWsD0AoAQEri9PdeknQZrePAhEKD4JaPzAvgBwFNwhoSmdr5CBs6ggFdLYFGDMelSv79weWl58QBpJP1UKVlOfHVzQx5cfGmwf+3Ku/e3Nn95NDp8cHdv929t7Gz/zJWtrTu3Gr04VvNdlFWmllfKrN/bilrplYirDT7q1H9RW0E985+6kRQK1EVrxBecUX+Sp92PLA2WPnni+Npnjx9b/Mqpk4Nz77hvdfKW45k71dLQMrug92/IjcuXeocHk/uLyv212rOfMFzdI1v5AJcpeRyBzFICuCUDlHpJGF3ynB/TRByrRdrJYUW+yp/X3s/ih46PvCAwz/ucQS/bMEUgbjHP5r//BqVzUHhw1fb2sj179kO37ReH/sD6BPZAMfnGGG+xUI7+nDMAghOiR9PakNpYVjeGRUoBEkLglWLn5os+hVEynzME75A2AowRdLmBeotjZzPS1BNIJ91b9r2w0AdCFaGcE+IJQUMA5nEMqhgx3lN0LgKsYWh5cShtsNu03RYZJ9VdCYSfj7j/e8Trvz8cjv7ejd39v3Hu5t5feWFntnB+txo+v1t9bdeIz9G0+9Vjx9Yu33VqbXzHiUXbbykTCW9CqKzWU19Wo2CYvYUPwJzDAL5pwOsGOL6VQAMJxAOqNeDVeKcbY8ysmrlZqbEH3CpSO9KKEjbI2ypXsVKB8ohyGlFGIoqyJoxwKkh+q/eblzc58CYH/pvGAfqfCuEPfehDtLkgBqtH7rj3jrW7f1bI1mnLW8LFy2PZPnop6R9/PGkvfDRN8/9PnCf/rySL/yiK5B8zTv8/lLMPSSH/nVT83/cX8k+sLHe+/I77Tu7cf99pOLnUheU0gg4nEIUGmC4glFNohmNVHAzbRVEt1WXdu/9X3xc/+OCDbABn/Ai9nQ1y1zGxKaJoir7NpLEEyQiwYIC4CkI1AVeMpa7KXmP0Ym3dwEQySdMz4sGzZ2kIgSBN7IMf/GDye7+3nv3zf/6P0w9+8H1iPgeelNCGs8pHckySeKyyuMnzGKJ5iuQ1hGaMsIdgZ0Opy6Jbl0W/KptuXNYCAG4HoDn8D33oX8T/6l+tt353fb3zwfX1ZH19XQ5x85taa7S1ZVlVM4xrGkLARMYBZivAKEMgDFGkPnjicYngaBCO8jJAYykJgJkjwXhDYuOAYP6DiWS4NTZgkPN2Ds5ieLQGAgYricECvlW64yikEQcpGOWCYfLMGAAFRAHm84MLiAMFzuYBApuUgQl5O7DA9yzn+ApX7cVeenqxl/0IUPeO6Wx64srGttrcm7HR/L/SiBeBxf1Z4Mmm5eqGYmGvk0Qa74STgNIDCEi5R/gBIxuAAyDOExIsIdTyxPm2qX2LRzaLU50nkW/HUnQjQtoiQDbfRrAluHrMvCl71LuTsUreHgl2yuvD/kc2V5BOuF1QFhTlL/6r/+pjrf/H/+MTvX/9rz/b+Rcf+lA8f3+7E6LUlMs1TbKRSrONXr+9319sl/2FxLdzDhGxYMsZzA5HMN6dwOHOBA52R24yLQ6roryqTfkc7lltxFM6Rd2akwbfq8x1Za4fH/pX/8fBv/md3zn+X/6L37vzv/y9//Le5y9u3ffkSwd3P3PVnNxzS6v/xR9/sfOhD52TqBzke8F5o+8GeEA1ambt0oSFUpPepCTRsCLVRJPLmkWPsyj/eJSkf6Ki6N9Syv+/qBP/lgvxIS7pWcrpWU7pv0M9+hPJxJ8Ixv4ki6OPdLPs0UEef6mfiMtLGa+6XNeRnRo73QdbTXu2mh0py7o/3By+vLRCpLvdn/e5MFYSXkYRKzudKLTagmQJEEp0RLwZBG/uJdqdlFoNtlZXBcrpP8iDf/Wv/pXC1vpn/+yfdfGwIMd9aVRiVglOp+08tmjSNuaVC/Uw2Gocm8qirwn9yabOH3sMKKL1H6xzGayvr9N5mz/PO6dQcMRfyAg4F4Ex6inFZMtZ46uyNA1mqk4bA8abmChU8PkoIDnjUdxSXUJZxwWflg1udhhLrbNC60ZZbbrO2WMJMSu7bdMfozUMa0dr7QwhogmMm4DJLmHoHShyylvrgtWOMr2fFuHWLN9xuXPn6+0FoKdyCD8OZflTs9H43Qf7o3t3D6en9gp/tKR51ydL1vDWC4bEnwuEfyRNkk/12/kTg062lStRJJw6RcBR26BYx1bXUw8wgTLLSAg0cM5Iux1HkQrc2cJ7jWfF3vQklycVjZb++7/1UD7n33eg9l0fsQ9f/9f/Olr/4EeSf/WvPqZe5ferHfH7wIBqytlunMqtdi/bSzM+42DM7GCbjLa2ksOtrd72ze3B7sGwP6ttq7HOa2v2nXPPkOCf9dRfkqBn73//A6/K5VXwr+u+l4IflUVVN8VhXRebIaDghKfzzQvTzHwxGVKUf99YO9gt9jppen4eL74F+/77Mf4Bi0SWJCLvg6WD0IQ+dT4L1sa2McmsqHqj4WyZh8XV7Ukrb0IUPIuHUkYmSSQXRLNQTnl9uC/tZLoIVXUsSuLjHTvroP+Z+z/yrQkB8ixRLdVaICQ+yli6BjRKEWMwlDciicooTSaK0wPFSIXjvqce4fsfWOVq35OGeVxwWM6l50IRRilA8OC8894540LQTgQjI4I69DLIPHB0vQnnDCTakiDgSMDY4CEQFzzBZRIJCEkDQDQch/k/c7S9/QXecIhjRQaEQQ/NTVhvKcoZNxo0PuvcuGqx8fVa6cpl++STneduBDHVdNZYeREC32RczgQjjriCNJMtasvDVmhmy8T609745ft/dT15hZ/wajkOJ/hKHqe9bvdkp9V6myd0zRHScowzGuHSK0osk3JKmZopHlWDE6l///p6iK7V3jlvrA9YPRD8YYQHNj9kC8Fpo7EYbQCwfu7WdCub3eB5cIJjXsB4IMggKnCM4D5Q5oFRh/5AB2AaVI7jNqAogMZpG3c+wGLcL1TCZ3Er0u1+RrIcecxpVJZlx1iz5Ck5qgM5XlmyVFqVetHmRLUrT/gOYex5yenj3rsvga3Ps8oeTFdhLoJbuP2wFw0NoM8KJFhsDoj3yAnkIkqYgA3UY3MNTSR0FuNocDIe5x/72MfkfL6d/JBEKvY8TjRj3CPHQSJPOCMAIQRrLfKwqYx3haGkgckaTjAf+cO12fJ2KFA7CBWWEWEppYEAhXnhyGFsFm+GgXeUczdukQb3aicm+J0ki8s2bk7luWCSohRNk5hGr9aVPSZZtiZSniAcRByv31HX1zHe/It/0aOFOW21fXdTmB+vKv1XZqU5czip5uf23zHie38UhfMBQoOxvOCMF5SiroOH4Grc+h5DU4yEt3UbfNNCY00H4yfn8fZlAhHk8Oe79MZNEzUhtDWENiaxbKIbMmsaVjmbOwKrNpj7LLi7C26P7yjVrkQcByIkpUwCIcJZyzBUEYq2HJzDmyeEME+1DTjFrXrfuXMEISogrhdC3Q2uyU1TSGsqxMUCZSERnCwokR8XPFr5yV/7p/kDD6xz+CFKiNClMNf4YApUwIZxxIYCI9bGzazsmUof87W9g2naq7tn1HdOwSyXMZNtKfkxzmHFNU2iNVJva2QxyQinS77yR4PT/R9/8H95K/cRMmnSNDWDfs6zBFBzKxaaceZ1eQSqev6LWMdajncffPC7/+L6ofV1EnqtSObtFk/zQU2YmFjXaCYaz1QRuBwGSvaVFMVKlqV3DjpnWrH4mcnw8Ce2t7bPXLq6sXpl82Bl4xBzMSvjimZjL9svMJl9anVx8Jm7jh174p7jx0anlhehnyhocaKlDxUP3ooQSGyATyXQBdphgsooQmWKpCCKcyIoh7kCE7xQlLJgwqlYOdTf27KFDQCLgkUcncOOPIqITBQN4MGjkwVUEHxogsVuaMXwBouL6kAka6ikmisGETqE+Y3UTdsU5fJkND5WTIulotbZd4JGPOnxtRXZziSSTvuU+Zb3jWhMRTBnYKUx7VndrGirjzEKi7/5m7+pHnzwQWZNHbQz3obaGl9Za0uHuhoMHiRbXXv83gVtrXZI5CuTWohoqWOhEY+6rNLZZEpt3QDBNBFXiODqOmLe91WgR+V0tPrAr6/f+r9TBHGeEa8JDcZD8IGQgLwMML8TdDzeIxitq6YxSE8A5OH8F6kmGxvOOm9tCJZw5inKB78Dik6AMo6vODBCUCbMRlUzHwfzcZWKGyfU1HO1F2XtOm/3WBpnqBkgQ10y0HVm67pfTmYrVWP7pQ7pqLakCLTxKpqoTuta1Mme4pH4DOXsG4SQqzeyow38BUtZAjTOgsMfH1B7ggMfHJqwC4I64KBdME3jmtLDxZduzYb84GNt0R9B7gOoAAEYY7ca4gWMckKpCNZSbQzThyi6+SF6AAAQAElEQVTwy5sr4dbgVy+TDecsL3HcSEbqMG8lPm1zykSDe8WTrG6GK9rXd9aNXnngwX+QPYj68erQ77y3Wi01LIYnLSVvcwTe7YJ6W+X8KdroFhOMR4l0aGGBcwEUKUL7CpQwwBCJ4uYgZQQqihG/HXi1WFkHCo0FTBtQT1isBFOMkoCDiAcgHmUPkWU8x0/whku3CyBxJxl5heGOC+8I8RbZ7oEKIYkU6OYDxR9OBE/QE7w8xdISABGCgBAgYmXSiJOWIEzampjJAR/vbcVVWSxbZ49cTc8M7n/fegzr6xS+o1htpTGug+dOspy7zVo6SiIbR3ETcTaRLAxZsEMIuuCm0sTWXvJAIskQPxYYZ4EyDkDoPKk0YJxGmA5eKb2DncCRf5SBYVy4KE4Y5Zx6j9qCHKOUhyROnFCpCSKxZ86cCfOhmQRPaVxxrkaUyv1IJTqPE5oyKiL8SliNEF3baL1QlMVgOiu6k1mRjWc19Vz5qNcv8n7/etJtP8MV/yoN4cUsJru4P4WynM/ww7cQAvmVlRU2vFIqdGWVM3BVEPnFSMgP47rp36pI/XGvn31obbX76buPdS+/864FOLkoIeeaFKMx293dH9zcOrhzVJh3DhuyZigjSZaQdichnVyCJBp8PRGmGPVtU54mzr49OH282N5DbYHbOgCvlH9wZo+IXKWFrhPkAZlq50vPjeEphrF4irzbU0D2hIHJhz70IHKd3OLxK8N/4O2urdXgOFoxAY2DjUfldyGACx4tHoAwESTyXAmJ7p36aVXfhu8qY2kgTaQizLN5CDg1uk3w3gfOqJOCGSp5Q4HZAlIEDzAeo3pYp7HL1FtoUNxAAkPCGcJFx4TMcE5XQdczbxtz12CiBsydzqj7Men1L+5vbbz96qXLJ65e31i9eTBePajD4oTEeSFbEx21n3Ey+4zKkk/0eu3HVgbdC8v99qSTSh0JsMQ1zrvGWFdbbYsgk1kYDM4QQmpBCEgKVBEfqDcWXFWC03XwFrP8YDEl9o3Wrqnc+BYdgIVbxmyjlambtJyWajyakLqoqMbWzGaAI9ocyCqq/vGf+nv/bC5fHPVm/c+BA2/i8CYHXg8H6Ovp9Bftg56PDIrzQjB+FB3ijzAmfsmBuEf7KKbZ0jRaOHVpcMfbv7p65zseWXzLvR9eeMf9f/L2t7z9wz/3wM/9+cc/8sjHH33084/8+ae/+mmSnfz0O+5e/uzxIwtfeNs9p66dufN4dWplwa+0E+gKAgkxwF0FpCnAFjNVjYuua+wx9NurnnQ6e+kZ8fvnzoU9OKMLL7Y1EdeIVHsiUlWWxhBhGiMwiSR+DmMGoZoJ2xR9b+oV68IKeu32hqzUmfPnyVk8RGrXdbSWsUE36a8dafWOTia0e+YMxONxI0rCKyvUEKLoIEqTKs8TiNAFs4D7JGYMoR6Cr8aY9E87ui4H2jQLQc/iBx5YZ4AlhEDi4VCxMe+3aOtolKuTJdTLsjloWz5UDZVImilr04xtcLgOD8E5BwF/GKVACcGgA/PmiaeWUWFkk/gIU37uIQYPLe8gaTAsamzGBpgXgjHKex3sPJAAfsNCY6i9nRTN+wzae4FzBkpKyqSKKBcMCAXrPDjrcc5ABHaIlGScMSKAQ1dGL08A37uks7GgXHaSWJyMI/LOEMxdRVku3dw65PuThpReAk8GwOJ+EVS+7UDhngIbt1pJiITgjBLpgRCHs9ziAsFP1AdGvacQLAVq6UwFxlZdlLd1O23VrTixnVTxbsppRwVIqEP9KcHrMXN10Q6YuCjG38UCu4t4v5hryV6DPTn+Mz8jRfdoB2S2FmX5aZLy0/1oZbBy//3Rgx/61j95d9jvmzTuT5K8v5F20q1WLx52+4luZSIIYnG+GpqygnpqoJiYMB5rPZsVO5OyuDibDJ87KMc773vfr1SEkPCa+W8/fuhDD7JseztdHqhVU+p7y2r2bj2b/Ph4OP2p8f7wrxbT8iemTf0jTaBnDKNHrtvd1kNnz4u5jt0G8kM8hLBO9Y1vKEFIr7HQL2sSzTSnUy3KkeYvFSAf563Bo4tHjn38xNETH3/sk5/8xGc/9alPfubRRx/59Kc//ehjjz32qc9+4Quf/sznv/yZT3/p8c8+8uVvfubYicGnjyxmn+4r/rl+TC4c7UWzxZTojNTOTve8K6d93RTHQm2Xrac5hEDmqJ8/fz4M03usFGwaR3La7sa+3VGQYtZNQccoy1Wim3cQp+9G3V/VNyB6DIDOx35nm/NlfjDI6rwbGnEMID1BiFrVWuQ6MB1JMel1Yt3Jmcuk9kGPqCnGbV02J5umOVaUzWJ+14r8XouW+Vzr6+t48Pg+8dDDD8VVFOX4LnvooYdifM8wkZQgEykjtCAaGCGeEETYWhPqogy6LL3F1bUJ3lRm5HEsWV9/gOVLrVaWZ2uehkFjTTaeFaSoS1rXKIyqiJq6XnRa302MvreaVqems6Y/Lp3Q3lkmpaWMIjvRgbAQAFcc6E2MQ8owBdRq+O2/7frynOtUiWgB1zp3C9f8uCuLd00Px3cMD6dLo6luFVYkTrQ8y5cOWbr8LEn6X47S7DOL/e7nFzr5UwutZDPhaJEQrAJvidWmng6Nnc6gopRqrZlzwXMhfKsVx+hlhEe/bE0ZgTXLaIhvpd6f1BXrn/s+fx2DeKII1umHPvQh2Vq7r5W51lIS4Ah6v8HDD38U+f1ZPu/zSguzljaauB2ZqitpK7oUxWJfUFPVwx072d1kw62NZGtzq72ze5jjYo1Pq8aUtd5x1j7hTPMM4+4Kz0YFId/bTl+Z5/vezp8HPx5tF9NJsTubTq8x8GWsKImUC9ZMwnSyJ3VVrupaHwu+XtkqIEFgBNut2t0akphnggeZM1CLTWEXqqLq2qZu6WqWlOU0GY+ny7NpccfE+LdMdLIyrCU3EB+oOK1bWcJijis6UzIzOlB+NlkOVXWaaXdv493S5bo733i6PR9gYTyPlcyOWE3XtCVL2vLYEBYMJ5XIo3HSjhC22OGRKLH7D12nBztBxtJRZDLj0jMmgGCcA4LW6r1zwWjrzXwxZhyLb8crsZSQRAohOJGMAuoQhsPgiA+BGB+48V44CtyjCu6l7QBYltm2kBBaXLHjgQbczKpFow2pdIN7hwUv61kLfezKrK7uqOr6jtFhs7ZT8HQ04yWGqovOi6uMyX2lmGagQU92qCsO8lDPVqE29xFtT3ABvdnspzlOd7uWUPAsjjIZZaekTN5qrF9prM8sUCbihEZpaqWMRxjtpg1T9R6c9yiMkM1mePcmEG8DwTeUAQbewDD4hYBM0U2pjamsc3pw7r5bNN61eiE4THak4GhjklCOFsUoeEo8xT0OypmllDaUEe1o6dtIzNH2Qtrh8SDp5G0hhXCMjkCKocqzIsqSGdrqVOt66sFXhCJ7gSBSvLFETaJ8cKiy3qaj8gVK2TcUY181U//NbPvE1bO/vz57bH3d3mbED/mAfAmUOBStheARHCY4qB6EEyBoSzBvnDjSUmylk4hTUofl2Ln84x/4AK7+SxF4FGQUl5xLy5kEySUIxoASBOeMsQZ5aPUsGN3AOXAAP5ydw7zM/wTMzhwj0hCCJkhoAEIAW8Cbx4byRN4TZg9QiE9O2qb0Zlx4vd3qZmW/l/tuxlnMtAAzS0w5PWKK2R0skDuJlt373/c+DgAIEL6zUGbMgFJ3RwjhnbUx70I39nYML3cEE3rf2fn7ffY8sZKygjJxQBnfQ31rEKYPtkQ134dmtheBniwxXy4FanpCRdEmbjzN4QWkFH2VyvLFDlBYMsQvzkzDh2VFDmcFL3CDHvX1WFOV70Bpvouq5K2Sx0fHJu86z6NAeEwpVQS8mGsso4GgK0AxBwrOEo9tPs+8zX/ZihAXoxiXrakXdDXNTD2LrJlx9KHgbZM6Z1at92/Rxt81CezIqDPKHvghDpEkxo8AukRvPUGPUkURByUIR5NKmmI20FrPD+3OoJ9caartDL6jCDdKCLWLhPo7CZij6GfSup6yqimZB5sZZ46XZX2mcfZUCm7wND+laJyYdp7Wg16LthPUWlpzX0/SUE1XQ1OeCfM5nVn8+l4qcLpv04f77jtHZOxyT8SCY3K5DFQcNg6lICsn1ZRH8QFhbC/CAL8Yi35E4e3U2Z+ajkb37O4fLF/b2k93x1U+tURZkVqIWjtRe/Fc1j36hXfc+5bP33v6jm+cXlsbHVnsQzvmkHIwioZGQQgyeI50qlNQCcx7o5jLjFOuIlxLSCHR/TDCCAloB4CyC4mSVjFcuQAEpONWHXTbAYxzgdJ5AxErpCci8y4h2BC8c+CdYRQXhvOXt0a9/ouiMbKGlyKWdZRGkMaCxpQo0jS5KaqVelqcqqr6WGN8/8Fbm/sB534Z/srmJmuIT5NIrGG4WkN5drSZiaKakFk5ZdNq1ptW1Sl0ym/xVt9Zxf1BfvJkUmnCjNfBWoOoa1TnJlhTosup5s/grQ3GOldrfZsPvOoya4mqirpTTorW+OCQNLMZ+KYBXczAVFUajFmDQM4IKu6R9WTwzevX00LhZIJoxpgBNCDCOWGco9MIHqnwgRDnvG90pdGZwq355r+wcB+AC4gNoLPlSlEmBcUCjFEiKKOSC0qZsMQSPU3rW+MQHvhJh9ae2aJhU0/ihsvcJ0mHpnFqI8FmioWKBVs3ptHOucoROrNMDIOKdnmWXU+7+dOtTvYlzshnIOhn/+T/+Btbj62/Z47bHPxfqGmkFvnKbHDUE0TZO6DBBU48MLCWekykwUCGWop5Oo3jMp6g7hsbWsZ5FXwAyhnM+cco3pkgjMjgPNNGB10p0PmFrfBaJM9iDNm4sVFxJg6YlPvtbu5aLcWjyHBvp21TD9esrt7qrT5lwPb2Xrbh14K49RxCIHVdJ3O/YLx/q/bwLgPkLY7SE42lOVGcJrGykVJBcAl0/kPwSgggqZRTQWSUBiYyH2et2zhy0J4FsEIQiiJWCEPinYH3hFFKBeeEswh5o/wtRN7ghXJFkFUUAkVfTLlzgTjrSHCWCsao5HPniVzEfnnSYgvHOnz9X69H15veHNEUhSC4UraVJnQhVSLxDSrXkE+H24muZ8dcsHcIJU9KigfoABxdAHkVxRCAVJWJq9Itjsc+Gg0hzGbMQoiaJEpmSpJdxcM2pkj7TdPMiBuiH2lCHDGWxlIIwYFxhpgzQF44AkwHBxV4auCVoppdX0JlcS5NGbcywjDEBL1lXQGAU4rwEq/iyJC2MuuvjNsbtojxks9K7ysdJgR4o0TksjRyaSTLSNCJ5LQhEBprbN1oWzaNn9TWHzIV7bS63WvthYVvZt3eV4CHrzQWLj/8278xJuhPX5nih7498fDD8X65v1ArfpIH0q+bUiemvAAL4y/+X//LP/7k2mn10be+5fRH7rpj8eNn7lx68UfOrAU8SIKFFnKyqWA4nKS7++NlRPbucel6tYFKpVHTaiW221agTN4ASgAAEABJREFUaAO+GnIz3W/5ZnYiuOYdwZs7teAL6GMpIv4aGQZyAXJJlegbD91hUYuxDWEGApfqUQ0yGiZJvC2Y3OZS/1D07913LiSVsYIywxi6hwDeoUA9NsIoEZKTSAmvZGINYTaalShZxBKrIY0FInQURZ5LAYDY++AA6QHBieeUaGy1YNScgfNzGwrOFQ4z8BosjLwNdQgMCOGASuaBUOvQq1tnSgfNxLPCYNRNE+7vJs6821blj+9sbh69evVafhNj82FhkxJUpGVmfdbfilbWnqKrx798bO3E546uLX9xZaF7abGTTdqJtBELnnjtgjM6eGugAcxkSvLsswfMOY9pMolJoDJYTz3GHtdUwaM8g64CuMZ721jEXeeWeyT9VqVeCl3WSTGdZZPRSO3vHUIxKUk1K8lsNIamrvvIzTvQft4uaX7y1/7pH+QPrH/bmvwWnDcvb3LgTQ7858kBdGn/8RF7bH2dVdMmj3x4u630T08n9U8Mp9Xp/WmRjI05nHl/eWzs+RlROwecFz9z4oRdXl6273vf+yz5VtALZ86csdSXu+hAv9mKxTd6afLC6aMrzdpiG3IVIKIaOIbsoKfAg04lI8u4pLqX8PjeQrtT452DfG/vDEGK7c7E7lbaXyoNfRH94l6aZpAIjgHMgQw1UI+HSL4UzDdtBnYVwJ9EF7tYTYoUxwNuWDMahX6aZX9lsdf6hd5i/28Iot55MNXHvE9aZUhtTeQQI8emjKNp1k5AKYaBwyBuJdBmiIFyn9XFMLOmGBDqVzEm9av4YP5XRhSjBnhKcxaiMzTQv04p/TtehJ+i1N09kWxhrC3F6FSAlIcIFFknDENsKSNAqcd444ignihGSESI442zgCWOE0RDda0O/aqy7dGootOZBowJwBgDJTnEkqBfb3TTVFUDuF1ZYNyCbxXVGpBExCFSMYuTLJERLg2pAGscBCQC0yuSJ1GU4bYvpziOsjCZ4P0xbN+nqoyxTOmMunLZ2/J4U87iWVFCWQMYLyCQBDzD/VKeWS6yhqrcRTSmkvNIxkksVKSsB4INPOCkhABlAFwQpIt7wmMHWIrihFesb7hq4aFeq+n12tDKBMQSB2PUpA5loyekHh8IPZ0ugbFvZwTuIixehqTESI5AAHDTfp3p69NFZ+U7gKmf81L8bSLFfxfzg59klVj9+WGs4JWyvr4eZsPDalzUW403lxxxF9NWPEsy6SkEoASABuS5IWBBuIapojLhemXcJQB2lVuYEULCK+C+7Yb8Jlr/dAptczqL+S8i7/575WT/faODnf/p4e72/2h7a+e/t384/B+OxrP/3rhs/s6k0T+pbTgN9Yudh86exazm28C9oQ+PnYUk6sAiV/woUNEvNTWNj63hrcbK9q4V7esGzNWmacZ9PER7PcCnsDKW2lyjtnpiIRUXTi61RscGGfQiL/R4m5hqvGiq2Z1W13f6YAcPPvTQrd9snvN47i/QKkYiYoetTuZanRTyXFLUzAzPAY74YvbWUFVvgao6bappDlfhVXnCa8sHPvABCWWy0Dj9NuPEzxHR/gUH2Y+NrTmOpwNcxXyWt6KinVOHpxKC2CGvy+FgMhy/rZo077CVu5vYUefXr4J8Ldz584cefJCtAET7+8cX3JCedL64b0TdmZKx4/h9B6JuQlQkPRHCOk9wYQjldIqbACWjYJStprSaHgRXH6JrKcM8qY7LVpzl+fFWr/ujaORH8OAx3tnfJTv7+/Tg8EDsbW9nw4P9I8V0+nZbVz+vG/0ePJy9o3C25Sig+lJKRIBAnLMe80fUQqkkSCksI97EeS8gbrcr0kCPw9X5MddRaf1bq9HkvsnOcGn3xgHUuOihLC2j9tJWHcRXD0v78TrYLyI1L51IF0epoFsS/K4ibqbAWukacOXIumpsWLBW8MBizqVzTswsaAekkllEk1bE40xIa6qWMdVJYpu/6hvzI1XlTzX5LVsjtxF85SGEQNJTp+KbM7MWgLwzEPrzVIhf04T83KGz98qFYfuVrrduwxe6tnFsc1zOnt45GH3KB3spjWGS0LIKxY6d7N5gw8PD1vbuWG5sT2bDYVXWtd73NjxDebgYi8nB4de+Zm4B+yEu73//ujuVsmkzK7fKafVSqqJRO4lcxBsKfqJsM+w05eyuuizeit75LU1T9x5YX2fwSikgpSrIaDZy7dFes7B7c6y2ru/x/Z3tdHfrhtjZuiH39vePjMvi3WMdfm1Yi7dvz1h7d+wO0qxbLC+thiODBTFQSsZ1E9HpdBnG43td1fyEa8w93rnBf/X4gXhlulu3lopx/Z7fsz9quje3x2RvXNLKO8ta0TjqRDuqpTYZVJvOzMpbA37Iy3I/CyK9teBGUTKwPoAPAaGhXxTUoRNtAvWVA40+aOrxi1s1TgmlIggpmEQDkngKQJoGl3baMutCgvEiLY2OXHBs0B0TeOghAnEWW+WXhaRvDzycPpiO6cF0Qg6xDSeHdP9wL97e2xocDvffMp2M3o3w/oqxYu3CbkM39+qNonIvNhYuxEla5YlA/1OwUB/GoThcCVVzP2n025nlpyp1GN9C8pXLIMKNQB1nxogBxr2VvWEtDyY1qX1gWacDvUFPSwVDTt2UOtY8ABjqcOwsy0JQzDHUFZklhEgGJjhw3iOLQhHA7fvgp422+syZ+T9FhIPmFWOykIqpSEnCObUQQuWQsyQ4zoMlxJeeWpNwyo6fGGSY45xM+ul78l7yMyxR9+6XdnxYswuFT582NP46ieIvJ+3WZ+NIfVoJ8Wiexo9mrewRleef4En8YRWrP00i+WFG/WONgOeq7Mrs7Nn33pbVHKW/WGvQh5HgnQveIjXGAEc9UZyTmAseS8oVB9LLordHkv98oPW7htX0zh1xuOJV0p7WyOvKjSBwTYkEguGBcwFKCeCSBMyrtNF+6rz5dj7+EEgPV7qhIKlnRBhChA5APE4AwFF2KKzaOEy6WKUDMbNSBXgMoKhsFYLfXejm5WAh8cstChktOK334ma43a9H+6ecbt5JTHHC7NEurK8TeE1ZX1+n+FEyIhfAhWWkpd/UrltXvk0IZmA8iULARAQ7/aA6s9yUvh4XdX2x1vp8HIkhsgn3zPEw0x566g5TMAenvZ/cWxflXcNi1htuWYVwycMPv49nR5Y7g+WFO3iS3kekvGPYNGp3MiZbh4d8b3+vvb+9u7a7uXOPNf6viij9JcblT48adbosQ6I1pIyJtN/OYiWQhV5TJVkkBI0MhhBDHDt37r5btL+QDnlwTYsGe2o63B3sb98QuhymoRpH1XjHjw+2k+H+7tHx4finimn5s0bDT1MRnYa7ph3E9Y3VNdCJiKYsZvtplkx6/TbmH7EQnKS6nnWLojyNc7x9Opvdezgzi98JnCauY0l5XJvJHVUzXh2N9+JZNeKT6pBu7W3KnYO90wej6V+tmvALFvyP75VwsoGYJmladNtp02sp1ktZpMyUk2LYtqODE66Y3h3K8iSTrnXfgw+KV+cMAUhxPhXahpXC6eNT6wczR/nYsbrkSROS9izrD/ZTlRwezQUsxfSUnU7vnh0Mj23e3LF7w9JombFksBay/vK+Eurr4NhnXK0/z7y/AaBvVHV5Ce2sSBMFaSwgQhtSzEMimUwUSRKh2+1F0Zuw9oALsWK97zgICVdCUsGopxAIAUxOCDDOHMF1BHxHUWniVZR4FsdggLDGeU44I4xQygBTGy6c4sp9x7DX9bFmxtfgxypLpv2FBZ9LRSLnGC2mEdTlIOj6tDXN26ZFccdGa619xy/9lnwVMO/YiBO2gNO/DWhzT9EcdCfVvtwbb4XrO1dhY3+7vzce3jctqwca7X/OWf6TOU9OOr7U4p6zCKlAXyUYMYQSC5w7kIJyyTGaBU9enWd+b+hQuqpql8VseTabLGDeTycH+1BNR6BnU6hms85kNLnbh/AAl/IXlKQ/neKG3WxME0ZpyFoZtDodEae5YiLic/dJCYNIRRDFmVd5C91C+LY5GeegoohlrVaW4c52hMKVqOhSCqpEzDmeKeKpVF2zyM9x/BkAKrrdzmTG+/tDn27uOHM45kOVrO4urd5x7dQddz1/9OTRp5aOLnxtsNr5XNyRj8lMfCZfaH+m1W19Kk3VJ3iwf0rBPapofS7UbjiH+5fRWEsSESuqg+MmeFQbAEI8MMyDudcQERfyhEOa8sguRsl4PFZVZQbbu5OV6axqG+Ol8wABWcQoC1IIzyhFuVHgVFomItMepW4wOBfgNeXs2bN+0j7TlNYcot5vddpJM+glfNBiqbLT3E4Pl/VkdMbV5X1opydHuDp4zfDbj/P1SiF9po3rFcYvTpzDw2C/1gBZqlyjHEHTQYIEWoSiKDfGAawP4BxRAjVCCEYxS/GBeNU76l4FnGc5JEqRdidPO52sm0Q8V5wpTglpJanspC0hKfMEk99Xx7yRe6fTgSzvkxAocc4Tb5ELzgP1jgTdgAieLrRbvNvOVRqJlDe21xxkp8b14jtYZ/UO1VpciLJuWF1ZEidWBiqXyHY9Uabc7zg9vQeB/CiR0XukSE5Nxq3swQfP0jl+IQB56O8/oMqGd5pGrt3crJKr1yZhb7cxpg5TpHm3k/AL7ZhdyePqsJtXVafDQxJFqCYqi5Roc0EwtXDBYo5BAnhOmQm4VrE62Pkc89YdnvIShK2ts9aFOWWBcQVCxUgxheAdNLoCXTUedydQg+ajsGktbR2Obm2N165f228PcbMnELnXXVy82FnqPpMvtL7WX1z4cn8w+FKvN/hSv7/6xcWF1c8v9ZY+30vSj6cU/h011b9lTfUpa/ML+yydItS/lLpvhid5BD+jpHyQUv83fFn/SBP0Unw9VzgBef/7P2RIMTz01n393uOrF9/x9jvNW99y0p88tgQYrYEGAMw5+LTwrYOxs0XtbwBlN6RiB712HDK0QNEcgNm/xsN0byCb4m5aVffCtDwWHT8+/8XcWzLEueADv/VbclQOOoyndxCZnqhBpponrFGpc3FaacYPMDe/0VTV9so0H8/HvOF2FoBp5mKML2gPjHJJAO2IRwpkHPM4igUlFGUetC6NrR37lhyhDWgf8/4MKKUodKCCAZs34glx2tSzsho3xADArXHXroGPGasVpyNGRMOYgsAlIsFCEMR66hrHTKmJLTNhQ+CuBcaeOdw/OHn10lV588a22d8vtIeYJK0llw+OH7Co/TUr4s+jln6lquuNhcgM261kK0nkNImVz1P0f4yC0Y311hrvQxBKiDS0xOFhX4WGdaZVSGrtQ6MdeOPmtolTawBdEj0ZinoyZDCsYRO2kJSXK6cinY1N92BvnO3tDcXu7gGMJlOYTGcwHg5hNimX66L+Ee/Y3wZKfo3V9U92t1/ovTz6zeubHHiTA/+5c4D+x0QwAJD19Qf4jdmlnt46ODXa3nvH9o2bb7n40uWl69e3Frf2hr3d8UztVhXb9ZbtsCAcWyO0TpMAABAASURBVBafu3qVAxZCCF6/VXEB7GcNbYrJwbiaVhtN3VxnDDcYBfFKACjqgYMG3PcAW08iW00HwZszwbt3GeveOXHk2DTf7GxubrKtmSkmldssDXk2gLyaxNmkkyvbTRi6Xgc8VEBcwaCZZsGWR61p3lIV1T0Y7E9849zlJQWwVjb0Pg/057UNPzct9U9Uht4JXg4sV1GBzt+zaNcEfoUwfoMrtp9kpMliCBHGG+oLCPWI+clOQqrRqgB9TyT83ZaE41/+8qWFf/jr/2TpYKc8bRr249rSH6+0+5Gi9ndPtTtSWpdPa+7r4MeVDbsOyD4GqKmKhJNzzjnE3ZaEuwrTFZNF1PRyHhZPdfNlkP3jlCd3Tgo7GI6aaH/YkFntABMc8M5AcLhkshUGkzLopiBWG+l4uK0nD3/wffzAc0ylo6VA1ULdEIG7HLTG9MlhCAze34JjdcWdrmNMTbtSkg7FE7r/H3v/AWbZURgI21V18jk3386TZ5RHSAgJBAKBCAZEWmOv5IDxOiKvvfi3/Xvtz/t9z0P7ef5dr/3Zi9eyAQ1KKEMbScxIGjRKrcmpJ3aYzrlvDienOlV/XYFYggQSURrV1T19u+89p07VW7mqp5W+oV9mefidsMB3PRQ/hmycK0BAFfZFZZuEAsYsXoSNztjtCTti3PkeqkiQ85Kk9iMju57ImY0EKT0YCCk/IgKbQIKEhUspBizfBZAkmoBAWiQwm5a0lKk6ksDWB0UxZaWyebvQ24O7e/K0u2iAnA6BLkZsyOeA2Kohr1nRrGqpK2i3thHfulTE5S0f+6M/X/dn//2/98n9xQtcEl3phfF1Dcu+1nK9q4MwvjrE+GIgoF65J8V6fRaRbz2po6ZCNw5qHo7mAxJPEphUBBF6hiECRUZAVGSWAjbgyBQjNVs0qaIuseSvtnOF1gpbmAAv/YB/+7d/K6wzpIIMycWIxu/x7PY7yitLb5menLhi7OzZy8+eObN9cmrmTSul8lscP7yOEb6ZLdps1YVUlgX53XFkP/7o59e+9jXh+K5B/ejj/9CXSWmXpyTxPSCh74pxcknbjuS2TwQ7FAVPSMmBnJcrwnrRLhbhjw75W2fctmMH7oVWkMKRW9SksGioICVSJBJfxG5LDJ1mIXAamxMSvAUm7uXWMth4uhbmf2dwUOlYeDi2iIjWoCovs1mHmc6moK5ARcR+OmiVu7xGbYtbL1/sNmpbQflc3wduuin7wU9/uvO3slNsAyr7l3852BM5yhZWGq+OqPA2KyDXWh6+2vHpxUQyWN3WCBRBU9aFUjanOj1dGtRkDFHi64lnD+DAexP2vatju3WJFQUDN33mr7N//Md/nPqrv/qr9J//+Z8XJq+4YmOQT12azqffQhC6wg3wJUGILwjimG1Sg1RCIUutklBBDARZiWRZwQJklQD7ELttCXutVOw18uz7LqHVYHMKLSfkNm3woXJ5hJS3OxHpadm+0Gi7wLQcaNuW4LfbSmibOezZ62jsXUFxdFUcxxe6frLOC+KiG8U5TLBGSAyTJIQ0iUSa4BSkuCgIehcRsfGZz9wmfSuHAGh9II8MX1YkOemCkKwLfa/LtWzNaltURArR9bSj6JmlBArTTbYRsmaFFUEQopAQQxa1AgQwhyOsQYJFSCJE4k6bE8k0iTMxxj1tC/eYAcnX3RC4cWIDUWiwNX2/qzuLNJnKILILdn1tW+S03ozC4GriNrd+/Df+v8Xf+Z3fUW+88UaF5aP+n//zf87/P//Pf99I2tF2IOrvDCh6lxeSd7A69Q7WZl8pIWmTDJTUi2nqvJYGBpIAqy07COZMzzmKEFwwVMHuyQCQkQIoYAvGUSgHmKp+IhiYVXSIJNenZBV3o8affuQjIWvfWCvYCe3VH6y7o9fcsiP2XKcZ+WROkbRVw9DahZxOdYlNqrEtBU6zJ/bMS4UkeqcK3CuMM0sbb7rpptTv/d4n0qsmKXox2OxEwkbLod3VqqmUKw3BcSzNs1uKb7c0P/ALGCcXUAquCWKwrekR3QppBQjKkqRoa4VsLu7OGDAvUaRFQUpgZSaxzKuwY19JguDiLGkVrvjgB413vOMd2p/9zi/n5irmupoVXrpYcwvzZZustQLfSUBLMOQyVNA0VMg0SeKSLnT+UAz4sR4UAFiveAYJxDwAYhdOEt0PYxCyyXuYxDBOQjGIA80Po3QQ4ywrSJ1fwhCZi+D5EaSiQCECVJBForICJIkIQJAgBIghwKRHAclWFeKNsYsH/j9RqzsWclvCRLq8YTkXNm23p9q2QJtF3w584HgOdKy2YrfrWcdq9XmOsymO8DYvSLparghXa07D8aNZLybjgqSU2Aq3bSg0FhMPEc/MYKu1hVjtK7HdvCZ2Sxe8//2/0ftp1v50jtW2UKRKamvNob01K9FqFpuLxwBLmhbIutzSdaWiKcKaqiBTHSjhz33uc/S2z3xGqvbgdALFXISTtBuGKMKYLQISyQ895Ho29AIX+p6pQruhj6wB9bOf/awy5V9kbOjLdyFIeiil+SjBshdHwIsD6Me+EMeenCRBRiBhl5JV+1PZzIWyob5F04T3IxW8iwpke8uLdTNEYiSw1RUlYwpqelZRU0dURd7Hls2HDUV6TlHkYUlRn2f9215JE46wVePRnCaVN6XM8E3RgHDD4KAAfkoPHMsEQ8T2XABh+Q0QokCgMUWxT0jgQOy5SuTYed+x2UK+dQXG0ZsjmFwSQrAxCcMNzabV27bdrGUFsufGIMYQRDEGAZskx8wDJ2GKkrhAI5wbBt0626BBP27U825LVF2Y9ly/EIRhPoxjtj4WgQBHIE6wiAFVQlae4yjJ+j7Idl8GVBujBBOhJetKI53SrXX9OdqVZUsM1JJjc00K2+UidZsXw8i+VIiFbW89utBz7Y2fynT6t9/5sz/LWXG8DqnpCxU1fTEbP22iQDQoFURCEU0IiGhCOwsZryhJ3VY2rnvAdp1gLgijs1CU5hVVbucyMhBIO4q9MgztVbaQ176MJM61oedc5jRqG/9ycLDbS7ZsINmNV6Z6N37ITcRLmk6QLrdNoWraoO14sN0ytXa7lTGb7W7f8y+II/wmAoQ3RYLWTyUdIUknoqRCQ2elSyCsGvsAYFeASZCVIO6Xkrhn1dxVZPU/pfhxr+nSLRGmF7VNu7tSqiKn7YgBm3NEgQsi35PjIMgHfrwVJ/RSANElTGIAWNL39A2vBOXmm4cItsMgJqAsqeqakcvUM1kjTuuSjJJAJ6HbQzx3m0ToVSoib/rATZ/e+MlP/nax03Z/9lM3ZgiEm1k52F5tNrrrrZbedi3RCmxoehast+vIdJx8EOKtFKIrgCBeAqV0r0cQy0GhJqnKfCatNrtzGkmjmApBW4zNsoGt+gZsty5U2CaSWEt6PvjBT3fGOvLf/vnvZFc8tClCxpvNEFy22vDSbYxALKUDLd8d6PlCU9ONVVURW10qQGkZboA46Qs8L12vNxObpVI2MqKRLySpbK6hCNKoCOG8gKUGxpjYNtVsVm5ZXyq6rN0M4gAQEkkCxIYAwm4JRJsASS4REu9SPwJvApLyFoyEbaz+dgVJrEaUSARSCSeRjHFosGvzEgjyn/i9v0rfMDgosn5WXJMDTZT1XhfjouXFwGTLal4UQ0IJq/tQlkWYlgWUVyWYu/rjg/oNr/JflZUsFYeUVgVZXdJSxmImrbldaQXlFCDLSWAkvtWNSHi5DOO3xG7rikLG3HTj797U/dnPfirj5fR1gaBeFgHhzSEkW8zAka3AQqbXBi27ARpmQ2+Zzd4wji5OANgOILosSaR+HIo6giqGUMSCgKgqI6SICUQ0ADRyZeLZmdixeoFjF2/81Gczn2Z9h5+oXV5MtrYsv79pWtlKrYEapgks1wNhGHUO1fe97sB3L8Wxd7Wiim9JZYQLRQ2uT+eUDX4YF2zXR0FExCTpHBgkGItJHBuiILNhuJa/+U/+lo0BPyP97eBN0uq6OG0U8j2yYfSFGKeCyJf9wBVxHLD5YojiMJLiKEyHfpDTar4+OHiXOqX2GxCI612PbKk1nE2VqpttNGMIhHSUyfaUe3oHxru7i8dzXdkDRlbZqxjSsKgLw0ZKfT6dNg6nNP2MIYP5LHEb3cTBG4qK8JnbjksAUAh+wgdrbikBMGHjzBAgIWbDOpYdAFKCEQ4sCElgGBLoyWl0oyHBTYkorocQXejH+JJm29rWNN2cyQo76/eBH4YgjEOAcQiSJBITQgwSg0wrcNNjYLvwfVGlg4ODJIpJAyC0yDbjytmM4fZkNcWAiYp8Jx1bzf7Ial+U2O03iaG95bpPfrLnBjbe64xz2XxC+5M/+ZNiNTA3ClDaGiaohyAxDVmHi2RRQQpUBCHRJZr04AQP+F4g+54PQi8EBMcwwTEbPvsoSRIDQFiQRZTzmmsGi5N4222fkWQll04VcgOUoq4kIakoxlpCWLwgUJiNQhNsCALqUgSQvvHGzyo/Ki++L+2AhBJh852YUBgkFIWsYacSglSkmCDsUyEJJImEGQPRjZokXGqowuVUNq7CcuYqDyi9kahCquitVC4bdPXkQX9vTmRDV4SwLeCgXUgC5xIaRe9nffvbksC7CBfHi3/2Z3+W+2//7Xe7cpdeualsk02VZti31oi0SgNTx2fZlQhtRYBLqgQn2DLBgiZhb6CX9TySks+kjC0QwL4Y43SEQzkhEaKs2CRxJMR+oMZOkBEDX7vhhhtEAAAc316T4oj1sVDIRwRkPQ8jjy3YhCGrX3EEKIklgeKMhEAxtmnhJjOjfPaz/6KYMEjHfrzFNN3NtXK7p1k3VccLIkmVK5lcZq7Ykx9jx6lCoTiSzRaO5rKFQ7ls16FCpvtwUTeO5UV0xoiDWdZeNPp9C7/bcFl7+TX5a2zuTulPVl8kia6jNH6L69vvdrzWe7zIeqdlmW+pBisX/fFNN/T+wc3X5cdna0q5Vg8FEZmqJjcKxXzU1Z3DuibasiSECFAc+HFoO0HV8eIpN8SnKYHTmWzaKWbUqKBSosRtQK2KHNZXstRrXyQn0RUk1i4zDo5v+P0///PCTWxOvaT4Axho2wNgXBsLxiVOJEqRrCfQyHhyJtvq9MEJDRdJhMwdO26Jwat/wNT1fSJKSbkgxl1+GHaxOqAEUQzCKAKYYlbmkxykoJvGURd2/YwFLK0zvh4cHNSVfKqLyPq6MKL5KCFqmCQgSmIQ4wjFoafg2DdEGKUlt5E6OOtobN4q9ff7mmeaudCJesM40b0wBp2DzdFhEIcCu16LE5xmZTqNZJAyfZy1g7C7ZTmZUrmG6vUW9f2YampK7OrqI319GxxFy8wnUFkEGmhu2mhAsS9XUDOZzRRCNpfCOsFEJgkWkhijBCcajmnWDWgfYGdWAejxoJJr2BhbTlCKY+pBKBCJVQQQuoB4poBiNyVEdtH3qr16KzQ+/vGP67/zy7+cwyi1wYvoxlrTMsr1tlCXcpUkAAAQAElEQVSqN0HDsoHluKz7emETSbfb7b4oDK+kBFwjicqVckrqYWs5KmAPZojYwcruIFs3vEnu+FBKIfuIP7kAF3gNCKCfZRyGbroJdVe7VTYTWBd4wZub1cpblmfnt5w4fgJNz86nWCfT3bDMnrYfrIsg2kQx7hOSKAdATh133c6/LOg0Fp2jE03IRlsIrPmSbQJ1YbHkLK9U6s2m6bPGHAsiBGydCIgQAwgCELlN2bfqRRz7lyUEvzUm5O2EJpeFsTDQyuf1eiAkdTOu1Ux8igD1nGHkyj1FI+zOKiAlQCCTAMDYQknQVpPQ3ZiEwVUJDt8SxfEVNAEX+TF8kxuH78AQftiLkne3nOBNYQTXY6hkY5QWA5j2IyxVXCxMhZRMUQEuZHOCm88IxJAoi2cAQNzZtS9pyLc2CCS+QoTkagCiN7mEbGVpusiJ8JVRTG4IwuQqx4u3WH64zvKighMTpY1J1HZwu2l7a0GUlAkFTU1VsSIBQLANaGQCFNuKnPhdEgk2SiK8CEmULZaIVxAoX9W0ou5a05PqbQw8FpWEUsA6NTahtphdG4SBKYSBrSYJzkAcsY6SsQIA81hUXJgqCJJyYZygTS0rQE0zAJYbgQSwezOcOHSA264D327qkkjWywIcUBSpi32sj4HLRPb6A89Qs2kYYioKYixKUgQgIpSdBREAELJwScLi5AMcRxnIJtqyQC/FQHwTRdLlPkEb2Pwx50YUBQll8aCdwRkASSQlcZiGCewRBHEASmKXH0i6ocpJJKeb6WKhWRwYCPs39ifrNxRAf14GOSUBEnEAtuvArizDysK06DQrWyPXuYZE8dUCQJc7vn9pEJF3sDx6jx/GN7Qt501N09riBv6GGCf9lMAuGvssJ8B3HiUwEHkSbDkxXmi74Tnb85chStqFvEJ1QwQy2yiRe3tBun8gKKzb0ExlM8tKWinf/bvvfdn/8eXg4CDctAmIIkx6BYgvoUn0drtdu2hhdqp48vjxzOGDh9IH2XHq5Jns/OJyP4v3ZZjCSwRJ3YykTEaJ9e+J43ci+/LfQE0bV3CkFWAUXkIpei+C8GYc44+HYXB1vWWmWFmQTD9RAqj2BlDZAJGw3g3l9Nq3/nwNy8mXD7zzyfDgoIDFgiKIKKOLYlpFUAOxJ2DPRjgwZd+uZ9ixkfm+A+H47UmEr0BEWQdcN2cYjlL2oONiuIQl+Yyo6WvZXIZmdUmQElfyqiuS11gb8Jq1S3FoXRElwUXA8wZ02+5WgdpNCBkQSHxBSIO3xJR+ICDwXU5ArrCdmG224HWCrGewlIugTKtUBXPZot5gk5Yka0CiwEhkK2ZpGnmXJZH7Dhp710bAu0QEuD+KUHdgBn0ylDcAIFwZYeF6CJX3AypeE+HkwiCJN3uR34MFQTNDVmyhGFBBaWupjJvOZeKULhMhCaDfrgiR12QTI2tDEnjbiIjXE1Fm8ZIv87FwjY/RtW0PF+ttH7SdGLhexOpMAInvSNRztCRwsgD7G2niX0RIdCFry7Z6frjBdL0+PwizMY4lkkQwwZGM2aJaQpJNBCYX6lDucpVQY/kD2QE2hAoC2VhO2NcE4HwQ+bLvuzDwfKprKs1lMq6qyMsIonIYe5bI5oIwgDkT4Q0hodsxBZewhZ4uVld0wgaugGAESJLCOOmLo2RLFJDNXox6m24A20HQDAhZNDJ6c6C/QPMpEaCwrbTXZguR2XwTiMJ3wjC8CoT+FozlfCqVysRxXGTx3BBDyqzpewAVPpok6AYvSli+gssARVsRkvqAJHbSxE791pPVJ3LL4A5Pi8Q1B9MxSRSWMrpkrSsqck8WSik1BhBRCEVFl9RMjyAbKpIVHDuJOfje9wbfCuUn/+o3NCsOwYIs63NpI1Xq7y7grCEmCDsgtuupxDMvgjR+H6TR9RDgKwVB6IKR0htSuDlKwJVujC52A9BVablKpWUiPwqUJA5UGgcay9sMpUkfBXAbxnTAconsRsIa66wmYkzGs9m021tIk76MnKRAKEqBXUys9qXEc94CY/JmGDsb0oQUUymUDwRl/UrDuqDcci5ZqLm56ZITL7WCdjukZaRrCwkMz8TYGfPkegnkgffjyLA8QTs+8xnWLZACqycbozjZEka44Lg+8MIQBFEgeIGruqFfdH13XUQxy3dYnDUMZfv27VIQqDBMCAaiEMqyHOVyKZo2JCCLBEkoSikC3qCg5CqRxlcklFzKysy2kIpvDhLw9rWmtWmt0U6XWxYwgwj4GAM/8EDg23Jkm4ZrttOeY+ejIO4J4zjd9hI41UJmvZ3MN+1klArSvKwp1bwh+zIIE+CbKm7Xe7BjvYl47vUoCt4qivQi13W7hNjujhMWdypdWbGT3tVmRGsOoRGQIyOfN2VFWBYlMptNocVcVm5vB4CwDXPo6VWDILEXE7A+8KPueqOFXD8QYxIrlmOJbaelOnYr4zrtbpYX3WrkZlLAyWgSKWiKto0kdEsUhX2OH6im5yE7DESbpc/1zHTC8lpC4TYZyZeIovgWKorvkhT4PkEkb09AvN0Noz4vQQNATm0WtLQq6umGrGundTl9TIXyYYHCQwiAw4IMjwEpOcnq25SqizXZQKIbasUw28p2V4HayWNA6Qtty49TRr5zDVIwEkQPSkIsSIhKEgSIRoT6Jg7NOnVbNd1qtfubzcZAq93aHOHoioQkl2GaXAAAvNANggsd29lWb5jpRtMGfpAAx/FA22wiz3eMKA56KSEXxIRsQLZfvAmAzljmVcebssoXh12qBGCvbXubPNffyMYOqu25wGEblJhgGRCSDeOoLyLxehEm63xiZldjGYZAt2IoltSUUdm0aQD3F1MoLUZiYq0SbK7qxKttArF3OSD4yoigCxKq9MuBVnTbeAOkwmUQCG+HgnK1JGnboKAqUGTNuCA7cYQbThg6EEIKXsHjvYOD+Pf/+k57tRXPt4P4TALRmJrSq/39RSBDO4ic5dBtzYpJ3LoEkvA9UexfB6LgTSEAWymCb4Ky9h5Ry/66HYELlqttsFptgUa7k/4Iuo4ruqatOJalurZb9N1gAyunW4Fo5EUlS0Qt7YuKEquKKLN6DFHikdCpwSSyCzKIL5RoeAECaIPnJT0xhheyseHlUQwusZygq1RpgmbTZ/kagRiz2k6IRBNqxDEuJgntg0hYhykqsP5MfwUM338KbeI4qnh+CSjKfCqfm2PjDyfLRjESiFjmuVnquxskQt4mU/gOgOFVkYg3B4HUhxXaHyTJ9pDgNy9XqqnVWh20fR+YvgdM1wEtywS27ytRkmQBFDciQVmHJDUXJkIcAbSGJPFEJqUv9xTTfk6mWI5MHDeXCbbrvdhtXUwxfhOIky0Odrs8STJYX9iPCbiS9ZnX2z5582ylpbRCSFC6GBTXb3ILfQM1QRUWRESbaQlCXaL9nTIZh7HYsiwSUwK0TFpKZY0kZWhtCZK5lEA9Q411AxnZGIubowS9qdQys6VGAzStFvBDT2V9VgHEwXpAw+2AkrfTBL8dJ+Q6AOX3hFR4U0jpgBn4mhsHMgZYCUNPCQMvl0ThJgHFG8Io7s0sLbF+u6Gz5j+fCOAi04s2rjZasG66wPZCECcxQAiokigURAQ2QpKsT0teQZYdhWUYZMcreqqbgtjBypooaedk1ThZzGbqA90Z0JfTRAOy1W+nyZIcXSbQ+DqCyQ2IJFfFkbzNDqWBmKBLQyhc6wN4VUDouqbnASvwgRN6wGV9iGW3pbbZNEIc9QBA1wMobUBAyGOiSRiqAaUwgFDAKUNGmgwQjG2a2C01shpFGPoXyGzMGNhuv+smXTgEG0OKLm84/rq66aSqLRPWbBe0wgiECQEYY5G18brnO/1B7F2gatKlGUW4WJWlixVVerPl2uuW1iqs/tmCG4QiGyOgKPRfcAeEboGitIGtexfKOKeysmpEKalXNjLbREW5oG3bRq3ZkprtumTbbeQ5NnQsUww9v4eEeBPCpBBJOOspJA8EuCUMw8uslr292bRZG+yzMZ8giALbBEhlJlO5zAnNUI5ARA+mM9qBdD59UEDwiCGpo9259EpWVhKF7WVCovUYsZoXmpOpz9y2Q6QM6xVl6MucRCOMkwQFUFRsIMo+FFnLjCBkDjBw24DEXl6k8QUijC+XEbg8QfQyUZSuwJReydrsKyp1q6dat0CjZYO25UDbtZAfODCKfAWHUU8cRwNAivrSMlBZXv9A+UuI0EBQnc1k89PZVKbekzUEQ0SSEIYqblYzxGpvTRznLSCOr2JF+yICQDdIpTKNRqMQEmFzEoI3kQi+OQZiL5QVVU0Ziaqroa6KRJLitACSbSwOl5ltS2s22qDZMkEUhiiJQmRZTRCEfg7QZD0FyYbQi7pZddVLJd0AstbD8ni7F+E+0ws0y3VlP4pUloaU7zqK59pZCOBmBHBvpPanrv7MjlfVH66YpaTSbvghQCZBkikpOpZlMREBK7CJTxF25cRtFyCJLhMhvQ4C9C7WTlxHkPrmZiBkLSy6sagvy0a6mesuhJu3rEO9RQNIwEuwV5ew396Y+OH7SBzekMT4bRR4m9sYb2B5vSVG6MqGHV+6VGV9QitWm65AMUoRJMhNtqszK4JgTJHcpYF0gnPITUERbVAU6SqM8WbXCwzPc5UwDkSACAgCX3EtO4ujcD0J4qIsb1BuuGFQUAJDi2XSnSC0MSKAbe66YrPtANNyaMDaAJDEmiLCHkUiWwDGG1NqwKYvTir2QSGMyAWeE2xrt9p9jXojazabKI5D20hppf6+vrnurr5zPV19Z/O5rlOpdHEkY+RHeoq9p3qy+ZmsBOtZCYA8wkacDgtuF8yFsp8+uhiot9zyQh6BH/eBJNjDWpRLXc+8wnGta4MouCHA4Q1seebaGMCLUQw3xqbd55hez1K9QaqmvUZlKUhljFDTxIauia4sQT8KvRqrKwv1ljlWrjkHvCA+mc0Uar2FnD9Q0ElGCAlplxJreUYgbvsCmYbXUgjeg2l4hYsha1fc3iQSLmb3fGdIpPdEQL20FSLIykOEMlkr3VMsp7oyiwThRVks+z9Oer/2tZuQpIQqwXSD4wdb2m17ve35hs025k3bAj6rE3EcdwMab4MJ3gqEZMAAIEdYLgLgFQCV2DxTviyMcG8QxrobRcBhfYDt26LrtlM49rtlRNclCmbtqZLbtm2bqkVJwQ7xRs8LLnf9sKdldfp+B7BNF+T4rhxGYTGJ4wEAknWsee+p20m2aQdave2JlabFzvPZEJXAdCol9RV7wIZ160Jd15o4jjzA6q8qgO4kES4RBPE9ISYX246X9XxfjYJIohERk5jmME7WJYRupRBsI0BhfYuUrZihXarZkzFGbQFJiYQAoIFDsdsSZRLkJBJtwIF3UeQ0u1U1n6eCto4A8RI/BhdXmo5RqptolbU9DdsGpucCl/WH7WYTtusNLfLDATYW2CZJ0kWKGPUZodzZxEaXXQZEzWN9IBd2ZwAAEABJREFUvb2WqdW0dKvV0m+++WZWsgfZ3QH8cfKUX/NjC/ALucAPCHQq4g+8+dN4Y/B3fket9Aq9qqi9NXCcG51m/ZfXFuY3zk5PSlPnzoGJiXF1YnKia2Z28qLV8sq7m632rzb95NcbIf1lR5TeGSpdmwtve1vqiSeekHfdNqg//JW/KXyjWN+e2dT3LkPJfXi16r9rZrl+6eh8SZ8ptVHFjoHFZokRZV0KxADCECShCZy1edBanis215a2O471npB1Qs1S/Jb5utJXcrXEdekiIdJpSU2f2LJpm3XJRReArRt7QCElADFxYNguQbexoljV1S63WXurZzZvrLYaN52dnf3k3hNnrhk+diI4OTm7OleqL5ftwPepEnmx5IVQsJMkqEc4maFAOiPq2pm+9f3VdRu6/P4uGWRkAhQSQpl6KG6Xs9bSzJa4WX13aLY+weJ580qldvPR8akbDo9O5CYWVvyVhlV2ItCMkNx2iGi1gWGzABoJEJcAleZEKC9lFTXMyyLIgBjIYQtQpyxHrcU8NpevxFb9Q2az/vGlinXDcsPdXjKjTMMnIEYSiCAEEU0ABSHAYRv47TXotusZ125tQDR6U1qLt/36f/mr/r/5m892JUS5RNe0Gxw/ua5cty88M7YoTM42wUo5BI4fgThwAHYawKmuALdeKiau9TbWrb9TFNG1QixsNYBb6PxrBvp9g34F9GAoCFYEUDWm0qqkpALV0IEkQzZ7Cth6SBsEVgU4zXK+VVm72DLb72QDwHdVLHJV2UoGGj7VIlFCVGD9C2DFmk2ckihWfMctxnF8BUzou2VRfKeWMi6cbWpGEAstP4ZnHQweS3f3LG7Yso0M9PWCgqEDnRKgJwEAdh2Yy1OgvTLd01ydviqor33SqlZ/szS38puzE/Mfnp2Ze/Py8nIxjEMVSYKHSTwTJ9EsksVVOWKY4HseROk3/BiTCiZgXpK1UiqVtru7s7DYlSLF3mzSu743MfJpl13fRILUUBHxvieE7/uh8zfsBcEQBAGkKMUZ33cN0zTFVqsJOpPUCMeAJgmw2i3QqFZBq9kCzZYJm5YJW7YFTfP7AvwhP04/8S/KgYe/2L1FLV6vaeg/ERz9SatS+ZWpc1NXHjhwoHvv3gP6qTNn9bPnJsSxmVljcmHl8pWG/SEipj+Vlro+qFTI5YP/9jU2MHjpv3Hb+U36fxn8bGbOL22XDf0Dmqz+smM519UqtXVWu61aVgvadhPVSvOwNH9OWZ0bX9eurl7PCu+nAjP+Nasm/tLUPL1seg0bDTcst9xor5fQZ6CMDhcLutmfZ/VCcIgUN3XqljcldvWGyK590m9bn7Zt9w+bVvuWRqn1hzMzC58eHZ36+Nj0wpvLLacvBBABQWhAJKy5rlO1Ce7s3ZbZQsUIFMBBVZeOFfNG3ZAj32/M+VZpUjRXz623Sks3OKW1m1sra39YqzX/eLXa/KPZxfLvTYyt/IezoyvvPDm6fOHiSnuD7ZEChVIoqIYpJoktpVSLQNKMBGlF0LSKbhhWWodUgTaNrKU4aC0XnPrC9npt6QNm2/yP81X3t86t+L98cq5+yalza+HkYjsptyJAkAwkxQCGkQZGJgU0TYhlENgwdpZhbNZJZGdZ3biw3nDftLhY71pZrRn1akNrNZpCo1ZDa4uLarNSu8a33F8RYvARWRWv+t2/+R9dvzM4qC4rIYmiVIgBaRAZVJSs5hs5HetpiXheK2y1SrpvV64I7Mo7xNj8sJ6Kf7cZR39QtaLfWmjFH19uRm9dari9bHFJK7daqNYy1bVKo7i4sLbFduK3spbx6oTKG32o0piK82GS7BUF4WDakM91p5FfVHwguCuhW5kyGvNnL2gvT38krK1+2qnX/zi04z+tldp/PLdQ+92puZVPnptdfNe52ZXNtbZbTIAgUUJKJMGzSeAsJqHjvFSRTxX64lwqY2WMbKs7n7a2bjTIBZsNunWDQXp7s2GukI+NdAFIsuqTmLoJK1cvFc6P+54bGr6gKOUgIqcFUT3a1901tamvu7W5O0vFsEn9yrzanBvvbS3PvtOulm92rOA/t23ymfk19zfHFxvXj6/VN46Xq8iGAhQyGapmM0TUFYJkFCsicCRAVwUSj4EkOZfgcMa3/EXLdUfcOByWDeVAd19u7pKtvXFPikZy0KJRZVkLKyvb2PGexKz/Go2i32MB3lJtx7ecWqx+8OjUmn5isRVM1ON6G2XLVM3MSaI4riA4KYF4RY6iYGRgIHm1HjfddJOwTlrpVtfDa5Rs9sNBnHxsYaX09vnltYG5pVVQb7dBw2yh1bVVudmsb2T91TVRGLxXAOR64EhXVYAysBymVTcSAiTpdUVT6z1d6aSvR4e9OSoIYUnya9M9jaWzVzcrsx9sNKo3r1Rbv3fo7OqNxyfWLpop2cJqM4jqrJNoewT4EaRIFIkgCYEgC1YurbeyKb0iiWiJJKTih4kJarXIBaAaUTqRIOVYNl88e9GF20rru7PtrJz42Cwn2FzLJ2bpstiq3Ij99m+RCP+xG9I/Pjlf/63nz8y889Dkaub0Yqtei+RSKOmLUBanAKL7EcL7KY1mYOQ6qu8b3V77Yk3Mv0cG8FfaVfOda6vlLUtLq+Li0jJYXl0Ga5UVUG9W85ZdvxQI+LpcPvNeRdXeSVDul+xY/dXAxX/YqDTeNTs1A6bnF8Dc6hosNWviWnVJLJVmjVpjdZttNd7TNP1fnV6oXrpcruuNVj2w7TZ2HAvV63VjrVRKLa0up5qWvcULo6tNJ3hfEJIPClT8MIyEGwEhH2Vyn1BU+klFjn+NxM5/si3zD0KzeUtkkVt0Mf7NJtY/+Of/8wvbPvsv/5JhZQSy48d6hgiFLhUaSEZ1yRDNXEFJNCUisV1Oqgvn6Py5UfHc6Lhx9uw5cezcrLxUqXcHCdmW6+5+SzafeRck+L1mo/a+6bm5vrNjk2ByZgGsVqrAdGzUaDVTbbO9xWy03x350QdBTN8HgvybPj34xe4XNsAAeCXxhp0yffc//9kmIsBrfUg+Or+6+tbxqel1p86eUqbn2FjDaoJKeQnVKsvZwG5fGgf+u4OQfhgT/bqal99cDxXQ8sXTHobPQUk+ms0ZpY39GdKrh4IalWS/NK5Z5Zk3Nctzv9RuV37FtkqfXq2v/n6tVv3t8cm1Xx45vfCeMxMrFyytmRkvwCRJwCxE8DAA8UmJhKvgVT7sumlFtr9gecFRUZTO9HQX1rZt6orXd7Om1l+zG+VJeXn+9KZWdfF9tdLszeNjZ3737Oj0pw6enLr+wMmp1Jm5qrhc80EQCWxFQgASQjSTzsZdxWLUVSjilKo1ZYQWIYWTBIAFnyQlO8ITCUAL+UIO59MqSIkRJHY1cSvzudbi+GVedfGDkVW92Wqbn1oq25+YXzXfsVL1uxo2lJ1IBljQARBTLKUpCICC2Q+OgIQSi8A8Ick0wdGaLwCLnfCqn77ViMJIXHR9fKTlBI8TQI5nUuLqpr4MysuJQO2K5JYX+7zy8tux6/1W4Hq/13TcP6yazmdGl6ofWKjam6sO0ZoBBG12BInEoqcBzciyPtzwRUmpk4TOJjFZwJFQMSNYcfxwth36+xIBDOsp7djm9V3m1v601KcnGTEqp0N3YVPsrn4IB43/GPrmb3uV1n+enm/+3sxM4z8cOTm/9fS5sjBbCk2HGC0lU1gTJOEQQuQYAfEMRkk9IX49CO2ZBCUVqEq+nk0ngkhI4NWI1y6pXnN5W9ha/ZgUO7+vEOHPgwD/+fHx5V8/fHrm2hOTC/nJ1TVQ911QtRqpeqvUa1rljZZZvcRuN9/iON47Vhv2W6eWK5cePD2ee/74KXByagpMrS7B1UYFWk4L4tDtQpH/NgPSj2RU+T9uKq7/WCbf/TFB0D5ea5ofmFlYufTYyCg4N70IVko1UGuwOlQpw/LaiuZY5lVJEPxSnMCPBhq58v2f+P/03HDDoAheweOm8e0YA1wzg/isafvfBCQ+lNbFmS3r0vGGbgUU1QjS9qqKW6WL5dj7JIjDm0Mv/E+1dvjH50r+zdOV4G2nF5rqZMmMyw6mTgQAAQiIogBymRTuLRY8XRZLgNIFTMgsC43NovR6RNQykjLLippZzefztJhRxLQYAWJXxKi+2ifa9etps/IfnNXyb7kt7/dny/ZNKw3z+lXT666HFMR6FkSSDkIqgJAkAMkiYW0/q1OpdldWrokwaGU1vA4g+J5my3nf4krlotHxGeY3DxYWlmCltCpUyytSs1bOu45zbewFN6JE/mReBZ8QYOZjhpH9xNRi+drx6fkNZ6dYO7q6JrmupTcaJWF1dR7MTU+CaqV0ZeDan4ioe2MkJG+XdfmiVFbbqMgkH/gN0KqugtLSvLg4O5utrK5e5LXdd9k1+5cCK7gRAuHjOAH/ASXJL0uC8CuIxr+ZuP7vUsf6z7Ft/ontNf/IosF/hlD7fSPe+Kt/9eWnrvx/7zltfO1rLMHg1T9qsR1EmFT9GIzFVJhRtZQDBMFPCI5w5FGzUcmuzE9eUFtbeq/dbH0CEPqJII7f7vnB9pblXjQ5v1I4euocOD0+B+aW10CLteHNZhk0Gmt6o1Ha4jj1d4au/REFWe/62C1/dcHv/M6gehMb27wYU8ePG0GMxl0PP8Mq+8G+Yu/ipp4C3lRQtUziSYpb7wLNtctIs/Jx3Gz+pldp/Xat2v7D6Urr9+cqjd8Ynat8aGrNvLpu4w1uiAErAcsySmZ6MyTa3Jt+T6tWfd/c9MzVZ8anUifHpsCZc9NwbnFOKleWpTarY/VKKV9eXrnMbjR+JfbM/ygq0UcMQfxk1UWfaFjh+2cWV9efmZgB52ZZ+VheRuVqSVgrL8BKZbHQqCxeE4TND6Ji6oM5Ur/0Q78/mH8xXT/qNS5mohQVmqbjn7WC6BiUpIokCq4K4xj5bepVl9Dq9GlxeebMlqX5c2+3HPO9lh9f2vSx6iVSxcHSKSsAT0aS8qyYzR7v3bKhtO3izc6l29bFWRRFQWUJr46eAPXJiUucxfmPBWulz9jV1h8vl4NbJuaavzO2Yr7zzFJTrAQCCJRMIOWLJSWTntXYPCOlqWsb80JywUZtYFtf7vooCm9cXFh9y+jEVM/IqbNwfnVRrjTWpEazBB2zrfq2vdE3rfeSwP4gVKIPbNw4db0V5d4ZhOT6c/PLl4xPzXWfHJ0WZhaWYbVWh+1GGVitUqZVW94a+e13yzC40bPdGwLsX55A0k9RkvE9S26xetKosPq4upxemp3ZtLa8clWz2breaVvvdNvODdgjH8Qh/BgmwidJQm4Ckf+flCS4BfrWf4l850/8IPwjqy39l1KCfs8WjRvFK7svGLzruW/90s6PyqCX+JxiP0pwECQwJAG2Dcutr3N880rXs95vtZybm2b0m6Va+Km5OfM3jpypvuf4ZG3jiemSNleuYSomvmGAckoHEwKJDiSBd9xy/AlW/s8EEbR/D5sAABAASURBVDgQEeExXUudGujuqm7rL5JelUDBXAHuyoTWXJ64qF5Z+JXV0vynyqsLv2dV7c/MLJZvPjO1dN3hswvG2EI9aIQi2xKVloEknoxp/FwColMJksvRcip8iaS87FsUgBd+WV1bKGx1mvgD7Vb9V5cW1t55Zmw6vVSqidWWCRrtFihVVuDqyqzWqK1d7NuNd2oS/bChSO9GALwnSuiHFyvmf5xfqf3y+NRi97nZZbC01gClWg1UamW4uDInlkpLW1uN1esFHH2gWEi/vxFF76226Sdml8ofGZuYuWZmablnfrUEKs0GaJpNZLWbcqvZ7GNj0SuaNv5QpYnfOdNGW5dtYJpEqgM9Hxq5HNAVkQbtquNUl5T2wuQma3HmOtBavNl06n82v1j6L2fny781Pld67/xafctSuaWWaiaqNUyh2TS1tZVKT3m1dkns0/eQRLrGx/om25fjAGhzGCiHvYgeDTGdy2V0pMsUgaBNa4uTqLo4dUHcrH6cNM3falTC32k78W9OLrVumC+3Llxtu4rFBm8wnQJU1wFVJEBYD5zKpUBXbz7u6s60slltWRbojCKJZr9B1J6sstmZcT+YkbTfFUzrP8cl85ag7v6nZi355A03jF33zg98ekPnX1MD/uACXOAXJsDaup/RvXNAZZsavYIE35xgfK3vuVdXK5Xi6soKWi2VSalcEmqVilGvl9eb7cZlttl+RxTh9ycU3BAn4GpK4Xo2jkg1QVMBAyk9p+ld2VzqCklLvYtQ6YZq03vLwlpr0+xaQ1ptuqTpk8RNkiQGCWuqYkJhTAhxk9CuJYFV1wK73RcE3vYwjN4Sx/QtbowGKqaGSpZaiag2rijpYwMD66c2rl9X2by+N+zJG0lKIoCGJo2sOvKbZd1r1zc67caVbbN9/Vq18rbp5eVtp6fnwbnlkrXasmtmSM0Ayy5NqNvSgF9ygGU5wWoMwKSo6WeKvd1z/QPdzS2bu5PevEozMgESdiBx6krULBe9ZvVCz2xe47nee9ji2PWr1frl85Wasda0/JYfVryYlnyMakEgt3W9z62VVQfE0hqg4oJApYW0rlsFQ4u7dAmkYADYYiOKzZIaObWNgWO+xWy2rq3UzcsqLbe74VPJo3KC1BSBskopQhSihG04uDT2mzSwG2Ls2TkBkAtUAW2WJGkAKHIRIHEbEuW3WW58UbXudE0t1OhyxaFNtsjGFvgATiJAYheETgP4dk1zzfpA7NsXkSS8jBK80cde3rgkL95887f+HjH49iNs4ARDxYywtBJEcAbIWllUNFtRhEQSMEGJQ0nYJJHXUD2r2RM49iWm5V9WawcbanaStiPE5hMGkFgHJckKYIsihOAYxZ6n0whvYsXicoiEKwmFm00qGDVXtG1MJ1oheVJLZUfy3T1L69YNhH3dBVpMaSArU7a04ABsloHfXE27jbWNdqt2rd1qvafdaL+nttZ4a7PauMhz3CKOoxACupAQfISQZJRgv1wogO8ZtAwODpJbbtkRJxg1Q4BWJSVVTWVzbl9fF+jrLcS93Tm/qzvnZDJ6S1HEuiQDU5DZSvm3fcDLvPZ++32cJBRjnMRxRKM4ZsklgFJ2EAowjkEYBonve77jWq7jsGfoR1Rgq6Lfvv5HvSw4ikpFoVtE4jUiEj4Us8FOs9F888Lc4sD42GRqbGxCmpmblWbn59Dc8rK8Vm30mbZ7pR/F76cEvlNAyiXAdVNg0wIbOvzg3bQLM3JaMQqGIV8pSvJ7Q0ze4zj+pY1GO8vCkTzfB3EcQDZQA3ZzVTRrK1mrVbvQsWw2SI9vIJi+jQK01Qw0daXOptm2N+IkZC+RxH1dOWOpr2h4fRkBpMVYkxO3N/GtKyLXfpfnuR/0bOdGy7JubDfbH2y1zPfV6q23rdQaWxu2rQeEtAkEk0Sg53zfX3VdbM5LrdZa6J4DiB4WFLQvk1Fn82nRzMohFeOGjO1qV2DWL/fazXeareYH283WjY1m60O1avP9pWr7Hatl802rZWtzywoLEYYwSYQaAGJVVVXbcQBLKm0nibSIFG1BSekrhbzhp3WKYdwKQ6eiuGa5L3Dbb3Zd5/p6y35fpem8fbFib5pZsUipGWE3FmJFz4FUOhdns1kvl8+4mbTS0CWyqKBwToNh05BRnhC6wXSCDStrdb1SbUmu54mh7yPftlGzWpHcdntzYNtvi0Pv7Sy/L1EToZBuADmfbxE2pg1dSCpYFObljFFKFbJOV3eeAhgR12Z1tFVaz+r/5aHbfpdlNj/atq2PtG37/bW2e03FCraUTV9veoHohCF0w0B0fT/lWn5/6OOLgyC5gK2DdLlQjjwKF/0AHxIFuE9VxaPdeaXamxWijOBSFDS02Kr0h2b9aq/dfL/dan/cse1PWLbzsbZpf6jRMN9ZrbWuKNda623XVwiFzDUZJZScIkk85zct5wdLIgBHm2eTdDrtpbMFqyufddb3Z8iWjTm6dXMh7unJWOlstqml0i1BUhoEUAuLGnmpcH7c927ZsSM+DTZbVgDHIVSOZLOZI72F/OxAMWNmJRwLUVsMmmvpwGxc5FvWu1gd+KhpOTfWWu57V5vOm9baXnctiBJipLDOFmKNXNY1chnfyOheSpMqKiITIkn2wyQ+FYd42jNbpVrDmrAC77BoyHvzhfTJDesKywNFzS7qlEihJULX7MNO+/LQtt/rOd5HbMf9eMOyPrRUaV41sVLXlqwkqRHdDtXiGlEzM5IkjCmULkpW2BwfGorB4OCrMqJsALB9+3ZJAXo3EoUrEgrfEQT47fWGuaVSa2Ur9TawPA84vgct1xRsu13wbHNzEvpvRpBeI4jCVVDUBqJAUESY9aCilrRUarW3rxit78+BgS4VGYIr0KCachorA55Zv8IyW++qNdrvW63YVy1XnYGlWgCrFvbtCAYJVBJR1Ylm6IFhaO10yiixRcCFnK5NK0icIASVgrDpDG3fjhthzmz52mIiaidSmfzxgYH+swM9xdWerGobLCghMHVs1wcit/UWz7Heazn2Rxum/bG1pvmeuUrrorl6kF6yqe9KmQazXBRU5SwUyGGI4hEhdpYzRtNFhGgJTLaSmFyDI/xei/WFzbrVVS61SK3eSlrtFmm3G7Rt1hWrVevCsX+ZgMjbiECvCwl8l+vH7zZN7/pGw9q6slwGpWoT1C0b2r4vWGZdaDdLstUoF32rfbFre29vNe0tjaattk2z6QeuH8WhwI6UZVt6qVJRa/V6X7PdutR13es833uPH4TvC8PgfWHgv5+Nu97vuvYHbNv8Jbvd+pBrmTc6tvMR1/U/GkX4w2yx7r0ClLcbQr5ncPA5oZP3P07daSQksDCuUgEti6q4lisYccaAQExs6NRXSH1lAayyvml+YQktrpTFpuVlIgLXaXr6Il1Vr6IJuZK11RcsLq+lp+eWQKnWAqbrgiAMoOc6smvb3Y5pXYL98BqU0LdKQLwEJUk3AJeJrH+HPyrOnXM6ZVrXjI1QFN8cJ+AdtUbrwvnlpezc8pJYrleBH3rA903osxGk57TWhYF3eRJFb2OBs/PV9e1EhxVbmPICuJ8I0nOpjHFuXV/B2tij0V4jkTRc14nf3Bi4rc4C7vXs+g8GvvdRNhD9pWbTvr7e9K6qNfzNTTPQwxhbcYwn2KDvcOc1Vpz6j0rD93/+F58f8tuBWa2b/qggKqeymcz4+nXFxroew9clPwisEmlWFlKsPF1oNmrXNuuN99dqzXcurNQvHp0ta7OrFqiaGAPBoIaepfkM2xTK561Csdjo6eqqp3V1RoHoFAL0FE7gtIfhsh3hsxSiiXQ23chn9aiQkpGaeAB6zVRoltdHdvOa0DNvYP31B5tt5x21ln9BvY1VL1EoVAqxoGZDScliRc1RWUl7sqyWVUkaEwA8mZD4dAiTFdZu2eDHeHzmthE8jpV61Ysm6i13GAByxNDlqfXdGa8vJ4OcgGXgtjJeu7HVaTVZ32h9gOXNjabj31hq2G8qm36+HUHiUzVO5CwVtAxg49Mkm8sHRiq1psryOAXwRJTAcTasW7PtsGHXndV6yzkdI7BfSyn7+rqz8xt6su6GHl1LK5EOcbvXd+uXB277usCzP2ibzsdqTecD5ar51tmlxsDcii3VbRSEQK0wm3NIFA5AFZ0UsbPmVxWbBlbT8+xJNjuYhIq4aOTSniTDOPRbod1Yo1Zttei269eYzcZ7G9X6R5qN1sdKlda7FlfqF8yXG8ZKywRtNiZ140AJYiftea1c4Fm9rB3ZFIThtrblblqptbrGF5bVU9NzYHJ1FZTaTeDGPgxCB8SBY0SOxdr24K1JGL4PAnxDjMkNOE6uN23/8rVqs3dsahEurtZe+FcgHhsruq4FLLMpuU5rU+Q7b0aUXA8gvZQ14z0ALLzkGPT7sxsODpJPffY+e6XdWliqNw4Tgg+ndPHs+v5sfWNfKlqfl5CS2BJxG91uu/Ymx2xdZ9vu+9uud2PN8t5ZsuKLltuxVnJpYmI5xoJGFS1Nc5lsXMhlW8V8ekGXpbMiBKcSGo8mkK6FINvEMF1DUnpREPW5XCZtF7NGUkyJQKOeKPjtPHValyaO/Y6IjV1d1/1Io+W8q2E621oB1lwgYpLKRUDPYKilEslIESOd8tgYsJLLqBPZjDRhqHQto6MCROhK03QvXivVu6ZnV8jySiWp1RvEsZvUtRvQtVuG59rbWPv91jhO3sfaiRsoBDdgAN/bML2LV8rN7PxKBZZrDeQGnuK6JrLaddCsrQLHbG7wPeutkJL3IAqvFhV5syChLkkiBoKh6Dlt2KiWhfLaql4tlQeq5coVjVrj2nbLerdt++91HOf9tul+wDGd91tNkx3ND7QbDTaWbnzYbDbZ+MP5WBDHH0eC+BEJiW8BoNwz3npMAT/GQ+67MAghYkmKx+IEjgmKviaIsiUgGCeRh12roTRrpR6z3dzuOPZVYRhciZNkW0KTftaGdpXqpj41twpmFkpgrdoATuACL7CBH1iK47Z7o9C5PEnCd1EaXQ0o3hJpgQa2bxdejGr+auDUCV6um8FRAKRD2XTu9Lqerubm3iLsNSTFoFEGuu112GL3Nq33eJb9oU7faTn+R5qW8/5q03l7reVd6gU0H0eJiyg+J8t0Jq8lkQLpWzzXu7xaqa+fnl9VpuZX6dxqldRaTeQ4TRS4TcrySrfbzXWh674j9B3Wd7vXUwA+4Mf03aYbbl8qN3JTCyvJUrnGrmsDy7GRbTegbdcNZrMt9t23xlF4HcTkghjj/Ivp+lGvV1/9GbxytOk1LOdcyw6OJRBNSSJqZHUJyzQk2KmDdmkO1dfmexqV5W2uY17kBX7BC5PQCoUVC4ujVQ8cikXleSGd3ldY13Nq05Z1K5duW+/3ZeRYDS3irMxRv7I24NdrV7lm+wOthvXhetX8pbWyed1KzblguRWKNlATkCqYSqFrQcvmzqXS4mRPt1i7eLMsZtL6VgmdG7fRAAAQAElEQVSgt+IQv61aa26aXVhJnZtdINVmAzqeBT3PpK5jSaHnFinGVyEcv53g+B0imydjCt4SYnrlaqXeP7u0qs3Mr8BKrQVc34dh4IDAb6uuU++OA+sKHAbXwYS8LQHgQubQjQRBJmzKFwYecO02bDXrer1WH2jVGxc3qvWr6pX6NY1649pmo/mOVrP1zmbDvL5Ra97Qqjbe26rW3teu1z5ot9o3uq73Mc92Px740UdFSfslWTQuDqmfXuv/2HfK34/Kp+/+PCSRE5OgDlDSJggTipIcTuItURxfFUXxDZ4fvd90/A+Uq+33Ti5ULj89XS6ML1TE1ZYZI5n6qkaWDJWcEoh3MAicM7VVZ6lph/OWi0/HVHpSVfVDXfnc1Kb+LntdQUuKUiRAp6p4jZXeRmX1za169V3tZuuXWq32h+sN812linXZ3Gors9wIEo8odoLEKaqIRzBJDrpRMn3gzr+2h4cH8Xen4Ud9/7eDg3B3oSHFEG4gmLzVc7x31Jrti2cX15Ry3RTajg+8MACW3YLNZkUy27Vu321dBHD0NkTJ2wiFb4si/PZmy3lbpda+fGG1mlopN0DL8YAV+MD0LNiolYV2q97tWe1LIY2vYde9PUmSa203fGe9aV+9sFLZuFyup9caTWD5PmtLfOh7tuBY7axr2xtDto4ZRuDNTQ9tWrOo7VK1LKaLzUJXd1IopJGQ+Nitr4qNxemCVVm+3G83brBN85fbTfMjlVrzXawuX7RSbRdKDUuw/Zj1swkKwlhybT/vW8EmEiVXEowuSBIp7yWy5xNtPiTycQ/DoxRJU4VCLkgbEhFpAPxmBfqtSl9km28LPeuDrO3+qO0Ev1Rte1fUbb/HxhAlih6pxYIvZdKBkk7F6Xwa5LuyXqErV8pktZMpTTmmyOQsG6HVDUGQIMYbZUqvEzD+GA78T0SO91HHdj/ked57gyC+ilK8zgHA+FF5yT/nAlzgZyeAflZBZwHWBJn2SIJ4WZwkWy3HKdRbTaHeMrEVJAkb/JEI+0LgOmmzVS/Wq9W+OMSXUIIujxNwCQGoV0LI0GVdSmEhpapKXz6Tf4umGdcFMXhbqW5vnV1t5FbqLqw5GDsJCCMKooSSOKHsCTEGAsGso4sACWLKNjV8xy76vrctiuFVYQw2WASpsyDlkgDOAsk4lC/2Plvs7j6xYcO6Vn9vV9SVN4gqEUwDKw6aZWyVV1GjvJapVKvr55dWuxdWytmm46eciMKQih4BSo0KSv3C4oXO0OBQfOutu6OxlYwZyeI8UNTTSip7un/9hsU3XXFpdOHWvqQvJ1EhtADyTEKdJmmUlpV6ebXLare3lWu1daV6M+/FFBFBdgXZqPoEzIcYLwVB0Lj11luj7PZDoVayG4EnLRKqzmTS2XJ3Meeu6y0ANuGgKnBJbFVwYFZ0q1nrrZRLG5bXaunVmum7iRwAPR8bxT5spPKJynp2NimkgoAJoEGMnXZAPAtJiPaqAlkPBbCOALEgisp6AJVLm20/vVo16WrNiS0/Zps/kGUdBFSAAEisVMEIRF4raZTmAqdZMULf6UWQ9IoizDJIafv2cXYiO+/bz2bx2pj6LOV2NNf26UhC1bMAKcuaroaqBBIZRkQEXgJiO4m8NnCtdr5RbxXWSk25bkWRTyRPzRVoiu3cGNk0FSUJU0KTxA8AieIUxUkvIHQLpKDfjpGxmghe2YmmK2bwjIvBLiRrw+s3bbS3btlItqzvAWyxD2QUCthiOyBuE7j1NbmxutJVWyuvq63VN5VXa+sd0+1TJLlA4nAV+85+IQkfZfO8o6TeU7nxxhujbyfte16wSzxBSjVkPdcsFHvc9QMDdOO6/nBdb9Es5vRyPqWu5TW5YkiSo6pi/D0Xf98P4+PbqVlfI04YmQlBNUGSq7KieYaeApooAwkJAEEAjJQBNF2JIEzqceSt2HZ91XVDuwW0Hxr+d99OF4kiUtojIHgpAPRyy7KzKytrwrnJObC4tAZK5TKoVEugVFkDZXbU6zXABnk527IuTDC5UhDFC7EaGcDzxO8O98XvRZjSNEPt03X9GkXR3u140WVN2yvWWhaw3ADEhABFkYDIVu4AdmngsAFZtaSUVlcLru1eGMX0ooQIAzEQpQYgZr3uz4W+e5gmwp6unsLpDQPd5Qs29sL+gq6wcU8mcdq9ntneZDfbFzfrzUtqpdoFq0trm6rV5sZG21xfN9vFpmV5Xuifs3x7r+f4h0UxM3/ddZfZn/vcLh+nm6tNyzzGBpNPapp8lG0ClrZfsl7tzcsslq7ut2uFZqXcV1ld27SyvLplcWFl09zi6rqltfqGSs3aYNphfxhSxinXEwLPiSGaD4KAhf05H8i6aRG4kEBlVFCNswMbBpoDvXkvpRE/dBu+3SqjyDV72q36prVydetyubG+2vDzlg+UiGqBpOW9Ys8A6enrd3p6eqrr+7rKA13ZqZ6cdqwnp070FfVmbz7TJQlijpUDdXmtSpstGwOIiCiw6T5JaGC3gdduauwoeLa5JfCc9UhAOWbQ2fxNPsvan7qbLPkInRHT6bHCur7Kxgs2g3RKRUloifXygmjVS+tcs7q9Ul6+olReu7TcaG5hC0U9aw1Lq1t+ElFEoKoAIAoEsRm7iMRM6MddjuvnfTZadYPYrQlkySHCCKb+0wmOnljXn5/csC7vrO/RlbwONZEE6cCq97Xr5S3V8tol1Ur1kmqtcVG10dpWrbc3N5rOOtv1ezyXhRiT8SD294Rh/XnfRLMALFrgJR6f+9xzyUhpIEqnMl4ml/GLhRRdv75It27rD3t786VUxpjTdH1SkpVFURLqSigkLxHMT/TW4OAgtWGwYEX4gI+jbxi6coAtDM6t7866XSmBiIkDsW+n3bbVV6s1Llwr1y9aLTe2lup2nxWz5T8j62d6+/3CwDo7UyxWuvt6m/39/c3eYnY6ryv7MjJ4WE2EfaCra3JpqdWab4rLUBFOByR5SlKlpwoF49BFWwbqF23qJXlDBDKNtcRzul3TurDdbG2v11uXLa6WN8+Vq8XlliNjPSdk1m2LpGz3ClKzkxgkozCBlZFdt/kMgrLjVT3/9m//FvarviLJcpcqSxeHbGxgOsGmSt2Um6YPvIiAMCGgAy8IEPiuBZ1WTcW+t06g5DIBSW+BojgQSim5jIBHFWMhlcvPsrrkb9jUTzdu6IJdOQkpwAeBVcZmq5KrVCrrl5bW1pVqdrHpAr1qJaTlQxcDvZkudEU9/b04X8jbvf09qxs3DEz25bMjzPKIIUVHBSNY2XPPPR4YHCSdvtlH6WaTRGcxJHshgk+yOnhu64a+1oaedKILEYzsiuJb9W6zVd/E7nvh4uratoXV8vpSy0k5VNFgpk9SCuucVFf/XDqdOaJAaSQB+jlQu6w2oGm+kbiSlICBJEguDp1ou2OHXWY7QK12zJqRJEpIkkRs+5WZxK21hSB0210E+5clgF4bxMlVDTvYtlRqaquVFmy0PeCznoAAASABARr7MLbr0K6XqN2oqk6r3ePZfp9pRbJj+fM4JiYUBUHVjQwAidZo1tDS8mJ6ZXV5g2WZb3Ec+1rHca5zXPc613Ovsx377bVG5ZpKpXRFtVy+pFmtXNyqN1i727rM96NrIFLfBWXlGlFUt4LucZXl/Y+1uNHArhcTaZUlZQwo0rlCT97P5VNCRoNs+OAkod3GttkGzWYLNE0TehGWWMOTkVS9n3U+2wimfSusL3uhP6s1QUwhoIh5wATgOAC+Y0lmrZphZWwDouQCAcItsiR3eZqtsMKN2PFDn6z+CZuyQJW19EYkqZewce6WcqOdnVtao2zRmZVnljssFEVBrEmMBatZ1l2r1ROH4RZE4UUQin1RBNCCF5eqTnys4SaPGtncwfUb1y9uv2hTcNGmLmmgIKdk4KUjv9Xl2Y1tvmde6jv29katflGraW5zXLw1isE6HFMFR8ly5HnHvSg4SJC/qJXGbfBjPI4uZgNQQHMUoOOSpAxv6Oud3Liuu7GuN4OlxHWtyrJdWZ6l1bWlbL1cXb+6UuleXm1klsu2UmoEkR0IbirTSwbWbcFbt1zg9fX2rPZ1F2e2bBo4151L7dNluEekYK8k0DMBQvNhIh6nUBhRDWO6yDab2OYs7MkoYlpIFOhb6cBsDNit5oWO1X5To25trNa9lOkhX1C77VzfNlvN9JtapsfN5ftId1dPs7tYnMxn9WezuvS0BKMDXTpcGHnXwI9lAVmR6Yz7a5molOSV4wmE+9n4YKS/r1Desq4n3NpfkDQaQ79VVcori4VKqbS5VmtdVGva20pNN1uzotgjqgVTXV5+YBPJ9a6jhd7euG99X7OnK38ynzF2qxDu0VB8bFkJl0Tfb6sXvdVck2urEIhHAVL35Au5gwMDXUsXbhlAfT1s6iSGhtlYM1h5Wmc26xfXKvVLV9ZqW+aWGz1rVTdr+WyqoKQBkLT5RBAPuon/fGI7E9sHNHtoaDC2/KhtR7WzEYL7gCgdyORzjZQuOyB07EZ50S0vz8BWbaV7aXa6Z2piom9+bnHz4nKlf6XayjS9WHAwoD4FAMoCFCUKw8AmgWuxjSFPDMNAajseWC63guWqiVfqJii1TeATDBRDAQjEIPYtZDXKom8218eOczkJ4rfgIL6KtR2XNU07Xam14EqZ1ek2a8tDAiRRAOwJaOIj26xrjt3soyS8XICELQaL3aBbF8ErfEAI6e9b29sF0ZkiiB7WU9qB9eu6J7du7G1fuLFb7EpBgN06XV2YhJXVxe5atbK5WmttYv1wf80KCyE0tETJEyLnHS3TjYu9A8mmTVvYHK13pphJHcyl5D2aCp+hGjwMG9EKAKZVDVUz9MgcBtLZTCaz0lXMOv09WdSVliUDxVrcruVCq7kpsK3L2s3m9mq9NVBpmKKXIAy0tCekC45a6PEyveui3g1bcM/AQJ2VnTOZtPpkV15/aqC/OMXKO6tSwoZypaEur1bJarkRt2w3jthDQDGGJCBJaCHbbCiubQ5Evv9mQsibE4reHGJ6VdvDXbW2R+otL265PvHjUCAAM64IwMQDnl1TnHa1GwH8FkFC25EA+gnEiiABlE6rKjtJZAvvoFWvoZXl5czs9My6leXViyrl2hW1euOaZq11Tb3evKZSqrx5dXX1kqWFhU2L87N9SwtzA6tLS1vr9folruddBZF0gyDKbw1wvI1lqc6OV/286abBuITbLdOMztgBPZYg6Ywo6w1NU2IceqHvtBPXaoqtRi3XqNVyzWZbx3GsQCSIAArUDTCtsbJXaTqgU5YxTQCQAYBSIsSRpSWxt47i8FIa40twGG9IZZS06jgS+Pbj5puHkia40NEAPmd7yaEIw6fXr9s4e9G2Ld62DX1ql6GoKPSUoNXKOrXmOrvWusxuWttbDeuyarV1aaPpXNi2o3VhTIQkIasiSI6yIdusCuMIROFW1/bylXoLrFTbgLUxtOniJKY0IFIIiAAAEABJREFUYavMCSCspgUWDWxT9i1zwDPNC3xWrghJro4SdGnDDFOrVYsusfpp+lEcJOwTSAGEmALiSb7bzPiuublzTRJGmxlI7tvJ+pEvEEL63sFBvFpuLdiWf9TxwiOCKC309uRxxhCpBAIQu01gNValRnlJbderkm05boTBctOJZ0uVYMpx9Cm7GR4KCP2mksns6l/Xd/rSizZZF23sjQcyCpEjJ0nMuuxW17KNtdJAaWV13cL8Sv/kzHJ6qdSSvUQUUCbj6b3Fcrq7OJ7Kpc+msuhcTqFWWlUyKSN1GU3o5Z4XbylV2vLiajNZLrciP44xRSSBCCeRb9HIbWsSTdYhgi8kId4OIL08IejiKKYbV0t1ZX6phEv1FvHjBEiyCkQZsVNiGPttMez8cpZnX4BocgkEYAMSYVpSZaLoeqykdBAnCXA9X3JdL9+oNfvLy2tbV1eWt6+urGxfW125ZHFx+ZL5+fmLF+cXts5MT6+bmTjXMz8901NeXt5osXrSrDcu9lz3SllRblBU7TJm3HVJPhJ/ZAa9xAm26dSDKJ4lCM5LmtpMZTMISVIeJ2R9FMfbbMe7pF5vX7q4WrtwdHKpe+TsHJpdrpKm7UaSIXiSFJ9D1DkQO80DgdWcyrH27uTJmXZDceciURuGVHzKyGb2b9y4fvmCTQPBBRu65bxKxMiqoKXZCVReXuiqlkubWZuwtVSubag3nR47RPmQqiiR03UChJMJpHu9wD2lLOHKSyThR771HgDQsqerBNPeMMYXNE13oNqwMquVNmAbnYBVd4A6HQxMQBTawG6uUa9dNbBvb4Y43s7Ky5scN7hgrdzMzy+WQLlmASeIWJsAWR+IACs3IPAt4DlN2bdbORr520ASX8bq7vY2G5ev1sye2eWysMrqbNsLAauo7BoIEhwC1zFF126nQz8YYOsqW6NYXF93qUPk9HKuZ/3Cuo2bovXrBpR8TledZhksnjsD2mvLA2Zp7cLq2tolpZXSpqWlUtfs/Jq8VG7QphUkUFSorOpUFhXAYmgATLpY878exDCDAGtNQtheq0kLbF/8FIXyMTVVGO3u721mc6nI0AQkgQjSwGFrBfVeu9241Gy3rmy02lfUTLfPDKmEjFyc7u23C+s2NDI9Xc1if7e7ccs6umFjb62/Lz9iKMJ9shA9EobOEUdcLWVBiGRC1kmAbBdJfFVom9vtduuSZr19idmy2Sa+dyHFqA/gRAP8wQVeBwLnaxTRzyphQhJiz8euG3prth/OOWE8EQM0SkVxVJLgqCyL46oizaQ0qazLYlURSBmSaJVE0QrByXKCcdPzfQ8LOIwo9sIgNi0vWLG9YM4L8JwX0VkvQtNujMYjiE6xcI8DUTwKReGIqIiHBUk4KkhwRNTEs5IuTaq6NG+owqouoZoowjYbvDg0JkE9DHGIXRMRYT6hcG+MyTcpBE9CAT6vyOIRQ5NO6SoaU0Q6yRav5wVIlwAFJQLAakzAUhCRmSBOxkIMzyYJmkeUNgcHB9nH7CwA6NDQUOK31XYYo3lM0WEM4FOUoscFBIc1RTzC0n8ya4gTWV2cM2SwLIp0jUJcJpCWE0hXMKAzbABxNibJSYLBbBTKjU6YgIU9OAhoc/dMHFFU8mI6ysYm+4EgHNANdcQwxNMpDY3pCpmUhWQG0ngu9IM5x4vOOR454YRkvx+h5zAQh4kgHRBE+aiiiMcVRTilqnBUFJNRAeAJSOI5GkXVOAhtz/L8puWWWm3ndL1pH2lZ4VEvls5ipJyBsnxS1rQTmqacUjV5LJOSZzIanFdRPC2RcAZgfzEI2ODDD+wiaEYs/oQd33kyM7p+ZX1kJaji+smYE9ADAYbDSJL3SrJwSFXAcVVOTilickaB+CyJWXmK8GSUwKkwpqfCBByhEB6AgnBQkqTDuq6eShvqaFpXJ1QBTAo0mUM0KUNA2jElft0K4yYoeq7VqoUBPhVj8CyA0h7DSB3r6e2e6enKTfcU0jM9BWOmK6svsYXCsiEJDUPSzbSa9Qrpriglp5oSoZMgik4SPziNI3+5NOVbt9xyTczKFwUv8ei7PoW70nk/m+u3ens2+Os3bAFbN24Ot7AOuc/QZooKnEqLyWxKpnUhiYOXCOI7b33uc4O0+6ps3PbcBhugTLkBPghE7WQu33Ouq6d/trevf663v28ul8+c01TxJMbewTh0z+LIWY7iqgVG1mLwCh8Q+zjBvuOH8aoXxvMRFWoEqXUoaGVBVGuKqjcy2XSzq5gxe4ppK5vS6oYqthQBWQKgDYpxm2I1yITdbHb1gzelepDQOAmTJGnHCaizMtUgkrFKZWOKjW4mBFkZVRT5bDqln8ul1Zm0Ks7qkrDMxuElmpBVHMVl341arhe58/N2eJSVtqWa2wgSOssmvgdEUdibzWSOpXR1VJfQjCKCRQEkqySJ1+IoWo3jaC2hpJTQpJKQZIXNr6Zj7J92ffeYF/jjSAnXslkrvPnmmwmEgA4ODmMsthvYj2cSCo4iBPcpCjyoaOCsotJpCOLZOA4WfM9bCgJ/MYrj5YTQNRzj5QSTBUjhLFuhPMfK8TnqxCXklBxWB1jYkJbAVASluBGAZMJPyAFCyTMQ0QOsLTqjiWBCFcGMLsNVAYK1BCerrAGYZ5OqaUykcSBqp2Q9O5IqFE+xgfgx3VAOsuue1hThWRniAypMTiKcjCZRdDryo1HW/I1TgCZZuzGBkDiqquqooSkTrE0+p0p0TgDxEom9pThya3Hgs3lI5YX8g6z98ZDfxECcCgkYDijcQwT0DBLRiITAhBB7swL2l0AUrOGIGYTeguO7s67nT3lRMh4l6CRFwglBlEZkRToty8qYJEiTgNUnHEVzURSuRTFhs8cNzj/ee6/n+n4poMlZCvHzggieZ5PwU7omTWgynBPZJhOgnbzEZZKQCoSorqlGS9dSpqKqDVFAi5TiswkOjrP8nLWIVhscvDnqeP9gSQQAQtipuwQJRqSoeqgaGaqnsjSdzcTZbKqmp6Q5QaSsDwPzEoCNUFkm4Kf/oFZ2exiooEoxPZNgchBA8LxhyMdyOX28kNcXUoa6xuwqCAl1iKQ6QHI1geJiSNAoy5ODrBF6jvWJz8qadtAw9P3ptLY3pQp7WRt/XKZghqaD1tDgYNTpT3bs2BGbYMGJIFmCUBhh5XkPFOizsiIcyWe06WxKWUhp0rIqwhKkpIzjuIwpKCVQWEmQOIshPJNAdBRTeDwBcEYOYXs9WGHt/AuWP5aOJrAcY0XOCcKq64dLXhjPYSAuAkmZFTVjUkulJ7OF3GxXV2Glu5it5jN605BhWQRJGSRJFSbUxgD4gt3wKRUWSAKPsrjtRrK0N53LnO0uZGa788ZiXheXDFkoywhVaAJXo5jOuQGd8CLhdASVESBrx5VU5mQ6VziVzeWPp1PGIV1X9ssiOsLqyEQUyDVp40YfwO+klTJPLAh1WwjkJSDAY4KADioyOpRJyadyGWkym5YXJBEsExKvBGGwlgBQpqJUSpC8TER1mkip01RQDkEoHJUFOhrooL771j8Nh4ZuZqcC7HkkjHHUCoJo1fGj2SAi5zBF46Iij8u6clbR1DOaJo+rqnhOltEkwOG5OPAnWXs07wbRgovpQkDEZYz0JSpnF2QtO2uk87P5XGGuv9hdXl8oNNkebTktCWUZ0qpAaRlSWKJYKktiyjW0PMnniySbzcbplOKmUrKja4IrytRnbZVLALExJRZr80xCgMnsTUqIxcZPpiwIbVWSbEmWAyTIKAEoQ5C4LqHSOj9OFRxjq/LjFJi+fWVsEsdx42gqwPHBkCTPSZI4Uszn5gpZYzmty8uSSOcUWVwURMTMwpNBGB+OQ3IwCpJTYUDOUSzOQUFdFJXUoqCq00bamMrmM9O5rL6QMZRlQ0JrAk2WkyBYDYOgHjihq7OucWzssk6b8UOjXSqVqCcDHARey3VDlm/xnB8mrP2Ek6zeTiBJGpNV6ayuS+MpXZzOGMK8IiTLELPyEceVJI7bIRZ8J04s2yW1IAnnkaSekPX04Z6+3oUNG/qrm9b1NNf35loDXSmrryvl9hQyXj6X9dLplGUYnSPTFgV5BQI4Fcfu2Qg7rF1uNrPWePhy7eEPTRT7kLUfBICrA6qgFQrhCIDoWQEJz2V07QQrG5NskXw5rQklVUBlAaAyKwurSSKuUJRaBkJmigrp04KYOiqr6cOpTO5QLps+kkkp+1SR7pYF8DxCwqnAiypRndUnocD2I4S1JIbjCUX7Vd04VSx0TW/o7V7d1FusbOrO1/q7slZPPusUsgUnlSm2JC2/iqFxloqpw4KS2aek8sf1VP6kkcqNaJp+RFOUg6IKDggymYxR0jy0PRt2NoJZ0n7c5wvjg88M7vKhkExBxMIWhWfYeP9QxpDPpDU0a2jCkvytPrzE6kgpCMGK45EJ26dHnZDuDRPxmQSpT4uatlc1tOdFCT0tS+RZSQAHZZrM+gA0R1ibzeyTwcFBsmPHSLygti0ssfZGhIegJD4jKeLTqq6MGGz+oylwQYDJEsHhMsbxYhTR+TCG0zERzmEinCGUjhCMj4kCOi27Rm3XbZ/zO+ECAGj+sla46ltNCuMzXhQ/l4DkORGBo2lFHFcRnkQknIoid8bx7BnLsWYDP5iNwpi9R8eCBJ7AkM3LZOWYrKmsz1bGFBFOShI4J0IwGoX4hO0EnV/EOWT50QmfzaOopI5Lmj6uprSxdNYYz6a1yYwqzYoQz5PYX0iigN3DP2eZzplG0z7Wtv2RKEbjQJDHJVUbY3V2TDfkMUUF44pIpiAN5+LAnceRX0tI7KYDzMorS9krfMLBQfKRP93NpgnRAoHoGBSFp2VF2pdJyScKGW0mn5aX0ypaZePdmiLBFoCwmVCwEhFh0ouFkzFRjgHROKZnukYy2a5jqqbv02SFzf+kYVVER1VNmG7b5fbAAAg65p0DKrgECTmVQLBfkeUjXYXCRE8hN1fMplZSqlTSZLEqS6iOEGRpostBQibcGB/y2TwGI/FZSU8dTOdyx7SUdlhVpb3s3GdFKOyTZHKMwmQ0iuJRz8fsAOciLE5TQZ2RZWPaSGnT2bQ6nUuLUxkDTWkymGPuiySJVuI4XvNZf+P6yaKP0WxI1Fkop5e0dH650FVc7O0trvX15So9XUa1mFNaGQ1YshC3BBq3JBG1ZEVsSJpqaZl0nCvmSLG7QDKZlK+pisvKnStC0RWg5EqC7FIoeAAgFyLkCQg5giTYiL3KouSndT3RBSQoSaygMGBHmBISlJOAJIEf4wEhoMYTLtsC88uOh0f9ELMyDg/JqnoyndHPpXV5SpXAJKLJFI7jc3EYnXFd76jlufts13/OCfDhgAijUNKnWFs8bWSMc5mcMZnJqlO6hqZlgcwjGq2gJKoKJLFAGMddSfI9ZbCT5zcPDkVCgFcwhYcBFJ8TJHlvLpc5lU3rU2lNWmJlZVlmY36B0LKQdA5QFilaE/UwqjgAABAASURBVAFaEimYJWHSydczqiCOIULmY9+fcT3/uB/hs2GCplwMJ0JBPocMfUoxlHFNk8Y0FY6pIhmVQDwuJPEUjcL5wAuXXSectb3wnB0kZ70EjWOkTiI1M6Wlc1PZXHY6m9Nn0ylpVlfIDALhfBK6K3Hgt+Io+qFz1pfKHiGM7KYdLztBdDTGySFRFY/lCqnJQjG9kDbERV2BK2xMt5DEwdk49E5GoX/K8+KFlqM1WJ8alJNGK4zpIpGUY5IkPaer6lPFjHGiv5idWd9lrHVl5FJKgRWR4iogSZUSUooTuowBnEWyOkYQPEAE0Jlj7RdEZcrXaFsQBB8EoRW4YZmNteZdH0y7kTCNoTIHZH1B0vVpPWWcy+aMc5oujMsCnUAkmhVIvAIpqSZBVA78kK1XhQtBBOYpUuYVI7NiZLMLmXxuvq+ve7mvJ7/WldWr+bTWzmiyrQjQEtlBkWhSUamKRso2uvtAumcApLv6SFrPR7qs+zKSHFkSPCQSl9DIYfezIUAWAoIFCDIBFSxVVjxDVaKMJJCsBIW0AGUxiTVE4m5E6IAV2OnbbjsugVf5SOKkxNq205igAwRIB5GsjUiKPq/oRkVR9LokyXUoCjVCQTnEcNmP4VwQw84azTggyakkiU9Skoy6kb8qVhW7U+6H2BrZICv7twzu8AgAkwBJ+6go7JF19UAumxpLG/JsSkJLKkwWJYqX2bRgFcRJGVK0ws5dQKI2AwSWjxAdJ5CMEkQXt4KrneHhQfwqk/fC6bWxMQqCVszmnG07iJbdKJkPqTBLRYO1d8Y5STFGVUMfTaf1yWxamVMEMguTYCoJnInQd2Y8z533HX8+jAhbU5QWBNlYkI3MrJLNTqbyuclsITuTz6eWdEVcgCCewWEwGbjutG25c44fTnkhmYmAvEwlfV40MpOykRrr3E/XxTFdATMywrNCEk4noT8V+P6UHyTTEYYnCBCfUVX9QCqVOpk29BkW/rwqwCUZkhJM8Fro+MuhH86HQTzl+Xg8jOhpTNEIEpVjoqSOyIp6SpXlcRmhczBJxnEYToZOsMDa+5aqhu5mcIqVNWEGQnEESPJBI505zeZe051/SZs21FVDEcqKiKqihOqCJDQIkpYiIIyxYz9B8nOCqj6npFKH07nU0VxOZ3Mo9Jwk0ucEGo1Anc45StPcDEDkJzF7RE4SRg2K46oIYE1EqCVLkiWIgolEwUaKEMgK7MyFXsgz/oULcIGfvwD6Wd2y2XTCMHBrrZZ9tum4h80g2YtFea9k6Ht1Q9qnGcoBw9COZFPaqawhn0opwkkhCY+y5uMoCcLT2HVWrSiyx58fD6Ka6yw16rVypTlarduHLT/e58XoYATlgz6VDmCkPA819Rkqik9DWdqjaPoeSRafFtiiqZSS92pp1lhl9ePZlHIqpYmjqoAmBYBKfiw4/tli0vkzHE+M1WrHp0+dnFmtPOv4wa6EkMclGT3JrhlOp9T9Rko+rKnicVkWT0iycEKU5ZNIlEfYQORIECRHPD86ETjeomLmTfB9j8EduzxnySitmvBkvR483Ww5X49wsktVpCcLWf3ZYk7fX8hoRzMp9YSqiqeQBE4JMjoNBfEUgeCYF0dHrbZ1sh2TpSU1tr4reDoIAFnyWg3TTSYsFz8XU/CkashPG4b0XMoQ9qZSwkFdhocEkByOcXzYD+IDlk+eb1nxN1su3uXEZBcG6AlBkfdousSuE5/VdbRXU9F+WUgOC3E4QiN/xrHNiu3ZrZWV6vT8cml4cbW9p9qM9oRAZZ29NiyoxnNGOv2MkU49x9LxfD6nHi6klSNZFRyVYXAMBPbpoNVacFr1Jov/Sy3e0pvZQGLNarRWStbMatk5YoX0KSDrj4uK+E1dg08ZOnnO0JJhVQLPwyTcm2Cyn1LlEBscPx9guidM6BNsAPKEJAnfTOn6s4Vsem8xk97PNgz2izQ+wgbeZ0BClhIfWY5QiNngBXfy/txada7tuYfMAD8mKdrTPT3dh3p6c4f7enJH1vXmj7IFiZNssfFMLmWM5lPpc/lM91RXvnc2o2VGxYQeAEHM0tc+F9U3mp2FaZa+l33edNPXiNB1QZzt6nOKvRvc3r6N8YZ1G70t/f21jdn0VI8snMuSaCaFg3q3VGPrBC8bFIAQ0BtuGEyidtKo16ypetMfhoLxfLZn4FBv/4aj6zdsPL5x08ZjPV35g7qC9uLIfDaIW6cjq7LiR3V7x45bYvAKH3aQhI4b19uOe9ZywwMJFU9LcmcglR3VUtnxTC430d2dOzfQX5xe11ec6smnJrKGNmZI4qhAkzGA8YILiXvOaOGXumXi4ghEcSuI8XSYwBEsKKeAmj6GjMJBScvsk3Rjr6Kpw2xAub8rnzlUSGtHc4ZyPKVIJ1n4x+MwHHUdttHhem02II3ZkXTqXejVK+Wycwwn4Ol0NrXHUOXnU7J0SJfRcVmAIwIAI0mCjyWUHBdE8QRgP1OQHBcFeCCOw4OtVnXErC8u7vj7/4vl7SArXoCyc154/sXnD/m2s1Jx2tGpkIbDQIwfVxTwnKbCA0hMDhFW5iJWd+M4PkoIZWEKJ9jVx0BCDwsEHaJRctyz7HEvqjZuvfXW8IVA2ZfO5tSfDA45k8vB/Gq9frRmmXtiEu1hA+l9KV06kNHFI2ldOaFIcIQVgWOU0IOEoH0JkPYi2XhOTuWfzXR1PZ3O557RM8bThiZ9k82wnxMi/6gcu6dJ4JxwW619ruXsDcO4M2k6JEnaAUFWnk+lUnvzGWNvIaUcSCvokCrgYzD2R7DXnrXa7XbLiNimAIske/7Xf9zjTgTi8kwtOliygt1tP/wGEODTsoz2KzA+LNHoGEqCoyT2D4WRe8ANOke8P4qSvQlbYCSsvRZk6WnF0J5VVfV5WRL3QwIOJCEe8QNvtmmbzaGhwc796F/fudNGorPAorAvwuGTbGL/lGHInXbqsCKho5IEj0MBHgcIsPZZPpVOZc6m0unRlKGfUWTxMKX4sO9bJyIzKn3+L272wY94dDZnIVIxoWoCRYMC2WBjYD1KZfSGoQgLSIjPQhosJY7dHih9JvkRwf1YH7P2ifzXf7zXveVf7l1quK2TQRQ+l0pJz+Tz+t7e7uzRbMYY0XTtpKwoJyVVPSmq6ggUlSMhgM+bIX7SwWRXDODjiq49kzFST+XT+p6MJuzNwWhs911/V9v9XWWuE8FOufub//lAy/QaU2Xb3R+E/pMAkT25rHEwnzWO5FLqcV0VRyQBjrBNAeYtjgiSdAwp6uEIgmE7CoZ91l/Epr10aOjzfqcOdsL9cY7PDQ5S1V2M217QaFvOubbtHveC6BAV5OOSnjqqp7OHcoXCoa7u7qPdvcWTfT2Fsb6u9HhaF84okJ6GcTxGAC5BX7L/9E9vDSdL0VqtYZ9s+fGjGKLH9ExquKsrf7ivOzPSndVP5pijrjBHQToeY3TYCeA+PxGfx0gbZnk/rGbzz6aLxWcLxa7htJHdqyvCASiEpxKEF4eHvuAMDw7i70sn20Qaif/pwV2N9LzPFlPDIxDgYdYnDxfz2sFiQT+macJRiChrm/AxJIrHO/mHVO04UPSDRNSeD7E4HEVo5K0b1YXhLwy6L4bfKRcuQl7oRcu2G55xnGivH4K9RJD2aRltv5E29rJFrOF0St+bTesHsin9kEDifaFn77Ms67DtR4d9TI+ESD9OlOwxpBWPaumuw7lc1+Herp4jG3r6zmzq6ZlYl8uc6dLl0ykRnJYBnZApWkZQ92QxE2pq3s+kc61CPlstFLJrncWeTFafUVXhnCDRMYDoWQLoGQLgGYDEMxBJZyVBOquI4qihquOsXk4aempJUtVWzE5OkJiPkdCHodjta1R9Ma2v5vVmNn7o5HUrMOcalnvIcp3HBUl8uruQP9JbzJ/M51IndFU6oqeUo7KsHHJ87zlWtp5qW94eq+U/5bvJ8wJSj6ha/rieKRxTjDSb7GYP9XQXDncVs8fYWO1Ejo3R2CLGSOI7pwPbng28dmNtDcRf+9pN5BXElXTXxqJay1lptd0zbTc45CfgIBHkg0CSD4iKtk839OdThrqPbboc7MpqR1MyOCbE/kkShWM4ipcjUbPdtQHvTwa/4Hzqbx5oxSg9Jqaze7v6+o6vW9d/ZtOG/rHN67omN/cXZ9gxt76va66/p2u2q1iczueL59Lp7LgiyyMQkGNh7JwybXPt7sHfDQYHB19J/F8uiWzDZJBccBVoVqk82XbiF8ZjRsoYzmczR7q6Mqe6MsaZjK6d0kTlhAil40jQ2KJF9pioFQ6KSnGYitlvCmpmt5rOP1nsKjyfz2jPi8TZQ0nj2Jt7hLlbB/+0s9gU3XLLLfFNv//nLdeNZtiYZJ+kZfd1dXcd2jTQf3Lrur6z29b1TGwZ6Jve0Nc/19+3bra7Z8NUKtc3CuQsc848Q6TsN/V0z3NGnh1G4emUZjynaPCQBt0zo9nltZndrB/+ySzAiw8IAK31vG/VDsGJOEn2SCLaY+jScD6jdDblj2fT6nFNFY4jKByLE3TEC+Be04dPNZxkdyugu1wiPMoWe3dKhvI4ROETFNv7Q8kee/87cpVO+/rifV583bFjJAbLUTOk4JRH6TOJKDyq6srT2Yy+n93rqCTQI4TNAWhCDhCA9idQ2Q8E9XmAhOcxiYeDwBlJwqm5PdvYcun/2QwHN988lAwO7vJGF5fnl5cXjwSu+wyi5LmcphzIqdJBVSSHCA4P+JG73w3dfXEc7cOYPk8S+lxIhKdipDyJ1NSTmqY/kza0YU2T9quyvE8UheeDIHiuZTpPt23/SdujT8dAek7W089r6czzRjr1fHchxw5WvnP6AU0E+wkODsSBf9Ay7b3lau3Z0lptT6vtPZ0AaZ+oGHtT6ezz2Vx6OJ1Whw1DfF7T0X5JiA8Gnnk49LxpGNMGa3K+v61+kfCHvv724J5q3YnG2lHyHGB5qRnK010F7XBPMTXSVTBO5tLqmZQunxUl4QxFwjG2yLrP8enTXiw9BaTcM+lM/9PZXO8eWdK/KUHxOQUqR4ALJx/83/+j0umLBwf/Tx381N98scXaJrbwip+XZOXp7q78891dhUNsHnIsl9VHUoZyQlUkNtaRRqggHY0oPOD40ZPtED/GdlgfF1PZJzOFrqdUXfumKKOnJDV+HgB0qleePue4q5Nm2zlqWdFzQYT2EagflJTs0VQmeySXzR3pymuHuvLqwWJOPpDWhEOyQA8TVm6iKDruevFx28UHg1hi9Sl1RGIbsdliz4me/r6RdRv6T21Y1312oD872l/Ux7vS0oSGojEFxfOqCKqKpjWVlGFpuZxf7OsN+tYNuMVidzXLFtV1zZhUZG1CkdVxWTLGJFEdE0V5XFaUMUVTxxVVnWBjxHOpdGquq1BYK+iak0YAyxFbpo5CEUdAj0AkMUP0QzPxZT7s9B0337LDLJvtmVLV3BcR8Jyq6c919xQP5PPpAykaQZtHAAAQAElEQVRWZiVI98EE7yVBsrfZMJ8ulau7y43mTtMJvxkDZVjScwdT+fzBXFd+X7GY2Z8vGPuzaWW/JtODEomPIBKNAYpXdeD5K9nsS44Z//iLj7d6V+TxVuA/HwK4O9uVfyqTT+1Pp7VjGU05rovSMQ2hYxIQjitAOKYK0mFVEA/JEB4EcXQoaDtn/5//8gdLfQ1n1a63Jtst6ynXw8/GQN7rs7l6IusH5FzukJ7RD+hpeZ+hC2wsA/fqIn1ehvh5iqODnucdM017X9sMnjN9+kxIlH1IzR3SMsWDmULXwQIz6SpkDhay6sG0Dg9IMDxEY/cEiJ15GjZ+YP3jZci/8/ZHOuMzu1lbXm2cccJgH5SFp5nh/p6+wpF8zjieSWvHDVk4CuJgb2jbB02zfrrScNa+MPjHLstv0unzf/tP/kdzZglMgQQdUJD4eFc2/Wx/V/bgxv78yf6u1Il8SjmhiuikLKATkiSNCEg4LoriYUlX9yUw3hNE7lPVpHJ8OWgsf/4v/sL/0z/909Aut5vNmj1lWclR1wN7A6wcBrJxXMvkR/R05kgmnz7Y1ZPbn0trezUZ7UVJvA8RNpYD5HToh6OW6Z2xrOB4QqXjkpoZSRe6RnLF4rFiT/HouoHeE+v7u08PdGXP9uZTY/mUNmFIwrSI0CpEqI5FsQq0dFPKdXmpngEn17Wumc10r6S13GxK09nYSZlUNPGcINNxSUZjqiSNypI6qsj6uKamzuXSudliOr3cldKqvRndKWhiILNMYuXQAIgMCAAVW6Cls0yA7HjFzwB7tdiCbM4q7UuA8jQUjKdELX1QM5iLrp9UNe0Ea69GBFE+zuYiRwHSDrPzDmGMDmJWPuMgOB374VzBr7J5+mD0/Tf+7J0710wxHDFj/CRR5CfT+fRwlq0T5lLK8aKmjKQE4bgGwXHmNCIK8jFZMQ7JSuqAKGoHE8DmeTGcPnrP3zWGhl74RatvB//qXm4aGiKl4amoZbqrTcs/7YT0SAyUQ0gvHJGMwn4llWH9TOr5AmsXugrpw2nWRoo0OpAE9vOe1Tpktsyjlh0cSRLhiCCnjqipwhEjVzxo5Av7cl3d+4vdXQe7uwpHM2nliARZW+pa+82mebDZbHeuOxAkaD+VUsckI39YyxT2a9n88+lsajiT0Z7PpqQDKZkeEnG4P7bbh9x2+7jnkwnPAydsJ35GkownFVV/2jD0AxndOJzT1WNpRTguEHIUB9HBOMT7w5DsCzF4PibCsxTJTwFBeVJQ1T2qoT2tq+pzmigMi0nyHHb9Y6xaTpuzpsnqWfTewWH8e/9wZyn04NmIoue0bOb57r6+A8Vi4Ughkzre6ZM0TT6uKNJxWVWPA1E5gpGy14nQbh+gx4mgftPIpZ/OFTNP5Qrqbk2NnyTY3G9Fpdk7Bv+g2fllRnYf4uPAD1ynHIX+OI7iETZOOKkqyllV0yZURZ0QJXVBREodiEbw6nKWn80FuMBPUwD9NAP7nrBWfQ/FwYqPyP4Yg0cwEO6BsvwgVOWvKmr2q4aWesjQjPt0VbtDVeQ7NQHcLcLkLhKG/46DZFix/XkwM+N97nOfS/z8WNgd47oo4hMujZ70PPffMaBfFUXlIYTkrwmS8u+ASA+Lovgw61geBgL4uqiK/y4p6pAMxYc0TXnQ0KSHdEkcUiX0DUzIUz4hk2KQag8PDyadeLPFLqINYFeWwXxIpH1sMPo4Fcm/QyR+TULgq4qMWDjSQ6xxfFCTpAfYIORBUZC+JojivyOCnkVIPeugoLF5M/iBTrETPtg+hCXPrBEVjhOUPAcBegxT6d8BAA8JIr0fiuBeWUb3ssHAfbIq3C/J8kOCjIaSmO4ElBxAojvTZptHI7fd9gOTH1u5whNT8hoUksMU08diSh6gFN0vQXC/IsH72IDhAYroA4KoPEgFYShI4m8kEX0sjMnjbOy9iwL6CEHoa4IgPSQKwoOKQh/QZDgkC2CnAsNnwhCcCkmwAAJQFgiYFKDwfJREOzHBX0sQeggI8lclSXkIQvSgJML7ZVX+igTp7RAld4mIPAgTvJNgfy+l/iRS7Gank2DpfsnnbTtG8EAt7cpKOI0BOQAp+YYA0RCUwINITO4DEN4nSvQ+QQEPIAgepBR8FWI4hCPydQiTrxKAvypA+FVBAg9BET0gAHAvO+9eiZIHExg9BiA9LQzEjWuLzfjFCIy11FB0gzWAheEgwkNeGN+FCbwXCeA+Nul/kDncq4rSPWkjdV8qlf6Krml3KpL0RRHBOyCN/53S+IRlkdrnPndD8mKYP+xVFDIkUbKeoObbolqsG+muciFbXOpKp6bZpHwyK0qzmgSaY/l8+MPC6XwGIaAzTeDJnrrISh7bEMA74wQ+KKrS/aIm368q0gOyInxNQnAXiMhegvE50280tgPwA+WoE97LHaa6KTDrQjkk/l7Pi+5zvOhLQUR3IFH5iqwYd2macaeuq3founK7oYp36BK8U0N0hwyS25IkfjSI45PeROTe9pnPvOR91U2LQdCnlqOYPO+F9J4Y039NoHQbkdR7REm/X9bUByRdeVAU5fskCX1FkcW7RVG4U4DkTgDiBxMQfzPy4lO+rzRZGig7Xng2i9fGFPuLEQYHIs9/KIzofUQQ7pUF+QFFYocs3c/y8z5NVe4VRHSPIKO72ELLnYRE9wPqPRPJ4ByuDXxn8faFQL/7y/ZxDHKgnIBkpFMGcYzvBYTe3fHXFO1Btij9kCKrD4oSuh9BdJ8siPcIArw3oeEDrACyjZP0lGLbHniJR25z29HF1DK75miSJE8iSP5dVIQHFU29V5bh3aokfUWThLsFiu9k970zIcldiIgPiRIr+4jcBRI4BGPhmxKVDkBVPEt1fUFVxdkExqcpiPfESfwNCumQIEgPyqyNVCTjAVkU7xUQvEcT0VdECO6giX93hPE3hDA+rtJmbXs2+z1lMpvdHipQWJFDepzd6zEa068hKt2n6sq9qiTeo0jgHlmEX2F18B4BJPchlNwHZfAAEcFXIRQeQAjdSwC8V4DgKyKgXyEIfg0L8BkYyxM4G7S/m6VZ3B3rqWROEOFzJBLuigm4I0HinYoi36vIyj0sDXfrhnanqqm3C5J8Gwv7C4AkXwIJuQtSuscX8PSAVnr5vPzum7HvXTsQLReIdUugbVuIHA95cQhtHEZlNhg/F9pBqTccsAcH4XfKG7vsZ/J0gV2OaXic2XT6t7uADG8DIvoSUuBtkijukCR0m8TSDATxToCE+xEGX6dYfCIm8VOUCE9JAvgmBtGzVDFGQQHUflgkx1h7uL7g1yiMDlGMH0YQ3gElcicR6V1QkljZVu/SDfkOSQS3CyK9EwjoHgLIw2KkPueHeBb02696EeH74wMBoONgOzabYhmGySEG/FgCxQeQwNoDRbtP0vQHJMW4X2J5rynSXaqm3KWr0j26IjzE6u9jwI/3YSucbxSlF37horv7Mj/sBqs4IIeSCD3q4eQrhMC7EIB3Mb+7VFW5XVPkL6uScqeIhHtFQL6KIuFhApNHCRQejgSJ9an0PhGgr4tyslf2xUnFcerZIAi+P+7f9zMdHB5OEpHOBnH8fIyjrzLTr3TaLUGR75Z05W5FUe8SJfEOWRRulwTxblaH7oOEPhxF8VHVFldZf8mSDzrHd4K+rFZjew/OOUSip4IkuRdI4ldEWb1bgOI9oiB8BUqI/SzeobD6AVh7Qyl5CAD0cIzQLkyiR2ISPeQH8W1+DL+UCOKXoaLfqenGnSktdXdGN76cVdTbsh1XAd4hgvAOFcbPFjWplNPTvQLUASDyapLAI4psPN/T2/dcPp/blTb0B1RF/LIoSV8WZWGHokpfVhXpy5IsM1vldkNXWfj63emMcX8+n/96V2/PN41M9iQQJdZ+ijABMJsgoQcRQftOQjvfvMrDbcQNtpA9nsjkyQggNhaQ7kyl03dl0/pdGUO5UxHRF0lCbk9i+ogQhs+y7/f7fvRwECVfSTC4HVDxTknT7tZT6XvVtH6vpMtfURTxLlVCdyoSvBMK5KuE4CcpoieBZJRvu+0zGEL4PfnzUlFm+Ug6ZVpIB7OUkH1RBL5OqfSQJOv3y5rxgKwYD+qq8YAiKvfJgnQPZG0iGxPep2nC1wS2AYERHgX9abP4XWMXKRWvEAHsZ33+vVAQd6SM1F19XV0Psc2Uh7cO9Hxjc3//zk3r1u/cuHHTzmJP15CmKvewiN6PSbI7lsQJseF+Txv7UvF+pe/dfPMQWVxkFUJ3l1RMj1JEdqqq8VVDT92r68bdKVa+2Pe3K5r2ZVUUvwRI8gXE+imBkPsFQO+DgDwoU/p1AuNnoAKOJxDPmrLc+sy3xgws2t+KCWTWBdY+JZJ8lAhopyRIXzF07c58JnNvb6F7aOP6DY9ecMGFj12w9aKnNm/etrunf8Pjaib7OJDVx0UBsnF3/LAE0JCiCF+jAniSJPGpNGZ9PFs4+tYdfnpfWZ7TdCPVxDA+QgS4M4HoHkHWvsLqxFcUSbpLkaU7FFW6IyWn7xAl9T6B1VEowCcTCp6UErpLiMi/U0gfpRIZVlA0v1VthZ0wXy6Gn2NtTX/aNiUhmMAJ+iYE4GsQwXslGd0tKfKdiiTeLkvClwVR7rQ1dwIp+QoF+GsACU8nnjh/w+bN0cv966ti8dpYYWkJITnJ8u4JgaJ7kCTfLSjKnaIs3CGzAyriHUiUvwxE4Q4qkLsEAd0rUHAfFcV7WJt3hwjRDgnCLwkwuTMB6AFChYfFhD5KBOnrAIH7ARTZnEG8nY1ZvowA2sHiv0OS4JdEgX4BQnwbodHdIUGPojh8QhDI4yHG/x4RVnYE4Q5BkG4XBHAHpeB2EcLbkYRvl0S6Q0DgKwAlj4gSPCZTvDY0tB2DH/NxqeraWBbHYwifIpTcj2TlblWV70x3xr4pZYemKV/SNPmL7P47QBLfRZLkAUjhVxOMvyZK9CtAAMxD3ClCZQQAqbx9e/Z7xlPfHa1mcdWjanKSQvAIieG/CQD9myhKX2Tjmy+xOnSbpsi3iYr0RUGSb6cCuo9S6VFI6O4koU+CBD8M2LxSgPBBIglPiwKeKqeaDgDbcXM+cYCiHAOYfjWMwV2EwrsUzfiKpqr3aJryFUlR75Yk8U5VEm5XxeRLMiS3Q4TuhQkYEgH6d4DAA1AQ7weKdq+q5L6iGrm79VT2rnQmfUcml/pyIWXcXjDUL2UM8fa0Kny9mEYnNBTbioiAns6QdKG71b1uc3Vg8wXzXQMbD2aLvd9IpXN3aCnjNkXRviiL8hcVLfUlI539op7SX0ivpqu3ZXO5L/d0dz3QX8w9ubm3Z3pDIe8UVCXRAaSh70HRp1rmsg8q3234ar+fb6acIIzmsSA/L4rCkCCiu2RRuUNhZVzR1DuggO4nGOyMEHhalqWnZSTtxFD8qiAwt5R2h2yot8uycrsssXIuwdskAbK+EN5OJXgfSaQn9RCO5XI554fNv25mF6pkbQAAEABJREFU7VAo4EmZINYOkLsTgO5k4d6pZtN3ptPpO1Na5vaUpt7O8muHIUlfUkR4G6LJvZQKz7thsMTSTI82mzHC4jKELAwIvxIn4q0Ckm9X9NRdmq5/RU3p92iqcY+mKXdroszqHLwTgPgOAMkDSKSPEgK+SiC4h8TgTgrEuyHrAyVVuVthaZNk5UuSgL6EELkNCWCHILDxh0gfS+L4jOZrP3RsyeL2Ms/NkZOWKzBEx1FCvw5l+S5Blr+speU70sxUU+DdIoVfo5Dsk0Nt3i8CNmeC39MndNaKMqBnFcnwcEzR1wAQdiiq9AVRQV8UZfAlVZW+yNL7RU3VbtMMbYckCXcJCb0vScBuiOOTDs7Ut2et/1Mfm4rpCngCS+LuMEYPICA9ILL+WdVTDxjpzP1qKnWfIglfMWTlK5oi3SVL9A6E6P0iBN+IEHpaJOSZBMBvIgD+XZSUexQtvYNdd0c6m7kzlTLuSKf1O3MZ466coX85rYv3qaKwW5PBKEWggSmx3USoWGweFAm5k0Dr2qcYhV1aNveAkcnckc6lb0+l9S+n0uqXM+nUbZqmsfG/cBsL+8tsUf/OnmL3PQNdXbu29BYOX7Kx79zmnvy8TpNZ1v6FKgBFDZHNsp5033TT11j0WAsDXtljEWyOzF6pjgA8Ecd4NxDRvYkAbqNQ+lcoiv8m6/qXUunUlw3D+LLByqjK+gNZke8SBbZGI8jPihqZxbUBd4iV8Ze743xSdoiSnBIofgwgdKcsy/coSvpeVdXuNXTtKym1M45L36mp8h1sI/B2VgjuphTuTAR42jV6OvP/lwv6Fb0PAaCdflSK0RzrX56OifjVGChfAaJ2F1TUewVNuU9WhXtFVbhTFuAOVgduZ2NCVo7IIwCDJyFKnhJRsotAyNYC4L8hQbgVCOIXWPxvQzK6jdXJLwqI3CpD9CWBwHtgQh+JafxkguFzSZI8SqlwD0XwVkFkprJ4GxTUO4Cg3CmwsacgsDrM5ngCpA+CBD8OkuCg6uApZjRNDOE0ipJdSZzcBQn8oijJt6m6vkOQ5R2plHJbKqV/SZVlVk7IDkTQHQyDpQmwewlfoRTdlcTiHVAUboMU3p4A6d4Qxs97kTCvqmPfqRMdG5vSWiiQfYB2+hb4BUVT/k1UpS8IAvwCksAXkCzcKgDwz1AQbiNAvK/TvwPW9iVC8iyOxV0iFIcogA9gQRgGIppRW/8nfMAeaTZ/RAqZCDB5IkrAnQApbI6f+komm7k/ndEe0RX5+QCqk3Y/MNnp/MkFuMAvSAD9rO7LFk3wf713jzt49xMV1gGyAVl6XNR6xwvZDeNGz8B4ptAzmu3tPZXL6UcNRTmq6cpxGLunBdec2uhPlv/hr3/fYRMl3Jks3nzzUPKRP701/JX/8m/NJw+XVxZmrGkcyuOKpI8pqQ3jEPZM5XLGbFdX11xfX99cXz4/16Wqs/kNfdNqVppMa+mJjUU03ldIjasIToeYLHbjpdbQt3+7/dsGdHBwGP8ji/OXHtlTjfTJZcNDsyiVYpseyoSYzY5lFOGsYQhn0mn5ZFZNnUaqNiom0qRiiSvv2JBtD99998v+JufgICCDdw8Hf7/jafN/P3ik0hTXLcm+MBPrYFKh6pigKGeIJp02suoJVVROZDLyCUFQz0QonlwJK6Xd999vjezYEQMI6bfj+52XoaGh5PNDh/x/2jVSN3svXmpo4ZQky+eACMbzGX1UpvEoFeiooGTG9Iw+SSVp7szi5PL43PjKxPx/WJ5byS+kUvIsC3AadMWT3bJxTivIM73R6uJGwSwdfeTfmnvuvde9+26Wvlvvt/7v//1gxdx1dAm3wEwgZyegkZ2Q9MxkECRTOSN3LtPTM54ylNMa9c8UNTyuq95cMH6gNHz3P5u7b731O50Ru98PPDsd1ODwML5z56S9e99Mbe/o2splK7X5VKFvRlXTUxD7k7EuneuW4bn+LJ0kAZqem9PmFxdZiiYnF2ZnZ9m5qbk4zkyxDnpCl9VRQUajoupOZBx/IRuMNYYGByNWtsiLN+/43bJjl/dnt91bXnNWZ8zQOs0mqacwEE4ZCJ1QFeWYIkiHsxn9QCqb2ZfW9L2SCodFhR6KaTKabjiVbNYKd9xyi3j74E2Fu/6vX9/8b3/16Uv/+x99+vI/+uQnL/+dX/2NS3791/9o86f/6C97/uZv/mfOlzSNKF2QqsUIqt22pHfbqlZoZbTUakHW1mSd1i/rBv7QzTcnL8bxh72ytODf+/u/d2qZnpLbcqZZx30a6MpJ3UiPKIYykk7rpzUZnVNke8kvKq1OHrBrvpP+Hxb2i5/dzOJy81/8hT/XKpXGp0oTzVZ81I7AIUjUQ3I6cyCT1fezMrQ/m1GeTyvS82lN3q9J4KAooiMUtycFK6nu2HELm3f/YPnt3KNTx3/3dweDeVhYq3vgXDOWT2AFnIhTuTOaqp5NpQtjvdmu8SzbCFEN9bRhgFMSoiOaJB6TSXAGea35J5+8o7W78xvEnQC/fXTS2WmHDrYerk6uTMz4Jh2nsXIGpdRTmqCclCTppJ5Pn0ypqRNQVU9omnJcFdHJOCqP1+LG8pH7b7WGhwfxt4P7gZfBwW/V678b2lc/bIEFM66fwxo+K4viWUMzzmRZXFmcT4kiPAUhPKVp4LQuJ2dRWJuoz1ZWd975D3an/P1AwOyNwcFhPMjK5d/d80xj29PjK3qQn+3ThcliURtbVzTOrM9mz7B6dlaJxLMSFkYF2h63ggtmL33zpfMtjKe3Xb198eEnHy4NDd1Ve/Tuu9udOvyFLww5X/zi461b73iq5AnmfMDqkapnRgu51GghvW4irwjjWaCP9cja2ZTon46S4KxBVucUxazf3an/g4OERe07z47vi3G89f7h1aW2MU+1/sktxcxYrlsdLSB5VEbeaEbyxxItHCep1ATs6ppMATDLysuMnJKnKe2eVBRjgoTSWDrxplOutjLy9A5zfGjoezbjO9Z/8oVh5/++b195UhmYaQdoHAFwRkupp1XFOGkY+RElnT+eSulHRVk4oojkMBDIETEKTwNUXrp/8E8tFt+XzcsXE/W1r31NGPr8/1Ix1At2JGXXGiAqNaFbayE3ikQHENqI3HA5RrE5OPjeTnj0xWt/Vq+ff6F9H26UU8UFlPIndI2eQqo4IurKcUmjxwxVPaamjRGjIJ8Rkr6px55+emnnzp1rTz78ZGnfww+XnrzvvtLw3XeXn97x9z+yDe6Uxz+9dXf4T7uG69D35zEIzmJdPi3q8ilVFk6m0+hEXk+f0BVlRFTFU6Lmj1NWRk7uBOXJnf9gv9BP/RQgWF6RwR07/Hb+4lrbT+YwxWcTKp2QtfRJJdN9OpPWzqiqcVIXU8cyaXhYNdTDKVU9ZQjS1PqUuzqgBTZrk+NOVF5ov27+vM/GEbVzyeLiEtYmvMgb1TX1VNGQT7AFr+NZwzgu6cJJGaRGiSBMVRQwXxD0xWefeWaptW7dzGIqNXPddVcvPrNzZ3X37vut3bt3hx0r8KMf9AtDw47/7KEyRmiaTTbHoIROZ/PSyVRWOSHn5RMys9SYrYqks1Cqn/OXnPmDj/y/tV27BtlCCaDff4ubWZ//f+0YMsEV166VS42ZbO+GyezApklZzUy2lfS0yl4v3bRpYlNWnFSNaErKk9mMNbtw4Gu3LT82dO/yUqUyV3bbZ+oAnwCKclLNp08Z6d7TxWzxZFZOHcnqxoGiYhxJC+CoAaIT3Wpc15JQoS7e5DQD3WoGduSDJYTkkykj+2zKSD+TNtTnFF3ap6bRAZaWw7quHOkcGVU6rOrKYT1VOMjK6EFDVw/k8ukD2WLhiJROTVBJqGEB0QAT3Q3itB8S6fvT+2p+7pTdP//n4fYf/f+eXTNVbzoRhDPFonFy3brciQ2F1CkRyKcyvjW6LZUsDv7VX5X/8Df/sIrx7Fy50RxnW/mnqSyNCHJ6JNPff8ro6zud7cqdllX1hKEKxxVZPi5FwlhM4MKuHZ9rDH3+L3zWrv9A/rxcfDtl+k/+5AvO8Xm7UonTs76mj4vF/jNavu9sqqsw2pvtG08rxphgGKxsiyfTknF6U757IkXKy1d2K60dt9wSd8J4MfyP37LDq4i4jCV6WpbSR7OZ7qMXb9w0fsXWLctXbd1obhnoc/r6es3egf5Kd29xKpWSjskwOp0APPfoP/+Z+e0x8IvB/aSvdIiVy3/8xz3uPz043Ljoiv+wnEqtnx7Ibzw7kO05WejpOTHQmxspGrkTOc04iTx4MiM4E0aBzD7wzMPzd3/z0YUvfOOhZdbPlO/4/Oebd/4D6xsHB6OX8mX1OPxP/+3vGkCLZvW0cjqjpo71dnWNDvT3LW5av7m+vnezvX7dBXZv/9ZmruuCspQdWFSzfUu33n/rilCIF7Pr3TmE1OkL1r1n5ez+L7aGv9XHv+J8fBVQ9E9ZO/Hf7jnaAGviEpToZJfeN2ak1dOGLJ+Q2ZFV1RPdhcypLl0/B8Jw4dnHHlvbx/rtZ58dWj1wYGjp2N6Hlo8882BleHjI6fiye79sPCFb/Lplx0j890Mj5r/uPLA29PT40vtuXJm9/PL+qUuEzLktsjwhahdMaFrfuUxm/WS3Zk3NblPmJ57cURof/kJnzkVY+C/57JS7W1laHnhgf+uxZ0+v3XBibA5DZWr9+i0TPT3rxnF39wTsyY+netB475b0eCAEk8WBgZlf/rXfnv3lG39t9pKtV07rVJq8oKt/QrLDyY2aNnfgsceW9+7Zu/Lht394SYkzM3EOnOs2BibW96yfEEJyblN/10RaJeNRVB8VhHC8Xl+buvfeHcuf/9I9q5///NDqww8fXGTroTMhUcdlw5jIdecmKO2aiGP5XJKDEyoVx7JS6pzod88f3LOtvmvXDtaefu8Y5iUT+zJvdn4L+5b/a8g8PCWvNagwnVWU0UzBOJHSUseyhnZES2mHi5p8xJDpSVKLx7vYOOzdl146f/CJJxYfffSrcw8//sD8w8P3rww9eUdzaOjzfsf0ZW7F9vGG8R//zwdaf7ZjaHkEq+dQume0O1M83bd+/anuHuNENp89oXX64nzq7EDX5um3v/0G1uc/tfbkk0+Wnn76saW9e4YWDg/fvXjsiS+Ud7Nx7MiOHS+0HTvY61/+5T81Tsxa85EmjGOcPpvKpNjRM6r19Iz2b+w+29+vjHbl3NGeND2jA200lOAkwgNzspyaDcP0OVHTxoHYddYwuk8a+b4TPf3rR3K59NFcsXA4VzAOFdLywf6cfKS/AKbWZwBIC/5FSRRsi2PQFREZC3puTc33ntbzxWE9l3vWyOf3GvnMfi2lHpAk5ZBm5A5mcoWDRs44mE7nDhhG+kA2m93XX+jeW0yn9/Vl0gtFVfFTlIoyThQYJXIUxKJVWxFezvOVvN+xGfzCkPOlex+pbrv6ukU5lZrsWZef6O29YKy3sHmsO6tN79798MrD9z1cYuLwN2MAABAASURBVGPp8ue/NLSa77twDhu5CTGdP8vauDO0Nz1GC9qYmBbHZC0/Kor5Mc0Ak++7atPq0NAONmYcxD8s31k86eCtu62/vnNnCWx924xZ2HjOyK8bz3d3n92wbeBMT1/PmXVdxdPFYpb118ZpLR+NpmJx8skL5Mqee//RZdezsjNIPn7LoPfhT/+P0qK3eXbR75uQ+/vGivr6sfTWjWfTm3vGN20amMgZ6yYMWZmQcTCR2N54q6zNfOMb31j+19vvXVgoxXNn5/2pdk/unNyzcULrLYwVMplRsaiPZvXgbE6Rz2CJjGapOAmqYOnQk3f8wPyrE5dXcnQ8BgfvDv7bPY80wCXfXNJzwrheTJ9K9xkniinxRE9BPgXVZDra1FMa+sKgMzw4iL8/3E4/cfNf/IV/y1/+U10sbplXgTTe1Z8dyeSEEUWTjqt69nhGy4ywsjRiaNkTMtTOKiaYLsZLK0N3DDZ33/qnYSceL4Z78+BgdMstf2+uNvW1aMmZSYT8hKR2nTFYX6blu8/m8/nRdFob27TJYI6pCYCjsVYLzbzt3W9bfvjhh0t3Dz1Rfuihp9YiUJgtytmxrmzviXxf/kSxt+9ksad4vDtVONLdnT+Uy+kHewz9RHdKWF6fl0BKhz1+EHW5WNRMmokCuadEjb5RSc8+k84Unkvnivsy+fw+o5jen05pBzL53KF0Wj8kSeKhYq77QO+6dXu7u3PP9Xfl9w90ZU8O5LTVLoWacmi7QuAS4PsyILFGIJFfTOsrfe34dP7F1x8M3tFsa9tXHAXMaEA+QzKZE7qhH5fzqRP5XPFEboC1iV2pk3omd9pQjNFCCswce2KoPDw05Az/iL52B+u//obNUU+46eVlMZxM9feP5vTuMwUxe7JHNE7mte6TA/mek93d+ikJZs6gwB2HtrB49vEvtsa/tab3SpPzsud1+tE/Ye0AWH/tmg/oZCgLZ4iRPUWyxbNytjiWz6PxVLdyNqsopwuSdMbAeKKSVee/ccmm1YfZXIv106t9UTTF5khsI0w4jbJdZwcuSI+Jm7VRnDXO6jn1ZFHyR3skZ2r40c1LTz1059rOB2+vPPzwwysN256hinFKR71nMqRvTM5tnch26+dYnk6s79VGe1JkvIhr07q9vLzn3i9V72dt+z+wsdLg4D+3//Afbl35r7c9MPMOtescGtg0ljOMs0Y2e7ZY7Du7dcPWswW2jrKpn04EQTC5bt26abZeNjuzPDo7u3Jidm513/T6nnCyJ9+YHHn2X+aO7Pzf1eGhwRfHHODFx2BnHeBL91YzrdYcYf0F7M2eyWW7TqEMOZnOw5O5HDippZMTuZw82m5vmB567LEX6sMTrD4M73545YmH71h87P6/m3/i7sHyzjv/2mZWyYthd15vuWVH/KeDt1oecebjODkDBOG4kU0dS+fTJ4u98rn+frJ8ZPet31oP7VzADy7ABX4hAujncFd6K5t03HnggH3/kSPW0MiIOXzqVPuZo0cbe/bsqT722GOrux++f2Xnnf+6tmvHP9U7g4NOJ8Xi9VKTJDo8PIx3jYx4T7NwDo2NNefmRsxabdxZWVnxFxYWgpmZmbBzdL5fOXTIr5w5484c2W3tf/zx1vCjd7cP7LzTPjT0ef/7Gy12v+95Dg8DPMzCGx8fd+bm5syls2dbU1NT9fnR0crEyEhp9MgzlanhXfWRp4fM4eG7X3bj6HsC/a4fOunohD85WbdHWPhjLC2zZ85Ux48dK0+dPrR6+tCzq6NHdlY64c8wv++69Id+20nX8PBCsIel+8jMjDV86lR7bGWlyXzYMdacnJy0Oz4skM4AjADQmUyNxJ332Dn+2siad4ZduzA8HIyMjMSd8Ni5P5AXQwAku2dmwk54Lx6VSsXtXDs+POycGh5un92/v3Vk927r0NCQ3wnrpcJh7/2oJ+3ci+VD9H/iOPJCHFmY3sLCcADA8LfTAjrxTNj78crKIX9y8oB96tSjLB4PsHjcb+1mmwvfTs9L3hOyzbkdu0a8O5481Bzat6/2BMuLnSdPrj124MDS4/ufmXvkiUemvv71HefuH/qn8bvv/rtzX/rS4MKtt/632uDdg504oPyAqAiRtJFC4RoRijcAEP8SIPiXMCXvTkB4DU2iCzwUrguIWqDpoppo3YAovQGRumIgF3wBCnVC4uZf//5/sG9mGzYvGcmXebMT98HBQczqmvWlRx6pPrRz59rQY0Orj7HjiaG7y08O3dHctWOHN8zOeZkgXtHbnc79r//hTvvP/8eO0n//twcWb/3qo7P3De2ceeDrj01/9auPTD14993nvnrvFyaG7vifMw8xn3s+/xerd//zYPtWNjh/JTfopGGQxfPzQ0PNf3vkmcYjzzzTePzs2dbwqVPtTp3fz74/ytqOgwcPVo8de6K8bx9bGB9+sN5ZXGHhd/Kfvfzgc2gIJLfungk77dAj7PpnjoxW9k1MlE5OTq6NsPp8bPxYeZwdx44Nlw8e3FPtlN9XU+/YHb/dNq2xtmnOPHruXOPkzMna6PxopXPMs9f5+SOsOdpTPXr0kcaBAzvt8fGh79kgYWG87HMQADI0Ph7tOVNxjxyZsYaHT7X3s/r1Qh07spv9POTs2rXLGx4exMyQdMp55/XlAoQQ0N3M48CBSfsQa3v2M9cjM7utA6zOdF6HTz3Kwn+8dWr40farWShnlvEh1u7uZnEcGZkzTy0stNmzPTPTtGrjNYcBuCvs805d7tTpzrHA6vCZM3vcycmd9sjILm9khG2Uv1zEv/U+7aSv0w90ysbukydrwyzv9o3sKx048NTas88+trp3z0PLe75x1/JTD/3r2iP3/F1j6POf97916Sv4urIiAwVnqayu86navVgD/lIF2uWG5PiB7CEimWwiVg2OqsErCO2neQrtpPvFNmr3vn214eFhVgf2lYaHWV3YPVQbfvTR9vDw3T+1eO3o9AGsr33y0KHm8MhI/SDro46wunPkyJHKKDumhofrM7t3W+wIARgkP83Efjss2inHnQ0Ylu76QwdOrj28b6S05+DBaufopHv37vtXdt177/yu2/91/qF//Ye1TnvDronY8ZLxGRwcxp///JC/Y2jEvOeRo42dz4xWnnxyX2nfk0+WRp95pnJq+NH2yK5d3vjQUNTxBqxfGNmxI+78/O0wX7ad+XacX/Kl048NsbI/xDxZ2a3v3neydvDgmeoo8+xYnmT5eXb/460ze/a436oD8EfepxOfTrtwKxsj3D08HHT65BfrVqfesvIRdPKmE3f2Pe6khUXuhbZq6OmnzaEnn2zew9rYzusjzzzSGGJl6KFv3LV8773/On/HHf+0ePut/7DygV6r2q8RCflBX9B2tzUrrUxppYnNdmz7rjhdb+LnLSQfemro0VOHdj45c/ibwwsHWJ+5d+/e5RePg88+uzj8zUcXnt396Ozjj3x1wlh32RhbtBwDirhAJKERQZSEbHfQjSLVCzyRxfEnfnbauM9//pD/+TuebP7v23dWbr/9wcqDD+6oP/7A/2zde+8/uoOD3ymvtNOv/eM/3uv+G1vAenDnM5UnWL1ifrXhXbvqnePIMzsrnUX9AzvvXNvPFio6Y0gAfnT+gJd5dMoV2ygJhoaeNnftGq4PD4/UDx0aa35/H/cMy5POAgE7/2XLcyfuv/Jf/q3Rfe0n1wobrlq9cNNmd31XQc4bar8swYGEJL0EQR0KKEggXgU+rnUm7uAniD/40Y8X6m2nT3qcjb07lmzjtcI2tSu7dj1YH2LjkceZI0uXz47OAgL90UH+4Bm3DO7w/tPf/Vvjj774xTVJkmxDVBHAKE+p0J0QsSvGYjZJJBlbIl5ZsTr3AZ37sSM6dOjz7N6v7Jd0fvDOr/6dwWHW7gwd8lldtR555mjjGdZ+dtrRg6wte4bVwT2s3r9QR8EL49hXf4OXuWJwkI0dhsaj3TMz4fDCQjAzs5vNkXaH4+NDUae/ZiAvuLzM5S/3Nh0EgHT6bxbnoNPnr42MeJ2DhcnGIcPsPux+LM2detY5mPkLY3NWFkJ2znfPLV4oK533FoYXXgirE2anHeuc2/meffZCmOw1ZhGi7PjOk32OO/MO9pnXiUcnfQsLw8EKa2s744pDhzrzj86Y4jv1/TvX/rjfdNJy6627w7/f8bR51137ao89dojNY4dXhh/evfIUG3s/88gjjc6YlJ333fW2E+/O8Wpv+0K//3k2j+qUnbsffbTdaa93De9i7cZwnRlZ33efF8Pv3KtzvPjzd7++EOaOHbu8b/UDh5qPs/Eks+yM99hcafcLx042X96z5x/dTns3NDQY3XrrreEXvvAF59Zb77ceeOCB1oM7d3YWPUv33Xdf6f7771+5d8e/LN39pf+58K//+v+b37YtWS0i183I0XoZxe+NfP9tnhdubltYcLC8GsnFEZDd/Fys9B65b+jOyYcffmDuiSceXnz2WXY88cDiEw93js7G26MLbGF17oEH7p7uXZ8Z688pRwuyspyCJJQxVqQk1kRIlSTxIBA18t2J/Em+75TZ3axf3bVrl7dnz71u5+j8/P1h7tixI97D6u7TrD9ln1ud/vvFY3x4yDnDrj3E8q4T3vdf+yN+fqFedPL2XhZ+J58eYG3p42yM0DmG2Tjl6c76A1uU383mtmDwpct3576dOHby+n42Vnt66GnzwM4DdifOIyOd8fa3jv9TT16I1Qvlg5UHPHz3cDA8NOx0rhkeHmbp2eN2XodZ2jrpGx6+m60VdOrXT6fdGhwEpPOLvHcMPck2WffVOv3xgw/uqnd+AW548Ac3jl6I7fd96aS5U1/+rdOfs/61M1bew+Z1nWPfvt21keFd9c44rxN35vtD279OWINsLLhjaMgc2r279gQbG7D019nRZuOc7ziOjw87nbanc/53R4eVifB+5v7gC/3eUK3zC3333bejdNdDX1i+nY1Z//Vf/3G+d1Nvub/XwNmUNqAI6MogDC92Y7jeo5lMKHUFkbFhIep916FNlw6c6tSVe756z9TQ0NDMw48/Pvfoow8tfKvePLH4wMN3zv3bl//X1N/f9r9ObxpInR7IK+M5EdeV2MXAbgrsANQ3ExiHWBUp3r59nALAtkvAq3900jk4OBQNfmHI+eIXH2jtYHk0NLS71jHavfuFuQkb0zzZPHKkMz8dDl7tHVj6krtZ2bv1/t3Wg2ye8QRbj+kcz7C1t90sDzt95sjIkPmtMvxC+Xu1t/iR5w8ODpLO3OOBx/e3drE4dObcrM+2OvPmI7uPsHn3cLtT71+oSztYHNj5LwbK2urwzp077SFWZ/Z06u/QIf8QOzptwwH2fue9TtkA4HvrLStXeCf7fIjVr10ju1ifNuQfYn1Z52CfOd8+AvaKX7zXd7+y3KQ3Dw0lzM/feeCA3Smj7Fync79OGJ15f6dvZe91rqffvpa9whfmBd96/4WxLXsPfPvjH3zpjGe+NYZLsq0RAAAQAElEQVQdcoZYO9SxYde+4NEx6bSbI9+ay/9AOJDNqX4wxO99p/O/l/iLO4aagw/tXGN1efWhnQ+tsTSxNmHolc/lvzdI/hMX4AI/RYGfxwbSTzG6PCgu8NoU6Adp2QVrXRv7jLdu6DH+Ywq4v5lY9ZsapcWP1iuVjzXq5keadvI+l8rvbAvq22I52/m7g1tasdTlYCUfUlkXtWySzebJazOFPFZc4PwWYJMF9LX/9TVt4xWXXnjxlW/+GNLTb/Gosr4VyoYd63JE0igOgB/7seeOGWwB7CZeV8/vIvGGTx2lFDpCUVIJ7XPNdu/qwoI4PzVjzE7NFkpr1QGrbRYQSOR0Q37FY8lP/+VfGlKq1k1kupWKSXdEEyFJEkAAJVCQcAJUXq9+jJKnLy1le9PCRXlV+lUD4N+xK6sfW52fe//09PR7VlZWf6naqFxn+62LsRamf4zgX7OX/K8//3PtXz/72c1+iN/essyPTkycu+HokePv2L/34DUT47PvXlurXF8xa5cmSlR8zSaCR4wLnGcC6yNfyatkPQjtSyOneVV9ZXFTZWmx0K7VNcuyDdePDTf25CRxhFeYdIh8pPkJ6WlYbbneauN6qxG3bTMOQhfHPvFBaSR6hWHx07jAa0Ygi5yUiuBFugKuVxH+gFVd29asVfsczx+IMNgCoLzB91czR440pFcS6c5chkbA8CLc12i28qbZ1kkUCyTCNkrildjz5yPHrbPzKAuvc7AX/uQCXIALcAEu8MoEXvGk/5UFx8/6qQvwAF8XAqIGBZBEaU1EF+oifXvsWtc4rcZb2s36VY167ZpGo3Ft07LeaQXRu62IXm9G4EobCxtsImkOgdDDIPYgCMIQdH4r5HWRZh5JLvB6FGCTJjQ4eJP8P//6puzgH326589+61f6/+oPPrU+qJpbq8nqm8v11rvqtvchMyIX2jFKe9SAITAiDHU7wqgZOYE9NNT5zfUXfkvr9UjA48wFXpHA3/7t38IoaaAYR6pnu6rZaIJ6pSI1KuW01a73W1ZjU6tZ3Vbz5zZde+ON669838fWXfXOXxq4+vrr+996ww19b33rDX3XXntt7w3s+xvZ57/5e7+5VUHkTdjHV5uhuz2I4t4wiUFCsIkJbUAATQgJXwR8RbnzvSdRIdKSMOyjONyehP6Vntm+wGo0NjXrjU2WZV7g+O6miJBeR0yU773y9f2TiKuS55nFIHA3er53UbPZ2FhaKw0sr6z1VWuNDW3T3BiETnfbifXXd0p57LnA60cgESIBEz+DI7cbB26fb9bzbGHcaJVXJLNRLbbNysa10vzWxdLyxus/9Cv9H2LHJz7x6wO//u2j833n+PVf/90Nv/d7f771r/7s/7nEDILLbCe6rOn7+QbbMa57XrvlOq0witowsn02tsOvH6FXEFN+yhtCQKaCQmjSAwneikh0ccL6q8BuZn2rnQ1ce0Poti8KqkuXAuBsu+mmT2/s1Ilf+ZVPrf/Yxz62rnN84hOfGOi8/vqv//qGP/iDP9jSbnsXL9n+JVU73Faz/Ezb8qnvRz6OwwoNk6UgdEvnkpbNcPnmEUPgTy7ABbgAF3h1AnwD6dV58bO5wEsK4KaHIjuQNARyChsIWvWyXF1elmurldzK0nLP8urqllKtcY1p+++z3PiDNTO4qhkkfS4VE4egajsma1XfMRejqeglb8Df5AJc4KciUGg0JGCLmcgTthIQXiWL8Noohu+hKLkxTsh/qrat31iuNt67VG/3VJwoSpSMD7RcDUj6EiDCMhTwK/4ftf5UIswD4QK/MIFBsLri0mbV9FzHdROMYxz6NPItJfAa/a5TvyoInA9iTN8XR+A9gJJ3Joi+g2Lp7UIM3yaK+BqB0msQxW8VRfLuBMcfZxtEv06S5Ka2Y7/Dcq0BPwjjMPAWEt+dcl13JcHE/YUl93V845btiJ7rKWarjq1G1WWH1W42XPbFMy0rtG2XxkmCWB7A13EyfyDqq+UKrJkNodVsErPV8Bv1utdsNtx2q+nV6jW3Uqt4jXYrse0GXyz7AT3+Bhf42Qg0agH13TCOgiDCoR+j2KHYrcHqygRo1xc3mO21t5lm/ZfCOHgvifA7EkhZv0HegRP0zs4hxsJ1SUTfGcfgfRSSjwAk/hrG8FfbQfSBFoEb20jE9QSvNKN43vfs5UbceNV/Jutnk3IeKhd4tQI+wL7P9o5cBLGHFOArKGhLfn0Fhu21Pr+5+mbstT8iwODDiKL3Ixy/l42p3sO+v54iel0CkncmAnhXDOH7YoA+QhC6uRUlN1Yd/OY1C6fKFrbbXrRqtvx5x/EXGouhveOWW/hm66vNJn4+F3gVAvxULnA+C/ANpPM5d3nafm4CIvWJIIqR7wduEAQ2hAALAoCAJGysFwqeayvNejWzvLyan5peyM8vrhlr5VrQcp1ZK/RHPeJPmn5igtJF0c8t0vxGXOANKJAIYSFN9Su7ZOOjOUH6DWw7NzUqa/9hanr6g8dOnrz28IkzFxw+fS47sVSW1tpsukXIREzJ4ShJ9tKYTnuB1X4DsvEkvwEFBgcB7dFJHMR4jQAyKxnSYq4743X15TRNQUWa+BcHZut633E+GvvBTZSC35SQ+ClRFH+TbVZ8ihDwKSqIn2pa/m8sV1q/PL/SeP/k7Oqb5xbKm1ttv8t1YxqHcSmIwtNR4p/BAlytgRXvDUj9Eyc5oYEZhnjKc91nPN/fiTHZAwF6CiL0DEnws5hERynEcwTR82qDznOkAMXxcoDDE34UPkMAegYJwjOiiJ5JSPR0GIf7AxJMB2rQAq/uwc/mAlzgxxRwwiR0onA5ivGJOI6fT+v6ct7QIg0mqteqpmvLswNmfe3ayG1/jMTOp0LX/rTrWr/t+e6nHfa97Zq/7Xrup9vt9q+V1yqfnJtbunFxuXJ9ox1c3nBctRmEa2zH6EgEyUkPRgtJC/B+48fMK37ZL1YgaAAviqO5MPSPx4F/NK0rZkqhCfAasVmaBY2Vye7Qrr7dMas31qurv9pqNv6j0zZvdh3v11zT/w277fy61Wr/WqPR/I+lWv2XZ5dXPzRbql691LT7G34S2AQuBhRMxJgu1+umWSw2f+D/JfeLFeB35wJcgAtwgdeTAN9Aej3lFo/rqxT4+Z2O24UkShKPLTeXHddbkCTJ0nQtVFQxQiiJkzggnmmh6lpZWphbllaW1pLVUqVSbTXONKz2KTamm1YvNezBwffy3wr6+WUbv9MbUCDBURZhfIkEwLtFQm+kYfABz7LeVS2Xrp6em99ydnIuf2pyEU6v1uM10661Yv+kjZ0DVad2yGubizvv/Af7DcjGk/zGFKDGmBu3/WCVSGBCSilnM13p1VxXJlQ1QQUE98ehf3kUBtdFYfT+BMcf7hwYxzfiOL4xTvBHIpx8JMD4w7YX3VA3vatWSu1NKxUza9mR4vuxh0O8FLrOeCNendo1eEt9eHCQrQu+MbF/klQfr4YmgkvTc6vLz5VqzZ0YCI/JmvaEquvfJJTuYe3cUY+CeVv23J/kPq+1a2/dvTv8h51PrZkhPt2M/Oc0XX86m00/ZWT1p0QSPBNb1UPNMJg9q8fWay3uPD5c4HwVyI+1wiaKV0zXPeYH8RNp3TidSenVrKagxLdlt1nJxY55aRL67yI4+kgUBR/tHEEYfNRjh8+OMPQ/6nvuL9mmdX211r6m3rAvMd24v2W5QctzZ2yMD4cSOfuV//V/r9199yDvN87XwvRjpev1c1G0tuaanjfntVqHAtd/LqWrSzlNtFKiH2OzRL3GUhp7zUtCx7zWc6z3Oo79Ac/zfikMww9FfvThkB2BF33Qcbz3t0z7+mqzfXW5ZW6u2r7aCHHdxGgmgOJ4DElpx45Bb3BwkLx+dHhMuQAX4AJc4LUmwDeQXms5wuPzOhVYi6srXrvSMEfrbed5UdfHM9255d71+WomJdc1ETRTEjKlOAmx5cVe01xu16qnq+XF/Y16fdS1tLXP3XBD8jpNPI82F3jdCCSBD2PHRcD1EXU8hG0XWvUGLZVKcbXeDGqW7zcD5Dc8XK657mTVXDvccttnY2SsqOpY+LpJ6Os9ojz+rwmBm4eGSNgGZTeKTls0eMIDwVMhjI4gka4JiLgIxzhiexKuY0K73aStRgW06mvQd9uoZbWFcrMteIkgeESBdQsQJ1RoGOs4CCQ7cOGa70Vz2A5aNwDA//XtT5DjbFGIHm0WY9amrRhIPiOi6HAM5AMkEg/JUnTST9RFbfWsN7JjB/4JbvOavVSo1+20nV4KBXQOiPhshKSzETBmfN+rrHxoewhYOX7NRp5HjAucZwKdfmPT0SAIqDrJNoO+WWu2vx4GyXM9xe5KQdfDjCSIKYFKAg4k33Ukx7GEtt1CDbuGWhY77Cqy7Tp0nTZ0HAe0TQ+0zCC0naRh2+G463lH3dA8DRKhDCGk5xkfT84bSOAzt92GTZBzQkzOhSQaxnHyXC6lzmzf1iNsG9Cloo7F2KnBwGlA126iaqMs1Np10XY9KXACKbJjObQSyao5qF5q02bLIabHqgoFKy4h4w5IRk2K5ySpYL6BWHlSuQAXeL0K8Hi/5gX4BtJrPot4BF8PAqWBkaTh5Nx6w5xrmv5hLyHDVBCek3T5gKorRwxVPW7I4nEJweMgio8EjnPIbTePtVprZ6qVSmnH4Mc9Pgl6PeQ0j+PrXYCGrhsF4ZLnuGc81zsaBfEpHOPRhJDxCOMzQZSMsOOIF8ZHHD8cMe3mRM1fKh0a+gt/aGiIb/K+3gsAj/+rFaCDd98dQKVVNpPolEf9530S7MGE7AMUHEUQnIIkOUXi6GQceCfiyDsZx/6pKPZPR1FwOsb4NCbwLKZoFBNhlFDhNKDiySSkJ3CYjFM/Wk7cyGUbIPy3YsFP9KAdw1t27PJu2TFkDj44XH9w16768PCu+v7HH2+d2XOvOzw83Nk8Oi8XW3eMjMQ7RnZ5u4/stp4eedo8derR9vj4kLOwMByAwRd+45r+RLr84lclwE9+wwtQtomUfOavd1h2tbXUaDtHvTAaRoLwvIDQIQWhYzKiJyElJ5M4PoGT+ESMoxNh7J+IkoD9HJ1ISHQyYv0KO05EMR4Jw/io74eHAt8/6nveqMt2moY+/xf+G16aA7yuBTpzf9Z34xWwoU18fzFiawQI0OcVCe7VZHCYHSOIxqcoiU4RHJ6KopDVi7AzbzkZ4+RUEpPTMIFnKKanMcbsnGSEvR6LcHzUi6PTfhTOTTZA+9Z/+Sz/JZ3XdUnhkecCXIALvDYE+AbSayMfeCxe5wKDg4B0/pTKXJ2uTlabI6dnVx6frrYe8Ym4U0+ld3d3554s5vQ9WRntkkn0jaBZ+2Z7df4wDCvT7sST9msw+TxKXOC8FGiabNu2YY8trFT3LJeaD9t+9DiQ1WfSuexeSVGfAZTsjvzw0cgPngSefwRTdXFy5528jp6XpYEn6pUK/Nd/3OMO/vOjC/MrBG1aJwAAEABJREFU1UPza80nWpa3C2P6uCwo3xQFYbcIyBMEh4+x18ckkT6e4PBxBOkTkix/k1DwJKDoKVXRn1UkcY9E8JOJ5z4dmq2TB+4cXBu+ezB4pfHg53EBLsAFuMDrQwBCQP/01t3h8boys1xx9q3UW4/ECf53SRYelhB8TABkF6B4J4BkJwXJTkLjnRCBXYKEdgki3AUBfiwh4eMQkW8kNP6GbdYeb9ZWD5RqlelDQ/+L9xuvj2LAY/kKBNgmEilp2+3lWvP0arn6RLlS+gom0UOqJj2iGtpuWRF3QxE9LsroMSSgXQkhj1GcPIYgekyT5Mc1Rd2tSepuRRAfAyTebbvNZ61m5dTCSnllfGgwBq/8X+q9gtjyU7gAF+ACXOCNKsA3kN6oOc/T/TMRCKvY17BUj2E0GwFyGhB0QBDpMxDCbwKQPAEQeIwA+gQbBB5NsLRoT01Fw8PD/F81/ExygwfKBX5QoL0aBCAEZZqIp6kAn0OAfFMgYBcF4BuALWYggS1+C+RJmJCTRFBWZq4txj8YCn+HC7yWBX52cXOlyPMEf00g8UkikucEmDzG+redrG/7BiT4G6Cz0Afgo5DSb0CBPipQ+AgQ0MOCgB6FAnwcUvA0hsIBCUfjEtbqP7uY8pC5ABfgAlzgtSAwNDRENM1vCgCehYA8z+L0GIF0JxLgN6ggPCJA4eFvHfTrgICvE0i+DtlBIfo6wsIjENJHCcJ7oCgcSQS59NZul43LIAuGP7nA+SPANpFoajkKwxgviwAeIATsIQl5TITCzs54ClH6CIX0EULII1CADyPI6goF/54A+nUK4NcFCB/GAO4kAnhOJuSMJAr1hRfqCqDnjxJPCRfgAlyAC7y0wM/nXfTzuQ2/Cxd4Ywh0/ozKP+45497zzGpj54HltSdOzi8eHF2ePX3u3NTZsyPnRk88PTF5fOfk6N6Hls/uf6DFNo8wk+EDO4bAn1zg5yHQqaNfGB52/nnfvtIX9x+bu+/M5OTT09MTYzMz40szY+NrZw+dqx15bHrl0NDq3NM7zG//+aOfR9T4PbjAa15gaGg82r17xtp5YHJt/7HpuZGphXPTrP4ssfpTXlpidejbx1J5bGlmiR3jY+XxY2PlsX3jjbN7zq0c+fr0/LN3LI4+c3vlzJ5/dF/zCeYR5AJcgAv8PAXOz3vRzw8d8r/wxHD5ATbu2jUycm7v6OjEkbGxcfbofBmbmJgYnZiYHT137tzZzn9n2deJiTOjE7PHR8fHnxs7d/qJqdFjDy3PHLnfYhtSnV+843On87OsvJFTRQeHh/E/Pzrc/u8PP7t421NHpr96eHTi6dFpVleWxk+zMdUMO2ZnZ0c7dePM7JnRM6x+jJw7xKrLobMTEwdHZ04+Mz69//G58eGhcudP1wL+p7ffyOWJp50LcAEu8FMX4BtIP3VSHiAX4AJvdAGefi7ABbgAF+ACXIALcAEuwAW4ABfgAlzg/BfgKeQCXIALnO8CfAPpfM9hnj4uwAW4ABfgAlyAC3CBVyLAz+ECXIALcAEuwAW4ABfgAlyAC3ABLsAFvkvgPN1A+q4U8m+5ABfgAlyAC3ABLsAFuAAX4AJcgAtwgfNUgCeLC3ABLsAFuAAX4AJc4GclwDeQflayPFwuwAW4ABd49QL8Ci7ABbgAF+ACXIALcAEuwAW4ABfgAlzg/BfgKeQCXOB1IcA3kF4X2cQjyQW4ABfgAlyAC3ABLsAFXrsCPGZcgAtwAS7ABbgAF+ACXIALcAEucP4J8A2k8y9Pf9IU8eu5ABfgAlyAC3ABLsAFuAAX4AJcgAtwgfNfgKeQC3ABLsAFuAAX4AI/VIBvIP1QHv4hF+ACXIALcIHXiwCPJxfgAlyAC3ABLsAFuAAX4AJcgAtwAS5w/gvwFHKBn58A30D6+VnzO3EBLsAFuAAX4AJcgAtwAS7ABb5XgP/EBbgAF+ACXIALcAEuwAW4ABd4jQrwDaTXaMbwaL0+BXisuQAX4AJcgAtwAS7ABbgAF+ACXIALcIHzX4CnkAtwAS7ABbjAG0GAbyC9EXKZp5ELcAEuwAW4ABf4YQL8My7ABbgAF+ACXIALcAEuwAW4ABfgAlzg/BfgKXyVAnwD6VWC8dO5ABfgAlyAC3ABLsAFuAAX4AJc4LUgwOPABbgAF+ACXIALcAEuwAW4wM9SgG8g/Sx1edhcgAu8cgF+JhfgAlyAC3ABLsAFuAAX4AJcgAtwAS5w/gvwFHIBLsAFuMDrRoBvIL1usopHlAtwAS7ABbgAF+ACrz0BHiMuwAW4ABfgAlyAC3ABLsAFuAAX4AJc4PwU+O4NpPMzhTxVXIALcAEuwAW4ABfgAlyAC3ABLsAFuMB3C/DvuQAX4AJcgAtwAS7ABbjAjxTgG0g/koifwAW4ABd4rQvw+HEBLsAFuAAX4AJcgAtwAS7ABbgAF+AC578ATyEX4AJc4OcrwDeQfr7e/G5cgAtwAS7ABbgAF+ACXOBbAvwrF+ACXIALcAEuwAW4ABfgAlyAC3CB17AA30D6KWUOD4YLcAEuwAW4ABfgAlyAC3ABLsAFuAAXOP8FeAq5ABfgAlyAC3ABLvBGEeAbSG+UnObp5AJcgAtwgZcS4O9xAS7ABbgAF+ACXIALcAEuwAW4ABfgAue/AE8hF+ACP4YA30D6MdD4JVyAC3ABLsAFuAAX4AJcgAv8IgX4vbkAF+ACXIALcAEuwAW4ABfgAlzgZy3AN5B+1sI8/B8twM/gAlyAC3ABLsAFuAAX4AJcgAtwAS7ABc5/AZ5CLsAFuAAX4AJc4HUlwDeQXlfZxSPLBbgAF+ACXOC1I8BjwgW4ABfgAlyAC3ABLsAFuAAX4AJcgAuc/wI8hW9cAb6B9MbNe55yLsAFuAAX4AJcgAtwAS7ABd54AjzFXIALcAEuwAW4ABfgAlyAC3CBVyTAN5BeERM/iQu8VgV4vLgAF+ACXIALcAEuwAW4ABfgAlyAC3CB81+Ap5ALcAEuwAW4wM9fgG8g/fzN+R25ABfgAlyAC3CBN7oATz8X4AJcgAtwAS7ABbgAF+ACXIALcAEucP4LvM5TyDeQXucZyKPPBbgAF+ACXIALcAEuwAW4ABfgAj8fAX4XLsAFuAAX4AJcgAtwAS7wRhLgG0hvpNzmaeUCXOC7Bfj3XIALcAEuwAW4ABfgAlyAC3ABLsAFuMD5L8BTyAW4ABfgAj+mAN9A+jHh+GVcgAtwAS7ABbgAF+ACvwgBfk8uwAW4ABfgAlyAC3ABLsAFuAAX4AJc4Och8IvdQPp5pJDfgwtwAS7ABbgAF+ACXIALcAEuwAW4ABf4xQrwu3MBLsAFuAAX4AJcgAu87gT4BtLrLst4hLkAF+ACv3gBHgMuwAW4ABfgAlyAC3ABLsAFuAAX4AJc4PwX4CnkAlzgjS3AN5De2PnPU88FuAAX4AJcgAtwAS7wxhHgKeUCXIALcAEuwAW4ABfgAlyAC3ABLvCKBfgG0iumeq2dyOPDBbgAF+ACXIALcAEuwAW4ABfgAlyAC5z/AjyFXIALcAEuwAW4ABf4xQjwDaRfjDu/KxfgAlyAC7xRBXi6uQAX4AJcgAtwAS7ABbgAF+ACXIALcIHzX4CnkAucBwJ8A+k8yESeBC7ABbgAF+ACXIALcAEuwAV+tgI8dC7ABbgAF+ACXIALcAEuwAW4wBtNgG8gvdFynKe3I8APLsAFuAAX4AJcgAtwAS7ABbgAF+ACXOD8F+Ap5AJcgAtwAS7ABX4CAb6B9BPg8Uu5ABfgAlyAC3CBn6cAvxcX4AJcgAtwAS7ABbgAF+ACXIALcAEucP4L8BS+VgT4BtJrJSd4PLgAF+ACXIALcAEuwAW4ABfgAuejAE8TF+ACXIALcAEuwAW4ABfgAq9LAb6B9LrMNh5pLvCLE+B35gJcgAtwAS7ABbgAF+ACXIALcAEuwAXOfwGeQi7ABbgAF+ACfAOJlwEuwAW4ABfgAlyAC5z/AjyFXIALcAEuwAW4ABfgAlyAC3ABLsAFuMD5L/BTTSHfQPqpcvLAuAAX4AJcgAtwAS7ABbgAF+ACXIAL/LQEeDhcgAtwAS7ABbgAF+ACXOAXJ8A3kH5x9vzOXIALvNEEeHq5ABfgAlyAC3ABLsAFuAAX4AJcgAtwgfNfgKeQC3ABLnCeCPANpPMkI3kyuAAX4AJcgAtwAS7ABX42AjxULsAFuAAX4AJcgAtwAS7ABbgAF+ACb0SBN9oG0hsxj3mauQAX4AJcgAtwAS7ABbgAF+ACXIALvNEEeHq5ABfgAlyAC3ABLsAFfkIBvoH0EwLyy7kAF+ACXODnIcDvwQW4ABfgAlyAC3ABLsAFuAAX4AJcgAuc/wI8hVyAC7yWBPgG0mspN3hcuAAX4AJcgAtwAS7ABbjA+STA08IFuAAX4AJcgAtwAS7ABbgAF+ACr1sBvoH0us26n3/E+R25ABfgAlyAC3ABLsAFuAAX4AJcgAtwgfNfgKeQC3ABLsAFuAAX4AIdAb6B1FHgBxfgAlyAC3CB81eAp4wLcAEuwAW4ABfgAlyAC3ABLsAFuAAXOP8FeAq5wE9dgG8g/dRJeYBcgAtwAS7ABbgAF+ACXIALcIGfVIBfzwW4ABfgAlyAC3ABLsAFuAAX+MUK8A2kX6w/v/sbRYCnkwtwAS7ABbgAF+ACXIALcAEuwAW4ABc4/wV4CrkAF+ACXIALnEcCfAPpPMpMnhQuwAW4ABfgAlzgpyvAQ+MCXIALcAEuwAW4ABfgAlyAC3ABLsAFzn8BnsKXFuAbSC/twt/lAlyAC3ABLsAFuAAX4AJcgAtwgdenAI81F+ACXIALcAEuwAW4ABfgAj8FAb6B9FNA5EFwAS7wsxTgYXMBLsAFuAAX4AJcgAtwAS7ABbgAF+AC578ATyEX4AJcgAu81gT4BtJrLUd4fLgAF+ACXIALcAEucD4I8DRwAS7ABbgAF+ACXIALcAEuwAW4ABfgAq9rgVe0gfS6TiGPPBfgAlyAC3ABLsAFuAAX4AJcgAtwAS7wigT4SVyAC3ABLsAFuAAX4AJc4EUBvoH0ogR/5QJcgAucfwI8RVyAC3ABLsAFuAAX4AJcgAtwAS7ABbjA+S/AU8gFuAAX+JkI8A2knwkrD5QLcAEuwAW4ABfgAlyAC/y4Avw6LsAFuAAX4AJcgAtwAS7ABbgAF+ACv3gBvoH0s84DHj4X4AJcgAtwAS7ABbgAF+ACXIALcAEucP4L8BRyAS7ABbgAF+ACXOA8E+AbSOdZhvLkcAEuwAW4wE9HgIfCBbgAF+ACXIALcAEuwAW4ABfgAlyAC5z/AjyFXIALvLwA30B6eRv+CRfgAlyAC3ABLsAFuAAX4AKvLwEeWy7ABbgAF+ACXIALcAEuwAW4ABf4KQnwDaSfEiQP5mchwMPkAlyAC3ABLsAFuAAX4AJcgAtwAS7ABc5/AZ5CLsAFuAAX4AJc4LUowDeQXou5wuPEBbgAF+ACXOD1LPzGT0EAABAASURBVMDjzgW4ABfgAlyAC3ABLsAFuAAX4AJcgAuc/wI8hee9AN9AOu+zmCeQC3ABLsAFuAAX4AJcgAtwAS7wowX4GVyAC3ABLsAFuAAX4AJcgAtwge8W4BtI363Bv+cC548ATwkX4AJcgAtwAS7ABbgAF+ACXIALcAEucP4L8BRyAS7ABbgAF/iZCfANpJ8ZLQ+YC3ABLsAFuAAX4AKvVoCfzwW4ABfgAlyAC3ABLsAFuAAX4AJcgAuc/wKvjxTyDaTXRz7xWHIBLsAFuAAX4AJcgAtwAS7ABbjAa1WAx4sLcAEuwAW4ABfgAlyAC5yHAnwD6TzMVJ4kLsAFfjIBfjUX4AJcgAtwAS7ABbgAF+ACXIALcAEucP4L8BRyAS7ABbjADxfgG0g/3Id/ygW4ABfgAlyAC3ABLvD6EOCx5AJcgAtwAS7ABbgAF+ACXIALcAEuwAV+igKv0Q2kn2IKeVBcgAtwAS7ABbgAF+ACXIALcAEuwAW4wGtUgEeLC3ABLsAFuAAX4AJc4LUqwDeQXqs5w+PFBbgAF3g9CvA4cwEuwAW4ABfgAlyAC3ABLvD/Z+8/APUqzjt/fNrpb7/9qkt0UUzvIIwBgymS8BVgxyVxAnEce+PE8ca7yXLJfzf9Z+/a62xgk9hxAVvyxoUiwAUcF9zoSIAAoXr7208/U/7PecXFAgtME6bMy/u9M2fOzDPPfGbOOe+dh1dXE9AENAFNQBPQBDQBTeANQUAHkN4Q06gHoQloApqAJrD/CGjLmoAmoAloApqAJqAJaAKagCagCWgCmoAm8MYnoEeoCWgCzyagA0jPJqKPNQFNQBPQBDQBTUAT0AQ0AU3g9U9Aj0AT0AQ0AU1AE9AENAFNQBPQBDQBTeBlEdABpJeFTzd+tQjofjQBTUAT0AQ0AU1AE9AENAFNQBPQBDQBTeCNT0CPUBPQBDQBTUAT0AReOwR0AOm1MxfaE01AE9AENAFN4I1GQI9HE9AENAFNQBPQBDQBTUAT0AQ0AU1AE9AE3vgE9AjfoAR0AOkNOrF6WJqAJqAJaAKagCagCWgCmoAmoAm8NAK6lSagCWgCmoAmoAloApqAJqAJaAII6QCSXgWawBudgB6fJqAJaAKagCagCWgCmoAmoAloApqAJqAJvPEJ6BFqApqAJqAJaAKvMAEdQHqFgWpzmoAmoAloApqAJqAJvBIEtA1NQBPQBDQBTWBfBBRCeHx8nIDYtddeaVx77bVGnl+/fj1VSmH05njl48z15hjtKzzKvdYQGRsbo7B+8r2h/cUT5+tyP/fxChPS5jQBTUAT0AQ0gVeXwGu5t/xDwmvZP+2bJqAJaAKagCagCWgCmoAmoAloApqAJvB6IbDf/dwwNkaWIGTa9oS3bZtR2rJlSxk6LTSbTWvDhg1vht/xMQQ98sBHHkR7M4wXpveVe+fBo2vGV1GEtpntdttauHChCdYZBHgopK/0Ow924quuuopNTEzkgapces5eacraniagCWgCmoAmsB8J6Af3foSrTWsCmsDrnYD2XxPQBDQBTUAT0AQ0AU1AE/jNE7h2/Er3X8b/cPQLf/GxE1srR8/3xfQ70zpfgxVa43ilMac0cKkyShdR5Z6x8Zsbj/z2t761+Fvr/23xlz/3Twd++f/+r2O//On/39uu++v/uuav/ugP1n70d6+65Lcu/+A7fu/3/9t5H/zTT575wb/8x2P/9O+uXfH3/+cLg39z7bXlv/7Hv65+6lP/Y+QzfzV+yN+Of/yE8Y/90Vt/Z91733bRuWNvvfDtV5528cX/6chLLvmvi8bGPum8UDLjfzBW+NSVa0f+9g/WHPpn7z77+A9ffsLpV5xzxJlvP+nwVScdftyqM0654IxzL/ntUy56/58cf+l/+i9HvvcTf3XQh/7rPyz5+PjfLhwHfeqv/3r5//of/+XwT/3lx07+bx+/6m2jQ+47LNd6+wNbtrz17WO/c/Lb1vzuoasueP/wsVdeabxQn95M9ZRC+At//x5v/f+8cvH/9xfvOwa1R1c1dkXndev1dzTnggtnZ6PzU1k4+9P/+MXTP3vd597y2X/+5wM++9n/b9FnP/vfF3367/50xd/85YePGv/47570h797+aqxsbG3nrP6nWef967fedvaK//4rN/5k/9+2u//2V8f/ad//ncHjv/d3w1/9nOfHf7yl//3km+s/+QRN3zuL09bWIvOXzZALqwZ8YXbtz/29k3bd59+/u9/+OjVfzS+dOw//00e/Hzebz5BYIv8/d9/zPuHf7iy/3/+zXsW//kfrTn0I+8769i157zl1Lcef8QZxx9x9BkHHXbsacvfcubxK1atOfzQ09eOHHvRlS4aH38h+10Q4BozP/nff3/BJ//i/Ud88qO/dfrHrjj/re8+55RzTz/5mPOOPumktx1+2ttWHXPRu086bs0HDj/+8j9YdOK7P1xatWqcIYSe12+kX69DAtplTUAT0AQ0gX0ReCEP1H2102WagCagCWgCmoAmoAloAprAa5OA9koT0AQ0gTcYATd1ywVmHWCY5Fws1GVJmr0vTcS700S+myP0XoHweySmlyuDXkgMdqrtmoeZlnOYY6pjsUrPFZyPiSR6X5xE7w/D6L1Rmr4rzsQ6rtTFDBtvNU33LdK1l5qUDtjKHkZILFVUHouFequQ2UVCyUuEUJdwnr5DxOI0peghnc5cJd/cfwGocRHRKrbpCibRySZT5xIpLhE8uyRJ04ujNLs4EfIinsoLBEFnU2KeYhrsaNOQh3oGO9Bx2MGmTd5imuxUQsn5lOJLYSPjCiyzy0TK16iMn4+EOpkw66DKrFHSQaRfmRG88TMfNgcKfQOe5RxpMroqk+iSMBFjwP6ymKsrBGaXYULfiU12MTOMVaZBji1VrUPKNj684JnHFSx6FkbqQiX4mpQna9M0Wyu4vFQqspZj42JmOquMQvFo03CXedha4ZrOYcy0TieUXEiwvByJ9N0Zz66QGbQV2Tu4wGdkSK6UkgxeeeW1+befYEp/xW+IAY2TWq1u9PXJWsHylnqF0uFFh51iUHoOkeoiKWHtpBGsnfQdWZKcy1N5RsboQRmXtcM2oV8b5LnjjnG6cOHCQrlaOsgz7dNgbV6CcfZOifhYxvmlaSbWpFxcBNfPuQSjk6ikBxuK9ZuLfAucw7/qsS7RBDQBTUAT0ATeeAT2+ZB+LQ1T+6IJaAKagCagCWgCmoAmoAloApqAJqAJvJkJWDYdJdg43mH2eVnMz5qcmH3L9FznqGYnObybooMDiQ9PMD2euIUzmVdYpRg7w7PRaWVTnF1k2aWpXz9nbmLXSTu2bT/hye0TJ23b3Tx191xwZitAZ1G7dLZdqJ7qFWpvsYvVpa7nLvI8a7lpkaMQ4seF7e4xUTc6Ompnx3bnotP9dnYaj9FxhmEu+uGmqAjz8pwb6XmA6dorj2V9JWuwYpEjqhZ6e5nK1RZPVweNufNmJqfP2j05c/psy39rK+ZvyzhaRQ3zJK9UfEuxUl5Z6SseOThYPK5Uts4qlJ3zCi47z2XqraYMThfd2ZOTTv00HgbnIIzPpZa9KlToLdlOOQQ+6fdTBNavHyPVIh3pqzrHDPZVLnJd99xI4tMn2uEJk930hFZGTuZW8Uyj0neuVamudvvKF1b7C+f0VczThoascxYP2+8crrB3lS1+mYjaF3fmZt82M1Vf1egk5wSCvkNahUvM6tD5zsDIaeW+kcOqfQNHD/bXThkoV84tmMa5OA3PSoO5U4P25PHtxuTRUdA9UaTiJInZUYKiZdGorNbrtX1+c2xkBNnDw0P9feW+AxaOVk9YNDxwwWBf6ZJKwVjNSHqh322eOzW5663TU1PnNZvtdwR+cpEf4zNCRA4jrFk9bHx8n3afQoNa28qFPmdk8aLB/pMHa975JVOssXFyfpZ2V80168dNtVrHz/j+SZ2Mn5IQepxVcA91i+7CQl+1tAohvZ82D1KnmoAmoAloAm9oAvqB94aeXj04TUAT0AR+YwR0x5qAJqAJaAKagCagCWgCL5NAHoBZPz5uGqY1KAU6oNuNlrU70YJWJ+lPOKkJYlaxYVWxaZWJaRYpM0qUsYplGVWDyAHMk4Uy6RwUtOqLZ6enhqamZoamZ1vDc+1oQTdBi2JFF2JqDihieIhgqpQk8B/GmEqslEJSECSllcWilIRiMI3kUp7iZUqyxZzLKuGOhZB6nlGO985hnpoOwdWSRQ62kDhYhNHyLIyXx2GyPIiy5WEql8ZcLeBClaVUhsIwWqxS3BPmhBJEKIWYFfVci5aLFu0vu8aoy9BikQRLom7r0Far9ZaEi2Ox4R547EV/0n/Y2LjZ6/xN/CNfP8udlVapXFnumPYxjJKTECaHpQov5tRcIEwHQjSFYbNYHrVKlUWG4yx3C84B5bJzULlkHVzxjCMrHj3OVMlKGfkH+M360k6rtbTdCZYGYbY45mQJJ+YyZbtLmVsYNhzLhVmyYKpsyzBKNqMDjkkWWEQMU5mMoCxaCAtqMaV0GaFsKSbmsEKyJPooBHoURs96OY6HKUXMNLFTcNhQ0TWOsC1yOEbZYVkaHpDGwYokiQ9Ik/jAOE4OCaPkKFi7x5h24chyaWDRkqRWHlu/nsIaxc8y3TvskIiaBFu2QfptEy20DLHcYnIJo3JUYTUgCBqQlA4iQvoQoR4xGUYMXO211j80AU1gLwI6qwloAm9gAjqA9AaeXD00TUAT0AQ0AU1AE9AENAFN4MUR0LU1AU3gtURgZGSCBuWWq4g5IKQampppmNNzXdSJFFKsIC2vKu1iGTmFQmK5TgcbZA52xBu2TbuM8kTyrkq6dbM5O0Wndu1G05MzaLbeJk0/YaEgZoZNJKgRQEBhOkr5rkikdcHFbJbJCS7F40iiJ0xmTotMBUksIA6EPMlJGUtWRsKwWIKed09hfBzJK6+7mzPVSS2UoorNqpbiXtbpYh5lFs9QIZG4kgjsxAKphItGEKc7gih6NIj9R4Kw83AQdDdBaOEBxugmZhrbPdee668WwwX9FaO/YDky7hrNxnR/fW5mRZahYxWiRwoDLXNQ5LyW5vI34cuFIyO0iEZczywcYjLrGErYwVKiwUQixyqWbbdSM9xaH/L6BpBTqWDDNUmh7FnVmluulszhiscWF0y0lKSBGzVmUGNyArXqTcvvhm43SI0oVSShBkaWTYnjSMN1upKQGSnkbobIpGexTsVzUNGmyDWEYdKsZBmkZNlmmTGrnzGjypBRUFbFGBvbQJ7NqL/f4gVsRTYSIQR5iOeaw4zKPiGSYhi2rSSLXIVEScmswNO0GgXxCCbsMMvxjrYd72ATmQPe5sAYH78GP9t2fkxpmhEjjUzCEwtz4TCFHAtjx6bYtE1lOQ4yHVcZjh0Ry2giZu6GoNJcVMmCVQiujtyIliagCWgCmoAm8AYn8CsP6Df4eN9cw9Oj1QQ0AU1AE9AENAFNQBPQBDQBTUCwcgWHAAAQAElEQVQTeF0SUOPj5Nhq1V0+0jeCMOpPOPYCQRFnJWFXFopCbcFksTr882KpfEPBdb/gevaXHId9y2LqByYRmxyaTZiY+xRzhaVAgkuUZkhJYinilKVkdiMW6NEgir8TJukvpMoeV8LZiSjarhR6FEv5UynJnRAsutM2vS191b72QP9wViqVBSEkY5QEpoliBM6h53nBzr2iRLZKDpuqeGbbM8zUIgYiEkuCDWm5NUkMd1Zh8xHO8Y/TjP9Y8PTn0iCbaaYeIQQ9mAn8A4zINykh/2qa7P8WioUvLV44cv+KJcOdAxfVCv02rtC0O9ScmVk+Nzt3xGw7OqYZpAcedMWf9KM3y2sf45xEyOikYcmgzjKUkcXtRkh5hhPbKYYDo6Ny2UEHokOOWqmWH7IiWXrAou7ipaONkZG+xkBfqdNXsmnJosxFErE0RShKkYo5YshAlllApl1EELyMitXajOl69xm283Mu5COZRJt4lv08TaKbHEZ+MVipNJcM92cHLBrBBy4eZQO1YmyaZscwWUhgLTDDkrZl4JV/MABL5ZmD8P0fcOShwKF0plywZqpFq1Mpe1m1VkLFCvjgmAhTaJO3FBCBjGLEJBk0iHWoYVVOJm7xEG6war12ggG1fuUdBCORh9EsRXhzf7W07cAVi9HyZYvQ8iUL46Hhod0DAwOP1/r6HrJt5ycGpT9RUt1ve9bkoomRaHx8XP2KQV2gCWgCmoAmoAm8AQmQN+CY9JA0AU1AE9AENIHXNQHtvCagCWgCmoAmoAm8uQnAzjS++1gE++qF/opDDzQsPMoRKSbYotitqkL/Yl7sXzRR6R+5p7+v7+a+gb4bh/pKGwuu+YOiLe+zcbLNQmkTgkcpVQJJ2FznXCKhiEKGo1ihLJRpzyaKPNrqdH4a+O2HI052B4uqjT983x/W/+APPj4d0+gxnpEHqGH+zHHLT1Sq/c1SpZIWS0VuuXZmmkZsGO0EZgrchZ/P8yYIByaSLQMrHzbiU4tBEAsZghCH24Uqp6Y3J4n5eJJm98dh8pA50vdEudOZ/PjHPz71wQ/+8e7t2+tbCm16T7no3jE82LdxdHTw1iWLhh9YOFitL6y6dsVULk2jctCsj4R+cGDG0ZFS4RWY077ncWu/nFq/fox++tMftsD34h/90Xjlgx/86+rY2HgBZEKHeagDklfnbVebhkh4IQr5UBSKWreTYgjSxbZd7PQNDrYXLF7YXH7A0rkly0ZbowsG2sNDtUZ/X7lVKdhR0TaoRzE1IfhIU45QwpFKBCLIQMxwpGEVIma5U5Zb2Ewt8xfUtO5L43SbQJ1tfqu9pRu0flI0zQdqhcLEcF81WjDcjxeODJD+SiEuOGbLsoyuabGIWpRbtrvPNbRu3QZhmkFiW7JdZLjtGDgqFBxeqhZRbbAPlSGQ5HgWMk2GGEGICfAvE0WcyUUE06OlZAdGQtSmGr6B9vG66qqrsgPM/rZh0CfLBWeyv6+mhocG0KIFw8mCBSMTg0NDj/f19T1ULHm/sE3zwS4f2X68nbSvu+6qDMzt02co129NQBPQBF4UAV1ZE3itEyCvdQe1f5qAJqAJaAKagCagCWgCmoAmoAm8DghoFzWBV4zANePj2EhRjdnkAM+zTzRs40DJzCq2PMsq9ePS0CLuVQd3O6XaQ5Zp/tQk9F4H8YdpOPtE2mlOorjVZrDrT5TAgnOUQgAgzqSS1FLUK0m7VM2I5ewUzHg0zLLHMxVPoXef74+fdZbIB4ExUp1OOeG+X6fEecJwK7udQrFBbSuF4JEs9xVFpdwHwaOT07z+r1XcFVEUJUEQhhLcsc0CItQVxCykVrGWUMub48jYSYi9tWKQueuuuoqPj4/Lebt5/vwPfzjtoIVtjAq7y7a9pa+vsKno0J1VGymPZIhmPk3aDS+NkgUKsUM5MpYI4VbnbbxaabO50oobfVUm2TKSZocRKY4ol+miQsEsj42Nvap7MJkvzSAWhenpllmf80noC4UUixzXnatWKlsHh/oeXLBw4N7RwdKO/pI1V7TZbNGgvscotzGmRCiKU4FQpkAIwdwhaI9gnlJmOjNSqHszwTe2690f7Z5uPsyau+qog9rOwLKmLBYmbUa3Wob1SMkr+LVyBfVVKqhaLgaFktt0C3bT9QzfLHqJoqF8zvn5PkLN+oTgWcARjyUhBBWKJbRw8RK0YNFCBGNApZKDPIuhAiNIhSFNun4RfD0AcbRUZqQfoY6JnuMV0ETECWqIVLWSWEjH9tRAX38yMjQ4PThQ21KrVe+reN6DxHV23n3dlc9Yl89hUhdrApqAJqAJaAJvKALkDTUaPRhN4BUjoA1pApqAJqAJaAKagCagCWgCmoAm8JshcPVhmzBTnQGLqQM91zracs3FxDI9t9ZPvf5B7PUNKLdS851SpWF4btMpTnfau3cHpbQTVI1GYmQBMkVWwKA4CHEMAaRUYhUrzAU1I1YothShkykXE11fNLZGy6NxjPNNfIgU7BlzHrRBo6PcKtGEuk5GC5ZgnsmZw1Jm4JTahG/YMJa32dPg+X4yw4y5dLpRarSDjDR8gRJhQkDLldgqpMi0OpIZ9VDR1m7WisHU035AvvfGGKt169aJqCAyVmKxxXBsU555tBc8QjLsEBFHJhKqgLBRzbBZjaThofFx2PdQ+/2bP+vXr6e3feHvvSK2l1Uq5gmmYa+S0jg3CLPz/XZ2ykwjOLDdXmIjlPvTG9J+/xFliiWJshudRDTaSdzyeQjHHaTQJMPobqbEHRSJW6jiN1OZ3QYBxx9QkT1EMzGBOUxRKFDcjpHfilCnE6MAYjgph1oIoi5CTcZh/Hi31dxU73Z2ZJQ082/05HN01lln8e9/f3sqOW1JgacNYiW26SHPKSDXMhKLqI5J1Ryjqs1kFgsn5mjVqn2upeLIBHZj4qgoK4kgqWIFgS1qJY5X6tb6av7o8FC8cLhfDlcLqEQ4olEH8VbTSFqdkt9sV+pzjfLuqYw9F+xd0w0spEGSGNM4wjgMBAoDLimM0aa4aZnWhOuIuYPCiQAh/CvrEumXJqAJaAKagCbwBidA3uDj08PTBDQBTUAT0AQ0gTcTAT1WTUAT0AQ0AU3gjUBgYCWWBPcThZZRjA81bDZEPccq9PeR0sCg8qp90imVQ6foBhU7S0fQSLY8upv7zSnY/Q4RFV0Tgkd9ime1IAhJmGYolkrFkmSCsoA6bpNTPJlkcqYxNxPcOX4W3xe2er2Ok8ym1DOIUbCRWTQ5LdAEWyKijoA2L2xDnTDXTSUpBzF3m0FmzHVSFAoTS+ZJbDopZqaPidGOGiS6+7rr8n8ebF/u9MoOhJ8kpdBxzBjKqIlSRLIQqSTAiHOqFLIkIg6XxE0Vto6dGKFo/BoMzfbreyDYbOCyLJumcQjodCTRWRkXb4ui9O1xJk6TnBxCqeGuWoVevX0YwmjCpdXyM97sZkGrK/w4ES3gNMF48gvut+5s7Np6uz8zdSMPWjehqPM9GXZhIflPqoiHaTeVAQSPWo0QtdsJCmKJMgWIsZGkmZjqtrrbp7Zv27Zzckv9U2Mn54G/pxnnAcg0o34cozklzYQRW5qmI0xGY0pEl+FsjhHeQkYnKth2djWCsNbTrX+ZKScWYcwuiiDty8K0X6YIgkFGyAynXi5V5xYMDzaXLBzOFvYXUdXIkJV0kGzP4WCubnbmmoVGKygF9boBFve5BiyvhLNQOX6I7CBEuNXMULuZKJ4KRYUKDJo0qpYVXPdr1iXY129NQBPQBDSBV5uA7u9VIfDqfXB5VYajO9EENAFNQBPQBDQBTUAT0AQ0AU1AE3i9EdD+PpPA3cUJjJRRgM3+arvjl7iUluW5uNxfQbXBSto/VGlXyk6rYNIuadpi69atcmYAyaG+QImsYwoeFXkcLpBpOpwmCen4gWrFicSOy6lthwqjppSiLmTaHlwJoY5ndv/00eLFixmrFjyn5JpmyUFu2U3dku1bjtG2bCt7uuLzZBRCGGFZFkgMhAn3urEwIBaBImQQaVjILBQSw3W7hk18s2gL9Gtesz4nSAQmEryIJPekSBFlGDHLRNg0VKawiBIuFCYZBKbE3c2qRONXgxu/xvDLPO0M1cyCW+krFuxDXJsdF0fh8nqzvahR7yyB+N1yarmLUmIVk4FSHsx4mb29wOZJRsOYmxyxBOQLTCOlWJtINiXi7Akchk8GlO7iUfSkn4Zbuu1wc7fVuj9qzG1OGq120Opk7WaAOkGCYgHTaBWR4ZYRczyeZrwVxMmc8qNmKXJShCGm9yy3GnOdqN1O60GkwiTFkRCozRhrFxyzabO0rmTS4uFogDaPcbyP9rk5e5iRNOC1xM8Gkk5aTnwusxg1GLafLHjFR2q1ypbR/kqwYKCIFlQtBPFNJIMGak5PotbcnBP5UdVPfGfVqnGK9vHaNduhTT8pzdQTd2IqkI2WEGFEpJIWhbApdwmJUoTkPprqIk1AE9AENAFN4E1BQAeQ3hTTrAepCbyqBHRnmoAmoAloApqAJqAJaAKagCbwsggciwQyUSKJDBORCUQyCNokxZLdqVTs2WrV3l0qmzPMxN1CoSvHxsbUqlWHqUZXwHZ35OIsGSBZOiqztD8MAuJDFMFPeMqpISDaEmLG5jBCDZnx4M5Nhz1ncEVKSYiDLavoSbfkRl612HWKbtNwSd0oqvTXDXH9+jG64aNjtlP0+hEjwyHPCt2Us3YqccZsir0Cyv8GjlVwfcNxArPw6zfqTZSaPAmLMor6Oc/KcZpBcAMhiBYpZTtSGizmhLS5RG2FZYhWbobxwWh/nbMv87xb7KMFlxVMiw5QghcAu2qWilKcqiKXuKYQq2DTsSzU2Wcg42V2v8/mEOTBHAkUI9VJCZ1RzJw2bWvKts1JkqYTphBzv3Pqqf53//3f242HdzZ2btk5G+zaNZtMzzV5J8z8VqCazS5q+QnyM4S44SDsFjEtFIUkrJtx0VFxqVuY+gHflwNz7Sxq+elclOLplJNJIfAUQWTWNHCdEVS3LNHta/wsGx//1eDTvL1GTIlKVCHuimLUEVbqi0wEqIkE3WlRa0ux4D483F+eG+0rpKM1E5XMBOG0qYLGFPdbdSdO0wGlUDVagNx5m89ImU0zbpS6MfMaXYzaIUVBzJASjGCJBU+SJNABpGcge9aBPtQENAFNQBN4gxPQAaQ3+ATr4WkCmoAmoAloApqAJvDCCOhamoAmoAloAq8ZAnffjSJpxRE3upEgLURp13ZYt1ikU6US2V4poSfKBTVZtONOtHAhBEjA8zs346w9xyyKiiYhw1iIYZzxStANcBDFqZ/yKFFICoojwzFnqYFalIkQoQ3QeN9vx3GwaRjM9ljqFt12ua/ULFbdOdNEM8Q0kn23+mVpsNkz2Ghf0bDsYWqZo5HgXidLWQtCYhwGRItFbJS82C46QaFaCJwqkr9sve9cpUwtQ8oqbOwPZ0la7UQZ7iQCBZIoCI7f/gAAEABJREFUaRUEcTyfwvgkimZDv9VG4+O5TbVva69cacp9iHQg26TYYSBCqYUhUqcUJUIxkyNiIaZYqejgV67X57ckBVMwgRlM1GxGyQ7iOdvcYnFHf7k8Mew4s+9973uD/Js/+T83l//dolWrViVJl/PYj1GWcBJ0I9KAAFKzG6NOKlFMDIRcDxvFoiK2HXJs+ndt+ONow4YNYl+eNGUWwtzMhCl5MszI1pTTnQTTCYvRmYLN57D0g7xvaPuc89OdbBAeSzvxhR23BUrbKk27qC0DtBtl6DGXGJtH+2tTCwaLwUgfQ2U7RYy3VdicSYNux8rSdEgRPizNrAz9POOtlMIo6KdIWuWYW0U/c6ifmDhITcwFw5JT7lCarNQBpGdw0weagCagCWgCbwQCL3wM5IVX1TU1AU1AE9AENAFNQBPQBDQBTUAT0AQ0AU1gfxM4tvo2KYk1l2Hj8UyxexRl9zED38eY/DHF8Q8oSn+EVbzLNnl8IHoM3XnnnWRjVKMGcyyExRDi/NAkTEqhH6EQNv/DmMuEo0xSGnEhGnEc7OZI1ClVEVq58jk37y3LyjfQu5Zh7CQMb0KY/5wi8aBlGztc04bg0/OTWDhiWi4VA8UCW2FaZIUfh5afpighRGHXQ1apJIq1UmoXnVDKJCqmKA/27NNovtl/xx3jjMh02KDs0CSOl3aCpDpR91E95GkgSCQZizBBE4zihylBW22G6/s0th8Ki0WEbMYQA6gGM6QBwRbGLGQYNmIMRB1kwn9ZEr1qASSjRkJE8IxVcLfbRW+LU/IeJLb5CEDeKYLgV75BlgeTSBjhKAqMMPCLUZTY3ShB3UyhUDGUGS5ixbJyq33cKRYDy2a/YmNvtFlM2oLgx6KU/zDJxLclpt9TEt9vIrpdybjp7gTjezd4Vj6f80gNEJGZlt+VeG4mCur1OOo04zgOeYA4aTiuudsrmI9USubO0ZES6q+YqGAKhVMfuvC9zA+HM6mW+tRYsGp8vABi6KnXnddcQ5ED4VS3WJXMheAmy9qCpV1hQPjMhMvPitHy5eHVV1+9zwDZU2Z0ogloApqAJqAJvKEJ6ADSG3p69eA0AU3g9UZA+6sJaAKagCagCWgCmoAmoAmgzZsVF9acxPZjHNn3YMLuM20KAST+C4aSu6lsPWhKf8b22+muXdO4WNyCKz4nru2YSIpBJcWBcRAXuu0QdTsximOlODK4QEaYCVmP4nC3TPxGsRiGv+bvA2Vu/veJLGMnNuUmqZKfK4ofKg9Udy+pVOJfN1OYSNu28CChagmlcmGcxmaYpSjGGCnLREbRUcW+gnArdko8mewq1tRz2bzzmmuosdVxhKTLFFLHdbrhgnqr6042AtGOVZYSM2am02GU7jKxfMQlcidxjPZz2XvlyyGChDFmEMFimCpGDMQo5AwTUQaCvGQEI1R75bt+DotlZoSG50y75cJWu6+42a4UHjALhS04MyejUmmfwZ8unzakSJ0szcpRljrtMEHtRCBfMiTMAqJuSZjFckJdKzAMK3mOrnvF7/nYx0JHmlNNP7zXhyASl+RHiNJNpmnuPsBJu+Pj41mv4nP82LBhA4mZY6QptcMuYq02T/2u4GEoeRzKOMtUC1NjwjbJQ6WC8cTQQCGpVUwJywoxESqURK5MkkHF1XLJ8aKo7lS6CJnz3T1Yq1HEsIkNo5AQZjUFSdvSjH1lRikyIyHt+LqrrspgWtV8G51qAq8kAW1LE9AENIHXAwEdQHo9zJL2URPQBDQBTUAT0AQ0AU3gtUxA+6YJaAKawCtL4OpxFZcPmpF2bUuGvXtN17vbdZz7DMYfggDS4xRnE0TVYS+cZ0sRQs7WKi6jDkUotaQQ/VzwZd1u6DXqPmq1EpRyAxNaVAqZHcHVXJpG00kcNJw+FCKEn3Nz/Morr+Se53U7JbSDS+8BJrOf8r5sc3uhNfv+969K0PO8lFLY48yxDTGERDqkeFLjMqOJFChBCqewG4EthouVAinVCqJSK2RH9zWe0xe0BDHFVBWaH8WFOntyrtm/baoudjejJBCME6uQlKrl2XLB2Wrz9BHKs+nZlfn4nsfJV/BUEWxhLDFGGJFcmGIC0QlCGCKMEWIwYlsuKaQWRq/S666tQdTJClNM2Y8xYTxIMnVfHMdbd7d216+86kq+LzcMw7AlUxXMUC0VwmsGEWqEHPnCQMKuIGQVE2q7ATHtrrLZ864BjLE6/8MfTucm608S7N7fMsN7OzF7fHLh5OzY2NUZ9K9Az/emAM8KUuRF3LCizEKJgKtAMioVS3mK2zzKdgWRf7dt8E19A8V2reqklSJDlooV44lD02SICLxCpGi5yOSA2S7Z8x0Wiw0sDUkExSwCX5sCRx1sBF1i+KGgrSCTzzu+eTs61QQ0AU1AE9AE3sgEyBt5cC9tbLqVJqAJaAKagCagCWgCmoAmoAloApqAJvCbI4AxUueee25sFN06NY3HKfUet1z2pGGzKc8kTdfgYZFYWbmcqbrfT2YGAmJXbYp4avOMF9OEV9udyGy2Q9n2eRolRAppSUWsABOjxVTSkmkW3zk+Lp5vlBg21detWyfG161Lx6+8MFrRb3TQ5s3h+Fln8fzc87TF1113FVMkLtpUjWZRVAqDkPl+iIM4gSCAQtS2kF1wDdthJc8zKyODtZK9fLkxPj5O8uDTpz/9aWv9Zz9b+PI//mP13//P3w9y6iwTjJw42w0Pm2p1B2f9xGonMg0FbTKnOFsqVXYWXHuTZ5NHCE53sKQZovFx+Tw+IoReubPdbhepVEgpFbxBYFqhfMsFJhNhgjEinCuSeeGrFkAClvKqq67KfEp95LotUig04BVCOccIK7SPFyO8lIqsv9ltua3Ap+0oQaGkSDAPMbeKsOn4iBhzhOI2UvjXfwsN1tBHPvOZZN0f/3F01VXj4Uc+8pFk/KxxjqF8H90/o2gAzZrIIEVJ7WKkqNtJMe1mhIE/NMOMZ9gMG0i0UpFuT9P4/jRN7mRE7Sh7ZlKFMJGZdkjSnLayIBiWcbo4E3RB0M3c+U7onEejJDGCJMKhyHhAYXkaNEws00+o2UqI+WvHN29Lp5qAJqAJaAKawBuVQP5p5o06Nj0uTUAT0AQ0gTcTAT1WTUAT0AQ0AU1AE9AE3kAEYINdfOc79wbloYMnFh0wsLtQoNMurbVM04xYiriUEI0gBo6rktZSSi0sGfyC76ZZVoiT1Gt3QtZsJ7IboDROTSmQozCxIYDEOiZGHdvqZoBrn0EEKP/VN2z4r8uDSePj8ldPPrNEKYSqQZMhzotI8AVZFHshONLthiiMUpRC2IoYFjJt2zBMUnYtNlhyjKE+CDTVarXC5z//+XKf6w6nLltmWPKQBKdHdJPoeD+JzppsdQ/aMdtic2GWBYK1UmLvdguVJ6u12uaSbd1dsNGjK07tn9l25+eTZ3q1f4+kyFTCJZdCZVxILgSSOSilcN4xlkhRglOSpXGvIC98tZQHkX77t387zpUHj/bVrwJHQcSyRQXheLATtKyW3yFtmK9YUiQMDxleFWFqtRXG01LglmLd/ckYIx7ZponKyLLKCTG8DsfMlxA1UpRy086U48bj4/8YxJ6cma1PbZ6uz3wHYb61XGBRv0eQLX3C29OM++0+EcSjIpKLZJIWgQFcKgiLfmYIKR0/CWgI05YY2E8tI8gsx1eu2VRFK9oXK12mCWgCrwEC2gVNQBN41QjkD81XrTPdkSagCWgCmoAmoAloApqAJqAJaAJ7E9B5TUATeG4CsNEtjz32WN7p7BJhSIXrOlJKV6FiETFmkTQtsSVVy6i4NRPRgmMYrJZlohhGEW37KW4HAkfCpNiqYssblJR6EL1gIUZpGBguR/vpdc01CHenEpb6gRf7wUAcZk4cchSHAmUZQRKxPYGkNDFMjAqWiRe6jBxsYHxQallHYixOZSZba0n1e5jzj2VJ9sezLf8DT0xOrXp018zg5p3Tzd2tZGtHkIdM17vXctw7CqZ5u8HkD13L2X7neO+bVRDG2k8D3IfZmHoii3nCMx6KVIQQPeIKYakwQopILLHCfB/tXitF+d8buum6a2ypomFC+SKJhAmDQd04Qd1EqERRRZ0iUojUeZLtRETVsW/ulwCLAnBq/RixcVZwXKOfuk5Z2Y4bGZaR2S7LHA8HiqbNQAjgp6688louMKonafKwabJdBcfs9jnI7LOEVcSxwVt1O5ibq8Td7kIexdUf+55z5bXXMo+4JcvGQ5SooqKCRCiLVP63ncpuF+y1uJ/qbyABYP3WBDQBTUATeHMT0AGkN/f8v9Kj1/Y0AU1AE9AENAFNQBPQBDQBTUAT0AReQQIYY3XYYQiCR4J7nsntYTPfNEfCokaphN1ioa/ijLA+q1gYNC1zAZey4gcJ7gQp8iOFM2UzYpWY5VYxoV6ClRXJNI0tZPXsvIKu7mVqHCVEMCywQySpJiG3/E6GklghpQzEmIsIMRFEkiRP0wxz4UAgacCQcomB0CFU4WNsyk4zGTtDKnlqECcn1TvdI6ca7QWT7YBN+lm9I9kTwvAesAqln9iu8ROoe69F1XZrttwBRxToVX0HnRmRplEAwa5WxmVTcJkopSTMH8pjSJgqAKJEUqjJV9WxF9jZSrSZOvYszIMYIoiPRnFk+lGEgjRFYSZlzFWcSNSIk3R3mkQ7RBg2udFOXqD5F1ltHN+FFprUlhVioWFhkmJqMiNkFKe2g7njqdSwksRx82/RIWCsWin1eYZ2MEp3uiaZG6qaqL+AmIdCJoOGkXXaJZ5kC2B9LXCxNVySThUuqiWOww5GiNdAKEO8nWHRyLCaiwVuCCH3S4DsRcLQ1TUBTUAT0AQ0gd8oAR1A+o3i151rApqAJqAJaAKvBQLaB01AE9AENAFNQBN4bRMYk/fe6/MgcHmBO8KTnqqYBZMKXBZMDRvUWmhZzhLDspZlUvV3gxh1IIAUJAjiN7ZBzaJhukXKTDsl1IoKlhHZPt9vgYzDNm3CPOjAdj91IApQjkNldtt5ACnfgnCQaZWQbRcRVkYatv2WitOMCeUaQo1CMOAAislhFmOHG5QeoKQc7PhBdabRKkw2u3guEFFA3Dnl9T3hDS68b9GSFT9cOly5+z++ff1jP/rWv3bvvHOc/ybmkiQGb8ftbhTH9SROZyH4EIAfHMaDMMGCYswh5S5v7Tfu0N9Lfm9tTrCk2ywwIiGAJEe63Y7RCXwUpalKpBRBmnVb3WBnq9N6stNu7YDIUXPXyjIkL7nL52x493UTVGSWjRjqU1Qu5FQVEopoRInIbEcqryRQoRib1i+/Rfez7eU4UaVphMVuyyLTC4Y83l9CxME+VXHLEIlfVDxbSBheLh2yHFN71DDZIaBjEMoGlEwVYmo2TaMpPwqnfJTNBVGiA0jPOUv6hCagCbx+CWjPNYEXR4C8uOq6tiagCWgCmoAmoAloApqAJqAJaAKawGuCgHbiTUMAY6zGxjYaWqcAABAASURBVDYrzh9WqI4QIQSKLM923aFisXJQoVQ8zq5WTyV24WiuyGizHaC2n8Dmv0SKmMj0ykaxOsDK1b6sVC7HEMtIFkZ9Yn8B3Dw7i2uIWt1OVmg141KnnZjdrkCcWwohBxHsSoO5XYatJ4lAP0jj5K40iu4hEj1GYJAy479Iw+A7UP5tydVdiJp3Y9u7G1vFH2OndCc2S98TyP6xIMZDvopnPM/7jW/0twpMsgCnIlMh5wrCcypTEkGwCN5KCoVVqmgWWV3jNxLg+nVzbaOm4VJajNvtWtLtVqKwy8IoRAnPELMNZNg0liidTJN4IvJbs8lcPUXj4+rX2X1J50dHDcMS/YaBlzMHHxqTtJIZmJq1kiSeEyLT7AjidqXhJvP212/YIH8wVeCmbU5XaoXJpUtqfHTYIeWCNEwSwwWTFgmRS5xa+Riz1nei8KwDOaEHYiwPxIIXDZXFTKopqtSTRMntSpLuQHBYNm9fp5qAJqAJaAKawJuVgA4gvVlnXo/7NUdAO6QJaAKagCagCWgCmoAmoAloAprAcxO4Wh2QLlGoDyFKDeoabtGynRFqGYcQyzwam9ZxyDAO4Qr1t/wQdaIUhbD9zSkEkApFUqhWSKFcSr1yKabW4uTOVXlw47l7ezlnRg7qYiGpG0dZMQrTQjfgRjdUKJM2wqyELLssDOrNYGQ8ojLxozSIf5F0kweVSB7Dqdoso+wXcRB9B3SzFPImSdnNxPRuQU7pFuqUvk2t8n9g07lPOc72jV/+cue6666Dkb4cj19eW6UUpnMJixGyBVamwopipWC/RWAEmBXiRPKMIAh37EI7X15n+6k1Q8wgVJXSICwnflgI/JBGUYIyoRAxLcwsI8lEOp0l0TRvdxvTNMkDYfsngBRFhszEACN4mWXQAxURJc4gFuqakTKNJmdsjhPWjZGdzuMA0GrDhg3CcsyZUtHZPTBU8vtrjuwrUwoBJIRVZEsRDzHbPJxa9nEckcO6cboiidPhNEkslSQRycQU5ukOkqUTVrkabtiwTszbf6VTbU8T0AQ0AU1AE3i9EIAPNK8XV7WfmoAmoAloApqAJqAJvOYIaIc0AU1AE9AENIFXhcA111yDHzdNTOkgYQziLzatEMNchA1jJTGNI7BlHKoIXpBJUewEIeomGQolQhk1EC14yKmWpeHZCXOsZPOG8QyNj8PZ/eN6dXQ5VlIWUy4qacY9P1Gsk2IUIxczt4ZKtWFuWu6TUrJ7oo5/V+S3H6oF9uM1Qh51y+6DkUV/jjD+NrHdDaYyrk1E9r9NJD+bmPiLiLObkrh2F5sZ2Gbs3t3dPyN4cVavu+4qFrO0oAxzAcZsIaF0mDJVwEQaSnFgwS3F4wKXEcyEab44669O7awVmFk3rqVBUoz92Oq2IhzBApLSxITamFIzEWk2J2UyVyhnHRQ9KPaXZ0nctlCaDAG8JR5jSyxGXAjEpZnidS6y3ZkSuyQjbXOk/+kA0rwvfgfVCTN3WrY5Wyo74WC/pyyScJX4iEe+Rwk+gGB2bByL4+udZFGz4Zt+O5JxN/aTrj8t42i3VHKmO5Hut/HN+6pTTUAT0AQ0gdcdgTelw+RNOWo9aE1AE9AENAFNQBPQBDQBTUAT0AQ0gTcxgdff0K+++mpk2zbhvO1gbFUoJcMYy4UY8QUIywEpRDlLIjOMIuJHCWqnHHURRpntIFLykFUrKKfiJnbByb+to/YngQDNEsMgJYHSSpBGXjvjRoMT1KUuEm4FGeU+gZk5LTjawcNsEllpe3z8t5OPfOQjyW//9m/HV111VbjuQx/y1111VXvdH/9xY3z8/5v767/+bP36v/k/zS9/5jOdG68bDzdsGE/zb5zsh3HgO8bH2b/91Yf6/vf47x30//3X3zvlb/7zH5w2/if/6YyP/eEfrvqzP/vYqvHxP1/15+N/tmr8z//srVf/+Z+em3UWXNjuqDXdiL+zE4VntIPOQd2w1e/7c7bfnUVp0CxnUXdxEvlHiSA+ZNXb37901fnvXnjOxb8zet7aK0fOvviKobPXvLfv4ot/p3j++R+2EIKJQ6/ui9KCQRUth34GPic0gMUThwYS3FMWqyjHqmQGM1tEmR2buAG6c9V+C0A6GWOuohUcxGXRCVycJIwiHjMsZiiVOw0sJ5BEgZU8+StBHuE5DYnJVqHIPQjT7Z5rJUUTI1tGVHbnSFxvmP50o+bP+gfPTATDUxMdI+oiojIjExy3cYrrHC6f5c3v7Lfxvbozq3vTBDQBTUAT0AReHgEdQHp5/HRrTUATeC0Q0D5oApqAJqAJaAKagCagCWgCb3wC2HVjw7JYAYIzg4SQBYSgBUjxQSSyssxSKwoCEgQhygNInVSgAMG2u+shWikgu68ovVoxcfp6AaT9Rmt8fJzUnJLhFllNkazmp4HTTjPa5BR1iYOEXUZmsSaQ4dY5UjM3DyXtDePj+TdJ1H5z6kUYBv/xLzzfQgZbgJlxNCXyfIHVBQKJd2CCLpZcXpIl2SUiU5dIpFYzgtZywddFcbouSpPVnbB7UqPdWtru1ivtzqzZaU/jKGgVs7i7WKbpCUiKY7nEh3NJD4lSeVAYRQfx1FiehnJJR8kFqRFVVq16vwV+vKr7NbCeDIVYOYhSCCBlOAwwShIL3C0g06gix66kNnO6tmUHj2/8TILQ+H4LsFicMJujkuhEXtrymYpizEQWG1hNGzibYCSdMngWTQ0P82dP7YwddCkytkcS/0wi/ITnOmHVMUgRZwx16iiYmkKtiRm7O9tdNDvl989MhUYQEsa5JRU3Qx7hbmMoCSA4KZ9tWx+/RghoNzQBTUAT0AReVQKv6geSV3VkujNNQBPQBDQBTUAT0AQ0gdc0Ae2cJqAJaAKawIsiQCB45BqGOcAscwljdBElZAhJWUJZZsg4QkkQoBACSEGcoERhxA0LEQ+CR8UCKlQ8Va66vK9aFi+q1xdZ+bBS22LeolqtWl7KDDrS7nZwO0lRV2IIaBlIWK4ySyVhuHZMKINAxIvsYP9XJ31W4jqOs8K1jJNMg74DS36+zLLzKcbnKy7Pj5Psgizm71BSXWAZ1tu7ne6Z09MzR03NzA1t27XTfXLHk2hmdgq12w2Yjw7yuy0S+d0aguARYDhVKnJ6wvHpSZKdEUbZ6RGXp2WKnJpl6tQoTlaGZjBy490TNgRpXrU9Gw5riPOsksSZFUQchQlBXNoIsyIiZkEYppcZphVQbGf7cwqUUlgIytJIOmmYGamfIJUIiTMeqSytUyFmHYSaVa+ZbFg39itBnqvH7xTNkHe6QfgoM8ztlXK5O9pXYQMes4ykg7pTu9Hs9p24Od0wOq3I7HSl1QqRGcSYYGxxKo1sM0J5YOo1EdDcn6y1bU1AE9AENAFN4IUQeKU+jLyQvnQdTUAT0AQ0AU1AE9AENAFNQBPQBDQBTUATeGkEKBNekSpziGBnCSbGKFKoDwlhqSShIg8edQMU+CEKoxQlECZSzESG56FCqYgq5aIqFQtZreDmm+MvzYM9rZ735/BCuwB9LKxUSofYjrOkGye4m0BAQmAkDBsR2+Gm50WGbQfSNl5zAaQzYXS2LBKhiIMRKWPMBgih/aA+hVQNIVTDivRRwvoxooNcyCGM0SCoxiV3Mp7SJI0RBGNganhPUgoEgRGGCSkjhCoIqwqlqkoIrhmE1IhS/ViJfiTlAJaoYmDmMh6wsbFNGL0Kr/Xr11MppYuR7A+jxGn7EWqHmQwFU8gsImq5kjlOZthGbBcIrKz959SGDRtIkhpGmhI3iqQR+lzFYSpFLBJDobalRBPxrJNYFkcAEj3rBcBUXOdREAe7LGZMlFy30VeyRL9HSYEkSPoN1JmexDO7JsjkTItOdTNajxRpQViMS8UlTgUaH5fPMqsPNQFNQBPQBDSBNy0B8qYduR64JqAJaAKaAEJIQ9AENAFNQBPQBDQBTUATeK0TUErBvvgsI8wsM8MZMpmzCCM6jCQuIw67/EmMeR5A6vgo6EIAKUxQKhRCEECyvQIql4uov1pSfWU3LZdM2HhH++3lIavsuGy567pHmra9PEwE8SGAFEHYgdguYp6bWAW3ix0rIAq/5gJIOZiiYwqpSCwRDRA1Osx0OswwWsC7gRRuUcbatm11KaVBmqWx6Zi8UHSUaxvKsSzk2DayITWYgQihiFITMcOUBrVCaOsTgnzTJIHr0NAyaWwQlVAlMioFZ1gqQzHMsxTmHO33l1IIo113mYRZRULIcBgnbqMdqNluJAMB4SzbQ8RxpeG4me1YCTUZzOR+dGvzZprF2Myk6QURNjsQQPI7icrCNHMNs2sg2SHY95OHrOcM8kyOdtOs0apbhjHjOWyu6hpZzSWobArEUh9FjRm0e/s2tGNyBu1qx2g2VqqdUSGUzFKuntPufhy1Nq0JvEoEdDeagCagCbx4AuTFN9EtNAFNQBPQBDQBTUAT0AQ0AU3gN0pAd64JaAJvNgIYdQbMVLGaVHQQKTQIwYwCEsJAWYJ4GKDY70LwqIvCMEZJKhFslSNi2MjxSsi27dSzjbDkOXHZtPdLAECpcfKLa8fdgaqxola0TvKDbn+r1SF+mKGYYyWZJZ1yBTHbhrgEmlIUNYiNQ3T11eq1NJmrrr5aREEpkBJtkojeijD7Z0zY5wg1vmBYVq5/Y8z4N8MyP+845heKhcKX+qq1by5YMHrXgQesmD3koAPiA1esQMPDw6hW60PlUhVVa/2oXOmrm7b1I9MwbwfdnAsRdDMxyc2mxTaaNC9n38XUuBeldBdqVsMNGzbI/c7mmnFsFWXJtO0h2zIXZgIVOzBnELNBviQ4YZbCjsPNgpe6tWJc7K/u1wCkM4JYyEw7UqbXCZU51+YoTgkRgkqZyVBx7FuUhs23VZ+TzdVX35mv8dDx3Lmi500uGK4lo/0FVLEUMnmAZNBEabeFwihBnQzhANs0IjZKhEgg1vmcdvf7XOgONAFNQBPQBDSB1yAB8hr06U3nkh6wJqAJaAKagCagCWgCmoAmoAloApqAJvCcBO5GNExD2yBGjRDSjyTqQ0J6SPA8gIR5HEEAyUdhN0BRkEAASUEAyUDU8pBTKCPLskLLYC3PYKHrWtlz9vMyTtx93QT1BkyIqZAltoXfkiRppRuEuBOmKBJISWpJ5roZtlgjw3InIniOGFGI8MvodD80xRirzR0In2TlXYLRe7Bh3oaJfRuxzdu8UunWYsG9teQVbikUrFsKlcJNfbXajcPDAxtHR0b+Y+HC0YcXjI7OLBwZSQb6Bni10ifL5Soqlaq8WKzMWZ53b7FUvnt4YeVet1q5v9/yehqtDj5wwJLlDy0cWv4wipfuuvPOz7fuvvu6fJ7UfhjiM0zeeSYiw0W3bFl0mBFjNMmE1w4TFEmKM+Yg6RQQLRRSq1SMYPxhtVzgzzDwCh9EyDZiadiJsC0/MVgnIjgTFlXIkoqTrkTct5MkWj/2q3//aN4VjJG66rrkbNkjAAAQAElEQVS7M9spzLmut2NksBqMDpTkQNFALk4QSbpIRj6KkxT5nKgAMRlSK5NSxamC1Yr0SxPQBDQBTUAT0ATmCegA0jwJnWoCmoAmoAloAi+OgK6tCWgCmoAmoAloAprAq0PgWERp0XWYZfZBAKkPYVyCjm0kJUVSqKwXQApQ0IlQGGYQQIKoDLGRYZeQV6og07KajOEJyzLaVcfeL/9sXHnR4YSTwHVNNOIY5CDwoBAnHLUhoBVzhDilQjDmp0JOZiJ5XBpyuuRWfYSgJnptvcbHx+XWIIgm2+ZszbceXyjpo8V692GvUtkMeiji0UOtVnB/f4x+4XL640qlcke17H2nXHS/Wy4WHq5Vy81KuRxWShVeLldVwStB4K44WyvWHisUR3YfNGS3j1nsBitXDoa5VqwoRNdee3X0+c9fndx553j+7ZlXCwheGNWoY7I+07KGESFDUZI5zW6CU+YQUqhgo1xTVqkS26VS4MI4kFOF2dx/7tXsAlPUMmOI3iXKJikpEcnyPwtVklyxlogc/+qrr04wxurXeUEknTNM64mh/mprdKCSLR4soqqpkCViRGSGMi5QkEkVSJKEiEUdIsLUSPmvs6vPawKawJuSgB60JvCmJaADSG/aqdcD1wQ0AU1AE9AENAFNQBPQBN6MBPSYNYHXH4F2GzlCZFVEUE1hVUZIOQhLEwQBJI7TOELdro9a7RB1fI7ijCCJLMQMFzlOERnM7FqmOUMJDZnH9ssGeVs8RCXO3DiMikkcFYMwYT4Es8JUIcUsbFi2JJR1wP9prvhuhWQrQlkKs/FrAwFQ51V/50EkEF83Pp7m+shnPpN85CMf6QnK41zr/viPo7E/+IOgVij7Jc/p2qbZcSwrsk2LY5gcJfMgB0OUWZKZboZtN1YUZ9BWPlt7AiJ5ffSq8fjFtVeyXa3txVLRWIYJXhIEoREmnEQCqVAgmVFTUreQ2cVCWKiWA2bRxLWQ2B+TATzIL6691rAYKTPTqgmAlSCHxdLEGbHBEYcyu5hYlsv3sPr1Xkgl25iRJ5nBNpkm3VEpWqriUFRkElERI8sykFetCGRY9RTTOeEnfjgb7pfrA+mXJqAJaAKagCbwOiWgA0iv04nTbj9FQCeagCagCWgCmoAmoAloApqAJqAJvEEJKAXhFqWIUnFZoGw4y7JBIdKKUqmjFDekyAhPIuz7Pmo022iu4aN2N0VxipFQBiLUQqbhIAOboYFw12CEsxjj9evX09z2K4Ut//tHaeTZMoz7/MAv+x3farV90uxGqBdAwgxT05KYkBAj0UYqbRCmIoSWvgE26zFyHUtSSqTJiDINhnIpoZDoCSFMLAjm2VgKjNFv6JXPdz7vd9wxzvJATa456hUdhgZhY+hQIfiKZqtDu/k/OcgVgjCKygiV1LGl7bmZV/C4Uyhg12Sv+Bhyv9ac7Dluf9hvEbKMGmx5rEglyLDZyQiOlWkJ4lrMqTFWHHjB/fuzvp9hlv9zifcohLY4rpWWXUOULYJsnCnPNWWxWkmxaUwLiacHCsw/fuCC7Dc0RbpbTUAT0AQ0AU3gNUkAPie8Jv3STmkCmoAmoAloAprAG5iAHpomoAloApqAJqAJvBACd9LZ2Vk3U9HCJI4PCaPOkijsDMZBq5h0GlbYmKOtmWk0OTGJtu+aQrunmmiuGSE/UihNFeKZQlmaoSxJWJakNpK8zJkqp4Wjveuuu5u9EA9eSJ07Nwy4JLWHMedHdNvhgrl6B+2cmEMT4E+7m6AgSsGfDEPQi2IsDYsK01OJuRRte8V8eCF+7o86EBJSadgVBlMKYeQygi2KEaOEQYKJEhDvwASKTQsrXBCMmvvDj19n8+7rrmNV1Cwg/6BKd6HZN+O1hoiJlvMkPdoPgpP8MDxkYqZOZ5od1ApiFEG0S8EoDNsyMMWewrJWdNzRsuMU828LIQSjRS//lds60uq6pGuskBSf4zh4jDJ5yXRjbulko+VNdyJcj7jbEWRAmIXlmLqlF9rr5vLKRLW7jVY3uC/m8j7LcScc04gqnqGGKq6suCwxqWojEe/kMp66a2U52bBhnXyh9nU9TUAT0AQ0gRdGQNd6fRMgr2/3tfeagCagCWgCmoAmoAloApqAJqAJaAKvEgHdzatMYHq6ZinVHsrSzkFh1D7S7zSXtluzfY36tFWfnaLTk7vxrl270LYdu9GTeQBppo3qnRgFqUAJBI7SOEZJGKI4Cly/2+r32+3FQXtueZbMLK8ulH3r1//YQUhBhOOlDSz/FsstX/p0KU78BX6cHtT2kyN37p4d3fL4DvTkjlk0OeejbixQlKQQyIqpUplLUVphIh4wVdKfFNIC9PyS+4e2v/G3QgizIYcQCAxRTDwphMm5QBBOIhj1YkhYSsy4EBamhuWYHkWv4ksphe+443MVuqxv6fDI4NElR57kYH6aZ5IzKGar4jhZtXtiasWO3ZOlrTsn8cRcBzXDDGdCEM4TkqYhFVlUUUm42CFyZcmgK0LngNG//ZdvFsbXrzdz+y91OPn6Ofu4wXIoOodnPD4zDbsXzU5Nnrp7YtchOyZ2D2ybmrK3z8ziqWaLNcKoL874yq7IFv3R+OcqY2Prfy1HCE7JnSNe1IziHYlA24hhTbmuE1VLnqh4dgBxpLpN+IShsgmZxk00Pp4Hj9RLHY9upwloApqAJqAJvBEJ6ADSG3FW9Zg0gRdEQFfSBDQBTUAT0AQ0AU1AE9AENIHXMgEpbSdN40VJ7K/kaXCk7zcXN+ozlempXcbu3TvJDggePbF9J9oKAaRtu2bQxGwXNfwYBZxDAAmCNjEEj/yOioN2we80R8OgcyCPopUiy44QUbCQMVUcH78Gv1QG3Sq3LGYNIJ6uiCNxRMdPj9i2a3r4voceB59m0Wwj7P0TdhkEkGSaUCLTIkNigKF0AVVyVKZZbXx8/CX3/1L9fkXbKYX67bJhMscxGCtwzo04SpGSiGACL0yRFIqmXBiUEMNzzVd1H+bOO6+hJKAjysBHWabxNpMa72CYrGaMrsGKXJIk2bnbdk4MPbzlSfTY9t1od72D2pFEQgiUpiGGNUeyyK+hNFrOMD4G5u8omzkHEon7R5rI2bBhA3mpQaR4mNm2QINCidO55BdnSXzx5MSuwx7b8lh1266dxScndppbd+9Cu2dnUbPbqQZJelQikoMQ5SPDp08x9AJek5OjYhajRqiMKY6NGbdYjKqVUlZwWMdlYsKhfKtD4ykHR90XYO51XEW7rgloApqAJqAJvDQCr+oHl5fmom6lCWgCmoAmoAloAprAa4cAbHSRsbExmgu8evU3vaBT/dYENAFNQBN4cxBot1sqDAMusyjOkjBMo64fhZ0w6HbSru9LP4yRnwgUKwNJw5XYcRPTKaYFtyIH+2qqv+JlNkm7Iuq2olajk4VtmYQdM4oDDww6EOowELr6JcOMUkGiNDS7ndhq+zGZayVBM1DdIDP9DFkRMe3Isly/UCyEhYLlmyqtMxH6JAmVKUKzqLjdLpWs/G/gvGQnXgMNmeMWqGnWDMOoMGa6lFAqpSJZxnH+TTBMMLYMk5iGSXH06gaQisURjBktSi4G4iheAH4tRgovkRyNxpGqtn1hdgJJImEg7FSQVSymTskOLJd1PYf6ZYisODjxDRFykvhlE6lBzzZHDYibcaNcQmjAuebOO3/tt4H2NU2GiMwUq1KaicE4Sat+ENN228fNTke2/U7KVZaZHuXEUJlEGU/TQGaJ78YiKiYN6wX1CZ/b1CxaGWcKzyTE2mx51V2VvoG5ocH+mapnPm7K5EFYlxOGkQb78lGXaQKagCagCWgCv1ECr4HOdQDpNTAJ2gVNQBPQBDQBTUATeO0SWA/Bor9/z7ne+HvWDP7Z5ZcvffhnWw9ot70DtweLVhx/+X9deMJ7/6pvbGzchA0K/bnqtTuN2jNNQBPQBH7jBF6KA+12PeNR2BQ82y6y6OEk8h+KQ39TFEcPR1H8RBCl26NU7sgw244Mb7vhlJ60vNJW1ys+US55TxQcuoWi+CGZdDclfnsLBKF2iSydAXvNlKMgzniG0DUvxbVeGyoTkQUQlkiTdjcU041u9kQnwo9CMGKLotbj1HCfcFzvccdztniO8aiBs4epiJ+kPJohWdK1MU8X9Sy9rn9giBc5jBpFQlgBE2ZJhZlCiAgpccZTJIXEGKI2inOaIP9V/bxw9905W8k5kjDdIuAZ94VAHZ7KdpzI2SCSO8MUbU+ksQ1bxW2GW3jS9uwnLNd8zLHpo44hH4b52oSz8HGUJnNMiIhSJimlygHTXauDz4T0pbxD7AmqcMKF7CaJmAvCbHeUiYlMyglJ0G5qkV22a+xgpnoSoexJCCBtz3jcwUIJrxQA4hfUq4LPaFwobyYm7D7mFu5zi+X7K5XKQxXHuh+CYw+YRjJRoZH/gqzpSpqAJqAJaAKawJuMwKv6weVNxlYPVxPQBN64BPTINAFN4E1EYHM1tnihMKQM8y0cq/OE4hcLhS8mSF5IuTgDSX7YVMEs/7ReN95EWPRQNQFNQBPQBF4FAiee6AcRLz0ZdTs/6jRa32g12xvare6GTif4f51ueJMfpbcFGf6uIM63Da9yu1cduqPUN/jtcq16k2Ozb1AV/bsI5/5f0p2+OezMfDfq1n/I0/AnUqZ3o7DzhM3bddhcly91KOe+52Nh5ZBkV9TkD3e6/GdzHfG9VkRvT5V3K7Er3/HKte+UqtXvVkruRghm3Wxicbsh0x+wJLkXBeFjopNNdzqdZN26deKl+vCbbPfUP92GMaYGotSSmFpcKiPjkmJCoBwhITKUpKGKYh9FaUhQ/Op6fOWVk0IIayKO+EN+lPy44yd3dJrRd1rt6LttP/t2J1K3B5l5a4btW4VZuI05xe9AgOV7tUrxu56JN5Ks+42oOfHvSXP6RlvG3zNEcg+Kw8ddxCcYQ42d994bnHXWWS9p/lat3t5pdPm2VMifBKm4ox1ldxC78MNK/+BPhxaM/HxgpHZXqc/9fsEl37ZYepvIurfLLHxASTEVPOLxF0PSrZgzktg/jhW9RWL2Dctybis59g9qnnXf4ozu+umBfTqA9GKAvrnq6tFqApqAJvCmJqADSG/q6deD1wQ0AU1AE9AENIHnI7B+/RhdNlCtLq7ZRzgoPpPHrfPb9dkzpmebp0/Pdc6CTbJzYmmf7sfogN2tvvLz2dLnXgsEtA+agCagCbzeCIzJY489NlZBtJtn6f1ZmvxYSPRdwbNbJcZfFwqth+jPVyBY8VVCzfWMGl9jpvnvjBnfgF/2v8kwvlnI9HtKpT8jqdpMZLDVEHhXGVvTkwcNBC83cAMREnXWWeM8iHArDOMdcSruU4J8n0O/CBvfQLBRTyn7JiPsJsbIbYZS30cE3SOoeCyLs5k5OwnGx8dhCK+3ednjL8ZYQU7FkYrSmHeyVLYxYoFhmQkmRBgWk17BRrZJM4PixCAotez0VR7v1coKNng5rgAAEABJREFUUDvhcjvJ1C8QVz9UAt0hhPpextG3paSwRtDXBTI2CMU2IGr8P8zwNyjDNzKKbkGC3ypE8h3Ew+8bVNxFhHxIWXg756S1aJGZPDV/Cr2EF8bj0lnQCCOVPqwU+k4m1A2IkC8yav4btc0vUsP4sknRV4hS/49iuVGq9MemYTxeSERrdHTyRQWtqoc1EyMr1iWyHpSG8WNG0M+LDD/hIa+1cmU5QeOv33X4EtDrJpqAJqAJaAKawAsmAJ8pX3Dd11ZF7Y0moAloApqAJqAJaAL7mYCzuWp5ljHoWPQYouJTkqh9aqfdPLrVbL2l3fGPjRJ+WiLwSbFCB2TC1QGk/Twf2rwmoAloAm82AnmAAiSPPmtN6/Rz1u24cO3vPbz28t+///Lf/tjP3/N7/+UHv/8nf/fdj//3f739H/7vN7/zxRu/973bf/bj7/3kvh/eee+D3/uPn/706z+84/bP/fTbG/7xvv937d8/9s9/9593/cOf/unMJ/7g3c0PfOCS7vhZZ72ob3A8H/s//tSnovHrbpj71PU3b732pjvu/8r3fv7jW+598D9+8Mgj379ny+Yf3HffXT++/we3/exnt331/v+4/trHvvW//25iw3V/294wPp4+n92nz722M4oGSTcO+EyaiJ0S0ylq2g1mssB1bV6tlVXBs0LbIh3HxgE1aPZqDgfWjzpl3brovLXvnTl97fu2nHX57z507m9/6L53fuS/3Xvlf/tfP//Tf/jCXX//uY3f/9zX/+N7t/7g3u/+9O5Ndzzy4CPf33L3T3/44PdvuuvnN37+59/70v+854b/9V8f+OuP/dbmv/jTdU/+6QfXzlx11UXhWa/AGjoLApAXv++aHWv+09/c/Tt/+U+3ffQf/uXm//EvX7zxKxs23Hz7jV/b+B83ffX27/77dXd883P/8NMbPvXfNl33Vx+d/Id/+NMXHXhct26DyNfpNdddt+O///M/P/z313/+sX/44j/NfP7z4/G4Dh69mktS96UJaAKagCbwOiOgA0ivswnT7moCmoAm8HonoP3XBF5PBMjAaKlQsBcXLPIWmXSXNmcmS7Nzu2uNucm+7uxsXxzHoymXC1NJhniGvNfT2LSvmoAmoAloApqAJvDyCWCMVeCqrkRie5TJn8YJ/xkX6qFCubS7f6ivOzJSU6WSNeM4ZAdiYoZEzejl96otaAKagCbw+iCgvdQENIHXPwEdQHr9z6EegSagCWgCmoAmoAm8wgTU+Di55dOftvoqhQWFQuFASvEyhbK+KOqYSdy1s7QnMw67ThIGRaxIH6aoeOyVVxoIKfwKu6PNaQKvBQLaB01AE9AENIHnILBjR5REQTaXJOSRKI7vSbm6y7SMn3oF5+de0b7HcejPbBM/SBCeC8PkVf4rSM/htC7WBDQBTUAT0AQ0AU3gBRAgL6COrvKGI6AHpAloApqAJqAJaALPR2ADQkwy5nquvcKynMMQwSMIS1eoBLIpITiBIFGEkqCF4m7LYAxXXcso2XyFPTa2gTyfbX1OE9AENAFNQBPQBN5YBI477rjsp49Mdho7mjsnZ1v3d5LwPyQht1s2uaVQMG90bPVtxoJ7FtZm65/5zEeSV3f0ujdNQBPQBDQBTUAT0AReOgG9wfHS2emWmoAmoAloAprAq0tA9/aqESgtLBWKZrTUZOaJtusei6npeaUSGRwdQqML+lBfzUYGjZGBImSoxCZZOqKEWKAYHty1cJf5qjmqO9IENAFNQBPQBDSB1wSBsbExeWwUJbSQ1RNBttpU/RRT+l2s5C0cZz9xDXtro/HhV/XvH70mwGgnNAFNQBPQBF4aAd1KE3iNENABpNfIRGg3NAFNQBPQBDQBTeC1Q8CiuERMdEAcx4cmKV+WIWJ51SpeuGwxWnHAArRgpIQ8O0OG7CKWdS1DpsMmlYuUV1iIqVM89sprjdfOaLQnmoAm8JsmoPvXBDSBNz6B/G8h4XXrxEUXXRW+733vq7/3yvfubDQWbBkcXPTQwUvdbX/8x+sa4+NYvvFJ6BFqApqAJqAJaAKawBuJgA4gvZFmU4/l1SCg+9AENAFNQBN4ExBwGS1b1Di41WoO1VttL+CSFPr60PJDDkSHH3EgOnDFIBooIWRmbYTChmXjZMg28FJCjQMQMgZRFblIvzQBTUAT0AQ0AU3gTUsgDyiNj5/F3//+Vck6CCy9aUG8vgeuvdcENAFNQBPQBN70BMibnoAGoAloApqAJqAJaAJvAgIvbIgKIXzttVca3ZiX/EiMzjRjt95JVYwcaZf648Hhhd2lC4ej5aM1vnSwgGqWkEbWxXG77knOlxS88mEM26O8LQvoZbzWrx+jn/zoR53xP7x89EOXrTno0vPOWvm2M04+4rTTjj7qhBOOPurwYw4/8tAjjzz8kKNOOOjQo09ZsuzEs4cOPvXU4qpVqxh0i0HP+x6HemNjY4WxCy9cvOZtbzv07NNPP/LEE4858gh4HQl2jzrqqJXHHHPMoUccf/zyQ489duRUsH3sscca80bHx8cJtDff+9739r1r7dolY+eff9j5p59+2BknnXToqaced/BJJ5209ETw6cQTTywddthhz/gn/Z5qWxgbu2D47LPPXn7aaacddPLJJx9wyimnrDjlrW9dcvbFFw+df/75pWOvvNJA0M98n0+lOG//4Q9/2AKV8v7f8573DP7W2rUj4M9Arssvv3j08stXL11z2QUHvW3N2w5dddGqQ04+77wDTr7wwgWrVq+uQB06byvnNTa2qnDBBauGTzvt+OXHHnvEIYcffuChBx645NAloKVLlx6y7OBlBy889NADlx169JIlhx47sviI06pLV62yEUK/ljOCV8/f88+3/tMVFw99cO07ll9x0bmHvGPVKYefBfOYz+fxx7/lLW8BHXX8qStPOO3sg96++vKlY2O/PfCe93zMg7bmpz/9aevjH/948eMf/vDCP3z/+w9578UXH73mvPOOOveUUw4/8eijDwPWh54O7E88/ezDTj317QevevvqpeefPzZw0UVXutD+6c/6+bjH/+APCv/199+74D/9ztjBV1225qjVF5zzlrPOOu2oY08++Qhgv2LVBRcMr4J10WMPvuu3JqAJaAKawMsnkAeSXr4VbUET0AQ0AU1AE9AEXjgBXfOVJPD0L5WvpFFtSxPQBDQBTUAT0AQ0gdclgfFxPMxW2JFQxTDF1XpX0LqPsgS7CXVrjWptYHJkoNZY1F8Klw0UUL+DpMkDFbXmDJ6mI0iZBwtJRhQ2X3IASSmE083D3kA5WTDoeUf3FfHpNk1PJzI4PfaD06Koe1ocpacFUXqqn0THtdPsSJ5mB6eoODpVXVw+bGwsD/Q8Z3BDIYRbSyuF0SJaYBH1FqzE6VgkZ5IsOwPL5HTOo9OSxD81iIOT0yQ5hiB2SMfwFoD58lOBBVyv143BwcHigGcuLZv0KJplp+IsO0VG0UmJn50QxPyoZhYf1GLuSNq3ZE+78V7QiSI0YRcNMci4Opim/jEy7J4Qd5rHdzqdY7ud4C3tMD2047qL+gipXjQxYeeBD/TU6447xunRixzv4CVDw6MD3gpLyoOTdrCy1Y2OSJLgUEXDQ+yydSR11HGE8JPjIDi50Q1PrCfJcV0pD+tQung2y4rnf/h8CECdb65cWS1XWXFhv20dbih0HOfilDhLT05FdrLMkpMyEZ8UR+kJWRIeH2bhUYlEhyDDXU66A4NDR77HRWNjMJ6nnHuOZATGsOyQgf7hcnlluWiebMr0VJVFp8Uwj0Grc0YUwbxG8elRlp0cKXR8KMkxiWkdVOwvjCDkVTzP6ztk+cJFlbJ9pGOgUxTnq3gQnBkFwWk8jU+J4/DUIMtODeP01G7GT4wSdlTIvKW8ZNW2bUMmUgorhPDKlQOO69GhsmMc4UhxskzCVTyMzkyi9IwE2oYCHZMi+yDLKg33C1FcNT7+goKRSL80gf1NQNvXBDQBTUAT0AQ0AU1AE9AENIHfGAEdQPqNodcdawJvPgJ6xJqAJqAJvNYJXDcyQR0XFbucFeoJI83UzVqp53eyYj1M7S0QIPq5g/DDNYPOLCm7qGZIYfCAp90GD/3QC9rhcJryfqyY+1LGqhTCV111JSt6+RecyLmLKtYHFpSND1my+14eNt4ZtmcvajUbF7dbzYtane5FzXZ0QSvM3u5zcn6IjNPSTB2aokIesMk3/3/FBYUQvmbsMKNSdhYXPbLKNdUYw/w9KI7fJePwMpEEY0nQeWfQ6axtNxpr0ji5JJXqvEjSUwLKDky63dqxV17JvFHPHRhwFoxUy6fULOtiI47WiaBzKQSCVndardXtbnBhK+Fvi5R1vFFwVrjNZmXVtm3mwoULId5mjTiYHmVl8mzp+xelreYlwVzz4m6jvbrV6l4SJeKiVOEzBcZHhoaxMFuwoIjglX+bZmLCKkpbHlQrqLdWbeNdVOHLom58WdBNLgdfL6VMXep67N22S96DMX9305+7ZLLZumAqyt7Rlsa5KXNOxcXiwSwqjCJUGxixnZUDJeOtNQddYeLsCpGEYCsYC6PonVEaXxqm4dowDtYEQXBJGMYXpqm6AEn3XMXME2o1b9lhswMOuPa8b1KKhjxGThkqG781VLB+38LiPbBYLm03GxfOzUxdONuYu7AVBBfUu+EFjUhdHEpzLKPORalBzyQ179ByX+EtCxYOnj1YK60rWuw9OArW8XZ7bdJprwnC9qU+zFfH98daQXxpOxYX+4KdExPzBOV4BzRYWh675hpjw9gYWUDdgcECecuCgrOmpLLLSNC8PPEba7rt1sUNP7iwE4vz2wqfHZnuidyqrBiom9UrYa6fd3D6pCagCWgCmoAmoAloAs9BQBdrApqAJqAJvDEIkDfGMPQoNAFNQBPQBDQBTUATeHkE7rhjnC1fvtw1PWsBsfFgpAhLsMVj5AQpceshNx/nqboHC/6AhdSOgYIdV2wmHMJl5rdE0u2aYcevRJ2omgWx92K9WT8+Zn7jmveX37pULRNhfHTQ7p7ZmKsf3Ww0DvL9YInfDRb5QbQwS9OFSshlGKGDeJocmoXRUWmanhxH6SktPzou8tMVrdmo+uz+P/zh860//sBYFQ0evLTttw9vNhvHtbvtg1vtzpJ6q7UQghAL4zhclPF4mULZIRSLIyO/s9Lv+EcJQU5JBDomaYuDk05neC7wK8qmJUbRMMV8MVXJCgiKHBR22ocF7dZRvh+8JYrE0ZlAK1NhLgkJhFGyzDSMNsuIcjERNYzSBTLyl2R+58A08FdGfnBkEITHdMPw+ESSE2ih9Baj6IwqjxTHgE2tVu9DUfNAGXZXBZ362c2ZyTPr0zOnzc01Tq63u6dMzTaOm5huHtXww5XdKD7YT+LlUcKXJFwtyRRZSgxzmeU4SwxTjZQNa6Fn4QOQkicksX9iszF7RL3ZPLjRaq8Ik3SZkHIpQXgZnF+BJD/EQOmREFw7KlqUPzgAABAASURBVI3CY7NMnZkJfELA5aGBmQ6cPPbRXwkirV8/RsfHr3Q/9V9+ayTB6FDO05M73e5RjUbz4PpsY3G73V0YRfHCTGQLeRYvCaPwgCjyD+5224dPz80c32h3Tmt24zNnG92j5pr+iijJFlCCllEsD1BpeKCIuodkfntl3O4e0W22j2jMzR3e7iZHRJwdge3S4cQqLZXU62eWa8NCJJtXrsSO5xQKhrGgaNIjIe55OErjg5MwAkbxspSL5YLQg5FhH4gtZ7FlFfuQS5yd1uHk2evohRwrpfJ/apB98pOfdP72bz9e/LM/+2B1/KMfrX3oQx/q+8AHPlD74Ac/WJ1XfrxHH629F87nyutB8Kr/yiv/pKc/+ZM/6Z/XlZCfL8/TD33oE3179KG+j0IfHwB99KPjtQ994q/6xsf/oX98/JO18U9/qTT+uc/Z69evpy/Ef11HE9AENAFNQBPQBDQBTUAT0AQ0gTcpgV8Z9kv6pfBXrOgCTUAT0AQ0AU1AE9AEXucEfB+ZzFdVg+AVzKQLMoUZNyzBzTyAZDc6GXmy3g0eiMLkPork1rLnhJWCxQsGUjxsi6TTYnGn7cXdbjX0gwLggBgP/HwBb4UQzuJ+TxBjgYeNo9MkO7nd9U/cNTHVv33nJJpttHizHQo/SCGeIREl2LBNWiIiG5BpvDRL0iPiNDkeghInJQk/PBF4GMEmPvrlC0tpF0yKFmQcHx370bHNRufQmblGaWJ2ToLSerudhUkkhUgNg6qya+KRpNsZ8jv+MpGhE4XAJ0Lw5GhD4OVdLvsVVoZSnGKUUkOlhoiDYtzpDISd9oLID5bFMT8g5fgArujCGHkFLj2zhRl89kwRUQJjmRIedY0s7BSyMBiKw2BBHITLukF0SCbxEcRyjiKmO4IMq1i1q45rGAtFmh3Ds/CCoN1YNTu566iZqcnDZuuNQxrt7sETc61lO6YaI9N1v1zvhGYziDEEj4jEhGFCLcOyPMc0S0zJimuqRYzilVKlp4Rx8JaJmcn+yenZwnSjY/hRRoXElBLGINpgm0RWHaoW4jRYxKPgoIyrE4DD8XGmDicCLQx41PuG1C9RI7T9Z2272On0IYkPFVl2bJImJ0zPzg3u2D1Jtu3azWebTRmlKVJYYomEmfGwmKZBX9BtjUxPTi1ttJp5IO3Udjt4y1S9tbAVhEwoiTGSBPPYUWm3KqPuUNLxh/1Gc6g5Nzfgh8lIiuxR5tQWYLvch03LlcRkQbuEzzwTIRsA2KZRcRhdYBHShzJeSOPITtLMEgg5iLEqtayaYbslYlmO4VhsqK+B9x7XC8nnwaMNGzYYh42MeBUr7LdSc9Q1nMUxEctsKpe6rrEEY7xEMraYQ4oMY0kubMbLHI6XOdhcphhbzhxnmWXJ5YbBV3D+SxmQz8vyc7mUSpdjLJZRai9NFVtKUwVputQU6bIwEwcIQpfRSC4w0lJ1Fg0440qR3McXMhZdRxN4/RPQI9AENAFNQBPQBDQBTUAT0AReHgH4Jf7lGdCtNQFNQBPQBF4FAroLTUAT2O8ESn7WZyl0SNkyTyg66FBBE8fwiMk8A0mqgkTJepioyW6cTBDLmStWq1F/rUoGKwXTVSmR3QaO6lNMxn7JxEl51di4t2pV7+/IoOd7XXvtlcbnP/VH5eFRdny5aLxTiHhsphUcee9j0+F925q7Hp6OttRTazNyKneX+wZ+VK2U7xqsFO8ZqbiPLuh3gz4PIRzMZLw16/FWc6GM4sNoIg88/T0fHV71/nF7bGzM/OAH31XBLf8Qv1k/bW6ysaoxGx84M5eoeoCnusjZjCqDPzNrtf/wquU7+wZrP12+eOTJlQcsThYPV5lHhNPYscsM5torVIKPl9I4otFB1bkobfoi+omg/DvFQeeuoSF3YslwkQ+6JnUlhEU6gVBRhjFHtGAXWLFYRKPOaMQ5muQo2owN+ZNi2b6vXHaeLHjEZxhxLBGysIUYNk0uaEEqIM1IpWyVV/hJdupcvX7q5oc299939/34F3ffn2zbvRPPtuq00Q1Ql5tGW3hiV0M9OdXGd3cj407Dqf6wUqr8sL/o3lEi6g4PhfdUSeZ7KF7AM/+EerczPON38UQQtTLbmbOqtZ1OqXKvaRd+6FjOHQv6B+4+YsXi3accvoIeOFIxSqZgqV8ncRz0SaVWZAgtiYms5f+8HkII5+k48C7R8vKSIc8s8OSiZrN93EOP72YP7ZirP1EPn4xZ+Qla6Lvfq/bdVemr3rVgdPCeQ1aMbjlgYaUzXMKCpvWoW58RE7sm3V3TrcWP72wUHt89NzndCf4jlelt1X73nmULa7OHLK3hRVVGBmF9QnhN9VUGVbE0kCjmTSNi7mCY7gwt3K0Gj/Dvfx8BWDeynFLXK9e6fYOjweiSZe0Fo4t3Dw8Nb++v9W2rlsqbCo53n4HZfYzQJ5FlNbchxKHlC36vX7/evO/OO8tHLKkdu/Tg0bULRxb+bt9A7YMF2/t902QfpMz4oGEYVzmO9XueZf1usVD6QLlY/kCpUPndEuTdUuEDjmP/LrD/Xdeyfs+02e+5nvm7Vp43zd9lIMtkv2s51gdM0/iAYZi/Y5rktwkSvw1BqfcrId4nMvlbaZy8Nwr47ySpvCrl7INIkQ+WkP0+NzPOPfymh1ds3Pj4rwT9XvAgdUVNQBPQBDQBTUAT0AT2NwFtXxPQBDSB1xABHUB6DU2GdkUT0AQ0AU1AE9AEfnMEcGpUmRDLiZQHm1iNIpJRw2WJXbAaiNGdEAqZDMJorpuqKWJak06xNDXQX01H+sqsbBGCky5KWrNYhX4ZpVF/F6nazACyYUTP+y2O6iSzHJkNIqmOkTw7p9v2T5ppdBc+vKuVbG3wuanI2Bri4v3Yrf24VK19r1wuf7dWdu8YKDk/GqkVtg6VrFaB8sQSCSI8dhgWg5TIwVRFVZ5OOwsWZG6FiAEl+MFxFB49O9s5dGYuHJhryMwX1u7MqjxEy30/Nst9dxT6Kt+u9hW/PTrU90PQfX3V0qRnGn7a9VOepB5szg8rjofDILMbrbg1lbQ3IyO9y6u6PxwdLG9dNFwJByueKpkGYpkQKJZSJggRRanIUjx+9XjW7aI2BJCehMDTPcWy+fNC0dpcdM0p26BdRmhCFU2IYgJJCugM5FBsI4mGucwOCKJw+eTEbnv7tp1o2/Yp3gRjYZrgMMlkBtUSUo5nfXPnXGDeH2b2D02z/P1qsXLHoOfeWTbQjyoyfKhMso6JpAM8BtpxjNsp7wSSTNJC4YlCrf9+p1j5EbO8Oxzb/M5QX+2OAxcM3XPgosHdy0Zq8WDZJiLq8jQO3Yynw6nkI4nk1fWbNjE0Po5HJm6kcX/ouRgfZAlxRtLpntppdQ54crLJdrUzv56Zu4VTeZgU+39iV/K5rHx3eLjvzsULB3+0aKi8baRmt6u2ilEapJ12W8ZxVmoHGZtqRo3pbnx3LNLvViru9xYuqG5ZsWjQXzpcEqNVV9ZcN6kUa7FXqHaIWZhAyNmNiD1VLrjh6OioOOywwxQ1vdh0vTZzSjPF2sDEwNCC7QPDI48M1IYfHKjV7qkUSz8tOOYvbII34RRPZMlMcOfVVwuYhBf8PvhgoGyjimFaRzi281aDmedRg52DET4bKXSWkOIsyeVZUspVSKlVSsizFEKrEEarJKQSyhCSqxScV728OlPCMdQ/UykJbeQqsHUm1DkTYXUmXHVnEkzOxBidiRA+gyB8OpSfDjbPUEidIYV6K/RzDsbkXMaMcxhlJzEmlwtLFpVSGOmXJqAJaAKagCagCWgCmoAmoAloAprA8xIgz3tWn9ybgM5rApqAJqAJaAKawBuYgCVFGUV8kQjTIZRlBfiQxAueM1soeY87rnmPYVjbWDlrdyWZxibkbWfzwEB/a8HwAOorOcQQkcg6DcHDblkl6RBlckGRpd7Y2BiYeh5wNeoYRC7mIn1LGifHTU3PDe+cqFsTzYwnrByY1UW77MHRn9m14e8w5t4oiPfNkaHKNwaHal9ftnDkR0uGB7Yu6q8kfQU79Azie4wgiyIzU8IxWeBmmVvGllqgVHZgGMQH7dxdL++a6JC6j2Lm9u2oDi+517H77sBu8duyaN1im/RrtVLti7Zpf6FaLP+wWqo+btnWLJaonUVpzBNO4lCKZjfrzCi5U9DsQcOgdywaHXh46eKR+uhAjfeVCtK1LI4VTqEND/yY+D5CCCN13XXX8WYyPGNmcpPLrLtc2/5puWQ/VioUJguW04J+OhBY6GJJfCRJIiFKgBDykoR7cZyY7Xabd7ohjxOkCDUJYyZCinJqFGNqVruCliYyVHkYmaW7DMf6dqFUur1QKdxhNxq/6Lesx0qO1SQY+ZzLrh9nE4mi27za4NahBQt+vnjZsu9V+4duK5YLtw4o89bRYvHry4f7blrUX/7+8oXDc0tH+hXmcZiGPkoivyhUVkuFLDPbNlbdeSeZRKOGl2UViHgdbip+Rrs+d9DcXKM23UmwtKuZPbB0rjC0+N5C/8I7bMP9lhClb1RL7tdrJfsbS0f7fwr2dy4Z7uMFm4YijTsQ8MgM2+HUs8OkUHuUOvjOQtHdcMCSkR8fuHx018FLR9Nlw31pf8HplAteq+B6MxazdxFsT6oUNf26yK6++moFa1BZzEukVWxk1N1mlQceqgwu+EWlNvKz/sGhHyxYsOjblWLxO7ZBf8wK2Ra2/Wf1DePjGcJYAfsX/MbYNT3bq9i2c5Bj20ebln0QJXSJUmok42KIZ3wgSdLBOE6Hkzgd4Vk2IjIO5zjk+Yjg2TDP0iEusiEh+KCAVEI7KfmQVHxIgSA//JRGMJIjGMtRSskIRmoUKTQC/Y0QgocRViNSimGM8ChwXGqa1iGmZRxiULwMy7S0YcOG578uX/CodUVNQBN4gxLQw9IENAFNQBPQBDQBTUATAAL6FyeAoN+agCagCWgCb2QCemyawPMTUErh/J+R87ux43cSr9sMcNiNU9jYjpQQWwghvyASPYA4nvK8TZnp132s8JNcoR+5XuGJaq3sLxjus2uuaRsitojIBggSyxArHcac/kWNwTMrsIFPn8sLh2emVKq/2QpK0zNtc2K6JWZaUdQVqpUiY7tg1mPKNJ8QBXP27rvvDnMNLCnVTWpusw3jF6DvFx3r+9WC85M+z7qvbKnNRUNM9DtJUvGYZbikj2G1MIxFtRkkxlyIcIsbPERekCFrwrBK222jPGG1FrQeuP2BsFQ6rO16bCvG9EemZd/heO6dtWrprkLR/IllqbsZw49AwGsyESJcWV6ZWJkbVSyj6Tlm4NlmaltMWgZVENpBruXgglukJrNAhKA9LwWb96Jp350oWzQQUXUIQLUZxSFFKpZpFmVx1k2TtJPESeInmZ+JbILzbDNS4kHPsadqFafbX7NS02IpomaCbDeRmDWVYhMGNZ+0TGs7YfbkQJJ07tqwIbrz85+PN27cmAwMkIASa4JLhzThAAAQAElEQVRLtjnm9KccGT8mhvUTz/N+4XnOvUXHeaTosckiQu07N28OlnoDjYpHnzQMdDeWcrdBcFS0GLGoopinlCAJ+JGxZ1jwM+2aKTJqrW7Q1275xbm5Dmq14jiTps+xPYEN50liW9tIwXt6LoeHK3OFgr3Vss2fFxz7zmql+P2+cuEntbL7C4vKX0A/DzFMtmGEYOpQo1R2dxYK3uOVWmXrAcsWRotHBkTBwIlNJCVZUgw6rcGw2ywTWFcFxgmCF/DG7SxjYSrNUGAjFJSmypC2WwkK5dqka5YeczDdVet3GxvGxzOoL6DZiwoeQX1EKc8QTTpZlj4mOP85XFu/wJjcTQm71yD0bsj/HCn8EyXVj4WQP4KA0g/TJPtxBuJZ9mPBs7tExn8isuwnkP+pFPynQoKU+JmU4udP6RcKybsRCI7vwRjluhfWx71CpPfDOnoAlAc1N9m2+Yhjm4/ZDn2cYvkoRvwxwvAOQyIfrkmZ+7w/ND4+zj796U9bn/vc5+xct9xyi7V+/Xrz2muvNe644w6Wn99bcI7uLTjX+ztNwA/n2h8+apuawJucQO/ayq+v/HrLBfcE+lzKz+cCZnArRrkgu9/feT9P+7m3r7kvL0e5LfC+Zx9S/X51CfS4z89fvuYgz6688koDUvPDH/6wNS84tuf10Y9+1JnXfNl8mj9vIG8+ZYM9ZTN//ud9vbqj071pAq8JAtoJTUATeKUJ5A+VV9qmtqcJaAKagCagCWgCmsDrhsCd11xDFyWjju9nhaAdePWZDm1BjCiLOc78cCoLosd5w98xEc11N2xAaDvaxne1u7Mz3e5DEBd50vXsZn9fySw61KIisTBP+rBCy5jlHWWaznILob6t1bc912cuHAluwmZ6ud4MjMnpTjoxE8T1dtKNFK3HCj2ZMPp4wsmEKpX8eaif+czGZMnKE+tEok0ONX9YKbjfHih7dy6ouD8eKuB7+gv8ybITB/0VabqG6MMEL0q4KLUjiX1pqggXU2FXuil2pqTlTR62ELU3b96Qgv1ecOevP/v1+g7ffFQZpZ8V+/t+MLpk8Ad9g+4PikXzx66JHrKlmrgTgjKwYSGXjPbJol3glFJFCcYGxYoRgkHUsSxWcFxqUIdJq/qMjYyVK5EyMplC8CxGSKVKyAxxkcksS3mUhEmQduMgSP1m7IeB3JmJ5F4k+S9qlfKTI0OV+sLRUuw4VkQMM8aWlyhsNKXAE7bhbCsWvMmt39nQvvPOOzmMaa/30rTDy3PdlD4SZdZdGXPvoqXyT0vD1Xs8lz5i2+HOi047rQtBuixvNFHdqlIR+2kc7UrjpImETF3TZC6jzMSS2gwzGwZuOE4v2JJgx1ApqjaakTtb7+K5RpB0Ah5wZLcEYtsFsh9X3NzthegZc9nXd2K9YLkPFNzC94cq1dsWDfV/Z2F/5T8syn+geHKvkmz7MEKdT31qQ3TV325oW567w61UnliwcEEwMtTHizZTNIsNEXXKIuwuUmk0JJEsJ+2MXXPNNXhgYADHKLU7qSi0YlFsRaAYe8h2iVPyfGvUm+RvO7H5+fHxGMatQC/xPZvO+UErCpP7kzj7Ns/ErViR2ygzbmfUuM3E7FaCyEYl1cY0TTcmSbwxieNbkiS8hScxKN0IwaONEEwCpRsznt7KRXqryCXFrVLJ22Dj81aExG1CidsFF99WUn4bU/XtNIu+I0TyXUbw9xgjd9gW/Z5bML/nFew7bNv4PmHiToQzCESlj4ty0MYYrtKXOMpnNxsfHyd5oAgCROX/83/+z+CSJUsWlsuDSxzHWUaps2x6urUsy7IllmUt3vn4zkVLhpYshNeChf39PUXN5oImaGJiYsHs7OxorVYb/ad/+qfR//2///fIddddN/zZz352+P/+3/879D//5/8cyu3//d///WCuv/qrvxrI9Q//8A/94ENPcNw3r0984hN9UF57Ln30o+O1P/uzP6vuLahb+aPxP9qjP4IU9J//838uv1j9EbR7LuV9vFrae2zPlYdN2dreAt+eZrZ3+d75fdn64Ac/WH0+7c3j/e9/f+X9+xBsAJdzwQZweV9697vfXXq2zoey889/d+mZOh+Ozy9dfPHFxZeq88/fY+Pd7z4f+sz1y7735dvLK7sSxptrDNJn6sqxsfK+NDaW17+yxytnlmtfTPcue9e73lV917s+WP3ABz5Qfd/73lfLBdddrb693jdcGK717eM1PDxc63a7tbzee9/7oVreNrext9287+cf/y993btd7k++ZvL1BHafXocf+tCH+kC1P/mTP+n72Mc+1tNHPvKR/nq93vdcyv17rnPz5XmdXH/4h38I4/hoj8MHgUeuZ49pbz+fP78a1vK83g/5V0irwQ5o9XNqdf4/5/zKepmfh2dfJ/nxM6+RZ18zsL7hOno3rPu87rydZ6f5XL9/H9duXrb3NZ7P67P10Q98oJbPK9jozaPv+/1Lly4dCMNwsFKpDMFzYgju/0OlUmkYluIIfLwYgefNaC4oHx0cHFyQC8oXuK7bEzxXRpMkGS0UCiMHH3zwMLQdOu6444agzSDcy3rPCEh7z4c8nX8+PDvNnxfzgnr7vAfm6/T5lI93bwb7yl955X9+xjULLF7yMQTaSvvSi7H5/vf/UeWPnud59dLOjVc++MFnPlv35jb/LMl5f+hDn+j7BOgp5pWPf/zjRTjvwDGDOdRvTUAT0AReMwTIa8YT7cgbmoAenCagCWgCmoAm8Fol4I8gM0F8IM3UQOBntd27ZvtmpltDMpGLuu2gNjM9W5zoNKrJ5GS5Wq0WpqdHi0/snPC2bN9lTM7ONltBexpTKTBKscgCI0u6BaQkbBZ7JxDDPkAaTl8xNem+xj8+vorOzbbNzlzbnplupxNTnUajzbtxSlqImDMCia1Cqm2cRt3NGzbwvW3AL5fS8MWcwezNnJM7qGl+W5j0e4glP1My3GJivz7ah5BrkZpt4CWK4FKiCGLlAeQMDMfewEjDqPTP2kx1Nqxc+StBgw0bNsiBNJ1hDD2a20wQu4tY1s9smmyZQUEDPfWSYcMQnlWQghellB5BGGJHmCqKmZDS4IobBqPUNtNnBJA2bUIY4kwWwdKGwJDJk4hmSYSJkghs8RQiCzJFaRKpIMWdmRglmy1m/LS/r3z34iWLd6xYsTzsq1Z9x7JDk7AUzrVt254RqZzisXw6QPOUm70kZ9bX15fFsT2VJOYmSelDXhQ/QgjZStt0ppAWAqjTYzG+ahXty9xKu9UdajQ7o1Ga2lkmMCXY9CzDrBUcVjJt7JmOLKaphCCNwplkQqHS9FwX7ZzsdJuBiiOOA45JnQv5hCL4sUBkMwMDKOo59NQP6FPaLXuKcX6f4tlG4PgtifFNIk2/70TZ5kEU5rzzAF+vRUTtWWRYT7oFb9YrFLJa2XN4MEei1qTt4GTEM9QSKdUiahJnZGSEbtu2jcVClhpRVJvpRJXZTtLfirPBGOEBgh17FKF4w7p1L/sbORs2bOYnJ1bHQNFmheV3FKXrFUFfMiT5gpDoS1yIrwiC/l8msm8whr+ZC2P+TaLEN6Q0v04p/ncC5zHGX8sy+TVG1HqK5FexMr8iMvwVTtANjMgbKFLXI0Guh5XyZYXVl6WU1zPGbsgy9hWl2FcYZl+Gi+XzENP8rFDo0xAz/bRQ2ReQKb9Xdft2OlEU9kC+Qj9OOOEEAzbwFmFsHE8M62KEjMuVku9PEvE7ML7fplS+Tyn1XqzweyTl70ZMvgsrdQXwuQIxdnkm5eU8TS9nhFwGY7kMNgfzdB3nfB0E2tYBj7EoisbA3UvheK1pmqthvBdD+UVg9x3Q9wWGYbwdys6DDchzod05kL4N6p0N59+GpTwb7J6NOHornHurzORZkK5yXXkm9LUKY3Ym+HKGxPj0IElOsyLrVCMxTrEs62Rs4JNiHp8UpuGJueI4PmFfSsPwxDRMT+RBfBL0cxL401NuIxccn5ILfDwVxtJTEASn7W/B+E+bFzA4HZidDsdnwLjPgPyZwHQV+Hcm3DtWzQvYnTUvOHdWLvB91bzg+MycH9g7E+rl+TNgDs5wHOd0YN4T2D8dxnoa9PG0gFtvvLBZfCrUOxXOn5KLEHIy2DqZc3RSFGUnga0T4fyJ0M8JjFknQL/H56LUPE4IdDzUPQ5uOceFadoT3COOdZysJ89LjskFYzk6F9g/Ohess6MRYkdjbL7lmcJw/EsBD6iPjqZUHWPb7Gjw4Zgoco7NlaYh9JseB/4dTxU9Dgt8PMb4eGhzAkOsJ6uXIsjznhDiJ+wtDsdwbZ7QE2MncFBGzBOJmTwl80QYa2/tzKeRYZyUK4N0XvmxYURQL+oxC8P05Fw5Q/DnJGAETMnJkD8F5vtUOD5NSnyaaTqgtLcmgOdpuYDpaTHOTouZPE1xchpRxtNSipwG96LTwjCBeTRO9TwM82adaln81NyuEOIUsH0yXJcn5/7CXPbmzbKsE+ZlmibMZwLj2uMrQvSk3C9YI6fCmgG/5BmwJuB6dFfBesqvzbcC17dCnbPzNBf08Vaw/VaYy7MgfxaUnZXnoWxVLqh7JvS3Cnw6A2ycAX6dngv8On1vEUVOJ0qdnsXZ6ViGp+fjS2x+empK4CLBF+M0ztWpueJYnQpsTsmVyT1rFPo+Gew/QzKzTp5XJrOT4X7WU57KXru8LTkZ/AFbYp+SWQY2nqnMAlsg6zkE7E4CBidjbJxEYA3BWE6ENd5bWwLWZb5OYey9NQtr47hc89fJc6WREx2bOc6xcD87DlgeB3N6PPTRm8t8HuH4JJirfF311hhw762vfC5hTnrXN/A5LVd+DOdPB2Zn5II6ZwrPO9Mg5EzXslYxjHvzCOVnwRzm+bdCn/k9+2zo52xo+zZo9zY4fw7oPPDjPCh7O9R9O8z1BZBegDF+Ry64H70D6l4IjC+E9B1g5x15nVxQ73xoez6kvWcE1D0P6pwLPvaeFXB8DnA6B+qeA/2+Der2nhdQ/lZg+FYoPwvuJasg7d0voe2ZueD8Gbmg7emQwrrhp9m2B9cW6Ql8PTUX1M2vkVOgDlwn8iSMuyfDfOVzB9eEcQL4fwL4e7zi6kWIHi+Ekc/p8TCvz1IIdvgzpfjxcE+D+5U8wcAY7k3oROABvuCTXTeFey7P77+wruUpsNZhjaJ87ff8z8cA/sGY1AsQ3D9IruA0z+PARME1JfM1AIwUXJsSnhdo/lnyVrgnnW2a2TnSkfl8r5IyPRn8O8pQamm3261A3/qtCWgCmsBrhgB5zXiiHdEENAFNQBPQBDSB1xqBN7w/sHGffxZyMRN5gGC03vYHd0/VvR07pkrbtu4Y3f7E1pW7tmw5ZfqxLedNPvr4Bbt2PH7BE1u2nHf/Y0+c/tATW9/ykwfvH9j0xGPGTGMWdcM2TuMOCbttMw6DWhKnS5OEjwYJr5UGZf5Pk+R9PYNpre7QLCYGbBparU4mG+0sChKSCGlGyUwUnAAAEABJREFUpuF1kKBzRMXNbatW5cGDX9ng/8zGjcm/futb3Y0/+MHs7bffPvODjRtnb9twW+PEAzf6g6yVFVDqmUT0IyKHiWEWpWVTVCxTXCilyCu2FDPabnkgQOPj6hmO7TlQuf1vgf27brut8ch3v15/8Obrm3du2OBv3tD7tlKvll0tMMdghYJXKXtOsUgwBMsIbOEbjBID/iPEMKikBsH5+HGvEfxYObsKGwXPNE3Lopgyg8Kv8xhhhARCUqg8I2E3JEE4+/z455POxI5m0bImHM9+0is4k8Wi0zEICkyMY5sy4Zoss02W2AwHadDMeUEvv/oeHx+Xn//85+Mvf/nLnY1f3tj51rd+1L39i7cH+T9x97ZqlYx/4LzqX/3hRYfQQ+zTYPNk1e56/ZQdU/UjZ+ud4WY3cLKMWyYlZtG2jaJh0QIx8MDSpb25ibliaaa8ZkRZI6Siyy2VIY87VikwCZuDINfsIJqNN2zYAIN8pm/j4NP//Pw3Wp/fcMvUv//7v0/e9u9fmty44XOzX/7yZzrgcwqS8y2iDNXBwCMcsZ8jSrdWSjC1KJYkriMVTFsoafbDuhlFNKvcNRl6U1NTTpzFhZBLp5NK5CtixMhwMkVNjhB5yraat/9S09wOPussfuBJF3SOOvW8mbMuuHTXuvddteOqP/uzHdf87d/u+OQ//uPOf/qnf9r9r//6rxPXXXfdZK48v0f/eyI/N69//ud/3vWZz8zrM7v+Edr+4yf/cecnn9KnP/3pHZ8GffKTn4SyT+7Mz3/uc/+48zOf+btdn/zk/9j5P/9mfNvVf/bRJz7+n35ry8xvXfzYb19x/vZ1F5wxe8opi6KzwMeXOsZnt/vbv/2X4sMPb10SBPGJjVbj7OnJqfO379xx3vbt287ZsWPH2Tt27Dp7166d52zfvuPc3RO7z929a/fbd+3edf7E7t3nT01Ovn1yYuL8ienJC+bq9Z5mZmbeMTU9DZp9R73ResfMzOw7JiYmL5ycnLpwenr2otnZuYsmp2YumpiaurjVal3c6XQubrfbl7TbzZ66nc7qdqu1ugWCDajVcG51s9NZ0237q9vdzprQj1b7QbQmDOI1QRCC8jRYG/qgIII0vNSPgksDP7y0A2kcp5cmSXYpz+SlPJWXwqbj0+JZXs6hnL8z4/JSwdNLU55dGsbhO+MwvjSKgncGQXBpGMJxnB9H78ztBUF0aRBFUC/ep2Ko+3IEAap3zmu+/9wHKMt9Ab+g/z1+9Y7zvuB8L/9UujZvlys/l2t+3HBPyNu/EzZNe2leDuffyTkHTsk74ZZ1aS5YJ5fCxumlSqmeIL8W8msxxmvgXJ7P054wlDFmrDFNtoYxsgY2iyGfBwnN1YZhrqaGDTJXm3ngMJdhrXYca3XR8VYXQJ5nr/E8Z3Uux/HWOI6zxisWocxb47ruWrfgri2AiuXimkLBg7zTE9xD1xSLpadUhLS4pgx1PK8IbQtgowBlLrRxQB7YzeXAOW+NBX26BajjgD23tMbxvLUeyHadtQ706biFtRakBddZ44Lg3GrHK64ueuXVnuuucaFuwXHWur329lrLNkFsrW1Zlxp2fmyvtW3z0lymzS7NxSDdIxOO83MUzhuXGga5FJ4ia+dFqbEWuIHYWsKMtYyZedAVzkMb07jUAbuWYV1qm8Zay2CXMkYvZQZZSwm6lDK8VmF1Ke4JrWWUwpyptTC/awlRaxFSa6UUUIZ7dg3Dgn6MtRTq5ewLhRL0ZT8txmw4nx8z6D+vu6e/vB0FP2Hee23zNQFrqtdPbguO18A6Wg1rK9caOLcGfFgN6291Xp7nYe2tztNceRnoEtBqWE+rYb31lOexUqtzKS5XKyVWE0JWU0bXwJjXMELXUkzWEIrXWnvWH6xNnPvfWwuG5ayllgXH5lrDzMdiwrzkczMvc60J82Va9qWm5VxqmdYzxEx6qfm0TMibl1oWcN9bBl1r2Ln9p2RZaxjIcow1pmutdl3naTmOvSaXB+vPcWCNOe5aD9a2m6+1Ymmtm68rrwxpca0Nc2G7kNrFtcUirFXPhXUK7fO2nrU6v4bm5cH1VHDtSwpu4RLL8VbbhSL06fauP5ir1ZQCL5ZfgzaUWXBs9K5HwzDg2MiZroH8GgzXMswRrBEJawWthfmAdUPWGrA+kJCXCrhPcAmpUmszIdZEcC+G+8waaJPrErj/XOL7/iVw787TiyF/MeQvgjoXttvtC+F+/w64t+f5dzSbzQvn5uZ6x1DnQii/qNFoXDQ9PX0JnIPnQXtNu91eU6/X18LxWqizFtr3Uii/FI4vheNL5/NwnN/3eufzPPS9FvxZA2sQnhPBWrh/9o7zFJSX52W532ugHpyL1qZpnK/TtSnnkBcgvibL8nyWl8OaTmB9iTVSpmt5rzxdK4WEMrwWwTp8PhGM1qCnJDFfo1QGEk8LIbl6j9BqifElqCcFqboEC7laZNlqxOXqTIBPkoMvAtqqNVwo8Eeu4TxbKyQcg19JJtZmApRmazMQPOvW5IJrbk1PqVid9ZStTtO9Fa+Oohiu2RCYRJAPgF24Gp55a/aUp6vjMFodBXmaXALPyEuyNL4kigOYrwbMd3BRytPzqWOdYVnWEX/6p386DJ+rbLgf6Lcm8GoS0H1pAvskQPZZqgs1AU1AE9AENAFNQBN4ExA47DDETIcXHUstTrJ0SbsTDk9NN+1tOyacLY8+NjS5c/ex7frcO4JW9z1JGPxOGsYfSOLkPV0/unSu1Tr7oSceP+SBRx+tbZ3YReqtOorjLg67TRZ2O27QCfrCIBqI47TanA3siYkR+iykOLH6mRTITGNkBbFEnQhlMTcEok7qWV7oMaPr++i5AjzPMvfMw3K5HxsirRCVDWKk+onFXOJ6DAJHVLguT02jE2Ls3/n58QRaKtBLepeMAi0Ytlct1srlQrVEiEkJZoRBmIUasEVlEKYMxIjkFH4RxvOdTBzUxWWvYtgMtv2IyUzDIKZJMEYCE6QQoYaSism4lfV8u+66uzNqRgElZEYiOasUbyGeBUzIzIUIlWVQbFkEsarJSwtXQnwFvdgX3oqabkqcxYqo0xBW+TdA3umH8fnTjc4JM63O4kbLL6VpYlOMraJpm0XwuqQMijZt6vUVxoRGKXJDYVld4ZJAFqigJVUq1VLPKfpYiHDVqlWyV/ll/IgjvzEbJo9MtaM740w9WC0Xo6LFM0e2RNreqUTcKGPFR6SS/bAoK74QhSTjXiQE84WKI2zI1LBJipjkoJfhymu6KYZd4FzjGEtwVIFe8beUM31ZFh3KuTjT94Nz643mWZMTkyfv2LnzWNDRoGN27dp9LASBTtg9MXHyxOTkKVPT06dOTU2fPj07c/r0zPQZs9OzZzTq9TMajeaZzWbzzHq9cSZsDJ7VbDbPmqs33jo7V891dqPZfFur3TmnXq+f12w0z4NNvreDLvB9/x2giwLfvygI/IuDILgkDMNLIIUNrKinMA7XRHEMm37J2jiO18ZRcmkSJxDQiS9N0uTSNEnfmSbJWJam65IkuyxO0svg/OVJkl4BYwPxdwme9VLO+btg8+8pZe8Sgr9LcPEuDsrzaZpckaTxu9I0vaKXT+AYlKbZ5Wma7lGSXZ6l/LI9yi7LsvRpJWl6WZIke+rN138RaZZlYAvsZ3sEfV42L7Cb59fBBmjeR/4NrzEoG4PzeVAoT8fiOM7L8uN3gq2xXHA+r7sO8vPK+8jLLuMcxgF95um8hBCX5ZJSXgZaB8Gjy0DrYAHm+Xn1ziGE12FMQHgdIQTqzAtd1itH5DKMoAzjywgIyi7HhF4Om9qXM0ovhyDE5ZTRK34pdgWUv4sZxh5R411wK343Y/S3oM5vQfm7mcHeTRmDY0hpLvpulh9T490UjuH8uygl7zZMCjbANiVwzK6gNM9D3wxkgJgB/dMroO0VJD/H9uTB9uVg5/I8hb4hD/Uouxz8uhyeC5cbFNoSeoVByRXg0xXwYLgCxv6U8BWYgCiDY3oFxvRdcO5diBAQBZF3wXX9LngWXAH34p7gGOpBG4wvRz2RyxBGwIusg7bAll5GKb4MExBCl2E4Ny/YELkM+gcpmBe0Dh4/66RC6+CGAXOB1kmp1gnB8zSfL5hvcRlCch3G+bxhyBMQvhzY9ATl876A/wjyuQjkyeWEYBC5HOrkbXJBH3hMCJEHH3PlAcdeAALK1sK6WwtrrrfZnae5pJSw2c33bGRn2VpYc73zeX0412sLay23cykcXwpjuVRKBRKXSugH8u9ECL0TfBhDSI1B3TGp1BiBNQhjyPPrCKWXUcO4DNhdBuWXAbceV0x6vsOYctboCliPkIexUXIFBkFdKINjnIv28gjyGOM8fznUB87ocuDdy/eOCbkMzl+OYG5A6xDOmcIcUbqOEPq0D2D7MkqgDOcc2eWwbmA9QQrrBNbZu0BXUIO9Kxej7F25KDVg/bIr4Fwv7ZURBusOZNArGCOXGyBKCcxdLgrr2biMEQZ9MZgfAr6RdQiuP/BxHWiMEDyGMQJ2BJSvgfw8rBuExqSUsFZEnu7hKmUvDw+gdQLyMEdjSsh3wv2ypySJL4X7bn5P7gUHYb4vhntTrosgvRACMxfCffwdT93nz4c0v+efB/f78yD4cy48I87N0/wYzp3XbrfPh0DSBZDPnwkXQpoHoPJgFAQx8mBGAIGecG/lgfBnHCdJcincA/NnQ34P7OXnyyDtleVpLvA3v1fm90FIU1C2Ls3EOp6LQwr3Rj6fwv2Yw31SQCq5uEwKcTmkVwCXy4HbFfC57leklLxiXlLJ/Ju9l/dSKSEV820vh/a/lFBgW14mBNx7n5KQap3M+GVcZpfBR0ZQfn/mUGdPmoE/e8Qv44LDeZmP4TKegQ3wWabwTAGJjK8DjQnOn5Icg/G9k3MOEvD84DkDUPpO4APPkgTSPJ8/X3MB2yS9NE7StVGSwvM4Xp1l6cXwzLs48IPV8MxdwyGwCGvsfEJI/k3FFTCHBbhe9VsT0AQ0gd84Afi89Bv3QTugCWgCz0dAn9MENAFNQBPYbwQWc6PqMeeAou2cXCwVVxqOM+hn3JxtttDk1ESu0jREfuamppZN75o4eHr35OHNRustc432UZMzc4fPtcJFc62osGuqyzsdP0MilISHiocd1G7M4NgPCljIqmmL4iRCxrMHUqIx41lspHFK04SjLJUKExMRYhAKuzEGNBkafnarX3+8adMYdhxMTUYdSmSBQ2yBCwmRKYWpYyvmOAIbjGNWgn0N2C779Safs4bpEYIoMeGXXQtjbEnOccoznAoO5QgTA5O8sSkY3rRpE4Z8LnQsZCxqMUYxg2CHqWTKkEwJlpzIvH0QIgE8mO3kPkJthMIowwmPzTSLKYxJgiF4IwybEgQMOZ5jF6um4TpVxHoNXsSPj350zB4eHBgdHh4+jTD73FjIc8I0O7nRDg7bOTG3EIJHVT+KHdiEh3gcMi3LLNHN1SAAABAASURBVBTcolcqliy0ciVaOTuLDWRTCzNDSEZSQTFHBlbEIozZ8J+FqjUD9iRfhFPPUdXbFGTUtVqZRI9mnD9GiJoeqXlqYc2yiiTgjiGKlIglBKMDYT4O4Agtgfnog/rMz0RXMCMgbjFyq7WuU6nlAUSkXy+NQJIoMwmTQhCExW6769bn6ub09DSdmprCkKK9NTM9g2ZmZvDemoV1MzM7gyHohCcmJvBT7Xp1JicnCQSbyPTsHJ1rNOn0zCzdvXuSQoCJwsYhAzsG2O9pZnq6dzw7O2PMzs0ac3Nz5h7VIQXNNszZmbnct2doZnrWmp3ZI6hvzQuCVNa8Zmdn7T2ac+C8naten+ulkHf2nJuvUwcbsz1BuTU7Owf5eV+endbBt2eX7Tmu1+v5GF5xgU9GLvCbQcrm0zwPonsL+Obz+AwBb5orP5fXhfb0KTHwObfZsw/neymcy1MT6uZjBR6zPW5Q12k0GjbMY566kPYEZV6z2Sg0m81iq9UqtFrNYhvUarVLewvOl+qNxtNqNJqlp9VslBqgZqtZmler2SxCm2Kz3So2Wi0oB3vNVqnVbJVbrVa5DYI6cNx8Sq1Su9UuNhrNnsBOoQF+QFoE28VGo1GEMRTq9TkP1rxXn627jbk6rP+mW6+DGi2v0WxDvu3N1Vtevd4oNHqqF1r1ej5Gt9mog+bcVn3OaTUaTqvecJoNYNJo2lDXAXs2tLMbzZZVb+ytptVoNPP1adcbsA4bs1Av1xykdaderzsNsJML+Duzc3M5c3N6ZgY0bUzPTBkzoNnpKWNudoaBYN6nQTM9wTk6MzPd09T0VD6/DDbmoc1MT+12y2y32xbwzOfPbjT29Adz7uaCft15QR0X+DrNZgN82uMbrIXcHxBcd7OzFlzzJlzrBrQxwHdj165dvX6azWZv/UP9Xgpj6Z3P6+SaP4bz+frK11auPP8Mzc3NmlDXhPk1waZZn501Z6dnzJnpaXNuds6EfvOxWDOzM1Z9bs6GoAX4NmdPTkzYOTvoK+f6lBp2vQHsGw2Yg3k1rXq9adbrDbNRr/f6msvT+hyUgeBeBHb35OtzULfeE/jU62fefs4R/ANWTWcPsxasj1xNt9nM0z2Cc8Ac/ABf97SdA99Ac3NOfa7uwLpxYP3AHDS9ZqPhwfgKucAGXFPtQrvdyq+FEvQF11SrDOX5+s/XfbnVbPUE6zwvL+V196gNbXvtirmter0Ba7/uzc3V3TnoNxfMg5P7A3ZtuEfYMK89rnDOhDysuxljdmaWTcOag7r5uiJQF+7ndQLrJlf+zOjd+2dmZnp5sPP0MwRsoHnBswLBmkHQX+/87t27e+fALgL/evn8fN4e+u/Vgz56daGsZxuOn+4L2mFQ7kMuuA5mCbSDawB8np01IG/A+Vz52rLgeH4OYV7zOX9qTmF+Z2Ed5YL11HtuzM3OwnzU7QZc181Gsze/jUYD5qcB89p0W02Yp2YzP87n6mk1Gw0P7jUe1O3NY7PRLDQbjT1qNgqtXC2YExCsiQKwLDYbzWKrmd/DWnvmt9nK57WnJtzPYK5h/nI7eZ8N6LPuwpoFP2DdwD1jDtYPyK7Pzdl1GMvcHFyjc3PWbB3Gl6ezveccPAdn4b6yR3Nzc7AG6u7sLIwT7gVwz+6NEfqCMcM6rcN1D/bgubyHx9ye5+PcLNienTMnp6bz9ZHXdeHaK0sp+3majWZZMiREUhZC/MrvDi/t04pupQloAprAyyPQ+4X+5ZnQrTUBTUAT0AQ0AU1AE3h9EVBK4TvuuIOZJltkM3yEQfFbTMtcgk3LlZQkieSdKI2aYRzA73M+9/0uiqOQpklqxElqRnFiBhHkMy4zhVNEaOS4RlbxDORSgVDcRVFjFmVBtyTTtA+nsixpw0J7vfJIgul4ED0hhEjUExaSUIkwQwSbhBLGGEZoaK9WLyy7cuUsrqhhYkHcwmCmwwi2CUYMYYSZaWBimmAIK/jxst8qtqlrOiZGysRKMoUUGFZIYIUFxhgRgnovG0GcZSXu5Z/6YUJ4yzSYYZvUBLcMRiAUhSRBQkpQpoTihlDyqepg2SIZJqZCkuZVFHCCQRApJDVM03ULXsG2bHvQgrHON9pHOj4+Tsbfv8r+xIfHBv7kAxcs+dB7LzgoaYrDd80239IMksO7iVwRcTWSKtYvEK0qhEsIE5dgmBpYO5BSSsBn03Rsy81hIrRqFYIhIoYZxooQBcKEEXCMmcyxDNujnNvPGP8+XHtBRes2bBDBQ0kkMjnBGNld8Oz6UNWRozXTqNqcOlT2YcmXi4wfxqU6LBXpgULgYY6wnWDqS9sJaKEQGsVi2y0VwhfU6QuolF9XIPqTn9xS+tkdNw9//1tfWLb+X/7x4Os++Tcr/+Yv/+KI/zH+Xw4f/8QnDvvzj3/80I+DPvEnnzikp0984pD8eI/+HM79+aF//vE9+gTU36Pxw/7zX/zFyr31F3/xlyv36C9W/pfx8cP/y/j/OPwv/vIvj/gv438P+Vz/6/A///999tD/3999fsX/+NT/G/n0p28pgX8wN+oVmYccCecif8XwaoOaSZI04zhqRiA4bkRRVIfgUj1Pwyicg3QuDAM4DutQtxEnSS8fBlDWK4/qebtcYRg1wjBuREnSiNO0VzcMw9xmT3vnoxD6jHLFzTgCxblyX3Kl4E/cDKPcXgRtcxt766myp2znfSfQfm/FEdiGMYH/zVwh9AdqRGFcj0GQr4Ov9TCK61EYwhjCuSSJ56BdPYTjMIwaPbv5WHLFMKY4bUQxjC9XBGlPeT3wJ95LEeR7mq8zn86X7zOtg5+5eswhD9zDuSAIXrDCMMzbzEKbXHn+aVtgL7fdgPQZyseY66nynNXe55t7ncvL8/M9hWHQjMKwBbxAcQvYNaMoboGdXNAugrUVg5JmPi9gJ59PqLNn7OBrbq+nMIx658AWtIt7gvXYitOkJ1hPrSiO23ESt5M0aWdp0oFn2y+Vpp0kSTpx3FM7iuJ2GEfQBuzGoNx+CP3OK4rqUQDrKYwbYZSvsxT6T0B5u7Qdxz21oihqwRpsxWHUioOwFQVBA/IN8LMRBT74DjaiqBFCPgwCuG4CWEewnqIEzqVgO1evDziOQflaiXvrKgwjOIayOIZ6YSMMwyb0laeNMAphnUUNKAObfiMIA8gHsC5B0E8I1x0IysKewM868KoHYdSEa7cZQgo89nCM4laaprnaT6WQz1pJko8xhrHGbaj7tHKGac63p7QDbfJ2vfNQ3kvjOG5Dn73y/HwYhj07kM/rd7Is66Vw3AX5nPOeoDx4tuBcmAvKw2eLcxEIUJakQZYke5SlfsYznwvugz9+CsdSSj9L0y7cx7pQr5smaSeJo06Spj0fYaww3qQFfvfmM4ry9brnGPLAKWpGUQj3HFizcdI7hjmA4xDye9eFNQBto3h+jcLayectVxQ18zZhGMEc5Aqbeb63XmCdRbDefFg/cG02niGYyyAIYZ73KAzzNKj7QdArCyHNy6Iogus3n+98LYSNIO8T/IjiqJUrv4dGsE5hPDDWns/NMAKfwqgZgEJQFEUN6BvWUdiz7ft5HwHYze/5vTysyV/mQ/AtBH+iMJpfZw2Yz6fWeNRrBzZze3Ng93nl+37vPNTv3Zeg/iyUzYL9WSjrpfPHME8zufJz+9Ac1O/5AHV6zyRYvw1QPlfNp9IWnOutVTjO10AH/O4py7LuvDjv5X049uG8D2vIz7K0C2k3TRI/V56fL8uyrJOvLajbmVduP44TWP9JK4rzNZVC33C/iCJ4rkXgT75W4DiOW3ES9+YG7Oa+daAt2EkgTfcWnEtBCSjt2Y3juA1t23maJDGU5+eSdpzAfRDuh/k9MfcnSzOwlz1lC85laQeuj3YC7aNce+5nTWDaE6yVRhjH+Zz37klRFMJ1EAFHuE8l4DeMAa6jVt5v7nOaJt0kSXxQANdWkKZZIIQMFFJ5GgshMqWQzD9naGkCmsDrh8Ab2dOnfqN/Iw9Rj00T0AQ0AU1AE9AENIFnErjuuuuY0dnqGJQeSjE6UXJxKCKoD5uGsEvFulMt7nBL7uOWw55ATG7NeLyVUPq47TiPCS4fzVL1KELGFsqMraWqs3vpAQOdA5cP82UL+0kVwgwGD1DamsM86JR5FA1gxGuWZefxhacdyXew0yhQlGDlWAw7lFKHQC+KU6okNZlJbWqSYtAmTzd6gZkzz1yFRIkSy3At2wCvTduyKGEUYcooNSlCpsg4U5LnbrxAq/uuVqp5xC54JoLgkZSCUIoxoRQRypCCJlwqhSGegpCDJiYmnu5vshlBvCygrkWNoufYJccyXdMwDEIQNOfMMCKIpsVdwTIwg2DjHycZoQpjUyLC8gANwgAvN44JY7blWV6hiC3H6vKY5m2eS7X6T420XCpjIQ6XEq+C39NXZxl/Z6MbnvPE5Nyi3Y1Q1UM1y6lTd4rVcHB4EPfVyqhYcJFtWYhQko8NY4gOUcNieT+bNm1SHMaJIXxkwnkbBmJRCsEj07Qs12aGY5qVEoF6OK//cjU5OioEijt91XJrYKjWGR3wsuGaRQeK1HUoHpEpP5hn8miRiKNFqg6XAi8Cfz3BjIi6hcAoV7rEdhqcucHL9WW+/Z133kkfeOB2u4jMhVhlx2QSn4uxXCuVeDcj6LeklL+lEL8CEbSOIPlOSXhPnMt3IkneSRB7J1ZijIIgADkme/XIZQD6ckzl5USSyxmilxMQlF2hqLqCI/EuCOK+Wyn1boyy92BF34OReA9C5LeEkpAysM3ebhj4WE74oo0bHzc2bNhA0Cv0Ykx0wyTe1e12H+Ipv880jE2OaW/xbOfxgus97ljWFsOgjxgGe9gwjEcME2QYD5um/Yhju49CwPNR07C2wCW6xbLtLZblbIEVs8UwzUcty34Uyh4xDRPaQxvbethy7IeZwTZTSjYzxjZbhrUZVtbDtmk9bBqg3L7Zqw9t8tSC+ubDlLFNoM2gTQYzHwL7D4GdB3ti7EHGjD2i7EGTsYdyMcoeskyjJ0Lpg3D8oGmauR5ghnE/UvgBQuj9mLH74DK/T2J0H2b0PgLH0M/9cK08ADecB+CaeJAQBvath2zb3WSa1ibDMEEG+GRuIuAPNc2H9sh4iJnsIcOgcB7EDEj3EoV8LuBsGAbUMx5i4O9egn7yvtiDlNJcD9E9aZ4HPwj4/EuBb7l/PRFC5s89kLchhPTa5LahrwdBeX/gv7nZNM1NlmXl6T711Lme79B+E9jq+QFpzyakT/dFEH4ASfkABOAfIAhBOXoAAvIPKCXvFyK9FzYa7+VZdo8Q6m7gfHeeZkLcnYIyqSDldydpdjcEAuAcvztN07s5HAsh71FC3KukvFcpmBuM78OEwLyp+6VUkOIHKIF5zeef0ty/TZTlzOkmSthDGNEH9wiDfwj8UfdJKe+Djc17BRf3crAtlbxXKnWvQug+0P0YkwcQ2JSYPMQReRBj9iBhBrBHKaX0AAAQAElEQVQzIU8eREo9QBF+ANL7FeeQlw8QJe7nSXo/luo+uJneJ7m4DzaX837uA7/BJgWx+xXYFmBT9YQeRAg/SBl5kFIMefUghpRQ8gD484DC6H5E0AMCQYrwA9QgMFYMYyQPEoIeIiTPY1g7eJNBQYxsYgbdzAy22TANuGaMR0yLPWJZ5iMmXFOUUkjNRxzHguuKPcIYfTgvg7mFY6N3zradhy3LetgwWE/5ubwtYwbUMR81DAOu6fy6tuA6t7bYcL3btrPFcdzHXNd9DNo+7jjO457nPQHpVtu2n4D8k09pW7FYzLUdjnfkguMduUql0o5yuTyvnZDfCWVPq1gs7YTH3Q6vWIB27nbXK2wvlorbSuXiNtdztkHf2woFdxvkn3Qc+0nHtre6rrPVddwnIP+4ZRmPMcIetUzzUdO0YKzWI4yyh4H/w0KozRiTzTA2WONsE5RtBm3CBMMxgWvF2ASsNmGMQGQzA84WM3tt4P4BKc7bbIJ5fkgq+aBA8kGJFMyfegBh/AAX2QOcZ/dnaXq/4Px+oeQDCMG8Sv6A4OkDSubi90spYG2KeyWsS8mze2Qm7paZujsT8u4447+I4ujnURz/PI6Tn0OA4OdZxntKkujnsKn/C7hmfgHr+h4hxd0i4/dkKaxvsCVEdh/nEmzL+4Tg92Uiu1fAugcfetdUCnXg/L35sYTrTAh5L6T3wfH9uaBunj5IMX2IEraJUraZElhnlD0M6cME40cIoY88tZYeZgzKaW9tPQxl+TEwYz0RQjbPC+rNl4FNCozBLqU95lAH1jV7yDRNuDYoXHf4IYxx7zgvy2VZVn6c38NybYbjh2G9PQJ62HGcPIW17jzqOM4WWB+PgvI0X6f5Gu2lHqzTeRUKBVirha2Q9gTlW13P3ep5ha2O6zzh2vbjru085rkOPBch9dwt8OzbYlrWo4ZpPmLAswsE/hubECYPIkLhOqUPEEoeQBjdL5V4QCLxgELyAUzw/Xk57d3XCdwDKNzzjbw+XNfsIUbNhygzHqSEPYgwhfsCexDDMYb7HCH0IUzwg4TC9Q9rkTG2ybBMuIdbD8PzKr/eH7UNA65Ja4vn2Y95Bfcx27Efg+dwPubHHHg+Q/5huBY2M8MA9uRBjMkDhJD7wdYD+f1byD1rFxN6PyH4AUrBPxAlGMaHNpsGedixLeDpPAZ8t8K1+iRom2nZTxLKtsBn0k2wbh9USj1hGLSBMdbfEoeLSb81AU3gN08A7nG/eSe0B5qAJqAJ7B8C2qomoAloAvsmcNJSx8R+VItCsdT3s8XNZmz6YToZc3G3WfR+6FVK37Vce6PlWl+3HXO95VhfMU3jqwYzvgK/aH/VNp2vmsxebzvON+EXv9uHBmo/OnjZ4u1HHrg0WdzvxRVLJkYWZDxoW1GrXgl8f6DdaBdXjY/D/hjCaP7lVDMiUEoxSj2LqrLLDIdISgU3RJo4aSYKXUUdNDb2oj6zbdkygT2PEKdUo8VyjVUqNdOxXULgN9Is8JmIQ9ckqGzSuLB01fttcOeXPsHBi3nDxiVWKKOYIUqohD3AFEmVIdjQyc0oJBESCUdh4D/dR/4NoJGVK1jRtd1ywSgXPaPPtljJYsRhFFsYKVOkqa1SZWHKjdzQNddcg03TxjbL3WWIg10uAQs2CDFsgqlBFSE0j8ghVM6b/Iryfj83/n6bOqXlwxY73VXphVnov2Ni59QZj2zdccyWXTMrZiNV7XBWT5DxM2J4twK77yxesOD+RSMjzdHBflQqOMg2GaI0Ny8lVwL2TfM8QpZpSkqI8CyCizZlFhKEyYxxzh2hZBmFtOQPD0PwC7Y39zR5yT9hLMo7LMgczww812oO9BfSoWqBlC1iUR7ZaaddDuqtA8JOsDJN0MqY40UckwKxnRCZ5iQ2zCcVMyaYxN2X7MSzGq4cHLRd0jdcKBROKxZLlxomu0Ri8fYki84K4+CsKAzfmqTpObApeB7C6O0Y4wswpRdQii+A4/OlkucrpN4uQEqKt0shzuNCnSsyeS5s+J3LuTiHZ3yPUv62JMneBmVnc87fmqXZ2UkizgriZJUfRGe0O/7p3XZ4ercbnh5G8WlpmB6PJTl4qt0cjONyvoie5f1LO2y3210c8u3gww9gU/xbhJCvwCbplw1GvwgbVV8kiHwJYwoiX6aYfJlQej2skesJxdcjgq+HiwLy9Mv0qXKK1fUE6kHdPL0eY3I9grJeisgNhOAbMCE3YERvgDY3IIJuQBhfjwi5Hvq+HmH6ZYzxlyH/JaXQlxDCX8IghfCXe3lCvgQ2vgScvwTBvS/DLQHqqaeFEPqiwvgLCqsvYJULQwqS6gtKyi/A+VxfREh9USmoR/AXFcr7IV9SEoHdPQIfvigV+gIGO3kbOP4CIegL0ObfkML/Bj5BSsAW/gLBqNcH3DS+iCT6okRgE8svqlwk72deeflTUpCqPX5LKb+4l74E+Z72Gls+zi9DOTBA14M/+xTUvx5j3BPUydtcn5eBekyhDNgRGDvqCcphPMAFOIHtvX3o5eH8l4QQuZ1c10OdG8DGDVB2A+S/kgsJ9FWkxFeVglQqSCEvxFelUl9FSH4VK7Qe5nI9bCquB/4bFJLrERLrod16CLrmZeuB53qYA5Dq5bFSX4VrZ71Q/KtSqq8gsA0b21+Bsq8oKW6QHH0FS3wD+HcDML9eSXU9zBWk6Hos0PVK4ethzd0Acwd+QnuEwIb8qpIY+iZf7fWl0Hpovx7abUAKbwD766VU65WU4Df4rkCQh/NfhZvkV6EuSH4lT6HsK9DPV4H1V5QA+xJ9lVCc578K578C/oPgGGxIOKeU/ArY/qoUYBvGA/meHQTjgnNfFQLGK8VXJNRDSH0Vg5DCXwU/QXK9IuirEqH1Evfqrc/roB5HtF6pp8ogBRZfQWAfGAMbCWOX10v5SwEPmEc5LzinYE39UmAL1ld+nRFIFQhDXQRrJr8+8JcoxXDNIRD+IuRhDSm4PlHvPMzxlxhjXwQmUI9CWX6dkvw6znU9rJve9Q3n8zRfj3naE5TBfSG/NxCYMzy/fnt5sHs9XF/XY4KuJ0hdj+B+QgjuHWOMrodzN4BgztH10AfcU+B+g/K1gW6ADwy99Yow2IX7GlybXxFSfkXlrCX6Ksb0KwiRryIMcwXHMP6vImAP9498Hr+azwOXopcXQq7HGPXmQwBrAnOhYP5gztYjmAuYI5gLBGsJfU0I/jWY968JKb8GNjdIpb6mMPpannIuvsbT7GuC86/Jp84rJb7GxZ4yLsXXJMJf41AGdjbwLIP2YoNAeAOSAtaogFTBeoUyIdZzrjYojNcriTZA8Gg9rMf1WMExgrWM87UBax/Wv4BrUUlYWwrWDPgroC30/9XcJvgIdqE8P9eTgmO5Hnj2xg7nvyKR/IpQsEaRvAGeEzcoIWCNoRuEVDcopHqc83q5MMZfmVdu4/kE9YH5Hh/zNlA3n8d8DeRrJF87+RrL11V+r/o3qP9vUOfzkH4O0n/NBfl/gfRfIP1nGFOe/2fI/wvYy/XPT53L8/8C6+lfofxzuaD8c1Dv85CCTfVvhCC4r6N/g+v7Cwju6UgRuP/jL8Az8AsY4dyHL8LY82cLPDvUFxGG+7pUX8Rwz4e10LuWEIJrBsMalHBP2sPlelh3N2C4b8E6uQHmCfgJuE73cAR7cIxvAD9uwBiehQpdL5W8HuYKuMobMMHAFqRAcB7WRu8Y7g3Xg4/XwxoH+/J6WKvXw5r8MswFSH4ZzsEzBMPzTAI/DNcsXLcSnjkIUky+rLACvgra4z39whrBGPrDcExzP2Be82tFSehPfQXDeaLwVyimUB/fQPPnNcbXI4TATn69sy9Rw4C+EHCQ6zHGNymFf8qY3F4ul1+xb4lDf/qtCWgCmsBLJgC/db/ktrqhJqAJaAKagCagCWgCr0cCOJ7q2IJmfUEiBv2Al+ZacdzqJtv8TP3MKVXvrI0MfadvYOjbfcNDt9QWDN04uHjhTZX+2o0Fx7lpZGjpzaOLl98yMLx04+CChbcvWDDy3cWjo987aPHo/QcsGty1sM9r9VkoNDM/UWGLpX67HCd8OElJFc0ge2xsPXkKmkIjKGMWjQ1TRUWH4WrBsAomMg3MnSwOyilP+hFm1ZN3IRONj8+3e6r5MxMIKBAQA9lNtNyNUb/H3ApxChVV8MrYNW1EOUdZt4150HEID/uojPr6ikkBbMPvt8+0t/cR/HKOx8bG6Pj4qtx+7sfT9VPKMZeKQugGIyKxlCkSIoXf6zlGUiAFOyRJkiBCM3U3mn/dSQJk25WKUy2U7QHHZQMmQ2XY4HKJko7iohQlSV+YJQNpGlVOHhuzN6FNzLDAJnNhj4NKyYlUsOuECMTkmEkUpApDGSaCRQnsD6BfeS1B20wDZf0WSQ+nWXaWSpO3JkF0cr3RPnyq3lo22Qr6OgIjX5k7ImT9yPQqt4wMD9++YsmSuxYND06O9FezSsFWloEBSSYzmSaxTDO/XscrV65U1CPKsIgsuIzVXOoUDMmgPytL46LkcggpMczmzOK6a64xfsW5vQpgDsm1115rXHvjje769XcU9miTOd4b8NMV1djYBmnZhs8cOj1QK3b7qx6veIyxNDTSZsMJms1Rv+kv7XTjpR0/G4xSaSlqBJLi7YKiR6m0J9tBFDxt8WVmEoQgLkmqhLHDqEFPoYScAAvhKC7EIVmWHSJ4dijnYqWS6giYoKMwIUfBRslRCGFI0VFQ90is0BG5YHIPl0oerqRcCUsob3OYkuIwIeRhgstDc3EuDoWNvEOklIdIoQ7igh8EgaYD0yw7IE3SA+IkWZGl6QrOs+VciKVC8mGSpCUhYBmgV+b1qU99Kvr7f/z7qQULBh+gpvoPzzNvKVeLN3pF55uc428iKr9lWexGF9s32SDDMG4ybPsmTOlNQqkbDUJutFz3RsOy9gjKLMVvIsS6kTHrRkHlTYrimySRN8tE3qw4vcm1jJtd17rZsqybYew3cyl7go3QmzBsPDHGbqRgXyl+o5TJTRERN2ZM3SQdCuetm8CnmyhFIHpTmpKbgcdNe5TehJC4CS5gEII8gvr4RrB5YxzHN3HOe2meT9P0Zmqim6F+T3k+V7st4BiBTXTz3Fzj5jQVuY83mWbet7pRqeTGbpf3JCW5EUvjRiQy6C+7CUt5o0jTm0Sc3pQxCT7LG2MU9/ykMJ49Pud+o5viOADFPcEaAP/FPpX7OS/w/+ZcSZLcAoz2KdggvWVe0OfNe6nnB6yap5nkXOYFNwQYm+oJ1vpN84L5yfPAQ/QEvmwEf59WnMUb4yzbmIlsI8kFeQKCereCzVsxxbcZBrlNCHy7EOQ2nkS3c57cDhxvJ4rezrDsyWIFSPHtsIl5O4ztdhjjbWE3vK3b7UJbcavMslvhMXdrKwxvlTzcyDnaCHU3cp9vTDvpLdD/zQlPbo5yJcnNScJvzjJ5C/h/ixBqI9x6NmKlbqUI+1ookgAAEABJREFU3WpQemvuUy6wcVsWxLfzOLkt9oPbVCZuFSK+FUkYUyw3xmGyMY75Lb7f2QhM9oxbiY2CgM0oupUHwa0yijbC5umtKAlvFUFwG4z/NkMYMG7jVrC/sdNJb+12440+sBJPCWzdgpJko/CTjVEEqUAbM5JthPWyUQA/noJtsC8JuTUDv4M4BQYSxh1uTNNwo4zFRh5ne5TwW9IouYVH0S1+5N8ShuHNURTc9GxB+U3zSpLkxiyLb9pbQqQ3/VLiJikzuP4yqMduTJI9awPmFNaIuBHWAJyT34K5/BassW/atp2neQD6W8C8l4e6efpNWHPfhLJvwlr7JpR9E+b3m7BG8/Jv5OVQ9o383N6C8m9AH3n9b2RCfD3l/Bswd99gWH0TKfaNmPNvxkHwTarUN7nk3wqCDvTLv6UU+xawhRTnxzcSuHcgkdxkUAVjS26Kw/Tmdju6mXN8s2FQuIbIzUqpW8D+LXkKPtySwbxnCG2MZbgx9P2NwAy4c1hH0UbgdUuUtDeiTG6UeZ04vSVS6cZEJrdmmN6aJdmtQTe4LYvj28DGbXAPuw1j3pPC6W1Rkt7mtzqQRlCW3IZQclsUJbcFXQ6puC0J+e0UZbfLLLw9CKLb60Hz21nY/TYy6bfBVk+cp99utRqg1reB7e1man6bWex23/dv54rfzlx2m+0aT6/xmKjb4Nl2a2bk6x4E6z9JwlvjOIBrK7stg+sT1ultFK7VXMCgd+3CvebWXEmSQN34FuBwC/dhfbWbt4Sd5OYwgXWWRLDO9gjmq3ePyFOYg1ueLSgHhqKn+XM5cxjDLWmawpzw/N6bt+vZgfKbTdPs3cdhjd0UP3UPb7VaN8JYv5Wr2+1+M1e73f5Grk6n83Ww/Q3w++tBEHydMfZ1sPN16PvrURR9HdbVv8P5f4c0r/d1sJmX5flvgC/f8EX2jUgmX4frFNZfDMq+IePgmxjKMU+/mcJ6S7vhN4M4/maUJN+C6+1b3ZDfGIbpjVGUwT0ngGdcdAvM+S1Ycbj/ZBvhvrARcQ4piCYbuYxAfm9NgZ+3JIl6StHNSRbekon45j0yb065AWszV3pLmvKcHbCB51OGbiaIw7Mpv2YFsAnh+QbPP5HdKLLkxiQUuT9wXQTfQgR9Cz47fzPqtr4lkfyWwgrq9ljDNWDc4jjWRik5rO0M7n3ZrfD87KV5GXDaCPw2wv11I5HkFknkLfDZ6GYs8E25LSYIXKMUrmnyDbtY/KaA+YK5vA3m4Yc7d+7c9Fd/9b+m4fNgDDb0WxPQBDSB3ziBfANgvzqhjWsCmoAmoAloApqAJvBaIqDUOBZOCtEUWW12Uzzb4e16B23vpOyxlFqbEGM/ptS6yzCMB7Iwe9whTv5/AG4PhdiZWNZuwdgEQvZUudydgl8ctyPbetAyje9YIv0Gjvwby6Z8smKJjinaEQpbWER+CX5xXJJhsjBNWN+st/np4MGVV17LTc+IPdfuVsoOGai6lf6yVXItVEujYESpbBlsqi5NvWjgyB//2EHP86rXakYboRKyrFEq6BKEiosz5CFpuF1iODFs5gsmMpW1Z9O4PmWG9akREkcLDVYdGNu06emA0LO7gF9eyVVXXcWWLSu6LbS00G63LSiDvag9NQmFaIpBCQRTMBcxkhKCRyIlMklIEkQkDkMsEREypuKi0VEBrRRCRdOgcdkumMsLZXOF5ZAhjGSJJ6mbxVk5TfjCKIwPhU2pIyXPDqOELIonWKmZ2jiJeIoESwkxYSpsiamppMJIwO6SlDgU1Ai6Jkqhn195eyYuGkgdSZLsNBH4Z7Tn6kvmZuuF6UYHhYryxPTaAXaeCIlzd0bM/0iZ9ZOCiX/MkPh+0TEerRTMZrXkSINwGfrttNGa6zabc+F8R1XbQW7BRf1l0+kvscpgkXgeExWeBMNcikMh/HW46RSXou1JGT3P64QTTjCKo6NlT4gVsZmujAlbmdLu4MhNd9uwSfP0XGGMVKp4EzaZt5RLhe3VSqHeX/IkTSPkT+8m/vS0MbVrwnr40R3Wtl11MlH3s3YUtTrdYIsS8j5YHnPlzmbYG3seZ17EqdSOhFsqhhD0hKVIGgqTDiKkCxPeRRi3JUZtRVQbpquFEW4ijJpgvieMUINg0sAY16F8LpdCag7qzkI6gxSaUbkkmlZITislp6WU07CxNSMFpFLMwPGMVHwWVFdINBDmDYT4LFxH00hlUxKldc7bfhjOcuj3FX3DNSFHR0dj8KHpOM5spVKZTtP2DGy6zUJHs42o0VO73Z7J5fv+dK4KpHndvr6+qZ6iaKoP5PsVOF+ZFnD+aQm/ZzNvP680TWfSp5T3lQvszuV9QoBpLleJ0nouDxgPDxcbAwMDzXnV6wPNmZlqa9GiamtmZqY1MTHR3ls7duzoNJvNNnBuJ0nS2Vuwwdh9thgLni5jjHXn6+c25iVEs91q7ehMTBShr1wjkO7pN/dhZtFMa6a6R/WB+tO+zvucp/V6vTmvXhvwfV/pfJ290xUrVjSGh4dflPI+n0972/M8r7G3SqVSfV4w13N7C+Z8dl5OX9/svPKy+Xp523q9VJ+Z8RozMwOgmafkNSYnJ5uwIdxotYZBracFG6uNeeV1gE0jmJnpaY8Nr5HbBc/AMvwslerz/T1f2msDdefTvG5fu282l1N3ZpGDZimlM7k8j87kchw0m18T+Vrce1yV0dG5CtxAS8PDe/jkKUxUqQ7HuVdP9dNsVuZytYFP3j5XbgvBdZYrt52X9TngR6696sFDczaX95RPhlGazqUsa2pfArtThmFAnV9VPqZ55dfXswXXyFzuy7MlhA/XYzSbX5vPVn7t5tcycJyGMUxBIGkK1s6kaZoTYGc3XD+7syzbBfeVnZDfAXO6HRDtgHPbc0HdbbnA7yf3VrFYfDJXfi4Mw+256r6/I1eCkh3g+w74rLADbv69PLTtpVJGOxmTOwnJdhFCdkH7XeDbbpjvCQg0TKZpdxL9/9n7D3hLjvLOH34qdD755jt5RnGUUUJCCAlj1jbGeWQc1xgsGdtgY2Oc/u+ry+ezC7bXa/wH433RmmBYvPaMbZKQyBqCEAgGlGYkTQ43n9y5K751BoQVRgFpRhLQZ7pu9+nueuqpbz1Vfe/zm3Mv5Mt5Plg2cbestX5McRy97JjzjnaWjd3vljwHUw+WjWi9FDFmbDFjC5bBnP92yZeNX8cZjPaQ59+t+5Cdet1Zrkd18/1X3Vyrm7GqrRjfVsbHg9Wuib9RMRzb/f5sJ8u6XWS+mDWqJwaD43/XxzDsj4oZ4/6ojI4HYtDbMtgy+ntGx+eV6fPx+WvsHo9L88VMPxOV34nH0XkzBt/eTMyOrhtGjz+vTZyasWobu6skCFatmonB2mPj6+Esc9P3p1JGdUzcrYzi0jA7Ps9G/pm2jq9vzWbz+Jo+WntNX0PDIjL3xSaOkscrZlzjURnda54FUbvdDkfPgZmZmeHI3mgdNDZ6ps2uGZeOOT4e26M4fuhZZeJ8eVTMs2gllnJlaJ5Ro2LOtTP49nowYvJtbo5h9+0y8n1URv5/t5h1KxiViQkzLqtm3RoNh1kjvjMejca3637bVqMzqv/tYp57tYfKt9e4b5//9rHjNMzzsXF8zo76MJqLozLiaebsyreLNM/h+Lj/zKwhx/3PsuOcR30fMRiVh9t99PGon8ftE7Y6sm1sLLsD9/g89xreQhDQeUrpPGJsoeE4K2be9cxcS7dv3240VFOz3EoCJYGSwPOEQCkgPU8GonSjJFASKAmUBEoCzyaBH8a2TIIX7949Z3/pVnuMKTVbcLE+KRQdphCF3O7H0u5m2uoIXO184AMf6N16663hzp07449//OPpjh07sjvuuON4MefyUbn11v3Fxz++K/3Qh748WC+mlmU6fEBl0V01Cy2OGVFoqm67HhGOYmktioabo8FwU7+fzRxNMuch/iZZriuEFtSng/GxGp+abNj1muO4FtSQZjMUofOwFheyNN3Iu1ntoXoP35t+jT4VVJm1rJnp1pozqFe5SIF7ca6ccxNGLKnoqkZkr/kht+fbROM85DLuWiLqTbB4sKk97G78ehsmvvOr7B5uenRs8vrgtza11slK8wyQjbO5yzesJqvj11//Sn9u7hqaSKqZBsG1EsoUhLVGSoAsMgxGkgHJbJ7EJBoODP/jQhWybTfIiDXLkN4qsT4t43klLworz5nFCl5Jo3gyXF3dXCTD842NiywLnydyti7ushovtMFiE0I9goEYnQE0NiBBSsEF5+Y+NXL80WX73JxNCRn3XedcyYqzo/5gbbfTtaI4U5YbYNurdrBT2VsA+kas8X2pHRyenz2t7TvQt2zdB8VCpXiClIkekZvcS5wXRcSTfIijrvB37l71B4TamhId+BZu1Wyr5iPqEOHJIhpHmp9PJL9Cifx8sNS0GTfbFPyQnyYRhN5xyzucD938oeYAp6cJKC4L0/yaYZy9zCTbXjbMkq1Zrz9uYvG7dUZ1c24Nleb7FKivSSHvci06dLGBLlNdDFdx2Os63X5c6yfcTgokOUcjx5czHi3CHsiNDyfkNbL9vRaMxwrkoI5S8utKqY8LLT8qpL4ZafxJAFMQHv1v3E9opT9hrt8spfyEEPITo72U6hYhxS1SyVvN+1uVkLcqpW+RfLRXt4zOSfXtvZLqVnNsrptrQt0qTB0xOifNe6VuBa0/ibT8FEb6kxrJzygtP6+U/KqUcq+U9qDdBva99u2p3D9iedNNN/F3vvOdxaiYNaQYFTNmbLQ/UXnnrbcev3d0//Eyem/Krbe+09QdlVvN/nsvozZPVEb+Pbzs2nUTH5XRuV27dpnjx5adO3eKk12+3da32x61/+3332n7JrN/WBn59ujyiPsfx+/Hu+fRtk72+xNxf6bn9uzZwf6z7DHHozI6t4d9u58jlrtOOH579ozufXgZ1dvBjvu0x+xHZYfZP90yqm/KrfufPE6Pt/nwdoxvjzg3em9s7RiV79z33X5/5/3o/kfPpdG5E5VH33eq3z9dH47PfbNuvP/9788fXoy97NFl9D2Jidn0qZbR/Q8vj7b3RO8f7otZA45/7/Pw/ffC8+H1nurxCe0/TpztN+dHxfTHzI9RjP9nzH97juw64fwYXbtp1038oXkyqv/wssfE3ag84pyJ0+P3n+Daw+8bHZ+wD8fX+MefL0+Xz6i9h4qJDz4qo/4Ze89oDR/ZGNl6qDzUxkP777WPD9V7SnvDeseoGNY7duwx69aoPIP16ridR9Y/pf6b9h5t//07HznP3/+deT9aB0aMDRdpvq3VT+X7jvKeksD3QqC8tyTwTAg84gfQZ2KorFsSKAmUBEoCJYGSQEng+UhAa0Dbt28jL395zRnMQ4MItFEAPyPnxRkxU25YQJ4oJ0+EW6TS4anpxLZtx//mEDKHT7ohBPr6m24S6UKvK8P+scCCXrNqydkxvxrY0lM8qcfD/uYoHMdv+UkAABAASURBVJ7Gk3Q97Q4rF198vWXaICbhjIfaFhI5/fHJVjI5MyarVRs7Dvg2qAmC1PlIyktVzs/UIMYvvvhia1SuueYaOtobG/ZgMKjkjjNJtXOaZdMLEbav0IhezhU+L8rBygWa51rvwogsVgOHWTLhpBhSVAwaLI82p1l6JnC8ESBpjOw+vBj7VsSjMSNMbNVav0CDvtgk4c9iRbJGKVQdDieM4AMqB5FLrVMJKKeUKKyl0VtSRHRu9JPMT6N+kGRDdx7A3rptm8UANzXCG3Mtz0kl3zxIEjvKcpzkHHPOvTSOm1G3vYZlyTla5i8gFlxEEWxORDqZM17FxPIsajtam6YMPQwKGWVEs6KAoojtYdKlAPoR48da4NqWN+469EzJi3XDQa/SafeKNONFvTmJ682JJac+fu8wl19fCJMDcPhwfMbix5EoClch4idZolMjNRZ5rBlLhOApEzxDjKUeQNGseHE94tIrNBJeYPN61ZVVj2iHSEuzpI4VO884eaVW7BJZ8E2LUVTbPRw6hrG9bW6b/Za33OCRlbzJhskGVchLuNA/mjP+EwXjr2Bc/LjQ4nyC9OQeAPLwoNwT1sPlOD9w9NjCF9qd3pcx1itVB+V1W2iV9HSWhHbGda0QxGXa0kZIjBnQ/t+9+mcHc3PXiofbeqbHmzZtyqenT1t94Oju2/YvHXx/u7P6v5M8fS/C+IOm3Q/aFvknpOH9ecben6T5+6Mofl8YDt8/GMT/NAjjfxpGyQfM/oPRIPzgIEo+OAzj/xPG8f+JouhDozKM4w8N0/hDYZL8c2wKz4oPpUXxoSxj/5xn8YdGhRf8/wiW/zMh4p9tyv7ZxM+/Mt79aBG1P3/owfC+G2740eHc3HXsmfb1OaxfNl0SKAmUBEoCJYGSQEmgJFASKAmUBJ41AvhZa6lsqCRQEngUgfJtSaAkUBIoCTwbBO7Y8bfuBvf89WRxcLWOxK8kSXxDb9j9laOL7asPLi5vPbDQXnesG65bjrIz25m+MOLeBdbaF2x44xv/dvT3ih6RrD+Rv3NGzPnrnzqzglG+Rkp5uhJstkjD2rC/jIaDRTsJl2tFOphOot45nc7yVXE2eElaTS4eQn39gw8utlYhxzlBbUbUg9pF97amW8PmWE0RXSAx7AZFZ2UdTvMrXAlXY+y9RBHnkhyJi+trxy5VFevaFKGfkJz/3Gqnc+1yZ3hBmovNWQb1PNMsiaE7CIuD/TC6Mxf5XY6DDhphKx3ztURZH5BkG0DCpRyjl4pcX3mk77xgNfbOU6p2XqPRuABZ6EWd1f5V7XZy2XBYbImSYrzfH1bjvKDSc5QQ0yqTgzzKWJsrOKoQOWJbbuS5tPAIk/lwuRL1j23EPL1SZt0XdTvLV077yQuXhvDCvsAXLw6ziaVharWjDEVMokIqlPNiJAcR6lGbEu07WNd8m455DlmDMTo95+Ki/mBwdqfbWVMkYT2Pus6wvYgH3dXWoNPZ2B+EF/CIb7li22ubF19//Xd/XSBAF5gqdF5wyY3ypAlVAhGlqK2x7WLqBoHreGMWplPjgm0krtwax2NXLEXimijJXhYmxRm9KGz0+z3S77Vxv9N2eu3lqUGvvTkt4nNybK8LzQDFUrWp5x/w67V907NT6eRYVXmoYDJcRXl3YUKE3RexqPOjC4eP/Zhcmn+pZcaw3q6/bJD7P7uwGP/KUnf4mqML3R9bXh6eVxSwQWncNAKMcVQoIbmY6W/WD4/DG2+8UYoDNOfIOoIJfTCo+AdbTWe4ZsKCiRbmrYbLq/WmwrZHhEA6T/IwG6Ts4TZO9rFtHyx8HwamkXlcFAeUTe4vFLvfEtYDFoe9CuN9tm3vw2ZPKd1r2+jBhxcq6F6H4X3sUUXmsB9LU+87hXO6H75buDnm+1WBD4zOcQr7C6wOqFwecyFf7feb6ezskjzZfS3tlQRKAiWBkkBJ4KkRKO8qCZQESgIlgZLA9yeBUkD6/hy30uuSQEmgJFASKAmUBJ4CgX23vMMJ6nK66tDLlMx+NB32XrG6svzSI8fmL31w/6EzDhw5tmb/sfnx/UcXWkeWOxvag+T8bpK/cDDMLuqycJ09vSd4TDMPO/Hu6y+2KjPQ8BpTpwEiFwnGLg4H/dnhoOcN+l2dxj2aZ30vD9uVbNhel/c7FySD4VVxHF8RDuLzulm8YblD/HaqhylS9xZEfdGr+fdUq97yeM1FtmSeTsIplSRbWTi8MhoOXhoO+z/S64YvXVnpvvTY0ZWXHjp27Nqj88svWmn3LugPkg1xrpyUqWHB0IFc6KO9kB3u98LdXLG7XZfsnp6oLk003KRqKwxF2syjwZZk0L887ndfEkexEZKyl/aT3rXHVlauXVxefsnCavvyTjc8uztIpoYxc1KhNeOaI6+aj42NydUszMOYtfNC7hNK3+/4zorvWalvK8TzvhHQ2kY8a1+YxP0XRWF4TXu5/5L5lf4lK71k83wnspd7CesknKdSK0WQAqSZbZMsCOzYs/HAtSGyiVauBbMG/Xlxkl7Q7vY2LS0tN+J4UC3y0GPJkKaDTi3qrKzPk/hizbPzBMj1JM9rF39HREqcQoiCxQXjS4hYHSeoZLbvKUSwLvJMZkncSvrtLUln+fws6lwRJdmPDPvRy1a7g6uX2oOL24NoTXcY+2EcoygckmF/NMb96XgYnZZn4tw8LtYNc+SEQq0qbN1NXOeLRsy5r171lyerjrKKGFh/tRJ1l7cMV5cuG6ys/Oig2/2xbrv748uLyz8xP7/8ivmF5R+fX2j/yMpy/5LBIN9kBKRACIgNmgNSwxLoPFxaih4hICGE9A033SQWlrs9TekCde2jYy0/WremAZvXNdXkRC1zA69PbCdUgCOuxMCSKjcsT9l27bVz4tprX53/6q++IXztH8713vSmuc7b3vbO9tz//J+dt73rXd13mfL2t7+9N9qfsHzA3GPKB05Q3vOet/dOXN5jzo/Kd64b++8x5aab/mr4N3/zN8lNN93A5+bm1CnrdGm4JFASKAmUBEoCJYGSQEmgJFAS+MEjUPYIcMmgJFASKAmUBEoCJYGSwA8qgVVi1R1CznQo/LQU+Sv7vdUX79+3d/237rq3ecfX76rtfmBvZe/+g/49e3Y7+w4fm1zpDc8Js+KlmRTXFhJeIDm0nojNEqsGxMXrHUReTDB5Oefi2uWV9pql5VWn2wtlzjKqitBK28dQ3l5oFJ3V09Lh8Mo0Tq6Js/RqqcTZPSZay51OcmTQ3rU6jD+caX6zH9j3bVk3pZs+cSyRNVnUW58NB5ek4eDHsjj52WgY/VynM3zl0aMLL9v74OHL7r3/wJmH59vr2v20OgzzdhTLu2OmvpBG+IEzN5x5dMvWzhGtsnsqFe/OTRumHtiwZrw7M1YhMunRweL82LC9fH4y7P1IUSQ/xwX7xSTLruv0ez83v7Tyo8cWli5ebPfXrHYjrxcVTIAVCVwJ3/tX741NQl5suDPPDyysrrb7w/vCgn3Dq1UOBXUnqgaaKBaSNOrUh/3ls6Kwe2UaRf+l0x3+l8PznQsPHumM7T/Wy46sxr1erhKGkKAOkb7vxrWK127W/GPjDX/3WNV7wAG96BKYRhouiaLwPCMeTR88dNgexP2Ay9wH4DQfdIJkdWENy8MrtGSXa5Dn0ULPNPt9cx3g+utvypJBsjzI+LfsSrCvOTner7bqgKlC/e5i0V06OttfOHJp0mm/nEfhL2RZ9suDMP7pxdXuVQePrWw5ttxrtXuhneQFitOUhtGwEg+jmSJJTxOMn5dmbE2U5FYsi+Wl/vBLS93uvzDQ/1EJ/LtPXzOJqoQjPlih7SMH/NX5Q2d2V5dfOuj1Xtnrdn52aXn5Z48cXfjR/fuPXXb/g0dOW1jsrw8jPp7lUDCm9rAkuVXy6C5/wl6+8cZrTvQpGv2Gd97KQMBQKLLQGqvHmzZNwblb16NN61oRtdAhyyaHLcdZIMTq+hV+SgWkJ5oz5bWSwHNJoGy7JFASKAmUBEoCJYGSQEmgJFAS+N4IlALS98arvLskUBJ4fhAovSgJlARKAk+JABtGOBx0reFw1cnSocVYpgeDMGqv9numDMwryfMo15qznGcsTBORMu5kXAYMKY9rYZmGkCkn2hC4tk0JrlFCpwqJmkmhrGGiojiTK0KpBQC9gEAuaRm3tUqHGvJMFjnhee5lmQrCuLCGmZCRgrTTVasZL/YxLb9Csb6jUaH3bVnTHJy+pgVNj2BbC1sVmS/yrJInWSUJ00oUMTeMhRWnEvfDPO4Mk2PDMPlmkrF7c03m3WI1ue666+R11+2Qdoa7xNZ7NaDbEYE7gsDZ3aw4/aaPhCMjTXjk8CKsDcJOtRf1q70krPay1OnnuU64ynKFuprYi0KheU3SASDQIyjX7dih5ueBhTw5FuXJt1KZfgnbaldjzDrcbEDXo3mch/20iEOSRbE37Ia0381YZyj73YQcHjJ6fyKse7TlPmAFwQNuxb/T8ehtroVuIYp/xlbyTg/DkYDSIUbA+mEY9+N4GOeyx6VaRQStuC5dxYj3RBEm+WBFF8MVS6aRjVlMRBAcHz9k/O1oN8oLvodp9SVB9GeqNev+Vh23ax7LSN41wbEsSNqrFlFY63ejyuLK0JpfidRCN866KeukkixTr951fFOcSg9pkshcFSwsGE/TNM95lEp7KKleyvP8wbyQXyYYfbnmW/dsnGz2T5tpqXHfYpZiqoiHNO733WFn4A26kTPsZfZwwKwoVDSOBU9i3k6z4qsFF18kSN2ZUWepmWUFQkZGG4F/bNHMr3LtVaJKo1rUWzUYn2qKyclqN6jSB21L3oex2OcwNrCgyh5bvTxzMgkYcZW+56/+qvrWt/7ZxH/7i79YY8q6//bf/tuav/7rv55+29v+ofk//sf/CN797ndb5r7v/jy2fds28o53vMP5qze/ufqnf/qnzT/7sz8b+6M/+qPx3zX7P5iba7zJ1Jmb224/vI7WGo3smHq1v5mbG//v//2/T/35n//5lKk78ad/+rbmG9/4t9537j8+D76XPo5sX3/98b/X5v3ay18ebNu2rfJTP/VT1dH+lddf72+bm7PNMXm0zVF7pthvetObgj/4gz9o/O7v/u7Ya974xtbrX//62hvf+EbvRHUebeOH+f2Iu+Hnvu1tb2uOxnMUNzf+yZ+s/6u5udm3vvWtE+9617sqozF/NKPv1KMj7mbc6q973euaf2rKnBmDN7/5N6sj9qN6o/seqmvawe94/Tscs6+99c/eOjb3prnJ3/7tN02OxuzNb/6rqjlPH7r3Ke6RqYPf8Y7XO++a+53K2/70dc0/uv6Xxn/pl145vm3bf2mZsa+/8pWv9C+++GLrKdp7xG0j239rYmjUp7k3vWnS9HPm13/9t9f89m+/cc3v/d6bZ3//9/986k8NtzeauDcVv+eYN3V+qLft27eTfbfc4mzf/q7K+97+9sbfzP3R+NwWpyjnAAAQAElEQVTcmyb//A+un/nN33zV7K9v27bm1a969brfNsxf+9rfn7r++j+p/8ZvzLmjcTHgHs0bmfEe/a1H9y//5E/qJi4nX/8rr137qp951cbX/NxrNozs/NzP/eqMuac1ik2zf8xaYmw+6TZ3zTV07jd+w/2dbdsqxkb9Fa/45eaP/MjPjo3KK17xiuavvfzXAhMn1nd8fLQ99Bum7p/8yfV1c8/4b//2b5v4/+3J1/3y65rmvf84dR5to3z/JARGHE2x58xz4/W/8is1w7zxy7/8y82H1oSXmzEyY/eIZ9sJTIKxgU2x58yz5I/+6Prx3/u9V82O4vJVr3rV7M/+7K9Njmy+8pXm2WSepSeq/1TOGfv4oXi6ftu2+s/8zM80jG/1X/u1b8fRU7Hx6HtGNs0z2vnLv/yT+tzcH0/f+CdvWP//vOn3Nv3pG9+4+Q/+4E83vv7Nc2tf/2dvnfjOmms/fI1+tK3yfUmgJFASeK4IfPcHlufKgbLdkkBJoCRQEigJlARKAqeMgEhFmPTj4bC3lCTRkSzPDsZhtm8YZvuTOD/Ai/yIVmzetvSCBjGfFcV8zsVqLvgg0yLLsZDmB79HJ0W+665dEC01VtJUZlIPkkIvRAwOpBzulwD3mor3YCxM4p49iBDbj5A4giRbVkz0eCGiJBNxnIr07run879+78eiTSvOSq+3uocg/fWaB3esGa/cPzteOVpz6KKN5IrRubqyYF2Rs36R8X6Ri06eq9WigOUwKw51w2jPYr/3zcVhb9//+rPf6RvfvysU/M0HP50sdI8uhkn8Ta7QV13PurNedfbWPXzU1dkxqtJlLeJ2nA3aURJ2I5Z3I85XEykXU6UOM8CHJKKHM/NeHBtE34UAoHfs2CEXF6LVhcHK/YOid7ui7Ku1Gr2rUcN7fVsc4ll4kOfJIs+ydhbmK8NBPt8bqv2DDN8bc/sbiXbuUHbla1ZQ+WpQq3wx8N3POTZ8Rmfh7UiGd9sYHXQQHNZSHhrG0f44K/blCvYKwPcTine7Ht1DidwLOj8o496ijIddlaexFKKoYSwf8jWpbMk6NXq4UyRfy0X+qaBOv9aokd01Vx6x5fAQSXvHaBF3ZZJ0w2Ha7vTjpZVBcqw7zA8Nc/1AgazdxK/e7wT1+1238iAB65Aq1FGeFgtZylbSIu0eu9dO5t75ofAbkbOyf354n+bqzoqDb58Zqz6wZrx2pBXYRxykFhTLV4okbWdR2k6ivJ0mYjVP9QovyHKW6yNpyveEYfLlqJ/f+cc3/Pz+uVf/7OC66677bl8e6tPD927Vl9j3MycIhF+r6FqjKlstv1+tWIc8Sz1ACDtEjKp6eOcR8fB65fFJJYA+9YEPBGdOVGeQg7e60r7IiMmXZoW8JE/yi8NUXihRdrYk3kblupNrt25tvOc976m+731vb0RXXzIVqGwjqThnEa7PS4bJ+cOhPD/p8/OygTybJ7AFnHit3Vo/9lemzgdMO6Zu0wWYqRJyJgmc84skeUGW8YvCRJ4fsuLsBOcb5vuNCZNQd7dt2/6ECVptxCizZtD/8aY3BW81os9b3vBbayp5vqmFxRk5wFl5r3d2ERdnpymc6SZsS9BLNkyfc8nMn73jHRNv+4d/aI7K3//T34+1Wt5so0E2zU5Uzm445HyHwIUoikxf0rNWV9NNTnPN5G/+5pur11//SAENfshfI/4mgW9/+sMfnNg4W9vS8vGFBIoXsCy6JBPikpDzi7nW5+dSnq6UveZ97/vw8dh5z3v+qvq+t7+98Xdvfet0DWCjp/VZFdc9RzF1Xt+UVaa2SrzmjPrExKaeUmv+5/+9aex973tf430ffl9jy5YtU8HZdON4EJxDLH2+luJCi8kLVWqfOxx2z1xczGa/k9Qc5Q3Q4w3RyPfb3vc+9+Z/eFvjsjXe7KT0Nlc8spUCv8BB+gKS8XOLATu7PRicnmJ34+SGs6Z+6jffXP3x179+JF6NbD+eadBzc3jE5cPve3vjzCpfU5+yz/AtdF42TC7mZk4pll3ci5NLowIu4bZ3EUGtc4IN9fVz/7i9+Y533PKk9h+34R+iC6PxO3bsK94LzqyPZQ25aabeOHN6jX/uxGTjQh/kC3ITeypTFxdCX5JwftlAyYvNmnA+sunptQmyjlnWxFvf+vett/7934+9473vmPhf/+t/Tb7vfe+auuaaF85O1L1NtVb17DFKX+BV7MuqjvXCTGSXhUlyseL8QimDM9phscYa31IbrQlPhN34iXfv3m5/+aPvqX7lk//Y2v6+v55e84qr1rnrmlto3T8Ty/zsNGxv5Tw5Z1SSBJ+5YrFNnVjOPri42PoVIzwYISt485vfbMTRN7bm3vzmmS1rJzcF2N9aca0LsFIXypSdn+P87KLQm44c6Y690ogeZl0cxejjxv8T+fzDem3EbCRYv+ev3lxdY7GJWSg2OhV8pu+jc2ncP08MBuclXW7WmeQshOLTUmmtvWf/4tRr3jjX+oM/mGtcb0TH18/N1f7kL/+y/nazvv3N38yNex7MVm3YSMfoWYTICxRHF2dxZsrgQpaG50eRPJP6dAOtnz5+/fVzDwmATzhut902R99n1q7ROvruuT8ar/LVNVBzT7MC++yUsXN0mm7tdrtn7j+ytHn3wcWZa4ygdMW2bd4111xDn8rYbt/+t975m6fGJxtkc4CDcxHjF2dpcVl/mF2+MoguH6TxpVGcXZQLsTWkYsOA1cfe8pabvG1GzH0q9st7SgIlgZLAs0UAP+2GyoolgZJASaAkUBIoCZQEnucE9kaLw2EvfKA3iD4yv9z94NHF7j8NYvFhRPxbq7WxzzQazU83m/VP1SvBZ+q+/Vnfxp+VIr21yOIv5El8X5LlPfNDsHqcbuoxa3XQDqMDC/3w9uUw+UQvL3YwBB8TFN8sCXwcUfg4dejHbd/6mOuQm11L3era8tMWkV8gWN0plXywYPHqrlfOHhcGrtuxQ7mLNErj4sEwiW9td1c+1B303l9wtkODsQXoVgT6kwjDpyxCPmNT67MU408LXtwiWP5prdmXMsH2DvCG3ol83rFjj8lBr/ZSFe4RefbZPI4+Ilnyb1gUH6ZIfNj49BGM1Mc0ho8DIp+grvtJbFmfUpJ/Mk/T2+MkeUAUxeDWyy/nj7Y/e/GuXA9lGwl79zCNvxQm6SeE4DdjrG+2HbjVpnCzTcnNtmV/GiT5bDLMPhdH/LYi159DxP0UofZHqUU/LJX+rGTiq35B75O+P5+jfL5IigdWVpa/sNruf4wz9FEg5OOWhz9BbfxxTPDHAOR/GL4fC1z7E3Xf+qRnoS9hkPdmUbTsRFH6kK+jsbzxxh0cWHQ0zvntvST6aJIX/0ZMfQeTmz2L3GoD3EoU3II0+gQgesuocIU/oYh1i0LWxxhX20Hjf7cc9yOUkE9YFvosRfBlpMS9dsVa3LXrpuPizA4zlsuVSlLkw32DMPpkr9//P4MofH8h+b+Zft7suu6nLUo/Y9vOZ32v8jnXdj/tWt4tnuN9hAL6d8WLj7KUfVXybB49/qeOHura8X1mMnpMIK2IB4j4GqijbMtKPZe0bSqWKeSdg2Kx2LlzTh6vUH456QS2b9+OCxGeSSj9cZfQ1yGNf48z8Ts5F7+VFvI1OVOvFgr/MnasVxJsvYgydhGy8/MspS+zKHo5wvKXkdK/hZR8XZ6z6zPGX5Ol+jczQV4tBH2VcvUrFEEv9BQ+hyN0GqXoEuzgH6MW/DpF+HoAdQNj4jVpzn8jKdh/5ZL/PHLzlxR1WDNxTtt7og7veMtbrEknr2okTpeWejHSehul4jeRhtcpLl9XFOq3M6au56B/UwD9NdO3X7Qx/JQL9ssKrq5QQlyZpuIa7NivtKn1q2ZO/o7n0de7FP2eLvIbJOf/VQH8AmjyUuE55yrvSOswgJlyT+TVD8+1Xbtuoo6Mxk0S+5qK5f5Xi+A3ac5/L8uy69M8fXVasNdwoV5j4uZXLNf6CcsSl2GMz0Ei2KodcoljwSsAy/9qYfhtKvTvEA2/neXyhrTQv6WJ8xvECba5jvPjRJKrmKUuQ4m6jBD5Y65jvSqw3RtsrG8wa/31SKnrlVC/KXPxKwD0x+I8Oy8OAm+bie0TjYZZV/FNN91EE1vP0iC4GJD6GYdav0EU+j1Xq9/Hgv+eypPfjNP8V+M4v04I9DPM8l9i2jjXlrXJA3H8hHF588yM23CicUuLSyzH+VmLWDeYOP99IYrfVyn77TTObsij7Le5kL+ttHU9mL5aOPgpR9DLQjKcbLUue1qfdjpRX39gz+3cSUQKGxTGV1FX/XK1Sl8bVOnvVj3n9ywEvyfz4nckl9cXQl+fS2ViSr4mY/LXpWVdp23yCiXcayTRL7I1frElyMuxJX9cSvGTLsE/41jkl6lNf8t1ye9VPPv1Vcd+nWT5a6J+9F+VgF/BgH5WcvIjVImzWH1pzDBGppxw23Xzze5w2ZvQ1NqaZvJqi8JP2R75Jd+mrzax/JuKi1cXLP71PCt+LS3kr2RCv4orY1+TH9MFudIT9AKB0OnIQucBuC/EPv5Jx7Z+2XXc1wYWei3V4jUsT16jlTLrG/o5zvnVtcTZuGvXohHgt+ETOlWePCGBDWZt91TYRLiyldrkR4gjf8mz8fUeQa8HIX+Xs/y3BdOvERz9V4HIL+ZC/4zW5OUI+Iu5rS41YsuFPtfnB1hdyHV+mVL0WpuSV1IHftmx6W86iF6PpPgdxbLXsCz99bSIfzWT8jpGyE9xwC9KbHeLEX5Gnzx7vHg6/mnJZPH0qoeiNZTjc3OMXiqkus6x4LUWRa/Tir+OFaNnMP818z3tdWYt/LEiJ5e7hbMeGhsrJ+z4w06O1kYP+2uJh67yHfKbtg2/A1L+bpJkvz0YRq/pdge/3h0mvx7m2S9zqX5eCP2yQhYvGOa92U2HDvkPM1UelgRKAiWB55xA+RB8zoegdKAkUBIoCTy7BMrWSgI/TARuuOEmvnCw2+u0k93Lq4Pbl7vxZ1OuPo8R/ZzrOJ91fZO8t93Pujb9jOvQ2xwLf1Fp/hWRinuE5AurycJ3xYcTcbvhpl08nYdeP44eiPLsayFnX2AEfVlS+hVG4A5A8BULodsdh37RpviLiKIvEIy+QM01hOQ9SPOFYa0Ww9yc/o59Pbdzp7CdpX6exAfCJPxqEg8/J6T+HNb6c4C08V1/TptjgvDnCKafNz/k3gZM7FQq/zrK9V5Bu4NdN93wGIHnIftGRGLdrtWP2tmRLBncBaL4igL1BS35FyiGnWRUtN4JoHdaiH6Zgv01JtW3dMYOYB617zjnnML4a/LA37H4nd3cHKj37zxc7I32DlgCR7OC32cSeruQgjtsBF8kVH2BgP4iJfbtHONvsDi/L42yB2UGewWmD2DPutsCcg9YcKDSp0sve9mlw10f/3j26Q9+Og1DGC62Vw6v9jr3MI6/Tix8B6HkdkzRVzDGtwOI27GNxJDUBQAAEABJREFUbvdt6yu+g79aAbFHS7lIoigxQo78jovHdwiBnrtpV/r1w1/v9HvZ3jzPvmlsfNVF6ssOJV/AGu0EjW/TmNyGgRgu+ItSkS8TRW9HZiwFhy9pqr6IEP2iZdtfsgB9HVOyx0rk6h07dhgJB/TxhgzAUdv7ekV/2I/39cL+V5Is/aQW4lbzDfgnHUI+iQi6xSL0E5bl3Ewo/Tih5GOWTT+KMXxKsuKrWZYclT0Sf8feE+5MTKCcOxbPSTAIpeoOZTyM1SAr0ND4GBMte7YUw13vfvdI4HrIxye0WV783gjs3r3dPq+VNcbr3kUB1tck/f4VvdXuJasrvQv7g+yiKIcX5Nq6JEfWCxS2L8AWPsfx4axG4JxVq+MXeC57MdHhy1nYeXG4vPjC1aNLly8vDl643GNX9FLrqli4V2XIv8KqtC70J6e2Vlr1MyuN4AW+R15EEH8RFvnlqsgvCcPkBZ1Bcmk3LF6US/sqTFuXallZY1l28EQ9agPYHkC94oiNVUtcXCXiR0kev7TotF/SW1x4cXupc1Wnm7w4zuAlTLnXartyLfHrV7m1xmVerX6x36xeWqtVrgwC+9rAI9e4mF+FRXS5TDqXymx4eZFnV8ZMXRUycnXIrcs7qHl2p+dObpubs0Fr9ES+/TBcYwdJtU5ggwPiGlXE1w46K5f0uqsXD4bdi5Iiu6gQ6mIO1qWSepdq6r6AONb59Wr1zFbV2dogxeWBjF9qZ8OXF9321YPFpSsXjyy8cGU1vKIbyheFhXVNRqovQcHYi1uTG17Umpq9otqqXV4N7KsCF17sWeJKXcQvzIb9ywZdU/rJlXGsr5bSuhRQ9bSi5/jTXzIa9AkG4iUvAbxxo2dbmE8Y8ep0n6grbJlejbL+i9LO/GW9xcOXdubnr2gvt1/U6aZXdxP0slgELy28qSsK3NjSl7MNs1w+7vg31lQc1/bG/Yp3fuDbL7aQfLFK48uTlfYL+gvLF/eWuhd1OuGFYcIuyiS+JNP2C6XlXYC92mbkVOtFg9ATuF2eehiBPZNtrMRw3ELJ6Z5dXEZ0dAWW3RfmyfKlYXfh4vbS0RccO7Z08dFj7YsOHulesNDNLu4zfHlGvKtI0Liy3hq7vDHevGJ8rHVVq9l6aavReJkpP9pqVX+0Etgvdai+Csv8Yhb3Lwg7y+dFnc6FcTe8OOwmlyepvpxr/2IF1Y22qjTm5uZOGAtaz2GogB/41tRY0z231bRf3KrSl1c99XKKkx8p4s5Lhv2VF3fanava/f5VvZhdFYP7ktyqvki6jUtIdXKrVW2dRr3KpnqtcmajFlw43gyurLroxR4qrrJ4fDnkw8tFFl2eZ/FVWZZfLbRztUDeRaI2tpEH51SvmZujUL6eEoFgYoIGDq0ENmxwNbvIYvFLZNS9OlpdvKK/ZJ5v8ytXLC32rux0s6sGKbqK48Zl0qmeryz3NGU5m8Clm+2Ke0bgelsr1eCCWt2/NKi6V3g+fZFD1ZVEZ5eLfHgRS/oXp8PuJWG/P/qE7xWx8q7KreYl3B/fAjMX1Q7DBvtEDt92223kZ6+4wnPrbrMRVGd9AmfVXX1ZjfKXoqz7Et5fvipZWbiyu7jwouX55atWe+nV7Yy8pI8qV/a91ln5+OTMK6+f8695nJgYfU+2dSvQIKDrfVtcRFD8Ys3DK/K0/4Jep3v+ylL3/IWFzgUr3fj8XsjPM98fbE0L2JQyPl1IVeGZZcFJfJWmSgIlgZLAMyVgfn59pibK+iWBkkBJoCRQEigJlASevwTe8M5bixve+qml//beex78x48c2HXLlw9/7Y77jnxlz6FjX9qz95Ape7607/5vffHIXV/8ytKdH/vGwm3/eve+z7334Jf/+X/19+zYwZ6sZ2+/447sHZ/dc/SD3zxy/63729+6czW5+2DC7u0zuO94Sdg9g/bgrmFnaVe6fPDr4fKeO9uHv37Xwbs/t/eBOz/X/U4bj0joz+3Yw/5u512Df9q1/8BH9i3cdcfy8p339HpfPRJFX1mNotujqP/lqL/45Wj1wdt7R751R/fQHXcuffOz99//pf+z9B17T+j2rl27+Nf27w8PLQ2OHF3u7R4MBt8aDoe7hp3OrrTT+Qbvdr8Oy92vp/v3f7N/zzfua9+xc/+Br3x6ddfHP57C3Jx6AuN6504Qn93VH37tnmz+/oOw79gK3DccwjfTDv9G2hl+I1k4fBc7vPeBfOnQkfTIkaXVQ4dWOvcfWdp/z/75u/fuXdi9e3fvjvk7srlvt6NNW3okxHzqU7t7t99+8OjdDyzs3X803r064Hf3E8M57t/X76/c158/dM/qofvumb/33nsfuOuuw3ft3DkY9dPUP+G20/j54c8tdG/5yuDI574V77lrgd91sJN+YzkM7+yG3TvD7vKdw87SN0z55qC9+K3V1fl7Vlbm710dHLp7YWHfXQsLd93VNmX56Lf2HPrW54/s2bNzJPSM/H1Ee+/fuTP/nzt3dv7xq9+8/5+/cfedn9yz98t37D/8hXuOLHx+39HFzz5waP+nH3zwm598cPeXP3nP1z/2yS998n9/6jP/8Xe3f/z//tXuj7x/bnDTf4qBj7D78DdaazT69IhnsqZa2a2VDkNHF+Ph0irvdvs8BEEyh6PhoAExIPQYHx9uqzx+egQMVCQPdQKu1Wxgo4stEC9M+t1N3eX2zMpSb6I/zKeSAqYKcKYZsqYEIdOIghF18FrX1RsDT2+1af4CLKMXFsPVs/pLixtXjixtWl4cbF7p8tMGmXV2LNxzGPLPQX7tDKde22JVvM1eYJ9te/RcC4nTkCo2GAFpNo7j2W4/Wd8L2Vk5ty7UtHq+JsGMVEaueoLuzdaBOsg3+Vk9UyHiTI/IF+IivrDod8/qLS2f0V7unNHtpWdEOT6Hae88TYMLsBNstf3qmU4lOMPz3LNdzznPs+kFrgXnuFRtwjxaq7L+GmDxBs7y05NCnJdwfUUi0ZU5h0slxuvS3AmuectbyBO49kNxySK44YI+jSh1hcjiC3orS5Pt1eWpXr83neT5dKFhmmNrRhJ7rSbWBkTpJtd11we2tcXD/AWOyi8nWXgZ63TO6M0vblo4OL9pZSXc1IvU6RG3z2Wocj7yGhf69bEX+LX6Ra7vXei55ELPQef4RGwmLF1fhIO1/U5/3bCfnpal+lzGra0anPVEW4HjFCdMnrfbW7FtVy0bo6qF5YxP1Fm2LM5C6WBzsnJstnfs0Jre4rHTem0TR2F2QZiqK1NhX82J/2JJKmdy5I/D3FvQ4w2y5SLbtUnDd+kWz6XnUlCnySRaG6+sTgwXV6b7S52ZXjeaijI5mUo8lQNZx4k9Q/ygRe3ATQbtH/rYejy2D5237QrieVTRkE66VrHewsONmnU2ZtHibL9zbHp5/ujUsSOLMwcPrczsO9SZXOqzNaGgmzn1z0Nu9XyvWju3XmucV6tWL6pUq5dVK9UXBpXKFdVa5bIgsM93LH0aVemUTPrNaHWpGXe6U0k/Whf2ExNn8iylvTMFcdZIYteMT6Mc1SPiQWsw71+CG4HtNRzaqvr09KpHL6kG5EW+LS+3ILmwSDvnhP322b1u7+zuID6rn4mtGfYuZLR2HneaZ5rYX0+9+ozl1qYdv7KhUvFOr1e8s6sOnOEjvtmSyUbC4w26SDbxLN3K8uIFUqEXFZpcjhQ9NxdiqnbU84x/5fZUCNCIOBQcl8Kkg+QWS6QXqLB7drQ8v6G7sLShvdDeaJ6Np/UG7Owkp+dIUj1DWtW1krpjmlotatEJy3FmXc9d79rOFi9wzvB9+3TPs7ZYlt6AdLFG5sNJnvTX5vFgQxgONsRMnpki78KCVs7lVmWzIFbLdplzInc3AlCoVILAsxqOa035Pt1QseHcgIpLIOtvLfpLp0crC5t7iwund1ZWz+4OzdpVwOWRdl5UEPd8SfwNPRsaxbB2QqFnx44deLM3QyuunnEpP4Pq5Gwtow1ZMpjq93oTyyu9yYWlwUy7m071EjkWMmiEhaqkTNmR0DSJQnwiv8tzJYGSQEnguSJQLkrPCfmy0ZJASaAkUBIoCZQESgIlgZLAMyewfft2suPtb3fr69dPVaZnt1Sb01tjbo0v9gvUHjKZ5FBUHC+3PcJ33nijfOYtlhYeTWAk4O2/5R12baY1Xa/aFxZ5ui5NkmrGmC6EUgKwxLYbIuocVAjfLqTaybLiCyZB9LU8HewGHh8GGXdY0s/SsANRvwuDbg/6nQEMhjnEBQBHJm9pVwu71uxp4i5wDUc11gtA0SHHwgerFX+14vtx4LmCWhYTgPgwZSgptF9IXEPUcyxaf8JE+mAIuZS9novFihGkBhYUINMYFXEISkjNuIIoU5BwArm2UrD9owLobi7VLsHUN6WUdyKtbrco+aLn2t+oVP3D05OtaMOaKVgz1USBDTQLO25vdbHeaa9sitL8hWmhLleysjXInR/q/92vtUZ1F9WQYhMmWWm1Vwd6MEiBcS0QthPb9tuOGxy0Xf9uw/srXIovSy2+lqXRXpb02kQWAlikirgPw+4qdNsd6HaH0I8YRIwAx1WQJIixU1kC4hzGln3EjNG87ztHqxV3sdkMetVakHiex7QmmnMEBQOQilgKbCvPAcJKTT869kfv9+zZI6rVdYngxQrI4piWrIMET7EcRWEBuihA5hJMQp5kcWT1ej2rOwinO/30PBNPZ3JtTW3bvdUIBCNrjy1U0zwveMdy7P3EovsJJZFju9x3fXBsU9yKqtTGuOtX29Ty9koNX8kZ/2qcZPdkRba86CTZY60+22ee3+2dNu9J4sJRqth9SiT3OJh1fVsBkRmIPAIzbpCmOeQcQBEf7EoL/NYMBOOTyK03QuK5h8EiBwil+y3bP+j4wQHX9/chSvZ6nnuw2agurZmeTDatnZab103BVLMGFdsCqhBoE3G84KM9UgSjxcUZZObDI4Ch49HR1prKnBWiJwQ7YmF2pF4jiWtxCdysUSwGzjIouEAF0yCUBdhrgFUdZ3ZlLOTIXdCIHvX92oLluAvEsQ9jAnt8394z1gj2z0w24pnxmpqsWxAQhnQRecNuezqKhhdmSr80BvvyttIbt23bNlpHj3sE5etxCSR2XrBk2PUtsRRQ2a7aIG0szRJXmHESkDMFiVljBPaItsz6hN3QxNexYZzez5jYY5bE3Uip+wQX95r17ltSiK8pIb4Kin+VIvUNj8L+sZqTzIxVxOxYRdcDmxPLAgbUYsQNGHICqi1X5s3ReB3308TV8V9bN6fn8GFzhiIkkEVz13eSSjWIfd9RrkUdJDnmZtlIe6O4KhBWwoKC+ZLLKSbhDEm8Fwi7do7tNGdqAJ4x9Zht27brFMwAdy3crVbc1bFWkDbqnjTParAcH6hTBcdvaUyDSEo8n+b8W5zrezTQvabvC7NVCB9jtDxREigJlASeQwL4OWy7bLokUBIoCZQESgLfXwRKb0sCJYGSwPumhR4AABAASURBVHNL4HjyY5TAuv7666253/gNN+92x2rT05ura9de5Y3NXsWovSnRtDZgoCMOPBeQYURiIgIG5aePTs3o7dxJcttrBAS2BJ79QkB6DZPKyoUWmtKUOF4XLGuvJvgOjdAtSqtP53nxpSQMv1nE0QOSpUcUi1c1SyLFcpWlsU6SBNKsAK5NgpXYClEn1thaMAna+xQiDyiN90tAhxCo+yjFdzo2/brj2Ls93z/m+pWu7QcZtV1AlBKNsIUtG4Kgop8IQLB1N3c4i5AWKxYRqxYWBQIutVaACAFse4C8mlZWkHLszivkfINL/DXG5Z2Cy11S6TuN/dsx0p+nlH7atuhnatXqV6cmx/Zt2jDLZsYD4qPUkdFKPektzQx6nTOLLD9fCDhP6OoszWae8FfsGds/kJs2IvA9n/4bX6tijLN8oj9IYBgykXOqAfkxsSoLtlu5y7a9L9q2+2kp9Wdyyb6MlLgrT+P9iqXLBLGRgCPyPIVhFEGYZpAybUQjM2ZOTWG3XmjiHUHE/pZU+FsIo7sIwvfYjvU126a3u659u+04D/pBtRtU6tz1KoCxAxjZChQ2oQZ8FswxPPY1NzenLrnkEk7trK2kPAwCDiKpexZQ84+AhTA4BIGNBMYyJXnSw2k0rERRPJ0xsZ5rPNtv9isXX//uE/5P/mg+MWESdQDDHhOJu4hl76Ne0PHrY7zampS15mRabYwtO65/D7GsnUrrT7KC3R7GgwfiAenfdMMNRvZ4rN/PxhnDBt922230llv2Odu3b7e11uTZaPd7buOaLygP0xUMuVmPsm84GOYrNi18C2kbAWglwbAHTB3wqk2ojU1Bc3JG1sYmIq/eOmq73j3Ionchy9pFXPcOx/Zvt2zvy5iQL1Kb7jQi0m3NWuUrU+OtB05bvzZaNznBZxp1GAt88AgxTyqRaC4LxbCYnV3S8NiXObdNM8fLEEFtLfIDGIsHfRcvepaKfSLBQQroyFcTKMQIi3bQUtWxaRbUxjuWVzuEsLNfY3zAd+0jjhEjEab3aaS/6lh0ZxC4O8db9fvWTtZXN69pwFSNIhcyO++vNpJBb3MSDl9QsOJiAfz0pS0vqG2dmzthrD7W7ZN7xsSPEdfm8HazZozKKL5G505uKyfHWhDs5iIbRlQXKxbVK4FDmUuIxgiBRFgLbGtlB0AqDW3Vmqmm3rFC0r1hFO9mUj6IlN4rAR7QIO9TSn6LF+KrUogvAMjPUKw/7TvkqxPN6qENs81o84YJtH5tkzSbniQ2KYAQpShBXFPs2tQw08e/dzI9Q1u3bkVbYSuanJxUUBSs6lux45JBrVpp+14QuW4gKXXMRCVATNSZ+EcO0piKwoI8rcg0mdBKnQEKnc41meHgecbuYzbTTX3xxUvSCPUrFd851mzUV8earWFrbKyoNsZFtTlt1q/p3A3qC2Zdvpdz/SUh0TcRsg/SBu+bsWWPMVqeeG4IlK2WBEoCxwng41/LLyWBkkBJoCRQEigJlARKAiWBksDzmoBJKKCZmRmydu1ae9ZxPKtO6z7Gm4y48CKnUvuvTq3xC30O04k5wSxXFcTimYZUsGygCXvOkqjPB6in0od551tW4MhpgvT5gUWutRx3SlJL5RgzUq31gsmxg8i2vlCI7KPKQv+ShvEtftb5UtGP73acbC9P42Mqz5ZAyqGFkdFihM6NqiIwAsf3oNqsciewVwSou4fd3meiqP8Nguhu0PxB06+vcoVvFYr8G6beLdVa62uNscnDk5PT0eTUpK5Uq8YVi9kWKVwfhLn/cbfrrtshJ2BPLlS2RLFYcBw8sFyLWb4LxPOQ1xyHxpr1ymtOtpVVuTfn6OY0l58TWXoHaRe7xFL7G3kn/8pgEN/aS+N/iXP1rmqt+Y9r1q275ZyzTxueuX6Srqsj1xPdKhsca3WXjkykUXSWkuoiJMkZnoVb8EP4mod5GwNupXk8bWJkPEqVSIVdgDWmLWeq57jTu6uVNZ/w3eq/eJb9QZs6H13nky9F3e79kHYOWlAsAkY9JnmRCQ4hY5ApBOBWIGhNm2T/jPDrY7EG7y6Z8VujMP1cOIx35rn8PBPqI1nGPhQX/D1GZfpc0Bw/PDmzPh+bmNUVk9h1HDdzLBJ7YGWLi8zkcx9/gKr9ehcJtV8KepfWzoJlVcBxqhD4PtSrFOq+hgrNARc9YEkX0jgkQohpodQ65uaT1Cm8E1m/5tWvLu64Z6XTWep+K2f68ziofplWxg4EU2vT1oYtfHLD5v74zJr7A7/ySdD0/yLJt4eq+oVjk+LA37zp5U/4dwxP1N7JOqe1Rj/5kz9JACbdSiWqTUyc7t988y5ndP5ktXGy7CA0p/7xX+/pYxbvw4X6csWy91ddL2oGVVkLKuC5HrimBLU6tKYmYWbtGphdu7aYnJqZb05M3uv6ldutmns7sshtXKmPcwUfwYD/nXi17QrsDxQSv9v1vP/fzPjkx88584zF0zesybasnYLNM+MwWXVTwooOZNlQxEb5BJOaR0g/um8IIbV16zVpEQxXNC0esLC8y7PRnoqF202zTjY8FwLHBcsy+/oEjE2vk2vXbU7GJ2cOuV71TrdWu7tqqQdcGR4oJLoPKfiq5uiTQsodlFofWrt28pbTtszsufCsNbB5yocmLTAfLLtRe2Fy2F0+LS+Si0ysnqMLZ3Y2mzlhrD7a55P9fvRr0W69tWV5Xt8xtu1vxxcgc/y820bPk21/+PZcIr5qg1j0bSd3XVdS2wVl+xqCunbGJiGYmubB5GQf++4e863LXWpDcE9xyZn7D5+58eDW9ev3DVYHe7B0vrW0FN0e1KxPiaH+sGt5/7p2vPmxszav++rZp69rn3P2erx16zpv/doaDyqkgywZKc3ziCuRu0KPuN144414586deGJiAsEOACMkia3XXJP5hIY1129Xq7Wjnt9c8SoTkeONSb9Sh1otgLrnQpVicHUBKB6AHHQsxPK15km9SUq1JpHMf3z4N2oL/KVGrbl3cnxq/+Tk7PLMzIZwet2WbMqUibWbw/Gp6fsbrdaXHb9yq11t3wkrG46+f26ugPJVEigJlASeZwTw88yf0p2SwJMRKK+XBEoCJYGSQEmgJFAS+KEiMDc3hz/0ttdt3gDLV+uDX//F1uDwq6KFB647dnj+F7/8lS//9O1f/eo1X7j9azNfv/d+cmilrwa57HDi7ANq3Y0t+gBjaiVZGJYJiVMUNRWv6UzXq2cQIc9K42g2y7NKITRgt5LZlWonqDcOuhXvLuqTB6td2V/vZ4kZU2aKsFeH3Ja5cADZFJCDESJ5IVDGJZjsO9i1CvjVCrNda55a+ABW6oAWciVwxDCRK5GM7Z7W8WIh1B6N6X3UdfaaRO2qX/ET3/dYUPF4reozx6JcaGyMPjGE9tYJbWlzKwiBsEmXgtYSmx8ZHU9b1Yb2mxPSrtSWiFfZLyTfVyi+DE0a3nmnm4dhWCwtLeVHjgxjzrNOTv1jSqE9ro3vrfvWfMvH0WQFkM2GWERdmyVhjQmxrlD4TOQ2zrDc1tS2ue02mHiHU/y65R3vcP7j79869r53zp11001vu/Qvb3rXlXP/+P6r/+If//Xq/8/7PnLeH7/vE9On2IXj5rUGJCaceiMIznMCcrZl4bUSUySxn4LdiCx/bMXzmgep5dxlEWsfrciVzU2Ir7vuOnb99TcISxccQBhbIuBKWkxKUNQCZNRC7FfBqjTAqTbyoN5aol7lKBToaBGJVYeQTk7yTlGIZQHuEYzQg4rae7HtH7b9auj4gbA9D6hFGUE4J8QuZmeXnjB+bl5akorJrCjkoBC0x7U7xHbAg1oTpqYnYO1ME9ZMeNBwOVAZA4sHhBf5BOdirV3z1zSmncCEGzKdecRmTmgzV5Qtx8NcwYpQ6JhwgjaqN1OnNZm7rbGBW60dJo71oIVhn1Md621JXp7tuO46CeixQsQjjJ/kNyNxaPSJo9s/9anJz370lnOP7V992eKRQ7+4/8H565dWBr9YSPbiHTt2Tr3vfbe5J7npZ2xuxDjMZcFS0UdchUiqDCtQGJDRJxFQk/j3KlVojE/A2OQkjE+Ny2arEVbq9Z5tux0lvB7CuONwvqJsewkhZ6HhO8cUoYdRrvY51N7tO+4D1SA4Nt5oxFPNOgQ2gYAgbkSg1CMkploVc3M3anjk67vvjIhkxIA9oh9FqdYsEgUvqETSxRRsRIAA1WaFEbYbFLbv94lt70WUPqCUPoBAdd1iNWm32znEcZjnuC/7umM59SVse0cqvnffRNU9una8ApNVC2rULIE8MprakKbR0ONSTiuEZgFoK5XK+a5Tp/jg3e9+t/XZf3rr2Gff89YrasO9P8nnw18Yrub/ZVgkV33j4NFLbvrIRzZt/8xn6nO33UZPsSvfs3kEoB2qBaWIETPOhp/iGoEwa5Q265PdmgSrVk+oH3So7RwjjtPbOTcnRnN3VK4zc9jEpbjhhhu42bNt296YB2u2RhXsrtZ8b7FVqx2baAXJ1LiPpscrtFl3hOdC7DgoszxcWL7gEiVqz5492jivrrnmmuNl27Ztyrw/fi7EjBeaMSmFMAtnqrEfYrfGnGpTBc0m1Bs1GK8HMFtzYMyW4LEI837Pi7q9ehjGE0VYBNfMzVEAM1Hgsa8CbI6RxS1ig+/4slKts/rYZF4bmwiD5tiKW6kdcBzrkGi48a3vfCfbscOsWwAj3x5rrDxTEigJlASeQwL4OWy7bLokUBIoCZQESgIlgR8aAmVHSwIlgadJAG2F3RQQOR1AXINV8Qsg2S8UefZz0WDwM8uLyy/bf/DoxV//1u7WN+7bpw6v9LJBIY8ybN2NHOfr4HgPDIOse8459eJptl9WewICWgNq2IHrIHw6cL45ieJ6ljOHI6ysSi3y643loNU41JhqPFifriy+851vMAnSuVHy6rhVL6ijAGHbx3SMal3njJGCC1SYJBtyXXAqgfbqQWHZZAETfBRssRzHEF535ZXZq699df7KV74yDcPaMMVqUWF3njrekuX7Az/w05GAVKl4uW8KsbDREQt5vNEn+LJnTxuBC7bG3BGKEaYlGgWOoLZGXkXbtQaz/MoKdoOjmtGlo+zQcM6IGaOkl0nwqe8U8epXz+W/+qtvCFkaLnlIHQss3a3YIm/aAmwjHkAeEZanrhBqQgBZj6i3UePK+DDOrW1bH//v4TyB69/Tpby+VLGdbKNlyUsYY9fEUfySNOMv4xq/rFD0MoTd9du3azISBL4nw9/jzbt2vZt6Nh63iHqBReAcM8azihBQ1E+sYDz0q5Mdvza96HrNQ2P+upU//vVfT64zSdVvN6PB8oHajvIxUeNCCT+XAjg29U2yH/sVsOsNcI2A5PrVFWoHK2kRdzriSPStz342+dZnv5W02zxaiyp9Vm+tCkSXFXVXieOnth8Ix/e1bTu5ZUAVxUCMxvbb7Z746+h6Jm0ZFpinHOepsFJJA+nVWjBT/qnZAAAQAElEQVQ1Owsb1k7AhpkqjFc0uDoFkQ2xyPKW5GItWO4mIE7rx995qw3aBP8JmmgHR1TMNc8AEm47ifRrKVTqGa3Uh06ttuS4/uL73vab7Xe+4SfMHEPfnWMnMHXKTu3adROtVkXAVbzBxPcl0XD4o4Nh+LPDYfKqMEp/JoyLq8JMzGR24p0yJ56BYbmY6WQ1EjovlM641lxoxQUopQFTC0xcQMUk1WtjY7rRaolqNUhq9WrUHMdJtQopnp5OHcdJ1tbrESEkPO+8q4Yve9nPdb+8d6FtCb7oUGfJsd1uxfWKeuBDQAl4BEmf4sK3IG1hmgMY2QEe96VHcUYgFiJlWufSAa4szDWAKUgZwZA4CtteiqjT0Vrv1UjtZ1AsxG2ITd3jwv0b3vCGwogS6a//8R8nd+7vxePT6/qOHyw1PKs/7jvQsAECJIDKHMkiQXmeUiFVQ2pocS1rWmbW43p4ki9shr6PMV5rE3kNKPbTrMh+Ps2S/5IUxdVCqSu0pGeGqZzYAEBPctMnxVzFocSiiEolEDOxZMQ3KJAFyq0ArbU08ioxcr227XsrxLKjJ2oUIaRH698rb5hLp1qVqFKrJLWaI2pVG9WqFtR8LFwHMseG3KK6oJoWvh0cX7sQMtFhirGvzfF3S6tVVa45iTA4EhPNsZWDqUODuq6MjcHY1DjMTDVh/UQFpnwEgUwRG3atrN+r5Ckbz4u8zo96HszNIWPmMRspOKYaW0jqgGLsOI6N3GqNe81G7NXrXT+oztuWs8KSQJjKJpDN13IrCfzAECg78oNEAP8gdabsS0mgJFASKAmUBEoCJYGSQEngB4nA9u3bMGvZrk2LLRawi4HHL5RF9MI0HFyydOzY1sMHjmw8eOjY1LH57vjySmR1+nmnF7L7Eqa/WAjxFYwGBy8fGxv9790yMXEqAmPHdpzHuacZNwnjfCoKY2BCmWSrw7xqvRvUqwtexT9WIY3ebL7Z5L4f6YTnFp7v2hMVxzobpFzTWWlDYeqD7ZgEmwdW4Es3CDKJVJsJ3uUdK7u3d6d8uJWJiQlUgyaxPIsg20WIEOk4Dmu0aoXvu4ll4ch3rbRVdfjD653oeCtM4EoFTSms1uQiq6Uit2POIZEaFQhzablpgVA/5WK4gvrFNQDqRHYeOlerAVhYYMvk8yyVE6pS8KgEAgJyo4RxCVQRz5PUa0psV0gFk/aeiRMm4h6yeTL2gYIJQvnllPAfVSL58ZXV1Rf1ovTqmOMfybX74hzo2V9iXwtuuGkXPRntnciGNkIJiexAIbSWgr4MIX2mBtWSGDHsBXGlNZHWxieSxthkGtQmmONMPor1W9DkZKVu2dYsJmqLxqIeFzkMCwYpYNB+FfzWOLjNBitA9grJYzpeY1sBpEmkHxf7tu3Zo/cZ52hsIWWZHCchSFuWsj1fVWt1HfhB5jt2NjY2rc1tT7iN+jPMiJVLWg0ZDvoF2Az74NTG1NTadbB50yycvn4M1jQpVHEBOB1inSc1zdlaM2HOw+Cut6KFxjVv2UlO1BCldtXxxIQmerLA4IVK80jjzDSZEMfNiF8TJ6r3bJ6r5NNuDcGsztn5aTy8auHY4uVHDi2cd+jwyub5hf75S8vDc1cHyUweav/Z9OuptiU7K1aR9us64S3IWSMdxjSJUshzDsJEALJssI0w6Zopa0phuVZCKXCeUWyb+Gm029i2bdQ2e8/zRvPY1AK48cYbtT+xVRixQ2mNiRQSaSmh6rlQcSxFlGBI5LmwcvZUfE37YItCNUCoDSLjzagXQ9zPjJ8aEPWQBJQyzlfCuH84SwdLTV9GzbP6jxsftsdGmX0Ha7CxWe+oKZbxzwEERGkwQhoopRAXggyi2FodpBiepReq6DEi8nNclL8UWPSj6aD74l6/d1l3EF2aCvTCnKPzeKHWDw4P3GfJpe+pGZ+ohtZ8Mk5jL8wSMsxySDXGBXaA277kiA6Zxl1ATtxq1vlTNY5cy7UtMmnizjVPPhNXjBPMuWtr4bs6dR0UF5AnaTsRD7eJzEL78PdJ0qYUqwrGeq3EpJkrihNFiXICXJueVrMb1+nNp62D09e2YE3dgirKQMV9zZKhg6QcIxpNME0b5ll4wpiwbLvCCzEp0nw9z/IZXhQNhTTWFhXINUuka2cYk7w6e8K//fVwV8vjkkBJoCTwnBI44SL3nHpUNl4SKAmcMgKl4ZJASaAkUBIoCZQEvr8I7NlzjlYFlpILhkFxkywhWisoisyckizL8zgcxJ0wShaSODtoEn27s1zcxbS+rzOUyzv+4R9Gvy5NmV5rU8rtJBPYcw4QLqWT5bya5cw3BaTSAhGcuJ6zYpKsRx3PPVoLKhHAnkckskauOFTXbUDrbI03YaEm0jiDtBC6AKLB8QG5bk48a0AwrAis+rNQYbfdeKMc1X2oZKMUekCqCNsNwJZpqkKCWsCDwE1sh3QJUqsUQSQi8YTJudveN+fOnrlpfHxi4pzAc8/MsrwyTDM6LAQo20dWpaa9eo1Zjp0QitJhfe1xIeIhP060bzU817VVjYJsIM09wRlIrUFjAoo6o4I0trBCFElCTmTi1JwTSaBlsl6y0Ah/0bo4TaYGSb5mmLFNJt24mSt7uorBm7XHTqlTNgSulqQpFaxVRtRCBHlOYDOvHgwrY7W2V6uuuFW/a7LqxdL1F8uHYGit0Z4dW2nTRzOejTYSEFOcMz/JTbJfapCWA7RaB7deA6cWMGKRHrJpfPTBBfGdX+cEo9fOl7wEt1rg2JO1ul9r1IJG3Q/qdRxUK9w34iN1cIiQSmZmNj/p+nHzzTd5VsOvKcepJ4h6ocSI2xXlNMblxJp1at36Wb1x7TjMjvlQt4XGeahEPKSyyMZNEJyrpN6siTUOcJjCw15G7MLf+MY3rHHf2+DacK7SYrMAUcsAuLBtLi2bK4xyZILsYdWe9UNtxoT4lou1nDaiykaC9eaiKGaHg6i5stL1u914bDAsJvIC18McOc+6g0+hwdRku3GuWkWW1/Ik95IwxlmaG9Bm+LEF2HG17bmK2lZEbdSzKIptBzNSx8hWyvI8z6lWwV+/vumPXruWljzDhY6aTtttZeJYGsFDaUQ1xsdPA8FIWhbmFKOCEDZao0xjoxqPX1KRuZLJuuZyOk+K6qAbQRwx4AwhYvkEgKZcym6eJwt5kvSYzIt+szl6Dh43anxCo7ga7V9i5oCHfMuxcBVp8CQzdgqzTjGz7ilkhCMw2r5xyRybONWUWto7buXZ+cLTqMKywWTSX1kTD9pTw367NRgMJ4dJOhsXcn0m5EyuVEM6JupO4NJzdeq22+bo7u1zFUTkOqnZptgISMM0xTGTkGsCktgSqJdKRHoaoTYATwrP4U/FX601UtjygDgTErArNJh/WmCkuYNlQbUIbeChpXhmL5oGn8AoWe26OY/GtMzWSxDNXGsiLBujSlVa9UY+tnZWrt0wC+tmmjBRpRCgHFA+BJlGHkuiKYzxumatOet1T/OvmZv7dlDDQ6+3oGHOm0mcTBVx3GBpEvAio0pLYdar1Aqsoe1aMSE0n9i9VT9Uq9yXBEoCJYHnIwH8fHSq9KkkUBIoCZQESgIlgZJASeC7BMqDH2ICJsmlsn0eY0WxqDUcMmLEMUDoMOPiALbpIUCwP83T3WmafDPN0jt5wb6eR+m9O9//l4fv2PF2k2M1iZUfYn6nuutba0Ayge0oY5YRfjATWhshoCAID13bXvI952i1Uj1mNerpaCwf7Y9vWU2KYQMItcaUepFxSHKhM4k0GAEJLCshFm1jx1qmSA3m5q4VCJlrDzNESIdKwE2ErXFzb6terdB6rVL4nh05RK8SLRalkuGUTYuHVXvsoQMVQNb6iudf5Lj2OWmW+8MkJ2FurHs18OpNVWs0RVANUsd1skmY+G5C9tHGtNbHE7QugjrBaJJoOWbAeGnBoTC1BDH5c68OmnpaYUtopXNQmslgQk5sbZ/yRBpnkQMibvI8rBV56GdF5kRZEQySoplKGC/AahTadmMSmmT0o3t3ct6/5S1vQUDB5hoFSkBVauxrTKgfeEW14fdrY9UFr+odsxy60gIo5hAy5L7d9o4dOzBxDjmuhdbbRG0BzZqMZU6cZsf5gu2BU62DU6uAU3GZW3G6ru8kL56Oxdzcjcf5jsbIWKOMVQJK8UStUR+rNxrVequBK7Ugdz2rbxHcM+nzeNeuXebWJ95sriqY4nEj6jQzbLuRkRS4WxW0Ps5a02uyqZlpvnZ2TM6MBbrhakWLoRRRd5SIbZjx32qUxc1MoskJCB6RhP3Jn/xJ0u8f9B1sn+lRcgkCeYbGqs4QcO2aJLRrCcY5K1jyXT5P7Okpu2pkCOLalp5yLDxNCZpQXFXTKLM77SEMhrkTpiJgXAWCEeuUefEMDBvnbKxwq0iySh6nVhSmKE0YiJF0SWwgtquJ4wpEoGcRWLYJhJYGbhOCPUod30eBT7xGUeQtzqOWV/RrRrB0Ry5tnZhQBcMik5hp4kpMHW3Edm2eYdKIlcy1TSiapkb3PllBGXeLLKubgW8Z0d3vGwEpiThwQRChFQzIMrqK7so0XmVZNPT2fZnt+PbfvTluejR/RsLRzp07yUY4TJ164RCqmxJ0NS8KyHMGmRHOuQCzLGPQmhg3iTT9FL7j8WrDf/ZiLUmcPB5Wwt6KF3WXrLC/AsNwaMdpUUm4bCZS14SmrhYcH+/c8+RL61jsDHg0hpHeQrHeEuWxG+U5SkwwcSBg1n2OLbNMINxRWnY00omzfMAQf2QHtDbPEq3x3G230e3btxPzHMWj8UPUdxWxx0wwOUxhjbAlKULMQiojIh+iPAnXZ5uzd7/7+sfYfHgLQhaBypMJydMNXBYtpiXWrqeNgMRwoxY1Zif59LopPTNdh7EahYAwICJGKo98FsfTFNBG1/PX12ukXoUZ++G2d+zYiqBgTZbkE/kwCliSUpHnWmpWANWR7dMucUjoWDw/55zjf6fp4dXL45JASeCHm8DzrvfPq4fM845O6VBJoCRQEigJlARKAiWBkkBJ4DkmsDQ7KwVX92a5+mici3cJoO+2/co/eUHlQ36l8i/VwNvuO/RfXQofl5DfUQnk0nPs8g9N8+1wgghqkwLbKQc7UcjJCbEi37a7Dd9bqrv2ooGxmrhDbvaP2YjSY4rxdcNuzx32QkjjApgkSFMfYbcKiNpDRMkiSGVUIpI8xoBJv0qJCXZcL6gFlVqtXrUdzE3Crue79JjrkkPUQkc9SoZB0D6hDw/ZbDW9sWY1OFtJdZYQcnYY5TjlSDPkmGKZbD3ioFXsWCSsV5wU4AsPVT2+1ybRZwrevn072bnz/c5P/uTWas31TrOQPitNU3dg+tZJNAyFCxmuaG1XFaImgYitZVDyoJLFCkvuKHY8LNF73PAp+OLYTBFggsLo8xCFEKJQQgqpkekjcSQQG1DKcepS9Myaf/zao1/rJQRRnFk5E3ZfSDJUmobY0u28uwAAEABJREFUIV3Hg0N+Bd3lVfR9yNXHej1vlML/rrEr1s7b0tdND8RZWBWnJb0uiQd9SOLEJL5NGpw64DdaEDQq0qs4iURskfMwuu66bQoAafjOizFGGg3Pq9WaraBarVdqVTuo+JkRmzq2R495Hl3wPNR/2cuapt53Kj3OrqpEy3LUGk6hmVvUTqkthF+NuVs9yqjzFUTp/RYlq62qw5o2yECZ1PdgVee9VScfDFoszmdUgaeFnTmjJPFDzUTH7g28bLC2buMLWx69tOHTDRUH+5jgVBM8IBYZ1Jt+XG01njC+H7J3qvb7999qIcetuI41aVFUByVtJQTmXCPBR2FkAzZzycxXYULvSXmeKj+fyG4hhVHkisagN3Daq11orw5gMMwgY9ok/CkgTHOEyarp2zxW/AiWeceUzGUD4ttF0yV8o9GpL7AlP0+L9KwwFBsGRTG2c+dhZ6dpuMBezJG7IC2vh71a4tQbqVOvJtSjCa1Y+eQkCHPbk25Jv+OG/VV/0Fmhve4A9foZxDkAV2beUg8UkFQI6Ge56IJRimfNMxQQMsuTESPm5vA55wBxnLZ1ZrVq47EJjyeobubChjDLpzthDN0kh0EhIZYYwA7AqzSUZ9uJTegAS9bPhVGYntTLk3MDRkzZRMiqDdqjpmeagVRCcQVKIKIUplwgiyP65HP05Hj01KzwLPRcls5UXWuL75BNBSucKM8gYRwkIoDN+kCJHVuYdD2CO26gk+ZZwWPG/4Mf/KB//oc/Pb61cDY6jdOmLnrZy4KJiQkPBxMU+2NakhoArmrPa4la0Mwavj+o+VYn8GhonlEKmXF/Io+xTuumGCEonwaUV3LJQFg4h4of2eNjA39qol+bHIsnZppqYqICrboFHi60o3LH0cWEZtnmMI7OyJjY6CZN48x/tjaxZw9iedHMkrQV94c4C0NgSaQEi1Mlk47U+TzGqBMLmjwk7P9n7fKoJFASKAk8vwjg55c7pTclgZJASeB5SqB0qyRQEigJlARKAs8Rgbm5OcXbteX5Ir2nE6afSy37836j+YVqa+wLzYnKlyfH6ne0Wu7XPJTdMyYXj97+sffGz5GrP3TNToy1tLQczom7Kom/hKygY9vekmvb81XPOVoPnJVzxt0h7Hnkr6/TGtD27dsI0bqphJxJotSOhynEMTdJUIoUdTV2fCYR7nEpFkDLDgFpRJvHIua1qrYRkoSQnFp4aFlk1bHREc/B99sU9lqWOkrG7OS66657hAjxMEvHfWlQMhHYdKssitkiLSpJUiAjr4DADhhfgFpWRglqWzbqejaOJ7b+56/cMTGKR/+bf5REv+KKtfb09LqggWACNDqb5fzcbnforvZT6JgeRMoFadfBq49rYrttjMgBLfiDimUrO+fmBDxJwu9hfj/tQ1XkGlQhyYg2FmY0lEYYKcB01L7SgExiEqOn3cBTrCiJNGlq3GEcP8Akvd8oWPuM+HDI8dXeIIC7XUcctAl0brzxmkeMnVgJHSqhiQXbZMraNAqJSVJCUQgQigCY+KFewDHFbULUUamyY4xqk1BF+uGunXHGGVJKqswXZNtOZrt21/XpEc8jD3ou2e16+HAQ2N09ex7/f8dvN4LhV7b/rWe7eMax0EaJVYMRbDHbZsILosLyjmaa3mkof9O0vbfq2cOmh1kdF5JmPS0HbRx3ul4yjCazmM1koap2W5dZ5l5kCtQD1694wVpLyS2mbLaUGLdBUIxkQih0iI3bjov6FkFsdP9zVYJgklAbXIviuk2Qb/yxCKUYIxNHmgBClimO0WctUQBRz5WfT9SuEVEMXlEfDiPHzFnoDRKIMzGaJQDUBUTtAhPcVlIc0pLtx5wtIp4kgUa2p2A9YvxCnkQvLpL4hXmSXVRk2dY4R2tiYJX25CSOlRMz6hxStn8EBcFRq1o9avvBIvWctk0cszqAeCL/HrqmitCNBmEw6PVIfxChQcQhZRgk8sD26kCpn2LAQ4Ggl5H0u5/+HH3qb2ZmhgyHa8kErlh9j7l1ozw4jrueC3l2zMWaRSPkLw4SaCcMUjBj5laUX6vnjm2tugQv24x3bWDFQ76c6r0UTBEtpEOVtk3YELNMgdZKasS1Wa8kEC6U4IzLR8ztU+3Xk9mvB8r1sJhBnM0a98bjLKVRlkMuzFJGLCDU4jYlQzOR2xSpthn8fHZpyVz8tuXRumKKx5G7dpDp8+MCv7An9MUxq53BcNAUpKrBrnWQVR8gpzV03Fa34tdWao6zXLet5SrGA/NcevJ5xpKaKrJJUWRTgmVVJnJkHgwpcu2OVasdJYG/16sHh1oTjbw5FqhGhWgfCkl4ZHSnQSDybK1I0y2Ms/WCZo8QkOAlLwGqUcWs8rU0THEepcCzTAHPE5BFxzyDFoSbDW995+vN2oWeV+P37VEov5YESgIlgf8kgP/zsDwqCZQESgIlgZJASaAkUBIoCfxgEfhB6c0NN93Eb/y7jwyL6QuPzhe1Q4Ng5gCMz+4PZjYcaG2cOXLNzssX77jjU32TxBemz2UiwkB4NrbDWU9K6sXErR0wZa/tN494QX1/pRLsDWz7QN2y2j/xEz/BHp3I2rFjG4Z5sCmCuskHjhcps+KIQWwSoVxZAJYvwHYTIVQ7iZOFUBedABKTY3tUrxDoicVCSIFCIwIcy6Xa7Xn2A9Wqu5si8U2C5H2eLI4A9B434Wl8QxPJOVbFoVMBRWezOKvGgwjSlEPBMdLYR36lAYHnR75H5l2sVowoFZ7zHVFBa41mfvIniXOaYxxvOcZDz9hpBH5ljZT6/DTn5x9b7voLnRi6GYJEu4D9BrSm12jfcxcIiHs5S3fjbrRq6j4rm1aFliKTFCttmUGwbArUtpQpJguLhDIvcEZdOXXuIIRADb1kEPOjJsn+xZSh24SkXzYizj0+UfeBHNw7DsXC72y7JkHokclFMzSuZvGYSUSu1YxNmcQkYTkHpTAA8QCoKzUmeZ7GDxZpfFcWDQ/h7qoRkP6zPyObGzduZCZujGyJe4bBEd+x7vNt/PVqYH2l3vDuaNbcvZSSrokR/Z81H3m0FuZt17GaDtabXEudppCqaxtj7TqFcrwwI/axdsa+2UuSr+Q5+3rgOis1j2YtR2pfRlKGHd1fXISoN2gWcT6rUjHWXTzsmzbRKLbqNStwHLoeCTGF8qyhkqiiiwS0LiKbomWbkkVdqDaXLH+kZ8/uuzDMiUOQZWLKtSzquK5DfaPEuY6HMLEAYduIlJbSeKRYkidPbD+77h9vzdKSCs7rYRQ7/WEMoQm0jGNQ2AXieGA5dkEI7vCC7Yci3COy4RGaR5FWhU+13qq5eImMs5/gSXatEZCuLJi4NC/y0wueNuvzwspMPMTUe1B7/n2kUr2bBJW77Upwv+PbR21XR2bMR8+v47480RdeFJ6J6WA4GOBhlEKUS8ilBWBVIKiNgecFuU2doUVhsH4MjsfFKJZuvPFGZERT0mopOqSeTSl42qFrLMs+VwG6MC7EhiOrQzhspspSWECGHaBBjVfqzci1nKNGGDwyvsZbfcgmPAsvpLikmgkbCW1hBRYBwMi8wcQISBZjClgYJ6LNe487R58FNx/TBEbEMyvoTB7HzSQKvWGY4CQrgCkNmFpg23ZhO6RHtFhBRdYuhkFhxl89ZKjf7ztZlrWkxBdwLX+0kPDTUqNXKAUvSZE9w+0gV3Z1H3Ynjjj+5DHLax303drBZhAcrBM87+bZ4CFbT7RnSV6TRT7Bk2SCZ0k1ZwnWSMWa0gXtWHtyQF8hDuyqjdeiWsOX1YBoB+UCpQOZd1eQTMIpUWSblJZrGdPVh7d1jXmDqOVJhf085ShPGYicS814AqLoKpku2jwzz/VHru+mWrmVBEoCJYHnHQH8vPPo8R0qr5QESgIlgZJASaAkUBIoCZQEfmgJIAA9SrDs2LFDPrrMwdwo8fK8SiD9MAzUxo1tjokcWm51N3b8LyPb/RR1nS85jnO3ySLPg+/HhsMJxuUcQu1JP0mzWppkteEgJcMw13GmJVOjJLPLEHb6QuuVPM9WdDyIk60BN7YesxUTE5xyvmKEgAOg+L0E0XtAw10C1DdknuwPU9adjmPxmIrfOXHj1q1IsEUHsqgBRTpjEmpeapKniRGzGEOgNDUpP5KC1n1Lq1UjFAwtFRY33njjKB7xrl276AtNBrYe1j2L00DEqFbD9qaGW702ytBpK+0kOLI4xAv9AgbC0cgbg0pjgrea9Sjw6AGKxR6skvZqkWTfcemU7xyKcGBTyyHYtjGyKdYEY4U0koCw1IAVCM5QHvXNtDtl7uioUmEZ4au5hG8CkC8Dol90kHO30uRIXdq9XZVdDD1KPBp5w2TuiqxoJoPITQYhSYYpZGaIWYFAIwe0IhEX+nAcRvck8WC3ytJVObX2RHw1YyzhiB/DGt8PWO+yKHwJYbjdsvE3hEArS0sVZto8QQybs2arA5hxT2ctKDbbqNgIMjFJVK4RVYlAql1IuZhIPZ8LuU9I2Gs57vJks1qctrbh1KwcIO6IZHVJFcOwJnI5q5C1EejkOGx4iX3TTTdRkQqfaDQ5iksWJUinBaKCc1ur0EHimGXBEU2LZUngRP0zHj4rG5qcdLFU0jaB5FEKLsFgIwQYEEIYHd9pMzjajO3jsoTn7oVuecfrnVipSsF5LUwye2CEmWEqIDajnysKtlsB1w8EwSrmRd6WcTyP02SRiDihOffYcLA56vbPaC+3p1aXu2t77cGG4TDZYESDqUzJ6mLaswrqhwr0XqnRl5BFbyYuvZk69pcxVXtnnJnoqXYfSeFkRe71uiHuDzMIUwWFsgCob/wMwAsq3K/WC8ABg91b5Xfsoj17dhjxiBHZw5ZnbnYwTNpAtiKML01y0VrupeTBhT4sJQAh8pXya4VVra16tdo+M6Z3Iy4OWDBMzwF43PX0O22dtJ2QZlLL0dIvwcj5gDECZAZBGR8YV4wLxTkg6TD/eRVXgbZcn9hTeZwFUT9CaZQBY6OhIEAJAYsibhE0oBj1LM3DtXUYXYS5uTn8jnfM1YRIN2QsuyTJ4vOHWX52N87O6ef8nFCh00MFQaq8rlHQdilkf0KBs0OD/Qmj0N5OAfaAQMtdmppRfNJhQDwTnkxEVWXSlzl3tZBYa2nWEr2CsLuPabhHMPENrtTXLIsuTIw30WTDJRXKiYzbUEQ9PwkHrXCYzAzDtPnjr3/Hd38F5472F3Ac5jSOOY1ijfIMaZFjIZlMoGB9s4atgvXcCt9PSqi8oSRQEigJfIcA/s6+3JUESgIlgZJASeAUESjNlgRKAiWBkkBJ4AeTAELXyTabjr365H7kNr4Odm2n41bv9HzvAX8Wt02vc1Mes62FIaEWCdKC1ZIsr/SHKQljrlKGJdeOkshmEtGBENBWgq1Gg2G243F+Bd21114rrnrFKwZRFC3WXPfgbM09GGTDg7//C6/c/8Zf+/mlP3nNT0fXPU7dkWO7+qccGmIAABAASURBVJ/FvsIOz7KaTJOxIsrsLMwhSwQIgU3O21JS4QK0TixgiWvyX9PjLn77jh3uZZddVimsoilEMgN8uEFpeRowcVaW8ouSuHhJP2brFzqxvdDLUScBmWqPO7XJvN6aGDRr1WNVlzwY4HzfhAiGu266gY/8eRYK8hyXupR6NiWuTZFtEpkEQGKtBFKaGyHJ6DYWwYFD0an0ZzR2UFka5K3KXlKt32NVand7dXIw7+err3zlK9O5a+fEidpHiNmsYA0jHjlRP0bhIIM45lCYXDNCnhkqGnGujgz7w/vbywv7vYwN3vHjpxkp4JHWEEL6iiuuyA/vPtxOkv4Rl/L7J1rq7lbVv2/ffZ888OpXXzucm7v2hD48ZIlI7lLBphEv1mKZz2iR+QhyiYkaAlIrHMFSLNFqt9BHlcaHLMtdbDUq6caZmjXuG7lIhLroryqRphXNxSxC9hZBvRmQhZ80m1Ro7EihG0bmslmUmyAqADMubCQSh4jFgMiFKrK6k+2J/CGfnu29Nqn7KMqMTqSJxspGWJsCFmiJkYkgQk14mXu0eYGUz7Z7T9qeSdojr0o8rkRNyKKeZIU9iHMY5gpigaEwXcG2kVwsS2mQjGVx3OvOh8nqsaRYXaR5vzcRDQbr++3+mpXFTnV1pVfv9uJmGhfNrBAVlhaO5A6+7rors5/+pZcvRhLdDY3Kl/yp6hedNc49b77xzQuvnnv1k46f4Yy2b9tGTDx4LOPecJiiYVRAVGgotAWKOECNn64XQDXwoUV8PD29TN/xjnc47/3Ye4PBoN5gjExlwNdgpTephJ2bJsULkoyd3x2ktaVeCotDAX3paObUOK23QqtWPeqa+UARugfJ4siOubnHfKL0SQE/gxssU1cqjc2kNpFk3piv2gSY1EgyLrngUkgzKEMYmovPj83EE9YSeUaHn8jj3IuHCZhYgMLE0+hTksQISJRgYXSwDAPPCUp5cHiPEY5e79RhUBNptk6y7JwiL14YZenZgyTdEBd8XcLVmpSryUhoauKyN+SwpyCVnQzVb8lR9Tal3G9OBMGhS85a13vnG95QPBUaOgVHJMovYubITFDNBCJKpQRBh9j2UdPmvjTN70my7KvEIoebrRqbbAao4WqM2QBY1LPTYb+WpekMY+kEHXOqizMzxEx1lCQbcJRyHKcKRSmCNCM6L7BUTGWa8TBA0LWHQ/ZU/Pz+u6f0uCRQEvhBI1AKSD9oI1r2pyRQEigJlARKAiWBkkBJoCRwMgiUNp4SgYsvvliMbzi707Irh2xa7LbB2l9Ze9rS+ee/PLvmmkf+7ZqHDLYjiwInVW6Sq3nB3UFSkDAVUEiqFXKk1LRICxXlXPYcsHpKnvjTRw/ZQwjpbdu28Xa7nX36058uRsfmmjblSbfVwsFCYScPQz8dRn4yjElsBKTCpHO1ScoS6gLGFGGMLKSY7xIYCwCmLcineQVtlEVyXsGTqyXwV0jNf5Hx/Ne7/fBnjswvX3RkZTA+301hyG1gOMixU+9NTK9ZmZqY3NdwyVeqLrm3avP5dn0Pf1JHT9INem4O2Zo4FiY1x6K+bVmOKZb5wZhIybFU3AhJElsOIb5Rl05Ss49r5pprbpTtNmSFMxFCZWbw8pf/Wnb99dc/oWjD49RWeV7J04KOxqrXyyAMJeSMArErgImTSg4raZLNp3m6uvylWIxi5EROjM4bgVGNYqcoinBUXv7y8zOTBFbm/ieNoSjru1kWTvI0bco8DXSRUM3TQsu8Q6lacCxr2a1WQ6X8jhU4i5btHq1V3P7kuI9mJjxrrAImlEKsi7SqBJ8B4pytMNnYTa1muGA5cSpIzkzJNM5TBYWZJ6pQ0gbIKc+6RrDp7p6AbO7GE88104dnZaspoUWeQ1FkoKRCWhvPtEGIENiOBYA0CBNfGgOC59lr69bdRpJgVU2hxaUYyzhzw0wYYcZA1jYo6gM3bjMpsGAZFTxyeBEGiRy20v5gY7/bPnd5fmlmcX7JP3JkBY4t9NhyO8zinGdpxorVLGZRUhgY3+74fDgRkgpbIRWyEgRBhMz69e0rT/z1phsupoc2FT7PRSXPlZ9kAiVGPEolgUwT4JgCMksrMsIwtVS9WlENPK0a0nFaJPHWJ4U6T2v0EqT5jwue/6zk/Oe7vcFV8wsrGw8eXfHaIQNcnQJSmZBWfSKuTk0fs6vBfQKJO8GBPVZjbOWJPTz5VzEmiBBq4glAKgVCSdCmIKlHQWbmNQhLg3S858cnkLQGdFmraw3jJIjDuGkEOieNmRGQBOSZOv7Xo5AZJ0wxUjLHCucetWUlaYLf63kT0iGnm/5dyVnx4iIvLhsOhut6YRQU5mFUKK0ToVmcygxZVuiD31lc7Bytcb7ParcPdrvdZTMC8eM9d821x2ws0VY6EPZwNUWZUSIRV5ICZDaCxEE0cq1gNc+iQ+1271tSyH2e53XGq56YqtqoYSkk0yGkw56nOJ8BpNcqRqb33i2cHTt24DRNaSQUhAzpmFEIU6yjBCukA+bb1QSyXgiLi/wxTpUnSgIlgZLA85AAfh76VLp0CgiUJksCJYGSQEmgJFASKAmUBEoCJYGTT2CU/DSFT51/fnreUhpuveaa5PTTTy/MOWWKPlGLjuaWg2Q9K1glzZgzjBkaJAJFJgsqsAPY8TmhNMaIDjXwyGQ/5YnsPPzcqK3rrrtOjhL/o+OHX3ui44ZYxiBSN88LlxeFlWcCF7mCkYBUmOQs5xobX2zHtmqBbU3VfHqab9PzbadyCefs6jTNXp7n0St6nZWXHzt25MUHDhy8bO/+Q2fsPThfO7w0xEuhynJS7dr+2LFqY2xPLajcXvWdz/kEPmuEqH0A8/HOG2980v49UR+e6jWT1Ef7L2tZ1Vo1qFfrLYKoq0yiHxvJhSBMMELYtixi20Y5YtxG3D7lPy8jkzwfjdvo00ijYt4/btw81M80Ta00zoI04TRNBMQpQM5Noh9VwPGbRrCoFLwQA56wvhKDeMf2bd9N3j9k41F7/WgfHnX98d9qZSGFanmSenkUWSqLKWEpt3XRt5Bo21j3oShYo7ElJ0BC5NpHanW/PTHVYBPjnq55GnAxlCoLLZElTYXUaRzjjRHgiQF4XsIUzgoMKcM6LUzJjIzJlLlNCSxFbAFPd5i4B8Px8Z08tVcQAugpoQmiAmHMFAKpwUx9c15rDkKOPmSgEMEAmgtz9tT6M7L+vZSJiXMQEbxGLRinNhkvFHhhIUziGyAVGLgmIDQCBYpoxQLJkrGkt7SmP3/4tM7ysa299srZR48c9Q8emuf7j3XEseVErHRZPojybpKKjuByIAj7bqJ89Km26667jn2nPOW53ww2GynLrxIrqAOyq2kGJDJr1dA4nCkMEhMw4hE4nlX3fHuGOMUmreUWqfXpFi1ekMfdq8Pe6n/prS786MKxo1fvfXDfRXvuP7D2gf1H3fnloR7mOEf+eOi1pg9XW5P3mEXia45L71AgvpVD2r71nW9g3wvXk3EvsRyMsIU1pggwNWE+CiKsQWkNWkqzKUBKwQCeF6+3vGVuFN8OxiQwS2s9iZk9HBaQJgoEJ4CRA1IBcGEiQuYe1sUY0fkaRw82GgH23CIpXhj3wis6y6vnG0FyqtcfNrKs8CRoxEFHQuqlRMjI7vWKSy65hJsYyi555SvTV95wQ/qGN7yhMO8lQshMvifGobVG27dvx2lEaBojksdYFLFxMZMCcZ1QiYaYqaHo2ynE/WGW8IOY0IOu4yxONmtssuaRqiUswhMss8SRPJ8xY7KJI7LJn/Qrd8yDPdTaiQpQYYGKQUaKiNks4y4XjBa6oHkxM5PNzs4+5fh/4h6VV0sCJYGSwKklgE+t+dJ6SaAkUBIoCZQESgLPgEBZtSRQEigJlAS+TwiMklbIJLJH+ydxGTmksIklWwXjtSgtnEHKcN9kaocMqKSukTUqwnGDiFI75LIXR/bMKUsyRdLFiCmvKJjLCkE4U6jIAfICIDOJ2YJrZBJnjmM5Ndci065tne5QfKGN0QuVkC9lnP0Yy7MfGw77L15emj//4KGDWx7cf3D8/gNH4dBqxFZTHAm7NV9pzd6/Znbd1xuB8+kK4be2VLZzbBgdHf1KKHgKCb8nYfrULr/lLWiFZ3YQ1Cu1Wm0MEewqoREChKl5YwYFe7ZLPdexNAULednz8udlkQkrz9lIQCJJqiDJiUnye4DsOrhBC2y7wkxqOWRcxn0/Kwzfp8bnadxlSUS1RJUiyexsaLKwaUIoz7kHPPQ07zkoH0K7LZaWlqT0q6m2g6P1Vn3ZCEhJs+XJaqC1xQdSJj3C07AmpdjEpdiYFWIq0kUQF5imAuk4IxCZEudEFQVSmnMt06ywk6J4Gm6f7CrGnVQprDi27MRkr5nGoAApUFoAYxlgc0wJQgASkiQ2+5PtwtO3l93bJUanqFmUTlDLmhQAXlRIiMxBaoQZBhTUyHU0OpABiGxSJMmGLArPiIaDswe97ulHjh6jDx44lh+Y7/GFbi5WQ5mv9tLVfpguS+11a9nYMxZf+jbYFd+t2V6lSahbyxiQMFMwzCUUYIATCkZrAeqQmuOQNRbBWwDQ6Qqps5SSFwuWvyiNwpcOB/2rVleWLjqwf//6+x/YV9n9wGG90IlZLKwQB+NLjakN906t3/zlaqOxs9rwvvryLfae29/71zEAmKE1X5/FDWETNNTCgB1AxAJCbBNaJny00ia4JNJKcimV4/Nn3bcTYRh9mq1uOa4AUkGEVJJMWoNBAamZFUrYxn8fpEQgpCBcFh4gMYY0X29hcbpQ/CJV8BdlYXxJf7W75ejh+SAcRD7n0ja9FVqjtlbqIEf2cCS2n6j9p3rOiM64srxMjfhuBCSM8tjiLEFCZIojjmLCYMh6yTAs2mxPe0+OXWvRos4Rx/Hmpyda+VSrimu2ti2ZY8RSRxb5pNZqMyh6JsHOGFYiUKTqRhxLo59lvZymIXeLTAZFZoTKLFb5TTfcwEf/4eOp+lze90NDoOxoSeB5SeB5+Q3x85JU6VRJoCRQEigJlARKAiWBkkBJoCRQEnhKBB7/pm+8+3rqe/VazXfXI6zHC8HdQVbgxCTVwKtq4vnCcr2U2naPWFYYMafY3G+qx7f4zK4EysKMZ0Ge5U6UZKjTS6A3zCFlyCRjA3CDuqaWy0FLlucxk0UKmhWO5qrGMmayYYWjpMKsKCCKYghNRm6YFCpMOefYi1HQXAG3+gBxnDtsi37G5EK/wrS1d8LpRGNjPQ7P4mvH1q2oFiuKie0jRMcc27dt2wfHcZFlWcgiBBMAQhSyXOJZIKzn1c/LJkOMbpubo8ZRD2NcN5yt9iCDVaM8ptIFcBoAlg+IOsKiVmohWuwBMDLAqUt8h8OcmLhxI6PspAkz2oJAiGvhGd2HcBFCLuOtW7eOEqU675NCMj5PKD5AHHqoWvXSsZqra45WhA1VEbVJGvVaaRJOp1myJi+iZp8rP9OmmjIoAAAQAElEQVSURsqCUNgqlbYutGM0MUdbmBQp7z6rMfR44VqLsRS5SIuMr0itBxqACSkFwqA83wXLIgoTLTBIZoJMPp6dZ/v8bXPX0EJGnoX5BMF62iw0rVxoN2JGlEE2gFcDuz4G1PPNxCAaARemGxaWvIqkbORpUhv0+5WVTtdqhymJuGVn4FGOfA7IWcLIXp1h1WRp6eZn3Gdv3HV8n4x5jjuDiT0ZZwU1KxIwQgH5HiDPBokV6NEHUJAiBMvADIFfpIWTJYWVmxhlaaF5wcCsTjpJczWIMtEP8zQXuK+Rdch2g686rnOrRegtrqXuyBFdMEl+M5wwKs/28AArpC64WX21CSSgoLFlYh9JbE4hLZSWgoFghaaOGbpn3b3HNDix5xzE8tiP46Q6jLPAiHw040b8zTEkjACTFliOB57vg9HpJcEKA+QOIbpuITyJJcwmYdrot3tBe3HFNXPKcigtPMc5YlO6h/Pifp4NRmLeY9r+Xk5MnHMOigmxuPZQyojuDoUOY40FoxgLK7a0PdCWGrak5DfeuFNOtCdzpO1lx/EOzc5MZetmJ2GmVQMXGMh0QGQ89LAQmymml/iWuzXzvLVCqGpYMBEWOhxKasy7cYbcTJMgtCw//178Le8tCZQESgLPNQGzWD/XLpTtlwSe5wRK90oCJYGSQEmgJFASKAmUBEoCJ4GA1oDI5GxQ9ZzpIPDOQkhPJnlOw4KjFAiAG2hk+xxZVgJY90zOMIJet9hxzh59Epo/oQme9YhAMojS3OuHCRnEDIWZNnl/k6h0AnD8igBC+kzJJc7yI5IV85LzRZ7zFVHwo6IQ+xjjuxljD7CCHxRSH5EaH2YSHVDE2YOdyreIV/ma5Qe7Kq5z35iuH93x9j/smaQsM+VZTXpuMwQsr4qp47uWF9SoE9jY9hACIxwhTGxMCEXYdjBy6lXPaQZNMyjwvHnt2L4NwwS4BFt1jMl4mOZOLylgaBK0KXJB2AFQv6bdSoV5rpU4tsdgbu6UMTbjhzlFVAjsxImkUcwRLzAZZfGpohlSKAJcpNu2Hf8VejqrhSzSaNWgPqARud8PvH6z7qvJKiGuTJAK2zjtr3p5vzPG0ngWinQq4qieK+yEytZD5bEYfJUjTylMRAEoN4naZ/zJlpMxwIvGiOSSM84jDTgFTLhGWiIEipisC8YaCNYSE8lskCNRz9R47rd2bcKaqdBKxbJnCMHTOeNeUnASMwWc2ICDKrjNlq426iyo+hHFukOIHGqQOShlprsEoSXJlYLE9CrVDuE0QNKuMCMWrEqAwQ03XDISENUz6e32bdtIlRLfxXIKQM1gpMeYlKTQCrhFgVQrYFcDbntOiChum3tWtcahljqUQvTzrFgy5WCW5PezQjyYm3Ury/l+JtRertCDQuN7NaFfp67zJdei36AU9lw0aS3s/Ie52PitTXlONuVWNLJcpYijpRGPlHlOIDDqmDbTHUBgrTiRmsV5oZ8TBx/VaHVmEWmdBWnBRgKS308K2k8URIxCoV0wgwRB3cRTvVEYoW5o22RgYx25lHALU4wAu7JQjsyVo5kygaQQkiomSh3AWu/jSXGkWq2m8AxfWatFMj10EiZImCs0yBTOpRl17BMlrUxJHM0EQTI9PS0QAn3t3JxgBK0SYu+vVoOlupkLk80KVG0FhMWoGHSoyrNJytWZmsmtMhObC5GPxZzhWKosQTQqqJ9Ku5or4iUKu6WA9AzHsKxeEigJPLsEzLcyz26DZWslgZJASaAkUBIoCZQEng0CZRslgZJASeD5RmD09yGMRtGkNt5c8ZyLNFLTYZJAzAQUiGjtVZS27UIREkstO0Uuov23vvOUigB9GxGkeWWYJH5vEJNhplAiTbLPCBLYrQLxKywVcjHO2R6WF1/P8+zreRrf2R/07sii+HNpGH2iPxj8RxhnnxCAd9pe9XbXr36F2P4XseV8Dqjzadt1Pm8R757//Xd/vvrOd76heC7HhbomdWfS5U6lVrG8qtGLPKQEIlhhYlBQF2PHo8RrVF2/6VtUa42eS38f3vbmfhMXlFUxJeMI46koK9x+xiG3PEipC4XZO42GrjQaLKj5ca3im5T+wy2c1GO0dStQRQIbqO/EqaaDUBElHArC5H4LVRAmErAgR+jbCG+44Sb+67/7971csv0x13e5nrfSrAd8punZAUqpjlZw2p6HpL9aKZLhGi3FbKr0RIaQHyFPDJCXhaQqM+wLgby84Hb2zjc8t/H0ENFZmAFtU62AMo0xR5QKoFhKpLSQBSCQQJFWBlhBLfPmoYrP8X4CBY6ioum77joL4ak4TnFoRMmEKxDUAVqpQWVsXE/MTCaT0+OrrmsdsAg9YmG0IDXvEEpiJ/A5cV2hnEAVlg/HRQ+3VjAJnTgpRgLMM+ql1oCScwLTZFGjhM9ozaelFi2JNOXUkLUJWPUq+K162hhrLTou3Ssl3y2VPKAlHJCZeJDF7Ov9dnJbe3nw8X4/uzVKis8khfyspu7njaDxOdv3P4UI/jS2i88zGu//0DvnIiOQqmfk+Emo7LlVbdYppakHCttGrBul8IyAZMRJG2HuUos51OF+muuT0NwzNrFaHMMYCz9jRTWMMn+1n9DlQQaxsEFadbCrE7o5sUZOTM1E1Vpl3g/8o5VqcKxaDVYsyxkioDlWVNvYsWt+vUIU1iLJemw43KvD+EC9gGXYFT1j0Vg6PUIU83q5EbgKiYYCCCdmwXeallA0z1OZvPrVrz7+N5UegiKI1+aIPCCUegBjWB5rBtDwKbgqh7SzCDwc1nRRrIeCb+WsOENKNVNo5uRIs9zyIhFUMqjVC2HZCUOogPJVEigJnHQCpcFTR2D09Dl11kvLJYGSQEmgJFASKAmUBEoCJYGSQEmgJHCcwI1bt6LpmfFZ1yancRatK4q0GmeJTqWUORDJiWVysEFabTQGruP0HNvKTMVTlhjcvn3O9jynanvOuCK4lklFh5lAYYFAkAogr1bQoN4zksp+jug9UqNdwOVuzfQeYOxeLvnXlcJfkFLfKrn+d5Dqg4ig95qk8vsw6H9WGH8CIf01wexjDrMjZN6Y/jzZ9j1f11ojk+zFptB3v/vdltnb73739dboeFRG77dv/1vvc9n+Rj9MNnYGfGYQcdw3HY1ShpUCT0tuaZ5jU+qKpZNF2J+NwsPTb3vn+8bn3vWuyty73+2Pyhv/9m89Y899/evf4YyKObZNoaac+p+tZ2etZp1MuoG3zvac9RyQPywEdDMJ3A7AbowppxJkxHNioWSUcC6+Z5hPsYLpL4K+6/WHhd/uJ3bCCeXaJTmnTsEoAu3mCjtZIIPi4SZHMRDn0GOF3I+xvRS4bjhT96BlSXD5EHh/GUTYrkMRb/CpOldTdEYBZCylDo2pXyTUz3PqxcZ2iIjN4Vl4jeJr+/btZBRL73jHO5xRLH3gAx8Itm9/d/0//uOfxj757x+cWUxWtkSRODfLi0vyotiSFXlTSOFKxYmQHIo8xVmSeAVLp4okqQI8P4TJlCcuisWYmdfrQMipkYCUMwHcSF6KjrRBP/frtTayyL2Y4K9hm3xdU/tuSsgeL3D22r4/bwduz2824/rUVFGfXatItVFwYiVM61gJXjzTIdpx3TYTKsOg4XnTk83gLMXyZhyFOIxjyKQEYdtSWKhTaPlAzvMvCCG/Irn8FsLqAa7FIUH1YYnQbsnY16SAzyhQHzYS3r+Ahv+rEPpXhMh/mMn7WY3k3YrS9nrfP6Xr7nd4HF+ztm3bRkbFzKfR+nW8bDexdv3111vveP3rnfYgqncH6dgwYzRjxnMgwLmyec58libNLBxMh+HKWkrlxJ+8e3t9bu597vVmDRzZGNkc2R4Vc0yvmZs7XkCfmtgbzRNSjFOMZA1R3NC2FSQcrIHRtkafkMSVMQjGZxSx3VUg1gHXc+/FtvugReEAIeRAxQ0OVfz6QlBpRNVKQ1S9KnjEyWyNOzrNjooibsNWyG+88RoJz/CVgWthBBXpE9to3lT6AQWvamOvbmmrqsHyFZhJasp3N5HJSDB+JMnSb0ohHqwGbtLwLV23NXFEiop+Bw0WF51iOFiLjYBk2fosQGqcI05yolJpljDw3RgceyhtlX3XcHlQEigJlAS+DwiY5+T3gZeliyWBksD3KYHS7ZJASaAkUBIoCZQESgIlgREBk8DDhycSy7LRekLRaSavOs546sZ5AqkUihGswHG0XQmioFbper7b9X33lCaZmv1FL/C9luu6awHjVsIEHuYCRQKDsE2O260VJKj2LN87KG1vX7ue71vY/ZVj/88fvm7hT//gD46+4YY3HPit3/rd+1/72j/61u+98f97xxv/7C93/slfvPVzc//tLz///77r//3iTX/31m++5+1z+9/z9j/sncxPHmk9h28xifyb/+Ftzf/7zr+aff/f/eWGahVOc7E8c2X+4FmjfdJfe1ans3T2qFRdfHbnaLx1dSjO7QzZJQur8ebF1RCW2yF0ejHJc+YVaUzjsIezsOPnw/Z02F86O+kunSdRcZ7MsrPzlZWzk6Wls+qZOFNi98zqWHSmU43OzDL3dCH8TQCt2bm5v22NErjbTQJ4NOYns4ySs57JelZ8d9YkW9dpUNOFUm5okv19poyA5AGt1iX2vYh41kAjFWof+Mn04eG2thoxNDDp1lxBEGbCKZRjCahQoX1LaU+D9nOU23mSmBTyoxKxqx05LLg44tjeYs3zh2uaAUx4ABWdgg5XQcW9CuTDdRjY+VzLs3JQYwmx7YR6IrH8IqNBpIgzlEDEw306FccjkfV//eWfNRYW9mxIkvmzkqS99ejR+FyTtD8/DfUFaZhfHMX8sl6/d2WnF13Zj8JLe8NwU284rMVpbKdZiosigyQOURz2q2kabomTaNMvv+b/Wf+qV//hule9+nfW/dr116//tevfsP76N7xh/e/+7h9teI0pr33t69f+8uv+tLntjW8cCZajvA06Ff1rYMshGrUUkzM852NRmKA0ZyZwMCDbAep6iVOpLEoE9yqsdrk17z6nOrE/sFrHarX6UbcWLJn1YRA0m3EwMV4EU5PKqlZz5bixdN3YBcmeqd/95kFMVVHxKZ6u2faZWop6miQQJSkUCkA6tigwaseieGCYDG5P2OCugvT2wsFdC//41r9Yeduf/3n7T/7kT+bf/N/+274/futb7/nDuf9+55/+1f/88v+86b1f/vv/33tu/3/f9a6v/f3f//29N73jHUf/YW4uNmv1SY0rYw//7d+OxvE3Gv/9z1879ebX/sraP/iN39iQLHY3bWw2N043/Y3DlaMbh8OVjd1ud9Mdd+zcNFaxNg09srk9yDcZAWm23Y+dfphClDKUprnLsqxRxNEES8ONeZKdNQwH5+QrR85aZoun6QcPb/rEl76+8UAn3gD1Detlde2Guw4lGzxTGsuw9qd+6y8mf/xXXl+75po5CqBPWlzt3PkWknixq3DRIpKSKwAAEABJREFUkiBbhVkIEq5IyBHkxAcUtJTfnMyRmfeA8IFWpbLXa6479tIzLlimFbpQ8YN5x60sen4t9P06q3o1GdieiSHcQUU+z2PRm7v2WoEQ0vAMXqO1lKrcASSb0kG+9C2qfI8oP6DgVSj2Kgq84wISPPx13R++PUuHndXhsLvbPLH3VSvOsOnbsuVh7KscxKADw6V5mvW6UzwebEGyOBcwn5JU2txWhfRopANngByzPlvoGf8avof7Vh6XBEoCJYFTTQCf6gZK+yWBkkBJoCRQEigJlARKAt9nBEp3SwIlgZNOYNtWoCzuVpBWWwiBzQgLykQOaZFCIhhI2wK31dRgkaHQqo0wdC2Q+Ul35GEGbYvWPJ+urdb8MxFBU/0ohmEhIQMLlF0BbQcZ2H5PmYQfdtzuTgC2Y8cOk7J9mJHn4PDmm8ClE2hMY/sFFtavKHTx68Dlb0kkX4eQep1W8nc0Jr8rBPweY/r1AhGzV78bh8VvDWPx8/NL4QV7HjwG+w8twfxiG/UHA3t5aYEeO7QXFg4/CKuLB2Z63cWX5nH/5xXPfx1z/huK89+UGXutEOK1AOi1WpHXgtKvEVq+WmHyKwLBj2viXOI4+fSRI7kLJ/m1a9dNFAW0Gvh0kwCxZphEbpilJOYCMkyAURuEbXNJURe5Vjuo4EENaX6S3fiuuYmJPQh5boD9WpV6DUeRqi1J1aLeuGV7E4rajQzZrfzGG298jA9s0U4s7K9Uas2lsXq9v3aiodc2PJh0FNhZHyDuejzqTimWnp/k6blDlk/EGPzEdnDuVVjh+BEHewBW8Bjb33XwJB0MF1kTW+Q8XMhfEJn6PVnwN/Bc/D5Pxe8zxt8gmXx9nmWv73YGr11abv/MsfmlC44cOzZ++MgRNL+wQFbbq7jf70G304Zut9MIB8NL0qz/YxrJX8BY/gJBcB1S1i8iJH9JcvwrkqBfRUj/qrDpz2OVXeILOtvttkafqkMnqUuPMGNT13WQ1dSM14s093u9PkrSHKTRFSy/AsRxIo3hGOf8/qzge5HlrRTOWdn4eCIxxjGxaASeF9Gqn1m1CrMCTznVSu5VK6kfVPPGRPCMxZh1ziT2hFO1pJhxQG1BQtR4wYFxBQJboB1fFpp0YsYP93qr969E6eLEwtbo+bBWjWC3Wl2LCjHrS+sCIfjLkOP8NKH0VRr4rwrJfwVL/ktIy18CIX4ZsPgVhPAvKYRfJSV/VZKLa4dJfvrCcsc7Mr8MR48tosFwWM3SZCKNozV5kmwVLL2qYPFPp2nyiyrPXiW4eJVU6he5VNdJrLcJhH+hUOrnMZCfAQ4/iRW8xLYrZzc2DioXX3+DEZFGXj7zEu/dZQda1GwCkwXPW+1+3xrmDKcmgEa/XlP5lYJUWwOg7hGlrCPmoddphl6+bds2BW3I8wIPC3OksRPadpBUzf1VywkDhLuOVque6iXP1EutAe266SbKsKhSW01rD9e4RxzhW0i4Dha2T1AQKLfSkidqa7kb80zo0e/pO+Y5Tn+s6hUTgQ2BZgBhH7LlJTJYOFqNO4vredK/EKlsreUo361YggQkAp+2ma+7OFXPuC8n8q88VxIoCZQEnjaBJ6mIn+R6ebkkUBIoCZQESgIlgZJASaAkUBIoCZQEniEBkQeWoqSCkZrVSk4nSUrSJIeMSRBgYSCOQpada9A9ALkKBA98FOTPsNknrN6qWc2K4653LGuz0np8EGeQmXSvJC7QoAbU83NTQkJoDyhJYG5OGYPalOd0a01MVTxibw4q9sW2ja/WjF0tsvRqnqUvZnl+dZZlV4eD8CVFxq5mTFydJuxqk4i9KirEC1d7g3MWltrT84ursLLagU6nh9qrbTzodVE46ENndQm67aXqsLO6MRr0z4vj5LI0S66UQl6pFLwoTbOr4tgkbLPiyjxnVzHOXyS4uFJKcanS4txcqrWJltWTDSi/+4BrIdVyCGxGGqbSrMApEyjXRldwAwDHFYrSRGixIBVbkhYMKTo1AtJtt81RL2v5rZo3UWvWprDvN5Tt2gVxgBNfM+Jxhp1cWEoiZLx9FIzr3/1uUbNrKaF0tVINemumWnp2IoDxCgZXxKDCNs07S17cb9fMmDT6YVSLhbQzTIW0vKEpPYVJP3QIf5Tpk/kWbd++nbACt6RWZyZpckkaJy/KzLibckWcpS/sdHuXtVc7F/f6/fM7q+0zVpaX15pSXVxYsBbmF2DQH6A4jlGUxDAIB9AfDvwkjTfmeX6e5OIyKdUVSuErhEJXSg5XMhNHac5fZOLqyjwrrpBMXmZEnbMSPT+2ezh0TmbnHrKVh4lbxFkjHeZulnBSFBhyhoArCyy3AsRyMglolXG1ZGnU7i9BNrt0swwCUI4TMGz5IbX8jl2pDqr1WlRrViO/4nRtB3dcQElLVp7xGMWbKtimqiY5bxVZPp7GhRNGDHJOQSEXMA2kADTImOhkWdIOj62mO3ZcJ00fn/O1am5uDktJPMsiG2zPvsD33CspRS/WWL1EKHGtWe+vBUSvMTH2EhMPV4PWVxux7qqiyK5Mk+SKMIrPMYLRml5v4PQHQwijBEVR4sZRVBkM+pX+YDA1GEanJXF6YTb69YmsuJQLdRnn4tI0yy5jRXGZWbsuFQouN+UKIfWLNKaXmLl3tkZkdh3zA8PppGwepx7BMI6xXqORGk9yjhPTaIEpoKACynayQqNVrtU8AliSgiRGchGjNcJwkkRDopHVtVy/a/te17LdDqVkkYCel0WyOuDsmYsuO7ZjqEb1VtVeW/OcswOfTBivbRw4GvtugVw3xrYXgutlJ4Iy/eKKyCg38W0t+b6zPNas5NNjPoz5CFydg0j6OO2vVpJeZyweDqezNJ+UUtbUaDFGql9ovsiFHjDSL05kvzxXEigJlASerwRKAen5OjKlXyWBksAPO4Gy/yWBkkBJoCRQEigJ/AARqMxIqrGoIC0npWDj4SAkUZRDngNSyMMaO1IBjbVQHeC87SA9rAUJOxUItAY0+jVwVZeMORbdSBBeK6Wuh0ZAyiVobdnaJITB8YPc87yhY1kDR5MTJtROhX9PZlNpXcGW3uhY5CyC8XlairMlZ2cIVpwmGD+tKPLT4iTZwjjbLITalGV8U87kxpTLDZ1+NNHpDf1+rw/h0CRkwyH0ez1IohhYlkNk3oeDvmX29SSJp9M03cCyYqMUajMg2FzkxZYizzfnebGZM7ZFcH66kPJ0JdVmw3U9wjAJMq08WR++1+t+lbhYqTFL601I6ck0Y5DkApgigL0qYNtlGsOQieRIwZOFQkXDeWJkie+1oadwfzWesblQjapP1wVVZx3y3DHpOA6jts6JLRmxmLK8jFnuKIn/GIujhDETlEtKVipVtz013ZBTExU9XqPgqxQg7uKsvUiHK0uk325bnV6/EhWc5AgzTu2upFY7B9HjxYA/xvhJOqHNYCZJYpnZ0NRKbzLC5KY8yzYWebGhKNi6NCvW9Pv92U6/PzkYDMaMiFTpdTp2d7WDuqur0Ou0IU0SM78LyMwkj9LUjFdipUXeZKxYI5jYrKTeYhTZ05SG04RUp3FuCpOnMSa3GAHgdKXkBaD0GcqMt5U77knq2iPM6KJwijRpxMPUSiMTT9yBwhSuHKBu1ejaXi607gste4LocMeN27hJ9qt+f0anxOfIsYdgu0teUGvX6rX2eLO2XPXogk3lIrJV/KUvxeIRDT6NN3U5xA6FKmeskSZ5ZRjm1mAojIDkgAJfY+ILrXAkhewTmUd17xB/Gs2cqirYti2XUjrrOPYWy6JbMcZbAfTZQoqtGsHZCOOzpVRnSyXPMmN9hpTidNPX0wqWb0nSdG0Ux2NxktAszYAzPoonK0oSOwxDGkZhEKXxWJ4Wa/Kcrc+Z2MCl3MCY2FiYdcushxuEkJvMkr9ZaXSGMO1qwGeYNjdZmMwobPsnq+NG5PGxVJMEybUI1EQqOEqlBmYEJFqpgrJokoh8mQs+rzVfhRpksBseWiM0Cqqp43ltr1JZcvxgntr2UY3QISHEEd4dtCehbRaHZ+bt/soy5TibqBCyJbDJBa6Npi2H2JZvKepZCXadnnbsHrLxCcWq667boeZ3FmE1qK94lWBhaqKWrpmswkTdrF3UPK6LCGfDnh92e9VBe1hL46LFuKoVZhYkBetFRT7PZDb0wpq5+TF9KU+UBEoCJYHnLQH8vPWsdKwkUBIoCZQESgIlgZJASaAk8H1HoHS4JHBiArnMTW4zcUWRuywt7LBfoGggIY0xcOkhqZxCCtJVOVtVcdgJ5+Oksjxt0k4ntvdMzt500/X01nd2KxUnWOcQvCXsha5JIAMrFAiTaQSLIMuzgFIdU1x0LKIHnq3yZ9LmyaxL7KCQmPZTjRYFoCOu4y/5jrfkUnuRYnyMIHTEovggweggQvqg1sIUs8f0sBV4K37FiWsBhbpvQcNzoFGpgecEQKgLlUoTKrUWd71a5DjBqkXdY6DxYVDoENL4kEUtYxcf0qAPU0KO2pQcoxgdRSCOmXbmTRK7C1g940Tno3mpfuKpJGthnk/rQtQzk5dPEwV5gUEj17iHh0LKY3k2OFgkneUxpLO1Yz35aDsn471lh5VGINf6trzIDdS5iuqa8KkjAgcJz5bCtQvkuIlGY+Lx2pNOYXLbasFy0BGv5bbr414+PuZB08gkThFD0V6G5UMH4cihg+jYsQUy6IdmaqiYSzVvFI0lkaSDuCv549l/pud37NiBA9n3Pdeu2pRWHNuLHdtfsIl7jGBrHhNrwXK9Rdf3Vp3A6VVrXtKoV/lY1deT9TpMNloQuB5Y1AJMKFDPA+z5hSLWCpdwNM/zg1qogyZ9fkBJOCgFHFJCHzFCwxFKqIkpukKxVdiEUItiv4GkY4Qb+kz79VB9DYBum7uG2gSbUSPNeJjb/W4B3R5AxiqA6Dg47hh4bp0HdiVxwIsrFsoBIRi9lpaWZJMaPYC5ixg7u23HudtzyJ0BFTtdSO9wZbKHJYNkx45tanT/Mym5GmmnsppkvBImDIYphjB3IeMBCOkLrNzcUnbsaDumhUz3VyqPG3fPxI+nU3f37t1aa8oBuT2prEWhySGFYL/Caq8E/gBX4kEm5YNc6r2c8b08y/YiKfYTs2aB4ofM2rvoula/4rnCc23ABINhLanrcGQ7qSl9TJxlqfERIdEBJtC+LOf7WF7sV4wdULw4BKI4rJQ4DEgfRhgdwVgfMwLPCkGQEOPA0+nXieoEhPs+KiZtJWaN72NRmqOYc8jNzdR1leNakUVhGTRf1EJ22+Ee/vD4KKIiTIvisNT864roneCQz2CHfg0BPgC1WmbiX8MzfLG4Z1UlXx9osbWO9HkBVuMYOALEU66K1UIlRzOedjgTj7eG6xt37pRm/AaaoH0Tk7VozZoGTE26EHjcdLsP4WAFVhaX4ejBNqwuZtagBzQtqCgErOZMHAmRF8/OLp2StfkZ4imrlwRKAiWBx4FiuUUAABAASURBVCWAH/dKeQGgZFASKAmUBEoCJYGSQEmgJFASKAmUBE4CAZOOophIL40TOwpTEg4KiGMFRUFBax+ktExGHXoyL7okS4aSz7Md3/41TCeh9UeaOMNmxCPSxwitwRqvj6PMieMcCqZBmBSdQkgSh6SUyi5GfAUTNoSqGOUBH2noOXpXCJVIYh8RoL4pAH3RpNg/T6n9eYvYnyeEfA4T9FmLoM+YXOtnCUKfxVp/VhP4HBC803btrzUblSPrZ8dh7VQLpsYautWoi0azpRrNCd1oTeaV6tgydfx7qO1+jRDrS0iTLxiFZqfp7ucxwp8nmH4OlLrNiFOfRxh9HmP1BQB9hxGP7iFKLECmY3PvSd6Ur1neZEnWKJLMCH5mvDINUlJA2AGlUSikWBRpdAyyXodVkmLnjTeekiQl1aLmILTRJmqra6NNygJXWlhzmxTSpbEwiWJMUeJ46HHb93pjMsRqBTtoLzj6Liegy7W6y+se1i4wkPEAeitGRJpfgpWVDgwHEcszNsjy7GjO8mVXp1HlZAusjx6xmhlViySIWMds2/2GRZ2dtmXdRon1ecD4NmLZtxHb3mk79Iuu79xRrXjfalSrB8YbjfZEs5XWq7WiWqnJaq0BQa3B3KDSQ9TaqxDapZS6XUv1JVDyS6DRF5VCXwTAX8CImIK+SIB8GRO8y4hPB2xiDx0nOKmfWNixbRs+FtuOVlA1pRHHhdUfMuhHGgrpA6JNcNwGGAFJVrxKYbl+7tWykQ9mhQCYm5vT27a9sag5tTYIZ79L3Lt8y7rdI+wzHuZfk3x4cDaHDABpeGYvpDJMQONaagSk7iBB3YjDMMPAdACE1IVrN3IP+4mFaXr4mo0Mngd/p+2hLm/fvl1lGc+FpEelxncrjb8MoHdqJD8ntfyM1OIzwqxPUsPnhNKfV1J8Hku5k2D1RYzU7ZaF7vFd5+h4q1GMtZpQr1W0F3iJ63k9J/A7tuMdwcTeDYjcqRC9XQC63YhRtwuhbgetbkdKfgVpefwYzHswNjVSX0dIP0AUX21a2IzRQ94+7T0y8YBdjQLKxKTM+RjLWRBlOcpNxyShClMkzCiGmOplZIQaydLhzrkbzfqA9EOtBqyTCD5c5CDvAgy3Iwd9QVrkXmypxSvm13439h66/+nsJc8tpPUaW6qNRKi1VMoASS4N64HWxbzRjQ4ynXdUIB6XCzIDKKg10Jjsqzf85WbTi8Zatgo8CUhFUGRD6PcHsLDQh3ancKJI20ISo0mRfgF62YZ+bng9Y2H16fS/rFMSKAmUBJ4uAfx0K5b1SgIlgZJASaAk8HwlUPpVEigJlARKAiWB5xsBpwIUY+wNBiHp9UKTYMogTQGEdACwB0pZRZrk/TxjPaIhqq8WpyzB1CLjxLexp6WeNmVtlgk7zQTkXAFXGhTSBbJwD2G1iDVbVMAG0SItni9Mr/mZ3xhe84qDe6qe+xkQ6J/zlL8XAf3HilP9Ry+o/WPgVd9DKHqfTdH7HQ+/33Pt93u2+09+YH+wXvc/fPqG8bu2nrUZTt+8Djaum1YT4y02PTMr1mzYKKfWbBzWx2ceIF7tFuJU/s2i7v+1if8vBJMPyUJ8EBR8AAN8ABT5p0Lw9wudvx9p/n9EQT+yPJ9+cffutYfm5t4QnWxWvqV9KXgzDSMvGsY0HCTAOQBCNlBiA0iVsDxdVSxbRnk82Dk3Z3LJ/5mchZP4qthW3UV4M8VwmkVhRmNFOVKsQHqoXNrWjtUTIBKwuXi8Zq+58UYZUtGNebS7HYefkgj2BxUnrQeW8ogCzVOI+kPotvvQWR3qwTDM4iTuhuHgcDQYrnzwb9700N+5ebwmntH5PXv26H4/yBHAEYTJFype8G+NSu399aBu4qj6fhNj73Us7z2u6/yjXwn+d7VWff94s/lva6amd06NTz0wOT7RHW9NxhMT02xyckY3xybSSmNsgVDn65ZT/cxErfkRrOHfOfB/o7b6t5pjb3ew9y9Rkv5zCvxDYNkf0hj+1cPWbRN1cmB+fvfQJJ0fl+f32tl+8yB2rdHvoBv9ei3RHCaFbTQ6CFMAJl3AVh1crw6BX9O+50nXdfns0iM+NaERQmrbtm3hwsGDR2Z8/67k4J4vsrXBLQ802Tcm4n3H5uauGyX9v1fXHnG/6TNyjGpHDLScyaDdCaHdT2GQKpDYNz42ZL0+UQRBNXGonRtlSxkD2pTnxWYY6T/+479JV/qwp58u71R2+u9G6PoXrPH/yaT8p1TID2S8+D8OgQ8ZcfufXer/X6O5bMcW+jfP8z5c8Z2djXpw/7o1s+m6NWtgempSN+q1nl+tzjfHx46a/R6E6B1upXKLFVQ+prH30YrrfLTW8D8auLWPejb5CGD5YUfnH8bA/x1r/m+MiVuHSf61M9bXD7/3vX8dP1NQ+jjt3VRpXdVCTmZpVknS3AoTZpZnamLJ0ULLQioeEq1XC6w6SjDTrpldD2v81XNz+ZtuvLHNbX7fWYdP++oFi2fc7jezfW9715/1rjtJ/5nCl65FtZpGSk8joSogBNFSFoToDsbykBTFXs2H3TyZf8Ln3UjUBeLuDXznoO9bK/WqLQNXgYWN7qRTSJIEltsx6g65HybK09pmhFhD28b9mZmLzcr9sI6XhyeFQGmkJFASOLUEzPe+p7aB0npJoCRQEigJlARKAiWBkkBJoCRQEngKBH6gbtFafzc7NjrOErALJoIk5TSOGYRhAWFUmEQT01IjTihNHc8bEMfpaALDzZv7o0ToKWES8R5mRWFJoQMmdC3JBAnjAqKUgQTzIyJCrGBZN0vj5bRIluO8SHfNPiJ5fEr8eqpGR0lZhOYUrx3LWnajXzBYRNg5oik9GNjqkBboMNjosK3IIdu8t5U6JAAOEsfa5zr0rlbVvb/uuyv1ip/Va770AzdxPDe3Pb/ArtvHbnDQ8b1vYMe9B2O4nxB8wLa9g1Kiw1qTI1nGjwKoY9QcU10ci2NYLgpnuHEjsB3fTnQeT6k+1f48lfukRVwmVWUYJ2asUoiTHKTpFMFUO4Qql5A4sKwuldBxbdskZ5+K1ad3j6Wwj5Qaj8PITZKUGCuWbdHC9ewOpvgQorCEPT8ZFiaczMUTbaMxXFray5IwXU0SfpcCup86/mql5omg6oBlUTC8Ic80pDFHeZQlPI47MssXc1EMAdBJZwwPexnhQi8tLTFadXoY8KGCw0EzIfcLZe0jDtmrNd+LkHyQUnW/xvReTKyvWRR/ARP0Ga3hDq3xHgDSxsjOMHGBEje3qNdxvcDEoH/M87wOgNfjIe4R5nWkpO08T9uEo1USmcJQh842+lL2RmNp4mqHaf5hDj7Dw3XnXokrjTWOpm5dYntskBV2N8kgFhq05YIbVMHzq1Ct1uT4+AQbb03IEZNHN4sQ0ua8uu6660bXxdy114od3z4+Kf5e1upaCAUB1taYUrSWFQrMWBihG2kJWCqEOGCcU8uJPCcw2ftHe/i8eH+cEcBGluezSbewhuBlPc/LOw8VTirtSkW2lW23c22vUCaWbIcfHWsEh1r1ynyjGhTVwAcj5pllDmcY6R7CeMGynX22Y+2mmu4NXBOnmC8W2loBW7WrVqWdWsamKRVFV4wQt+K74SpU4rCeH8lH42boPON59Ja3zKFWK0auVfEtp9pMc7CjRECWK8gyCVwoFZi1teL5A8fBq1Taw5w28hO1/d142nGdHIlG3/bx5M31xDSa59rOjv+nCYUYU1IyHkrOD4zEI1DsoGLFcGsQcHPr425LoUyJshbygu8SSnyzVg96jarD6j4Cn2ogoIFxBBJ7VBIPcc4zyVgirTztf3a0lDyu6fJCSaAkUBJ4XhLAz0uvSqd+AAiUXSgJlARKAiWBkkBJoCRQEigJ/HAS0Pq4eHT81/qYBBjetesmas74SulmEjN7JByFIYM0kaNkqEaIMpOBNyKGMyQUBilAtGPHOc84sfd49DNBca6Rk3PpZYV0o7jAYcIgzjgoRAARzLhgg4wlnTiLu7YsCpibU49n77k6f+21c+LaV786f8PcXPg7f/Zn/d/78z/v/t6fv6375297W3du7u290f7Pv/t+rvMHf8BXprZMHJmuW/O+gweBbzHftxV1aE48O0eOXWjbDZUdrAbV1mESbDz21r9449Lb3vbnbVO673rX27pvf/tc73/9r7/sP1T+7u/+bvDOd86F73znGwoz1qeMEZdmrKSohllGhnEKYZKbBKUCpJF2KZWeRVOX0AHTo+TsID+VYyI48xWXrSzOrTQukOCKUItkjmt3qY0XMCUdi5KsvhbkE/kxN7dThEfJYCmK9oPlHbb9ymp9rC5qjQBc1zIpWAKCIy0KpHiSRXkctXkerSAdjkSVJzJ9Mq6Nkv7i13/9j5PffMOft9/w598ufzz3x6t//Md/vPoXf/EXK6Pyxjf+xdLrXveHC7/ym2886Nrx/ZKpu7mC+7UmRxXQAcIWI8QBih1uES+qVmorVqvVv+mmuXTHjrdnH//4TekHP/g3yajs2PEP8UNl9P79c3P5TTfdxL8TV/pkdOohG9IpiFWpVLVttwTCE1HOnUFWQDoSkKgNZiwgqNagUq2rVrUmJhpjytR9Ah/M1VOw8SyxgdIasdwpDbSRpEaYYArMBppQwJYlqWUVtm0nruc+XwWk42RG42iKeOc731m8/e07sptu+nj6n+Wm9G/+5oPJP/zDP8Tvfe97o7+6acdw7u07eq1mrdOsBN3Ad7jv2WCKdi3KMEYxQahtOc5Cte4fcxvF8gfe9ufdz970V8OPvfevox3GziiGPv3BDyajMoqrh87fatrfsWOHPO7USfiydfdu1DgqqTbKuwa3GWfaCmMJcSI1Y+ZhqLCyLbtwbSuyCe1WAJJdN93AT0LT36sJ1FtOcJ4KGieCDMMc0tQ86QoRipwdEYwdBskXFE6SkSD6RMZ/48b3F3byQG8QZ7uZkPfUqn67WXPzsaoNnqXBjI2JTwc09ZDClhSSRaJgMUvWFTu2P/O/C/ZEvpXXSgIlgZLAqSCAT4XR0mZJoCRQEigJlARKAt+nBEq3SwIlgZJASeAZETBZZww7duBdN91EfnJmhmzbtpWK1cLDmLYQwuvCJAv6QyMAxAK4soDaFe16vhGQ7EyCioTWCXH8AmDulCVrAxIQ1wbfCEfWIMqgY/wZxBxyZn48xA4Q6kqCrZQiKwpsSLoM1DOC8nyq3OsByBwsxBXFEigBk+tXQiItJMaCYyo5cRQ4NYDx8eeN50me+1ma18OkoMM4h2GcQZIzEFJralFBCckQ6BSYm++66SZxqhzXJh9ccOEWWdHIc27nRnRM41xzLnNEyBBTPKAuMd5lfLHf1/Bkr3lgTqc2cJzaqlepdWfWzYqxyTHwKx5g4mgEjrBJkJqO9nkWt3Wa9KKseF4KBXEflMYk18QqjOjBEbYFIa5JnvtAiIMwshBTCD0Zkmfj+kQwSy3bGpfImmE209NzAAAQAElEQVSAplOl3dgoX7nSIAkF6nlQqTeMiFTVlNjP2fx3ay3PsZ0JxwnWISCT/TBFUVqMBCRkeR52KoEOqhXuuF6KsDbrJvxAvVQuNDaTziYIbLNYuZQi1zHFoopQUmCkeUakXOm2nnyunSIyE+ecg5isO3Gqq3GmmlEKVphI1R/mQmmqHdtTSOtCsSJRSRrrPDll69MTdXH7tm04S3OaZRIN+gksLnWh109YnPEwL+RKzmQ7KrIweSB4Uv/MLNbX3LhTZileVFIfBIRWa1UvnRqvgk0UYJuAVW+BdjwuMU20ZF2l42Tn3DXS3KufyM/yWkngWSdQNlgSeAoE8FO4p7ylJFASKAmUBEoCJYGSQEmgJFASKAmUBJ6AgMnx4d27d9vfeullY/dMuevx2VOnO2ePnc2W2AUg4YWZkC+KGb+iH2bjy50QljsR9OMcMqGQAmSbpJKtFbcRKFcWqWMEJPQEzT3m0pOdMP4hvX07+cy7/6SesnytSfifs7TcGTu60IZjSz3oDke+EEhHv3aIaZPvIxQhaiMeWDPJ8KT68mS+nqrrO3bsRh4HTLAmRjyioDmSMtd5kepc5LrQQpnLIACjlONnvc8mq4hum5uj73vfnLv9XXOVf/iHP22+711/PP3Bv/2d0wZJevogiTesdHvOSm8AJo5gmGSQcYaw6REGZCkFtmvn7tZtc9bJZjjy6bP/9Gdjt/zvPzp9cblz+tLS6rqjhxe8I4fn9bFjy7LbGdI0yiqCyyYXsl5A4TPbZFGfxJFtO3YoMCIS0GBoB/XB+PSknJgeh0aroQOvKizi5SBxrJnsAsu6EobxpclW/iRmn7PLidRYCE2FApozgZkRZaTEAJpiM58sDNQCgQk8B685E1sf+B9vCj7+t29cMxyG51qUXMmkPKMfJm53EOFuFEPMOeRKApcKOGOguDBxJQIQuTc3t91+NtzWWqP3zf2Gu/2vf2OaQn4uJfjyKIrX9oZDf7ndhV4UQcILExYIIYsQbGEbEeWaiWA9G/49m20oLbB5LmAlOUjTZ84ykIwjJY3kLZU2L+RJQqai3rO+Xo04vPv6662jxd11QpP1q/14/eogmZxfGTqLqxGEo/+UUAij/SqkpcAIJAWsLGa+juo+W2X79m3kA//j14KVDbB+cdg5d35xZc3CQrsyf2xVzy927HZ74A/i1I/T3G+noXvMKcyEfXLvEDKzGqkBtawVP6h0a7VKPjFWg6mJhmq26tqpVjVynERh1OMia8s0SQCQhvJVEigJlAS+Dwk8pYXx+7Bfpcslge9nAqXvJYGSQEmgJFASKAmUBEoC32cEdu7caVO6WqM2WY8t5xyk0aVSwpUm8XeNSZz9l4KLl8VZcWUvSsYXV/uw2B5CN0whKQQSSjtaqwArUaFaNx0K9W3bgG7bto2YpO8z+plNa5OxMsLRrptv8nZ5/aZf99YhTM9hQr5wcbU3c/DIEhxZ7EJ7kEMuCMSphDQVVCkcgKI1k0quKbtugdbPSYLyZIeBE4CRWwQxY2IpWWDGUihMUjYThc6l0EaZQAJTEErpzslu/AnsjcZ5x/Y5qz3jBpRZzQJguoqt9RTrs4gDlyaMXThM4i0Ly21vycRPL8xgmOaQmmSyVMqEDfhEq7pDoLmuNqxcf/27LWPzeAw9QbNPesnYwO9+97utGWo1lcCbsJKXDQbDC1aXV9cd2H/Ee/CBA/rgoSNqebkXDIfJFGNsveR8VhaoWY2sJxUcTFDp60a/TssJQq/a6I9NjcuxyTHdGm/KIKgxi7iZFhBrxnqIJd3BYpLv2HGdfFLHn4MbbC9AjGhqppwlJNiMSVwwhYQJKq0xQdqiZk7ZIBF5tt3bbtaSdV7qEU+PK6y2YoRfpIX6kawozmp3u3i510edMAYTZ5BxATlnkCYxZFnsCskaRRbVF92+B3Dq14Edb7nOCgAaCOjpBOHLNVLXDMLB9Gq7Yy21O9CNQ4hZDkxLrQxQBdw3wkRNg6qM4hUATFjB99PrcX11pUTaiC+CM8RHfc4yYLzAQjAsBUfAOdGSENgIz+prxPnd777ecje2a8iBGbDk1n6Wn7bSjyePLPWdYytDCFMOacYhzxmYPlCjerlU8aqrU3tU/9lweCQesT12kOV4mmA4L+PZlSsr3dMWFlabh4+twsJS24iS/VYUZZNpmk7IHFoAPQee4vPux+H0OKjX+kGtPmg0akZAaug1sxNyYqolvWpFE5vGGukuK9J2nvTTZ6PPZRslgZJASeBUEHhGP4ycCodKmyWBkkBJoCRQEigJlAS+PwmUXpcESgI/zARm6rxVJMWFtkdfTB39X4glX8Fk+tMZS38qTNMf7w6i848tLXtHF1fpQrsHnSzTmdAmT0WQYJwoxT3Lwi3HJbNVC9Z2a3yGzp4+vpi51Wvm5ig8zdeeHdutXdNk0mtUX1Ctez/ruu4vEdv+OaHxVd0omTmy1Ib51Rg6UQGJUFqY/DBGxLaw1bAwTNpCTBHNmxff8BbvabrwvKpW4bnmvNB5kWulJWBKwPZsbTm2whZRJs8vFGiZY6XcQmp4ll4XXFCvVVRrnW2Rs3yELvUwuda14BWejX7BsekvJUxcttIdjh9Z7FgLRnwcmORsYWQUxoUOh30tRVat+HRN4NItFtRPS71jm4/mzvrp0y5qPZNk7UteMuGfMZ1sqNTQFY6PflIj+TP94eDig0eOVA8ePkYPHl6y5o+t1FeX25ODwXBtUbAzOMvOTNNwU5L1H0roPylFbvlDy6936mNTrDY2lnqVSs92rB4lqEdBd6nSbSpk386p6fWTmntObhi6CTK6I0aWRQk1X6iDEDLeawxKAEgTWUqpZ13cGI1/9pLTGgEVm10uLw0C70dti/xYnuZb293+2IFjC9AZZmBCyogyGpjiUPAciiKBPI3cpN9tpf2VSdmOGnNzbznl/g/BnswcfC611DWFyK/OWHLh0upqfbHdhShTUBiWzMze3MzlNIutJBpWcp5NYiImdh4e1E7FJ/Cek4AyjTLgoEzwKCGAGPKe64Br1ipKiZKSayGlUhopc+uzts3NzeEN9cO1agRbKpXmRZWaf5XnBy9JmT5rqRMFS70UdSKuC40Q41yzPIUsGeI8HVYEDydQ8e1xMg6bHpmvp3DL9o5NE792QcN3fszC+BUsZz/SGwy2LK/0avOLHbSw0qusdvpTRpjc0u4PtrA0XO/wvHX9U33ezc1pagUcnCBpjE2y6dlZ1Rhr5LVGrWiO16Tv0cgmYNawou9KM6lOYV9L0yWBksBzQeCHp038w9PVsqclgZJASaAkUBIoCZQESgIlgZJASeDUEIiV8LTUEybbN6u1WiuEWMMFW5uxYn3O+NokZ61hnNMoEypnUChEE2y5sW27MSYQYS0zDExTzX2leMPmRb1gKsAyd85YnHnaibbhWiCCyaZGsAVb+FLbdS8l1D4352o2yaUzzGRhnMkktlNE3dT1/MxzvdzCiNsYY4qQa9vKa0JmnRpyz67VoWlOCjNCylCWWnOTnOXHE7FcC8WVFFyaL4IKJKJcaHP7s7LxAXeLnDUoxlM2oessQk6zCd1KMD0fI3yBBDKbFcqKcsniXCTGtZhYbuI4boKRCgnS3EJgmzGrIxuNAXHHCFY1ZGNv9+7dTzt+nKKwFYYWImgTougcpfXZWcGnesMU94yK1Q8TFo/+4lFW4CLPTdgWnuAskDKvmjqjmMFPBSASpI+ocxjb3h7LCfbYnr/XDbyDrksPESwPIBDzmKheY3NfPBV7z809E+CYfxpZGBFKNMJIAwKtjFCsQIPUAPLZ92zr1t0mJLCPbTymtV6npNoihNqc52wsy4UT51JLRAqw7ZR6TuoEDnNczLQoYp7HaRp1ZRr37DiPnWfD+1jgKiAxTSjeZGbkurRgYykXViqUYAinmtAIUxoirIdK8YHkWaRYbmYAd2QIXh2G5Nnw89lqw8iPYILIFBM/o5mspJG4TSCZvVJKcyH04cPPljeAZmYWiUsrvsB6ihJ7E7Gd0zF1NnNN68NUFaakCZOh8TDEmAwJQUbh5j0tilSyDAkVu6TQz0osORau2Q5ZF7jOeZTScw2uzTmT1TjnEBrV0exVxhjlnPtSyIqZsxWOlZc4QJ8KUTMcZrq3ck2DlaA5Phibnk3HJyb7zbH6Sr3uLXoWHEUqWyBU9hK3UzwVm+U9JYGSQEng+UjgKX0z93x0vPSpJFASKAmciEB5riRQEigJlARKAiWBksBzRUBxhaRWJg8lWJbnSZJlSZrnqUmAFjmXggkERqQpLK8WBX6rW600O0Gl2g4ca9G29LISWU/LzJgoLNemliUQjUNG+v0l9HT71G5HlJtkPsZ4khJrnRGsZpHl1FMmVQE005YXOrXGoFJr9irVVq/RGh/U67W+S/EKRTqmWiqCGK743tP24en6fsrqYVsDcRSXSmd5oeMk1iZLPvqf8krkqZB5LoTIhZcdNRnbU+bFIwxn+ZDkSexQQl3btn3LplWLkKZFrQZgUtPYoYq4TJnxUtTuKkpWg3q9OzbWbDdblQXfpx0C3IhJJmgw2CZ8HIwolYKiRzT0Pb4ZmIYIAodatAoWaTAl/UIDyiUquCYhF9gUnRhhIkagwzxPwjyLMyYKCXkOizNPTfxcSWU35mL3MBWfLDT5jFevf7XerN1drTn3Il3cg3R2iAvV3QPPhQTz1KDV61UtLaolaCzMTJdaY6UUSGlS6dpAA6QBBED61OydzLsCG1FEtKOVCBjjTl5wnOQCJHK0F7SkV6tFQaPaq7UavYmpVjw2XkkpZqsiGy6H3dXVZNjJoyg8mS49ri2NFDVam4uI5Zs5ihPGuaKutoIaQ67bswO37XrukutbC5YFhzESB0HmfZ31BZJDWh128OMa/z67YBt/kUYImb0yscQZA1bkIFkG2MQSxUJbDlJetWViy9x0ijcTxtBMAlpo5GHbrhLHahHLGTPPFCMoOSJXdi9TuMMVXtWAF9zAWahXvWOehQ5ixRZFHIU6K4QcDkddGpVn7PETGXBscDyb1n03mLEtuwWIuByolMhKwPaGQKxQAU4QxhkygUQR0iPmrMiesm9x4KWcVg4FrZnFsZl1/dn16xdnpscONqv2bhsnu3ne22+not/asqV4Il/LayWBkkBJ4PlM4Afmwfp8hlz6VhIoCZQESgIlgZJASaAk8IQEyoslge97AiQqugrpb3HGbkvT7ONpVnw4SbL/iLPi36Ik2272/5oW/F+5Qv+BKP245Xq3UNu+mVj4o5ioj1KkP+NS9DVC1H2WkAdQIY4ppFZ8sIfnnGMyhU+T0Jo1Ii8IPVzk+VeiKP6PYZT+yyBO/zlO+b+kXP6bAPIRTO2PU8e+2XbtjxGs/h0h8RGt+aeQEF9Xiu+TOawWsps9TReeN9W2bTtH57FWRtow8gbOpUkkImJrhLBESkktmARZMMlzZpLYnNkV9Ww57ylrKCUclZnacz53hQAADrhJREFUG8X5PUmSfzWMss8NhvHN/WG6PUrZ9pyjf9fI+Tj1glu9Su2TjmN/3CQ9PwaafxyAfw5D8TWC9P1K6H0c6QPIwkczLns7tm9/2v2IYxEbIAcGafq1QZR8apBkH8u4/pgm9ieQ5XzW8bzPe777WYLgFsHzm3mRflKw4g4oin1ZzMPZpSX5VBgGQ0hlXhxjUn6+EOKTRnT5DAL1eQuTL1oU34EJOlKZ4Qns2PG0+/JU/Hgm9zCWmRDKOOOqYJwVXIxeXAvBQYpCSJkLxYy0Vgz1M2nne627bdt2pXG1wzjfnyvxDTP3PzMMi/8YRPm/JrncLpH179jxPmF77q3EIjcbX/+tyOP/y7Jwe5GEn8qTaFeRi31I2O25uTn9vbb/vd6PJOqIQu0ZRtnOQZh9LIzYv+YS7VDE+YjjV291veCTrmvfShD6hFFSPiF49mnJ2C4gcADbXp+xH5xEveBKcamkAqyVBjBBBGZuaKXMaqGBKS0EMGHm2L7vFfPTuh8h0HvCOreo6HGN9meF/FaUFF8KE/aJJFcfNUrfRxyv+vGgVvuEV6ncap4pH8cYPqY0u9W4e7vEYo8Zs/mI2CM10vToabnxlCvlLF9lmbxvmCS3ZVzdamL9ZrDcW7CJIdv3P+UF/mccx/m8UvyLShTfMEv/g0LINvS9p/y8s0gl1AzfkxX8E0khPigR+jix8KdsW3/Ks/BXKjbdaxzOdgI8b9cu41+5lQRKAiWBJySAn/Dq07pYVioJlARKAiWBkkBJoCRQEigJlARKAj9cBC685mfClf7Bg/324je7vfaX2svt29rDwac7nf6t7d7wo71+8h9hxv6NCfiops7NdiX4lO07nyQEfxJR9SlKxRfrFvpWBct9jMXzH95S6ey46a+GN900l87NzT3txNMll9zAf+RHfml1377l+/bsX/z80cXVTxxd6n10ZZB/JM70R5mmNyvHuYUG3i2u599Kib6Z6PyTIOMvSpTfoyE6CkvVwa3vfOf3/f+efstbTAbPkyJlkCVMDzlYOWCbGwEpx6DT/z979xIb1XXGAfzc9zw8Ni4hTSISVanaRdi2XWSVLKoqUh+reFkVVQKpVVmgUFJ1wV0GRAUSEolmEVlCpFKvmhAIDDaOe41tJk4yYBtjXsaP2Hjsscczc+/c9+P0XicLFEJtHI+LzX801/Lcxznf+Z1zz0jn08zwoWdQ19Spa9QFz3FFNxMtzG7MOH7zT7JhSLPzxdnaV+Va5eZ8uVKYKZZ6Z+8vdHw1W/54Ycn6qO7SMwGXOC+lt+W2bX+mI5GIxo9IL5LQ6uRDs58LzCGB8e9Rz5yeTtqz7x16a+H9Iwd1wjB0ra1oa9tv//K3fy2OzxWHp2bLammxfiEaN+conzrLiumclGq62JTJ5DguuBDYZs4y9O66VrnmWbWvvHtXjdWO3TZZdn+951B5omfsxsi1mWuLC+ZVn/oFsUkYFBL8zWYvuTCqKG7UjjW3Jbq2oc/FxWIYCKHj+K7heL4ehKEdUuqGxHN93zV9zza8aPTRKA3Q0EC+VTgT9f/v/nhQr1fs+5rr3lgsG70Li9onxQXzwyXT+7fNSh+xycx5Idl0kU9yOdvRz1Yqc2dqi/cv6IuzfdXy9A1/emn65z9NxN8A2XB/ajlVs6LdW1zQr8zOVzrmo7lTd5gPKZ/4ONm8/WK6uaUjkUxeYqOkexga3Z6h9fm+PWIZzn1VOVlXVdn/FsGmfRmlJP2AMDZlOCekjBfh+4ShLhPd9IR4dSYkpm9VvRcdZ83vEY+LE93T/gulH+ol07xfqizdLC0aA9NFvbtccy7alMuJmdaO5mee7/zBjtZLyXSykxPDT6lv9gahOcQL+uRLP/AXC+eyZlRv1JzobwOfthUu3df0u/Pz1T7NCDoDPnGOJlKf8OnMhWRLSy7dkrnU1CT9h6HeFdcyhqvW7JR+p1BVFDmea1YV2YKiWjxvTZRrRl+pap21fObT6J67nJTY3tYmYagp6c/8aleLQ2R5w/poVYHjJAhAAAKPIYAE0mNg4VQIQGDTCCBQCEAAAhCAAAQgsKEC0YJR+MYbf3FJU7FqBM8WHdGd3OZYt11OHGJTJO8JpIdz3K4E73T5NtPte5wqsUyvz7t53q5/mTStkUogjPsvpudfanKN9VxsYqIFZNL6cr3klGZCy7lFQ/FaqinMiwmnTxLZHl+0VcEVLns06PUdIR+awpdsJjlaI9LMTqLVogXZgGyBx6FDMp20NLdm+dWKGUy7VChTTtIopVWO0EWJhHOsXZ9hjOqC5Ny0K63jIdmgB8MQumdP1m9+5ZVa0U7OpcOWexmOuWFKdoGkhT5CXVV0hO6oz7olMVTZ0OuxaeKyb7h5VkoUGEm/mbETU/NirSzpE6Yqy8H3SRw90GzKROOHZcOSaPGjtmnmBU/8lGecHHGF8ywbb/4FwRc7ed7tZb3UtSghOklmZmqKongPlLPiv3E9e7JZ/9ldu8yirld1/cV5Yk4tTv5E0EdHlccqa8XKGnCC6z4fVCqhZXtOxfGDEiOwGi8xuigwlZA6C75nLTLUNziL8xtQ/YpFFskL9oJfnxdqwi07IX1uSVwPCYMu3+E7Ey65FPJMt2DRnqSU6E0xYZ4ExrVEc+qOk9aKr732rBklDsIVK1mHE7SWXU61VSuHAXvXI81fpFiiUol2MmKik4Z8N2sJPUzI9ScD93Pbdoc937qbaK3MjbdW6utQ/RNVRMgRi7JClXBihRGkGisIhsDzNY6hZeJ7c8R1lgyDGJVo4G1k4K/LcmBZLxn8jua5ZjE5Vq871wNCC0mb/0wUklcE38mzAjuQEoOCJfjX/VbhXsatlYZffdWK5oWwAbF+Z5FT5EcuPyuWGSE5yvv0Csswl9IBvRCGwgVq+52sTbtZT7zis8H1GnFmXiYkSkCqwXcW9oidbYoS9EwR19tOZpslMkI0MtKSahkJaOstbodQ3GHc1zfq3nlEiNgNAQhA4HsLIIH0vQlRAAQgAAEIQAACEIDA+gigFAhsboF4Afz112W/ra3N3b1bttv2H7MOHDhqHDz4vn74sFI73q5W288MVtXBwWphvFAbGBvQxqLt9u1+fXi405hU2+1CNutFC2yPtYC1GrUopmDfvhNOHNOf5ZP1g0fO6idOD2hKV6FWKIzX4njiWMbGclq0WF8vnMuaY7kTzjex0NXU8aSfw0RJmmLxhUB3/bJuhyO2Rwa9gBnmOf4OT+goR8NB3neHSeBOzz33nK+8+eaGLXTGdnF8cT9Fi43ublm298pZU5aVuiyf1g5nu2rHz6hVpWu81rXcX+O1r/trQBtVlai/zpm5qL8eGD/r2md792a95XhO5DS5/Uz1mJJfUvL5pY5oy0ebqp6pdilKrfPUUSN3Yu3jhiGERu0PVVX1C4WsVygUPBIt0EY+69qeqLx1fxaLxSCZdCzP80ue506yHDMuitxdQWJusYx3g4buXRIyi9VtNXvdK19FgbFrNJ7cvdmsefBINCdlozkpGlMf9PVVzkRz0mC0jUfz0thATrvdf1aPx1VeOWbFn/yKr11FFetySlyXLKv+/mOKJZ9U6m/HY789njvVqjo4uDx3xmM/njfno3lzJq8sx/jNOFmXGJ6UQmyb1JwwnKzb7pAb0KsML12XJOmOJAgTNPCmCe8suT9uiubpf4UbHPPyfRrPC7vldvvoqU7jpKLW3+/v13MDA9rA2Jh2+/ZtfXR0tD4/PGxMqqq9fC/Ly5/CoRsVazyWovG+PHftO3Fa+9u7H1TeOX++8kHf+cr5630VdVCtDkTjfbiz0xjL5SJHJX7vfez44nra2mT3N3tl88DRo0b02lSO7bcUWXa/eQ/dqCajHghAAAINEWhcAqkh4aJQCEAAAhCAAAQgAAEIQAACEIDA2gSihb3QqIcLVZterZh+3nLpFZ5PDEmEKfChPcCF5mDaNKaVtrZgnT7Bs7ZAN9tViJfEYytOHNfr9VIQuHcFjr0hJdmhdJoviFJ4lQntW/UFray2y/+XBBK6aPMJ7D2saOVyZWJuqfqZZgWXeSHdn5CaBlOJ1B3Gp1N1SquqLPuErP1rKgkeEIAABCAAgRUEkEBaAQiHIQABCDxtAmgvBCAAAQhAAAIQ2MoCRqtd9t3wqk/5vpAVehJcIi/yfL/vOJ+lkuGEn6lrW7n9aFtjBQShpWwYzB2eZb9MSlxvKi10JwT2C4G4Ezt2vOI1tnaUvsUEaGa7pfshkw84poNlhQ5RZC8LrDCUcFNFa/v2+LeEtliT0ZyNFkB9EIAABFYSQAJpJSEchwAEIAABCEAAAhCAwJMvgAghAIFVCuze3W7//sB7JT3MTLguvZtpzkyEtDT9s5aW4mlZ1uKvHVplUTgNAg8JyLJsl8u/KCeT4VRTQrolJdkRLvQmNY0sKUpb+NAF2AGB/yHwh0OqEx2e4f3MHcJzozsEf2rnzp0Lp04dNb7+9FF0FE8IQAACEIBAAwWQQGog7tqLxpUQgAAEIAABCEAAAhCAAAQg0EiBgweP6LKcLR+Xj1eV+PdWZBmL+40Ef4rKjhJFwbvvvlPNZv8+dyr79rSiyBVVXf7qOvowA/ZA4NECDEPovhM5J/4Nn7f+8c/y8m9DyZirHi2GIxCAAAQgsN4CSCCttyjKgwAEIACBp1cALYcABCAAAQhAYLMJ0M0WMOLdNALx2Hpw2zSBI9AnViAeT09scAgMAk+dABoMgadEAAmkp6Sj0UwIQAACEIAABCAAAQhA4LsFsBcCEIAABCAAAQhAAAIQgAAEHhZAAulhE+zZ3AKIHgIQgAAEIAABCEAAAhCAAAQgAIGtL4AWQgACEIAABCDQYAEkkBoMjOIhAAEIQAACEFiNAM6BAAQgAAEIQAACEIAABCAAAQhAYOsLoIWbSQAJpM3UW4gVAhCAAAQgAAEIQAACEIDAkySAWCAAAQhAAAIQgAAEIACBLSuABNKW7Vo0DAKPL4ArIAABCEAAAhCAAAQgAAEIQAACENj6AmghBCAAAQhAYDUC/wUAAP//hD6S8wAAAAZJREFUAwC5lNa+17mGQ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0" y="1127794"/>
            <a:ext cx="6148510" cy="1244877"/>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89707" y="1127793"/>
            <a:ext cx="6855110" cy="2241118"/>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74932" y="3152012"/>
            <a:ext cx="7829550" cy="2895600"/>
          </a:xfrm>
          <a:prstGeom prst="rect">
            <a:avLst/>
          </a:prstGeom>
        </p:spPr>
      </p:pic>
    </p:spTree>
    <p:extLst>
      <p:ext uri="{BB962C8B-B14F-4D97-AF65-F5344CB8AC3E}">
        <p14:creationId xmlns:p14="http://schemas.microsoft.com/office/powerpoint/2010/main" val="22541984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4658-081F-1072-04AC-5C4EE8618E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FEFC77-EB9A-BBFD-088C-C9632C8DDC34}"/>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Montserrat ExtraBold" panose="00000900000000000000" pitchFamily="2" charset="0"/>
              </a:rPr>
              <a:t>Kết</a:t>
            </a:r>
            <a:r>
              <a:rPr lang="en-US" sz="2800" dirty="0">
                <a:latin typeface="Montserrat ExtraBold" panose="00000900000000000000" pitchFamily="2" charset="0"/>
              </a:rPr>
              <a:t> </a:t>
            </a:r>
            <a:r>
              <a:rPr lang="en-US" sz="2800" dirty="0" err="1">
                <a:latin typeface="Montserrat ExtraBold" panose="00000900000000000000" pitchFamily="2" charset="0"/>
              </a:rPr>
              <a:t>quả</a:t>
            </a:r>
            <a:r>
              <a:rPr lang="en-US" sz="2800" dirty="0">
                <a:latin typeface="Montserrat ExtraBold" panose="00000900000000000000" pitchFamily="2" charset="0"/>
              </a:rPr>
              <a:t> </a:t>
            </a:r>
            <a:r>
              <a:rPr lang="en-US" sz="2800" dirty="0" err="1">
                <a:latin typeface="Montserrat ExtraBold" panose="00000900000000000000" pitchFamily="2" charset="0"/>
              </a:rPr>
              <a:t>tổng</a:t>
            </a:r>
            <a:r>
              <a:rPr lang="en-US" sz="2800" dirty="0">
                <a:latin typeface="Montserrat ExtraBold" panose="00000900000000000000" pitchFamily="2" charset="0"/>
              </a:rPr>
              <a:t> </a:t>
            </a:r>
            <a:r>
              <a:rPr lang="en-US" sz="2800" dirty="0" err="1">
                <a:latin typeface="Montserrat ExtraBold" panose="00000900000000000000" pitchFamily="2" charset="0"/>
              </a:rPr>
              <a:t>quát</a:t>
            </a:r>
            <a:endParaRPr lang="en-US" sz="2800" dirty="0">
              <a:latin typeface="Montserrat ExtraBold" panose="00000900000000000000" pitchFamily="2" charset="0"/>
            </a:endParaRPr>
          </a:p>
        </p:txBody>
      </p:sp>
      <p:cxnSp>
        <p:nvCxnSpPr>
          <p:cNvPr id="10" name="Straight Connector 9">
            <a:extLst>
              <a:ext uri="{FF2B5EF4-FFF2-40B4-BE49-F238E27FC236}">
                <a16:creationId xmlns:a16="http://schemas.microsoft.com/office/drawing/2014/main" id="{3C524E22-1D00-AF93-59F8-0568C31DE3F2}"/>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DA2E3E2F-7080-7DCA-5FAF-508DECE7DB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41A0DF76-C459-DDAE-4651-58444760A4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091727F3-BB83-D013-C9B2-4E16BBB0E0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7" name="Picture 6">
            <a:extLst>
              <a:ext uri="{FF2B5EF4-FFF2-40B4-BE49-F238E27FC236}">
                <a16:creationId xmlns:a16="http://schemas.microsoft.com/office/drawing/2014/main" id="{5CD3155C-2EDE-06B2-B9EC-6297AC5DE0EC}"/>
              </a:ext>
            </a:extLst>
          </p:cNvPr>
          <p:cNvPicPr>
            <a:picLocks noChangeAspect="1"/>
          </p:cNvPicPr>
          <p:nvPr/>
        </p:nvPicPr>
        <p:blipFill>
          <a:blip r:embed="rId4"/>
          <a:stretch>
            <a:fillRect/>
          </a:stretch>
        </p:blipFill>
        <p:spPr>
          <a:xfrm>
            <a:off x="1251712" y="1823437"/>
            <a:ext cx="10271334" cy="3708514"/>
          </a:xfrm>
          <a:prstGeom prst="rect">
            <a:avLst/>
          </a:prstGeom>
        </p:spPr>
      </p:pic>
    </p:spTree>
    <p:extLst>
      <p:ext uri="{BB962C8B-B14F-4D97-AF65-F5344CB8AC3E}">
        <p14:creationId xmlns:p14="http://schemas.microsoft.com/office/powerpoint/2010/main" val="21293262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B723-C801-03DE-D5D3-B56EA4A7FB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6505A7F-BA21-1645-9634-BB95DB711CEA}"/>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So </a:t>
            </a:r>
            <a:r>
              <a:rPr lang="en-US" sz="2800" dirty="0" err="1">
                <a:latin typeface="Montserrat ExtraBold" panose="00000900000000000000" pitchFamily="2" charset="0"/>
              </a:rPr>
              <a:t>sánh</a:t>
            </a:r>
            <a:r>
              <a:rPr lang="en-US" sz="2800" dirty="0">
                <a:latin typeface="Montserrat ExtraBold" panose="00000900000000000000" pitchFamily="2" charset="0"/>
              </a:rPr>
              <a:t> </a:t>
            </a:r>
            <a:r>
              <a:rPr lang="en-US" sz="2800" dirty="0" err="1">
                <a:latin typeface="Montserrat ExtraBold" panose="00000900000000000000" pitchFamily="2" charset="0"/>
              </a:rPr>
              <a:t>giữa</a:t>
            </a:r>
            <a:r>
              <a:rPr lang="en-US" sz="2800" dirty="0">
                <a:latin typeface="Montserrat ExtraBold" panose="00000900000000000000" pitchFamily="2" charset="0"/>
              </a:rPr>
              <a:t> </a:t>
            </a:r>
            <a:r>
              <a:rPr lang="en-US" sz="2800" dirty="0" err="1">
                <a:latin typeface="Montserrat ExtraBold" panose="00000900000000000000" pitchFamily="2" charset="0"/>
              </a:rPr>
              <a:t>dữ</a:t>
            </a:r>
            <a:r>
              <a:rPr lang="en-US" sz="2800" dirty="0">
                <a:latin typeface="Montserrat ExtraBold" panose="00000900000000000000" pitchFamily="2" charset="0"/>
              </a:rPr>
              <a:t> </a:t>
            </a:r>
            <a:r>
              <a:rPr lang="en-US" sz="2800" dirty="0" err="1">
                <a:latin typeface="Montserrat ExtraBold" panose="00000900000000000000" pitchFamily="2" charset="0"/>
              </a:rPr>
              <a:t>liệu</a:t>
            </a:r>
            <a:r>
              <a:rPr lang="en-US" sz="2800" dirty="0">
                <a:latin typeface="Montserrat ExtraBold" panose="00000900000000000000" pitchFamily="2" charset="0"/>
              </a:rPr>
              <a:t> </a:t>
            </a:r>
            <a:r>
              <a:rPr lang="en-US" sz="2800" dirty="0" err="1">
                <a:latin typeface="Montserrat ExtraBold" panose="00000900000000000000" pitchFamily="2" charset="0"/>
              </a:rPr>
              <a:t>gốc</a:t>
            </a:r>
            <a:r>
              <a:rPr lang="en-US" sz="2800" dirty="0">
                <a:latin typeface="Montserrat ExtraBold" panose="00000900000000000000" pitchFamily="2" charset="0"/>
              </a:rPr>
              <a:t> </a:t>
            </a:r>
            <a:r>
              <a:rPr lang="en-US" sz="2800" dirty="0" err="1">
                <a:latin typeface="Montserrat ExtraBold" panose="00000900000000000000" pitchFamily="2" charset="0"/>
              </a:rPr>
              <a:t>và</a:t>
            </a:r>
            <a:r>
              <a:rPr lang="en-US" sz="2800" dirty="0">
                <a:latin typeface="Montserrat ExtraBold" panose="00000900000000000000" pitchFamily="2" charset="0"/>
              </a:rPr>
              <a:t> </a:t>
            </a:r>
            <a:r>
              <a:rPr lang="en-US" sz="2800" dirty="0" err="1">
                <a:latin typeface="Montserrat ExtraBold" panose="00000900000000000000" pitchFamily="2" charset="0"/>
              </a:rPr>
              <a:t>pca</a:t>
            </a:r>
            <a:endParaRPr lang="en-US" sz="2800" dirty="0">
              <a:latin typeface="Montserrat ExtraBold" panose="00000900000000000000" pitchFamily="2" charset="0"/>
            </a:endParaRPr>
          </a:p>
        </p:txBody>
      </p:sp>
      <p:cxnSp>
        <p:nvCxnSpPr>
          <p:cNvPr id="10" name="Straight Connector 9">
            <a:extLst>
              <a:ext uri="{FF2B5EF4-FFF2-40B4-BE49-F238E27FC236}">
                <a16:creationId xmlns:a16="http://schemas.microsoft.com/office/drawing/2014/main" id="{8117FE2B-0812-DE6B-9C19-B97F851B74E9}"/>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4BD031C-D683-FA4D-F2F5-341620EBA9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4D89A475-63B5-5386-2F80-184010DC2C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9BB11F8C-94D3-8D17-5524-3FDC8C75FC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5" name="Picture 4">
            <a:extLst>
              <a:ext uri="{FF2B5EF4-FFF2-40B4-BE49-F238E27FC236}">
                <a16:creationId xmlns:a16="http://schemas.microsoft.com/office/drawing/2014/main" id="{0EC92315-5568-1C6D-A52D-7FF3E5D2A4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4283" y="1019002"/>
            <a:ext cx="9043434" cy="5394971"/>
          </a:xfrm>
          <a:prstGeom prst="rect">
            <a:avLst/>
          </a:prstGeom>
        </p:spPr>
      </p:pic>
    </p:spTree>
    <p:extLst>
      <p:ext uri="{BB962C8B-B14F-4D97-AF65-F5344CB8AC3E}">
        <p14:creationId xmlns:p14="http://schemas.microsoft.com/office/powerpoint/2010/main" val="12304423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23ABE-E9AF-356C-2D9F-82CBF20B63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7F7618-993D-08E2-1A48-C383138F6715}"/>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So </a:t>
            </a:r>
            <a:r>
              <a:rPr lang="en-US" sz="2800" dirty="0" err="1">
                <a:latin typeface="Montserrat ExtraBold" panose="00000900000000000000" pitchFamily="2" charset="0"/>
              </a:rPr>
              <a:t>sánh</a:t>
            </a:r>
            <a:r>
              <a:rPr lang="en-US" sz="2800" dirty="0">
                <a:latin typeface="Montserrat ExtraBold" panose="00000900000000000000" pitchFamily="2" charset="0"/>
              </a:rPr>
              <a:t> </a:t>
            </a:r>
            <a:r>
              <a:rPr lang="en-US" sz="2800" dirty="0" err="1">
                <a:latin typeface="Montserrat ExtraBold" panose="00000900000000000000" pitchFamily="2" charset="0"/>
              </a:rPr>
              <a:t>giữa</a:t>
            </a:r>
            <a:r>
              <a:rPr lang="en-US" sz="2800" dirty="0">
                <a:latin typeface="Montserrat ExtraBold" panose="00000900000000000000" pitchFamily="2" charset="0"/>
              </a:rPr>
              <a:t> </a:t>
            </a:r>
            <a:r>
              <a:rPr lang="en-US" sz="2800" dirty="0" err="1">
                <a:latin typeface="Montserrat ExtraBold" panose="00000900000000000000" pitchFamily="2" charset="0"/>
              </a:rPr>
              <a:t>dữ</a:t>
            </a:r>
            <a:r>
              <a:rPr lang="en-US" sz="2800" dirty="0">
                <a:latin typeface="Montserrat ExtraBold" panose="00000900000000000000" pitchFamily="2" charset="0"/>
              </a:rPr>
              <a:t> </a:t>
            </a:r>
            <a:r>
              <a:rPr lang="en-US" sz="2800" dirty="0" err="1">
                <a:latin typeface="Montserrat ExtraBold" panose="00000900000000000000" pitchFamily="2" charset="0"/>
              </a:rPr>
              <a:t>liệu</a:t>
            </a:r>
            <a:r>
              <a:rPr lang="en-US" sz="2800" dirty="0">
                <a:latin typeface="Montserrat ExtraBold" panose="00000900000000000000" pitchFamily="2" charset="0"/>
              </a:rPr>
              <a:t> </a:t>
            </a:r>
            <a:r>
              <a:rPr lang="en-US" sz="2800" dirty="0" err="1">
                <a:latin typeface="Montserrat ExtraBold" panose="00000900000000000000" pitchFamily="2" charset="0"/>
              </a:rPr>
              <a:t>gốc</a:t>
            </a:r>
            <a:r>
              <a:rPr lang="en-US" sz="2800" dirty="0">
                <a:latin typeface="Montserrat ExtraBold" panose="00000900000000000000" pitchFamily="2" charset="0"/>
              </a:rPr>
              <a:t> </a:t>
            </a:r>
            <a:r>
              <a:rPr lang="en-US" sz="2800" dirty="0" err="1">
                <a:latin typeface="Montserrat ExtraBold" panose="00000900000000000000" pitchFamily="2" charset="0"/>
              </a:rPr>
              <a:t>và</a:t>
            </a:r>
            <a:r>
              <a:rPr lang="en-US" sz="2800" dirty="0">
                <a:latin typeface="Montserrat ExtraBold" panose="00000900000000000000" pitchFamily="2" charset="0"/>
              </a:rPr>
              <a:t> </a:t>
            </a:r>
            <a:r>
              <a:rPr lang="en-US" sz="2800" dirty="0" err="1">
                <a:latin typeface="Montserrat ExtraBold" panose="00000900000000000000" pitchFamily="2" charset="0"/>
              </a:rPr>
              <a:t>pca</a:t>
            </a:r>
            <a:endParaRPr lang="en-US" sz="2800" dirty="0">
              <a:latin typeface="Montserrat ExtraBold" panose="00000900000000000000" pitchFamily="2" charset="0"/>
            </a:endParaRPr>
          </a:p>
        </p:txBody>
      </p:sp>
      <p:cxnSp>
        <p:nvCxnSpPr>
          <p:cNvPr id="10" name="Straight Connector 9">
            <a:extLst>
              <a:ext uri="{FF2B5EF4-FFF2-40B4-BE49-F238E27FC236}">
                <a16:creationId xmlns:a16="http://schemas.microsoft.com/office/drawing/2014/main" id="{89587E7F-6D81-8378-5E63-CBC98AA2C0EE}"/>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F1D9FAEE-84C2-1A14-A6DD-69C3BB9816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1AAA9E4C-F735-D31F-CE55-0B40FBBC7D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546C4AE4-1EFF-F5B2-5330-AAC7799335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pic>
        <p:nvPicPr>
          <p:cNvPr id="7" name="Picture 6">
            <a:extLst>
              <a:ext uri="{FF2B5EF4-FFF2-40B4-BE49-F238E27FC236}">
                <a16:creationId xmlns:a16="http://schemas.microsoft.com/office/drawing/2014/main" id="{5B1D3A83-D3AE-3025-F62F-DB1748DF45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739" y="1371483"/>
            <a:ext cx="4901194" cy="3950216"/>
          </a:xfrm>
          <a:prstGeom prst="rect">
            <a:avLst/>
          </a:prstGeom>
        </p:spPr>
      </p:pic>
      <p:pic>
        <p:nvPicPr>
          <p:cNvPr id="12" name="Picture 11">
            <a:extLst>
              <a:ext uri="{FF2B5EF4-FFF2-40B4-BE49-F238E27FC236}">
                <a16:creationId xmlns:a16="http://schemas.microsoft.com/office/drawing/2014/main" id="{51DA8B20-C79C-9E11-BA6D-1198F678FD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1327" y="1224525"/>
            <a:ext cx="4901194" cy="3950216"/>
          </a:xfrm>
          <a:prstGeom prst="rect">
            <a:avLst/>
          </a:prstGeom>
        </p:spPr>
      </p:pic>
      <p:sp>
        <p:nvSpPr>
          <p:cNvPr id="14" name="Rectangle 13">
            <a:extLst>
              <a:ext uri="{FF2B5EF4-FFF2-40B4-BE49-F238E27FC236}">
                <a16:creationId xmlns:a16="http://schemas.microsoft.com/office/drawing/2014/main" id="{B5F76837-4E84-3E89-1853-7213E559BF14}"/>
              </a:ext>
            </a:extLst>
          </p:cNvPr>
          <p:cNvSpPr/>
          <p:nvPr/>
        </p:nvSpPr>
        <p:spPr>
          <a:xfrm>
            <a:off x="905854" y="5404108"/>
            <a:ext cx="4571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C6A54A9-45E5-CDD5-8196-E6944B6AF7D3}"/>
              </a:ext>
            </a:extLst>
          </p:cNvPr>
          <p:cNvSpPr txBox="1"/>
          <p:nvPr/>
        </p:nvSpPr>
        <p:spPr>
          <a:xfrm>
            <a:off x="1121724" y="5404108"/>
            <a:ext cx="3307223" cy="369332"/>
          </a:xfrm>
          <a:prstGeom prst="rect">
            <a:avLst/>
          </a:prstGeom>
          <a:noFill/>
        </p:spPr>
        <p:txBody>
          <a:bodyPr wrap="square" rtlCol="0">
            <a:spAutoFit/>
          </a:bodyPr>
          <a:lstStyle/>
          <a:p>
            <a:r>
              <a:rPr lang="en-US" dirty="0"/>
              <a:t>Ma </a:t>
            </a:r>
            <a:r>
              <a:rPr lang="en-US" dirty="0" err="1"/>
              <a:t>trận</a:t>
            </a:r>
            <a:r>
              <a:rPr lang="en-US" dirty="0"/>
              <a:t> </a:t>
            </a:r>
            <a:r>
              <a:rPr lang="en-US" dirty="0" err="1"/>
              <a:t>nhầm</a:t>
            </a:r>
            <a:r>
              <a:rPr lang="en-US" dirty="0"/>
              <a:t> </a:t>
            </a:r>
            <a:r>
              <a:rPr lang="en-US" dirty="0" err="1"/>
              <a:t>lẫn</a:t>
            </a:r>
            <a:r>
              <a:rPr lang="en-US" dirty="0"/>
              <a:t> </a:t>
            </a:r>
            <a:r>
              <a:rPr lang="en-US" dirty="0" err="1"/>
              <a:t>dữ</a:t>
            </a:r>
            <a:r>
              <a:rPr lang="en-US" dirty="0"/>
              <a:t> </a:t>
            </a:r>
            <a:r>
              <a:rPr lang="en-US" dirty="0" err="1"/>
              <a:t>liệu</a:t>
            </a:r>
            <a:r>
              <a:rPr lang="en-US" dirty="0"/>
              <a:t> </a:t>
            </a:r>
            <a:r>
              <a:rPr lang="en-US" dirty="0" err="1"/>
              <a:t>gốc</a:t>
            </a:r>
            <a:endParaRPr lang="en-US" dirty="0"/>
          </a:p>
        </p:txBody>
      </p:sp>
      <p:sp>
        <p:nvSpPr>
          <p:cNvPr id="19" name="TextBox 18">
            <a:extLst>
              <a:ext uri="{FF2B5EF4-FFF2-40B4-BE49-F238E27FC236}">
                <a16:creationId xmlns:a16="http://schemas.microsoft.com/office/drawing/2014/main" id="{B1AE4D2D-4157-6296-2701-0CD368D05F9A}"/>
              </a:ext>
            </a:extLst>
          </p:cNvPr>
          <p:cNvSpPr txBox="1"/>
          <p:nvPr/>
        </p:nvSpPr>
        <p:spPr>
          <a:xfrm>
            <a:off x="7675430" y="5404108"/>
            <a:ext cx="3307223" cy="369332"/>
          </a:xfrm>
          <a:prstGeom prst="rect">
            <a:avLst/>
          </a:prstGeom>
          <a:noFill/>
        </p:spPr>
        <p:txBody>
          <a:bodyPr wrap="square" rtlCol="0">
            <a:spAutoFit/>
          </a:bodyPr>
          <a:lstStyle/>
          <a:p>
            <a:r>
              <a:rPr lang="en-US" dirty="0"/>
              <a:t>Ma </a:t>
            </a:r>
            <a:r>
              <a:rPr lang="en-US" dirty="0" err="1"/>
              <a:t>trận</a:t>
            </a:r>
            <a:r>
              <a:rPr lang="en-US" dirty="0"/>
              <a:t> </a:t>
            </a:r>
            <a:r>
              <a:rPr lang="en-US" dirty="0" err="1"/>
              <a:t>nhầm</a:t>
            </a:r>
            <a:r>
              <a:rPr lang="en-US" dirty="0"/>
              <a:t> </a:t>
            </a:r>
            <a:r>
              <a:rPr lang="en-US" dirty="0" err="1"/>
              <a:t>lẫn</a:t>
            </a:r>
            <a:r>
              <a:rPr lang="en-US" dirty="0"/>
              <a:t> </a:t>
            </a:r>
            <a:r>
              <a:rPr lang="en-US" dirty="0" err="1"/>
              <a:t>dữ</a:t>
            </a:r>
            <a:r>
              <a:rPr lang="en-US" dirty="0"/>
              <a:t> </a:t>
            </a:r>
            <a:r>
              <a:rPr lang="en-US" dirty="0" err="1"/>
              <a:t>liệu</a:t>
            </a:r>
            <a:r>
              <a:rPr lang="en-US" dirty="0"/>
              <a:t> </a:t>
            </a:r>
            <a:r>
              <a:rPr lang="en-US" dirty="0" err="1"/>
              <a:t>pca</a:t>
            </a:r>
            <a:endParaRPr lang="en-US" dirty="0"/>
          </a:p>
        </p:txBody>
      </p:sp>
    </p:spTree>
    <p:extLst>
      <p:ext uri="{BB962C8B-B14F-4D97-AF65-F5344CB8AC3E}">
        <p14:creationId xmlns:p14="http://schemas.microsoft.com/office/powerpoint/2010/main" val="18246629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85813-9991-5E76-907A-B0494787A59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B96849-ADE9-857B-921A-3454486B53BB}"/>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Montserrat ExtraBold" panose="00000900000000000000" pitchFamily="2" charset="0"/>
              </a:rPr>
              <a:t>Đánh</a:t>
            </a:r>
            <a:r>
              <a:rPr lang="en-US" sz="2800" dirty="0">
                <a:latin typeface="Montserrat ExtraBold" panose="00000900000000000000" pitchFamily="2" charset="0"/>
              </a:rPr>
              <a:t> </a:t>
            </a:r>
            <a:r>
              <a:rPr lang="en-US" sz="2800" dirty="0" err="1">
                <a:latin typeface="Montserrat ExtraBold" panose="00000900000000000000" pitchFamily="2" charset="0"/>
              </a:rPr>
              <a:t>giá</a:t>
            </a:r>
            <a:r>
              <a:rPr lang="en-US" sz="2800" dirty="0">
                <a:latin typeface="Montserrat ExtraBold" panose="00000900000000000000" pitchFamily="2" charset="0"/>
              </a:rPr>
              <a:t> overfit</a:t>
            </a:r>
          </a:p>
        </p:txBody>
      </p:sp>
      <p:cxnSp>
        <p:nvCxnSpPr>
          <p:cNvPr id="10" name="Straight Connector 9">
            <a:extLst>
              <a:ext uri="{FF2B5EF4-FFF2-40B4-BE49-F238E27FC236}">
                <a16:creationId xmlns:a16="http://schemas.microsoft.com/office/drawing/2014/main" id="{6725F68F-E1A7-EF5F-0988-19B205E1A835}"/>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39F028D-3954-2087-AF3A-90078F34AC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B514CA7C-075A-9852-6269-9656966359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816157E8-F0F1-8894-CD1A-6F4F57ACC7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4" name="Rectangle 13">
            <a:extLst>
              <a:ext uri="{FF2B5EF4-FFF2-40B4-BE49-F238E27FC236}">
                <a16:creationId xmlns:a16="http://schemas.microsoft.com/office/drawing/2014/main" id="{E8B0275F-E6AC-26BE-F831-3C74E82A7953}"/>
              </a:ext>
            </a:extLst>
          </p:cNvPr>
          <p:cNvSpPr/>
          <p:nvPr/>
        </p:nvSpPr>
        <p:spPr>
          <a:xfrm>
            <a:off x="905854" y="5404108"/>
            <a:ext cx="4571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432E7F-56B8-20C5-306C-823208CA59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4283" y="901669"/>
            <a:ext cx="9043434" cy="5394971"/>
          </a:xfrm>
          <a:prstGeom prst="rect">
            <a:avLst/>
          </a:prstGeom>
        </p:spPr>
      </p:pic>
    </p:spTree>
    <p:extLst>
      <p:ext uri="{BB962C8B-B14F-4D97-AF65-F5344CB8AC3E}">
        <p14:creationId xmlns:p14="http://schemas.microsoft.com/office/powerpoint/2010/main" val="30745536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3c587206ab69ffb296c46426&amp;ts=489665&amp;p=fs&amp;cid=1&amp;sig=0d1c1e8cfbb34d87163f8df66aed23a842d0c256c031d56c2adc4c3148b61488&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7" name="TextBox 6"/>
          <p:cNvSpPr txBox="1"/>
          <p:nvPr/>
        </p:nvSpPr>
        <p:spPr>
          <a:xfrm>
            <a:off x="717753" y="3959786"/>
            <a:ext cx="6187912" cy="1569660"/>
          </a:xfrm>
          <a:prstGeom prst="rect">
            <a:avLst/>
          </a:prstGeom>
          <a:noFill/>
        </p:spPr>
        <p:txBody>
          <a:bodyPr wrap="none" rtlCol="0">
            <a:spAutoFit/>
          </a:bodyPr>
          <a:lstStyle/>
          <a:p>
            <a:r>
              <a:rPr lang="en-US" sz="4800" b="1" dirty="0">
                <a:solidFill>
                  <a:srgbClr val="0092FF"/>
                </a:solidFill>
                <a:latin typeface="Montserrat ExtraBold" panose="00000900000000000000" pitchFamily="2" charset="0"/>
              </a:rPr>
              <a:t>So sánh 2 mô hình</a:t>
            </a:r>
          </a:p>
          <a:p>
            <a:r>
              <a:rPr lang="en-US" sz="4800" b="1" dirty="0">
                <a:solidFill>
                  <a:srgbClr val="0092FF"/>
                </a:solidFill>
                <a:latin typeface="Montserrat ExtraBold" panose="00000900000000000000" pitchFamily="2" charset="0"/>
              </a:rPr>
              <a:t>phân loại</a:t>
            </a:r>
          </a:p>
        </p:txBody>
      </p:sp>
    </p:spTree>
    <p:extLst>
      <p:ext uri="{BB962C8B-B14F-4D97-AF65-F5344CB8AC3E}">
        <p14:creationId xmlns:p14="http://schemas.microsoft.com/office/powerpoint/2010/main" val="33580984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98A4-B9A8-267C-A6E4-1BF85458F7C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446018-3C13-40FA-A61C-CDF6B3F19D48}"/>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Montserrat ExtraBold" panose="00000900000000000000" pitchFamily="2" charset="0"/>
              </a:rPr>
              <a:t>Dữ</a:t>
            </a:r>
            <a:r>
              <a:rPr lang="en-US" sz="2800" dirty="0">
                <a:latin typeface="Montserrat ExtraBold" panose="00000900000000000000" pitchFamily="2" charset="0"/>
              </a:rPr>
              <a:t> </a:t>
            </a:r>
            <a:r>
              <a:rPr lang="en-US" sz="2800" dirty="0" err="1">
                <a:latin typeface="Montserrat ExtraBold" panose="00000900000000000000" pitchFamily="2" charset="0"/>
              </a:rPr>
              <a:t>liệu</a:t>
            </a:r>
            <a:r>
              <a:rPr lang="en-US" sz="2800" dirty="0">
                <a:latin typeface="Montserrat ExtraBold" panose="00000900000000000000" pitchFamily="2" charset="0"/>
              </a:rPr>
              <a:t> 2 </a:t>
            </a:r>
            <a:r>
              <a:rPr lang="en-US" sz="2800" dirty="0" err="1">
                <a:latin typeface="Montserrat ExtraBold" panose="00000900000000000000" pitchFamily="2" charset="0"/>
              </a:rPr>
              <a:t>mô</a:t>
            </a:r>
            <a:r>
              <a:rPr lang="en-US" sz="2800" dirty="0">
                <a:latin typeface="Montserrat ExtraBold" panose="00000900000000000000" pitchFamily="2" charset="0"/>
              </a:rPr>
              <a:t> </a:t>
            </a:r>
            <a:r>
              <a:rPr lang="en-US" sz="2800" dirty="0" err="1">
                <a:latin typeface="Montserrat ExtraBold" panose="00000900000000000000" pitchFamily="2" charset="0"/>
              </a:rPr>
              <a:t>hình</a:t>
            </a:r>
            <a:endParaRPr lang="en-US" sz="2800" dirty="0">
              <a:latin typeface="Montserrat ExtraBold" panose="00000900000000000000" pitchFamily="2" charset="0"/>
            </a:endParaRPr>
          </a:p>
        </p:txBody>
      </p:sp>
      <p:cxnSp>
        <p:nvCxnSpPr>
          <p:cNvPr id="10" name="Straight Connector 9">
            <a:extLst>
              <a:ext uri="{FF2B5EF4-FFF2-40B4-BE49-F238E27FC236}">
                <a16:creationId xmlns:a16="http://schemas.microsoft.com/office/drawing/2014/main" id="{2636227E-60CC-A600-C004-91CA9220ECB6}"/>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89FBCC8-8E51-4647-CC9C-469CB1F86C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937C9F5F-22FA-6991-53B6-5E34B2D346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0F4DF213-5EFD-FFE3-74A5-243A3B4607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4" name="Rectangle 13">
            <a:extLst>
              <a:ext uri="{FF2B5EF4-FFF2-40B4-BE49-F238E27FC236}">
                <a16:creationId xmlns:a16="http://schemas.microsoft.com/office/drawing/2014/main" id="{1BFA6972-4B49-8AC2-3995-3F97DAAFFC05}"/>
              </a:ext>
            </a:extLst>
          </p:cNvPr>
          <p:cNvSpPr/>
          <p:nvPr/>
        </p:nvSpPr>
        <p:spPr>
          <a:xfrm>
            <a:off x="905854" y="5404108"/>
            <a:ext cx="4571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89F3BDF-7EEC-67C7-971A-502287E04D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930" y="900679"/>
            <a:ext cx="10104140" cy="5056642"/>
          </a:xfrm>
          <a:prstGeom prst="rect">
            <a:avLst/>
          </a:prstGeom>
        </p:spPr>
      </p:pic>
    </p:spTree>
    <p:extLst>
      <p:ext uri="{BB962C8B-B14F-4D97-AF65-F5344CB8AC3E}">
        <p14:creationId xmlns:p14="http://schemas.microsoft.com/office/powerpoint/2010/main" val="30893031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75992-BBBF-0E10-F495-5F63280954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A28987-8698-7523-4986-3EDA4FC7A5B3}"/>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Theo </a:t>
            </a:r>
            <a:r>
              <a:rPr lang="en-US" sz="2800" dirty="0" err="1">
                <a:latin typeface="Montserrat ExtraBold" panose="00000900000000000000" pitchFamily="2" charset="0"/>
              </a:rPr>
              <a:t>chỉ</a:t>
            </a:r>
            <a:r>
              <a:rPr lang="en-US" sz="2800" dirty="0">
                <a:latin typeface="Montserrat ExtraBold" panose="00000900000000000000" pitchFamily="2" charset="0"/>
              </a:rPr>
              <a:t> </a:t>
            </a:r>
            <a:r>
              <a:rPr lang="en-US" sz="2800" dirty="0" err="1">
                <a:latin typeface="Montserrat ExtraBold" panose="00000900000000000000" pitchFamily="2" charset="0"/>
              </a:rPr>
              <a:t>số</a:t>
            </a:r>
            <a:r>
              <a:rPr lang="en-US" sz="2800" dirty="0">
                <a:latin typeface="Montserrat ExtraBold" panose="00000900000000000000" pitchFamily="2" charset="0"/>
              </a:rPr>
              <a:t> accuracy</a:t>
            </a:r>
          </a:p>
        </p:txBody>
      </p:sp>
      <p:cxnSp>
        <p:nvCxnSpPr>
          <p:cNvPr id="10" name="Straight Connector 9">
            <a:extLst>
              <a:ext uri="{FF2B5EF4-FFF2-40B4-BE49-F238E27FC236}">
                <a16:creationId xmlns:a16="http://schemas.microsoft.com/office/drawing/2014/main" id="{02A3137C-03A1-1386-B727-786C670E3078}"/>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F25BEAC-E568-518E-1404-AAB994D49D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A8F027BD-AC6F-E964-6A3E-3F203E0935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267D0A8E-B9DE-8FF3-7C82-8BCC528CBF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4" name="Rectangle 13">
            <a:extLst>
              <a:ext uri="{FF2B5EF4-FFF2-40B4-BE49-F238E27FC236}">
                <a16:creationId xmlns:a16="http://schemas.microsoft.com/office/drawing/2014/main" id="{9012A428-CAD7-2970-CD6E-1381AA840F12}"/>
              </a:ext>
            </a:extLst>
          </p:cNvPr>
          <p:cNvSpPr/>
          <p:nvPr/>
        </p:nvSpPr>
        <p:spPr>
          <a:xfrm>
            <a:off x="905854" y="5404108"/>
            <a:ext cx="4571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0C56BC7-654F-6109-A07A-D0AA619D98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22463"/>
            <a:ext cx="5752288" cy="4413073"/>
          </a:xfrm>
          <a:prstGeom prst="rect">
            <a:avLst/>
          </a:prstGeom>
        </p:spPr>
      </p:pic>
      <p:pic>
        <p:nvPicPr>
          <p:cNvPr id="11" name="Picture 10">
            <a:extLst>
              <a:ext uri="{FF2B5EF4-FFF2-40B4-BE49-F238E27FC236}">
                <a16:creationId xmlns:a16="http://schemas.microsoft.com/office/drawing/2014/main" id="{18D2E73C-823A-C96B-97DA-8F24A29329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7254" y="1222463"/>
            <a:ext cx="5831229" cy="4364646"/>
          </a:xfrm>
          <a:prstGeom prst="rect">
            <a:avLst/>
          </a:prstGeom>
        </p:spPr>
      </p:pic>
    </p:spTree>
    <p:extLst>
      <p:ext uri="{BB962C8B-B14F-4D97-AF65-F5344CB8AC3E}">
        <p14:creationId xmlns:p14="http://schemas.microsoft.com/office/powerpoint/2010/main" val="38276954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17E2-97E2-E132-6F7F-44DA01AFBC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6F549F-68FE-9C39-F8B5-7405DAC11A17}"/>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Montserrat ExtraBold" panose="00000900000000000000" pitchFamily="2" charset="0"/>
              </a:rPr>
              <a:t>Theo </a:t>
            </a:r>
            <a:r>
              <a:rPr lang="en-US" sz="2800" dirty="0" err="1">
                <a:latin typeface="Montserrat ExtraBold" panose="00000900000000000000" pitchFamily="2" charset="0"/>
              </a:rPr>
              <a:t>chỉ</a:t>
            </a:r>
            <a:r>
              <a:rPr lang="en-US" sz="2800" dirty="0">
                <a:latin typeface="Montserrat ExtraBold" panose="00000900000000000000" pitchFamily="2" charset="0"/>
              </a:rPr>
              <a:t> </a:t>
            </a:r>
            <a:r>
              <a:rPr lang="en-US" sz="2800" dirty="0" err="1">
                <a:latin typeface="Montserrat ExtraBold" panose="00000900000000000000" pitchFamily="2" charset="0"/>
              </a:rPr>
              <a:t>số</a:t>
            </a:r>
            <a:r>
              <a:rPr lang="en-US" sz="2800" dirty="0">
                <a:latin typeface="Montserrat ExtraBold" panose="00000900000000000000" pitchFamily="2" charset="0"/>
              </a:rPr>
              <a:t> f1-score</a:t>
            </a:r>
          </a:p>
        </p:txBody>
      </p:sp>
      <p:cxnSp>
        <p:nvCxnSpPr>
          <p:cNvPr id="10" name="Straight Connector 9">
            <a:extLst>
              <a:ext uri="{FF2B5EF4-FFF2-40B4-BE49-F238E27FC236}">
                <a16:creationId xmlns:a16="http://schemas.microsoft.com/office/drawing/2014/main" id="{BA732092-9FE4-78F0-F299-0EBABF4962C6}"/>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0063FC3-AC18-118E-44CE-F2B11FDEEB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42B823AB-F77B-DF3E-8D13-051004AE76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10A897DE-C66C-BEB1-9598-D6E62430C6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4" name="Rectangle 13">
            <a:extLst>
              <a:ext uri="{FF2B5EF4-FFF2-40B4-BE49-F238E27FC236}">
                <a16:creationId xmlns:a16="http://schemas.microsoft.com/office/drawing/2014/main" id="{17C4F08A-0EA2-3337-5845-9F80615BFB59}"/>
              </a:ext>
            </a:extLst>
          </p:cNvPr>
          <p:cNvSpPr/>
          <p:nvPr/>
        </p:nvSpPr>
        <p:spPr>
          <a:xfrm>
            <a:off x="905854" y="5404108"/>
            <a:ext cx="4571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39A8050-D42C-0E67-6361-D4FE33E784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164" y="1307509"/>
            <a:ext cx="5612682" cy="4734127"/>
          </a:xfrm>
          <a:prstGeom prst="rect">
            <a:avLst/>
          </a:prstGeom>
        </p:spPr>
      </p:pic>
      <p:pic>
        <p:nvPicPr>
          <p:cNvPr id="12" name="Picture 11">
            <a:extLst>
              <a:ext uri="{FF2B5EF4-FFF2-40B4-BE49-F238E27FC236}">
                <a16:creationId xmlns:a16="http://schemas.microsoft.com/office/drawing/2014/main" id="{D2272A05-E9F9-444D-B8AB-8D2042228B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7155" y="1307509"/>
            <a:ext cx="5717137" cy="4734130"/>
          </a:xfrm>
          <a:prstGeom prst="rect">
            <a:avLst/>
          </a:prstGeom>
        </p:spPr>
      </p:pic>
    </p:spTree>
    <p:extLst>
      <p:ext uri="{BB962C8B-B14F-4D97-AF65-F5344CB8AC3E}">
        <p14:creationId xmlns:p14="http://schemas.microsoft.com/office/powerpoint/2010/main" val="25243906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0F5A-8EE1-F803-9D21-74B9D375F6C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3AA14C-A666-59EA-6350-E598965F5E30}"/>
              </a:ext>
            </a:extLst>
          </p:cNvPr>
          <p:cNvSpPr/>
          <p:nvPr/>
        </p:nvSpPr>
        <p:spPr>
          <a:xfrm>
            <a:off x="0" y="0"/>
            <a:ext cx="12192000" cy="773723"/>
          </a:xfrm>
          <a:prstGeom prst="rect">
            <a:avLst/>
          </a:prstGeom>
          <a:solidFill>
            <a:srgbClr val="009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err="1">
                <a:latin typeface="Montserrat ExtraBold" panose="00000900000000000000" pitchFamily="2" charset="0"/>
              </a:rPr>
              <a:t>Nhận</a:t>
            </a:r>
            <a:r>
              <a:rPr lang="en-US" sz="2800" dirty="0">
                <a:latin typeface="Montserrat ExtraBold" panose="00000900000000000000" pitchFamily="2" charset="0"/>
              </a:rPr>
              <a:t> </a:t>
            </a:r>
            <a:r>
              <a:rPr lang="en-US" sz="2800" dirty="0" err="1">
                <a:latin typeface="Montserrat ExtraBold" panose="00000900000000000000" pitchFamily="2" charset="0"/>
              </a:rPr>
              <a:t>xét</a:t>
            </a:r>
            <a:endParaRPr lang="en-US" sz="2800" dirty="0">
              <a:latin typeface="Montserrat ExtraBold" panose="00000900000000000000" pitchFamily="2" charset="0"/>
            </a:endParaRPr>
          </a:p>
        </p:txBody>
      </p:sp>
      <p:cxnSp>
        <p:nvCxnSpPr>
          <p:cNvPr id="10" name="Straight Connector 9">
            <a:extLst>
              <a:ext uri="{FF2B5EF4-FFF2-40B4-BE49-F238E27FC236}">
                <a16:creationId xmlns:a16="http://schemas.microsoft.com/office/drawing/2014/main" id="{2A6F6B5B-60DF-7379-1AD0-6B21E2D85880}"/>
              </a:ext>
            </a:extLst>
          </p:cNvPr>
          <p:cNvCxnSpPr/>
          <p:nvPr/>
        </p:nvCxnSpPr>
        <p:spPr>
          <a:xfrm>
            <a:off x="0" y="6443267"/>
            <a:ext cx="12192000" cy="0"/>
          </a:xfrm>
          <a:prstGeom prst="line">
            <a:avLst/>
          </a:prstGeom>
          <a:ln w="19050">
            <a:solidFill>
              <a:srgbClr val="FFE57E"/>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C5BD89F-1576-9203-466D-A5CDCF7DE1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560" y="-46738"/>
            <a:ext cx="931923" cy="918954"/>
          </a:xfrm>
          <a:prstGeom prst="rect">
            <a:avLst/>
          </a:prstGeom>
        </p:spPr>
      </p:pic>
      <p:pic>
        <p:nvPicPr>
          <p:cNvPr id="8" name="Picture 7">
            <a:extLst>
              <a:ext uri="{FF2B5EF4-FFF2-40B4-BE49-F238E27FC236}">
                <a16:creationId xmlns:a16="http://schemas.microsoft.com/office/drawing/2014/main" id="{C98D0808-0533-C47C-5F6E-59EDFE54CF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0" y="6384680"/>
            <a:ext cx="4013848" cy="608085"/>
          </a:xfrm>
          <a:prstGeom prst="rect">
            <a:avLst/>
          </a:prstGeom>
        </p:spPr>
      </p:pic>
      <p:pic>
        <p:nvPicPr>
          <p:cNvPr id="9" name="Picture 8">
            <a:extLst>
              <a:ext uri="{FF2B5EF4-FFF2-40B4-BE49-F238E27FC236}">
                <a16:creationId xmlns:a16="http://schemas.microsoft.com/office/drawing/2014/main" id="{008055D8-8E41-1323-817C-1ABFB966B5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574" y="6443267"/>
            <a:ext cx="4013848" cy="608085"/>
          </a:xfrm>
          <a:prstGeom prst="rect">
            <a:avLst/>
          </a:prstGeom>
        </p:spPr>
      </p:pic>
      <p:sp>
        <p:nvSpPr>
          <p:cNvPr id="14" name="Rectangle 13">
            <a:extLst>
              <a:ext uri="{FF2B5EF4-FFF2-40B4-BE49-F238E27FC236}">
                <a16:creationId xmlns:a16="http://schemas.microsoft.com/office/drawing/2014/main" id="{5F2E069D-1BA2-7B1C-CE1A-8B9829798FF2}"/>
              </a:ext>
            </a:extLst>
          </p:cNvPr>
          <p:cNvSpPr/>
          <p:nvPr/>
        </p:nvSpPr>
        <p:spPr>
          <a:xfrm>
            <a:off x="905854" y="5404108"/>
            <a:ext cx="4571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9077759-2C5F-8C34-1D91-32BE00E39127}"/>
              </a:ext>
            </a:extLst>
          </p:cNvPr>
          <p:cNvSpPr txBox="1"/>
          <p:nvPr/>
        </p:nvSpPr>
        <p:spPr>
          <a:xfrm>
            <a:off x="254479" y="1034543"/>
            <a:ext cx="11683042" cy="4305730"/>
          </a:xfrm>
          <a:prstGeom prst="rect">
            <a:avLst/>
          </a:prstGeom>
          <a:noFill/>
        </p:spPr>
        <p:txBody>
          <a:bodyPr wrap="square" rtlCol="0">
            <a:spAutoFit/>
          </a:bodyPr>
          <a:lstStyle/>
          <a:p>
            <a:pPr algn="just">
              <a:lnSpc>
                <a:spcPct val="200000"/>
              </a:lnSpc>
            </a:pPr>
            <a:r>
              <a:rPr lang="en-US" sz="2000" dirty="0">
                <a:latin typeface="Arial" panose="020B0604020202020204" pitchFamily="34" charset="0"/>
                <a:ea typeface="Open Sans Regular" panose="020B0606030504020204" pitchFamily="34" charset="0"/>
                <a:cs typeface="Arial" panose="020B0604020202020204" pitchFamily="34" charset="0"/>
              </a:rPr>
              <a:t>C</a:t>
            </a:r>
            <a:r>
              <a:rPr lang="vi-VN" sz="2000" dirty="0">
                <a:latin typeface="Arial" panose="020B0604020202020204" pitchFamily="34" charset="0"/>
                <a:ea typeface="Open Sans Regular" panose="020B0606030504020204" pitchFamily="34" charset="0"/>
                <a:cs typeface="Arial" panose="020B0604020202020204" pitchFamily="34" charset="0"/>
              </a:rPr>
              <a:t>ó thể nhận thấy rằng Logistic Regression là mô hình phù hợp hơn cho bài toán này. Nguyên nhân là do các yếu tố ảnh hưởng đến tuổi thọ trung bình của các quốc gia không tồn tại một cách độc lập, mà có mối tương quan chặt chẽ với nhau (chẳng hạn như giữa phân bố thu nhập GDP và chất lượng giáo dục (Số năm học trung bình). Logistic Regression không đưa ra giả định về tính độc lập giữa các đặc trưng, do đó có khả năng học được ranh giới phân lớp hiệu quả hơn. Ngược lại, Gaussian Naive Bayes giả định các đặc trưng là độc lập có điều kiện theo lớp, khiến mô hình khó khai thác đầy đủ mối quan hệ giữa các biến trong bối cảnh dữ liệu thực tế này.</a:t>
            </a:r>
            <a:endParaRPr lang="en-US" sz="2000" dirty="0">
              <a:latin typeface="Arial" panose="020B0604020202020204" pitchFamily="34" charset="0"/>
              <a:ea typeface="Open Sans Regular" panose="020B0606030504020204" pitchFamily="34" charset="0"/>
              <a:cs typeface="Arial" panose="020B0604020202020204" pitchFamily="34" charset="0"/>
            </a:endParaRPr>
          </a:p>
        </p:txBody>
      </p:sp>
    </p:spTree>
    <p:extLst>
      <p:ext uri="{BB962C8B-B14F-4D97-AF65-F5344CB8AC3E}">
        <p14:creationId xmlns:p14="http://schemas.microsoft.com/office/powerpoint/2010/main" val="39855177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313592"/>
            <a:ext cx="12192000" cy="1815882"/>
          </a:xfrm>
          <a:prstGeom prst="rect">
            <a:avLst/>
          </a:prstGeom>
          <a:noFill/>
        </p:spPr>
        <p:txBody>
          <a:bodyPr wrap="square" rtlCol="0">
            <a:spAutoFit/>
          </a:bodyPr>
          <a:lstStyle/>
          <a:p>
            <a:pPr algn="ctr">
              <a:lnSpc>
                <a:spcPct val="200000"/>
              </a:lnSpc>
            </a:pPr>
            <a:r>
              <a:rPr lang="en-US" sz="2800" b="1" dirty="0">
                <a:solidFill>
                  <a:srgbClr val="008DF4"/>
                </a:solidFill>
                <a:latin typeface="Montserrat ExtraBold" panose="00000900000000000000" pitchFamily="2" charset="0"/>
              </a:rPr>
              <a:t>CẢM ƠN MỌI NGƯỜI ĐÃ THEO DÕI</a:t>
            </a:r>
            <a:br>
              <a:rPr lang="en-US" sz="2800" b="1" dirty="0">
                <a:solidFill>
                  <a:srgbClr val="008DF4"/>
                </a:solidFill>
                <a:latin typeface="Montserrat ExtraBold" panose="00000900000000000000" pitchFamily="2" charset="0"/>
              </a:rPr>
            </a:br>
            <a:r>
              <a:rPr lang="en-US" sz="2800" b="1" dirty="0">
                <a:solidFill>
                  <a:srgbClr val="008DF4"/>
                </a:solidFill>
                <a:latin typeface="Montserrat ExtraBold" panose="00000900000000000000" pitchFamily="2" charset="0"/>
              </a:rPr>
              <a:t>HỎI &amp; ĐÁP</a:t>
            </a:r>
          </a:p>
        </p:txBody>
      </p:sp>
    </p:spTree>
    <p:extLst>
      <p:ext uri="{BB962C8B-B14F-4D97-AF65-F5344CB8AC3E}">
        <p14:creationId xmlns:p14="http://schemas.microsoft.com/office/powerpoint/2010/main" val="4208550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2917</TotalTime>
  <Words>2976</Words>
  <Application>Microsoft Office PowerPoint</Application>
  <PresentationFormat>Widescreen</PresentationFormat>
  <Paragraphs>316</Paragraphs>
  <Slides>80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80</vt:i4>
      </vt:variant>
    </vt:vector>
  </HeadingPairs>
  <TitlesOfParts>
    <vt:vector size="90" baseType="lpstr">
      <vt:lpstr>Arial</vt:lpstr>
      <vt:lpstr>Arial (Body)</vt:lpstr>
      <vt:lpstr>Arial Body</vt:lpstr>
      <vt:lpstr>Calibri</vt:lpstr>
      <vt:lpstr>Calibri Light</vt:lpstr>
      <vt:lpstr>Courier New</vt:lpstr>
      <vt:lpstr>Montserrat ExtraBold</vt:lpstr>
      <vt:lpstr>Open Sans Regular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Laptop88</dc:creator>
  <cp:lastModifiedBy>minhquanghmqno1@gmail.com</cp:lastModifiedBy>
  <cp:revision>81</cp:revision>
  <dcterms:created xsi:type="dcterms:W3CDTF">2025-11-10T16:54:03Z</dcterms:created>
  <dcterms:modified xsi:type="dcterms:W3CDTF">2026-01-10T15:33:11Z</dcterms:modified>
</cp:coreProperties>
</file>
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2" r:id="rId5"/>
    <p:sldId id="263" r:id="rId6"/>
    <p:sldId id="264" r:id="rId7"/>
    <p:sldId id="265" r:id="rId8"/>
    <p:sldId id="266" r:id="rId9"/>
    <p:sldId id="268" r:id="rId10"/>
    <p:sldId id="259" r:id="rId11"/>
    <p:sldId id="258" r:id="rId12"/>
    <p:sldId id="261" r:id="rId13"/>
    <p:sldId id="271" r:id="rId14"/>
    <p:sldId id="272" r:id="rId15"/>
    <p:sldId id="273" r:id="rId16"/>
    <p:sldId id="270" r:id="rId17"/>
    <p:sldId id="274" r:id="rId18"/>
    <p:sldId id="275" r:id="rId19"/>
    <p:sldId id="299" r:id="rId20"/>
    <p:sldId id="276" r:id="rId21"/>
    <p:sldId id="277" r:id="rId22"/>
    <p:sldId id="287" r:id="rId23"/>
    <p:sldId id="278" r:id="rId24"/>
    <p:sldId id="279" r:id="rId25"/>
    <p:sldId id="280" r:id="rId26"/>
    <p:sldId id="281" r:id="rId27"/>
    <p:sldId id="282" r:id="rId28"/>
    <p:sldId id="283" r:id="rId29"/>
    <p:sldId id="285" r:id="rId30"/>
    <p:sldId id="288" r:id="rId31"/>
    <p:sldId id="295" r:id="rId32"/>
    <p:sldId id="296" r:id="rId33"/>
    <p:sldId id="289" r:id="rId34"/>
    <p:sldId id="290" r:id="rId35"/>
    <p:sldId id="291" r:id="rId36"/>
    <p:sldId id="297" r:id="rId37"/>
    <p:sldId id="293" r:id="rId38"/>
    <p:sldId id="294" r:id="rId39"/>
    <p:sldId id="298" r:id="rId40"/>
    <p:sldId id="30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2FF"/>
    <a:srgbClr val="FFE57E"/>
    <a:srgbClr val="EFC23F"/>
    <a:srgbClr val="008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62779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1911470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1026879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62FE90-E6E6-42A4-B172-A910FE88B768}"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3906646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62FE90-E6E6-42A4-B172-A910FE88B768}" type="datetimeFigureOut">
              <a:rPr lang="en-US" smtClean="0"/>
              <a:t>1/10/2026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3471789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62FE90-E6E6-42A4-B172-A910FE88B768}" type="datetimeFigureOut">
              <a:rPr lang="en-US" smtClean="0"/>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3524030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62FE90-E6E6-42A4-B172-A910FE88B768}" type="datetimeFigureOut">
              <a:rPr lang="en-US" smtClean="0"/>
              <a:t>1/10/2026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2405640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62FE90-E6E6-42A4-B172-A910FE88B768}"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1023468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62FE90-E6E6-42A4-B172-A910FE88B768}"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2649541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602640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4278764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62FE90-E6E6-42A4-B172-A910FE88B768}" type="datetimeFigureOut">
              <a:rPr lang="en-US" smtClean="0"/>
              <a:t>1/10/2026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B1656A-04E1-47D8-8ECD-0711374D2E7F}" type="slidenum">
              <a:rPr lang="en-US" smtClean="0"/>
              <a:t>‹#›</a:t>
            </a:fld>
            <a:endParaRPr lang="en-US"/>
          </a:p>
        </p:txBody>
      </p:sp>
    </p:spTree>
    <p:extLst>
      <p:ext uri="{BB962C8B-B14F-4D97-AF65-F5344CB8AC3E}">
        <p14:creationId xmlns:p14="http://schemas.microsoft.com/office/powerpoint/2010/main" val="905870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extBox 10"/>
          <p:cNvSpPr txBox="1"/>
          <p:nvPr/>
        </p:nvSpPr>
        <p:spPr>
          <a:xfrm>
            <a:off x="5495027" y="2644169"/>
            <a:ext cx="3153427" cy="1569660"/>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Machine </a:t>
            </a:r>
          </a:p>
          <a:p>
            <a:r>
              <a:rPr lang="en-US" sz="4800" b="1" dirty="0">
                <a:solidFill>
                  <a:schemeClr val="bg1"/>
                </a:solidFill>
                <a:latin typeface="Montserrat ExtraBold" panose="00000900000000000000" pitchFamily="2" charset="0"/>
              </a:rPr>
              <a:t>Learning</a:t>
            </a:r>
          </a:p>
        </p:txBody>
      </p:sp>
    </p:spTree>
    <p:extLst>
      <p:ext uri="{BB962C8B-B14F-4D97-AF65-F5344CB8AC3E}">
        <p14:creationId xmlns:p14="http://schemas.microsoft.com/office/powerpoint/2010/main" val="23144791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201728" y="2424023"/>
            <a:ext cx="3153427" cy="1569660"/>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Machine </a:t>
            </a:r>
          </a:p>
          <a:p>
            <a:r>
              <a:rPr lang="en-US" sz="4800" b="1" dirty="0">
                <a:solidFill>
                  <a:schemeClr val="bg1"/>
                </a:solidFill>
                <a:latin typeface="Montserrat ExtraBold" panose="00000900000000000000" pitchFamily="2" charset="0"/>
              </a:rPr>
              <a:t>Learning</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p:cNvSpPr txBox="1"/>
          <p:nvPr/>
        </p:nvSpPr>
        <p:spPr>
          <a:xfrm>
            <a:off x="4939694" y="2951946"/>
            <a:ext cx="7252306" cy="954107"/>
          </a:xfrm>
          <a:prstGeom prst="rect">
            <a:avLst/>
          </a:prstGeom>
          <a:noFill/>
        </p:spPr>
        <p:txBody>
          <a:bodyPr wrap="none" rtlCol="0">
            <a:spAutoFit/>
          </a:bodyPr>
          <a:lstStyle/>
          <a:p>
            <a:pPr algn="ctr"/>
            <a:r>
              <a:rPr lang="en-US" sz="2800" b="1" dirty="0">
                <a:solidFill>
                  <a:srgbClr val="008DF4"/>
                </a:solidFill>
                <a:latin typeface="Montserrat ExtraBold" panose="00000900000000000000" pitchFamily="2" charset="0"/>
              </a:rPr>
              <a:t>DỰ ĐOÁN TUỔI THỌ TRUNG BÌNH</a:t>
            </a:r>
          </a:p>
          <a:p>
            <a:pPr algn="ctr"/>
            <a:r>
              <a:rPr lang="en-US" sz="2800" b="1" dirty="0">
                <a:solidFill>
                  <a:srgbClr val="008DF4"/>
                </a:solidFill>
                <a:latin typeface="Montserrat ExtraBold" panose="00000900000000000000" pitchFamily="2" charset="0"/>
              </a:rPr>
              <a:t>DỰA TRÊN CÁC YẾU TỐ Y TẾ - XÃ HỘI</a:t>
            </a:r>
          </a:p>
        </p:txBody>
      </p:sp>
      <p:sp>
        <p:nvSpPr>
          <p:cNvPr id="5" name="TextBox 4"/>
          <p:cNvSpPr txBox="1"/>
          <p:nvPr/>
        </p:nvSpPr>
        <p:spPr>
          <a:xfrm>
            <a:off x="5201728" y="4433976"/>
            <a:ext cx="4606182" cy="1672894"/>
          </a:xfrm>
          <a:prstGeom prst="rect">
            <a:avLst/>
          </a:prstGeom>
          <a:noFill/>
        </p:spPr>
        <p:txBody>
          <a:bodyPr wrap="square" rtlCol="0">
            <a:spAutoFit/>
          </a:bodyPr>
          <a:lstStyle/>
          <a:p>
            <a:pPr>
              <a:lnSpc>
                <a:spcPct val="200000"/>
              </a:lnSpc>
            </a:pPr>
            <a:r>
              <a:rPr lang="en-US" b="1" dirty="0" smtClean="0">
                <a:solidFill>
                  <a:srgbClr val="008DF4"/>
                </a:solidFill>
                <a:latin typeface="Montserrat ExtraBold" panose="00000900000000000000" pitchFamily="2" charset="0"/>
              </a:rPr>
              <a:t>Đinh Quang Tiến - 23001943</a:t>
            </a:r>
          </a:p>
          <a:p>
            <a:pPr>
              <a:lnSpc>
                <a:spcPct val="200000"/>
              </a:lnSpc>
            </a:pPr>
            <a:r>
              <a:rPr lang="en-US" b="1" dirty="0" smtClean="0">
                <a:solidFill>
                  <a:srgbClr val="008DF4"/>
                </a:solidFill>
                <a:latin typeface="Montserrat ExtraBold" panose="00000900000000000000" pitchFamily="2" charset="0"/>
              </a:rPr>
              <a:t>Nguyễn Đức Quang - 23001918</a:t>
            </a:r>
          </a:p>
          <a:p>
            <a:pPr>
              <a:lnSpc>
                <a:spcPct val="200000"/>
              </a:lnSpc>
            </a:pPr>
            <a:r>
              <a:rPr lang="en-US" b="1" dirty="0" smtClean="0">
                <a:solidFill>
                  <a:srgbClr val="008DF4"/>
                </a:solidFill>
                <a:latin typeface="Montserrat ExtraBold" panose="00000900000000000000" pitchFamily="2" charset="0"/>
              </a:rPr>
              <a:t>Hà Minh Quang - 23001916</a:t>
            </a:r>
            <a:endParaRPr lang="en-US" b="1" dirty="0">
              <a:solidFill>
                <a:srgbClr val="008DF4"/>
              </a:solidFill>
              <a:latin typeface="Montserrat ExtraBold" panose="00000900000000000000" pitchFamily="2" charset="0"/>
            </a:endParaRPr>
          </a:p>
        </p:txBody>
      </p:sp>
    </p:spTree>
    <p:extLst>
      <p:ext uri="{BB962C8B-B14F-4D97-AF65-F5344CB8AC3E}">
        <p14:creationId xmlns:p14="http://schemas.microsoft.com/office/powerpoint/2010/main" val="29976670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Giới thiệu bài toán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5016758"/>
          </a:xfrm>
          <a:prstGeom prst="rect">
            <a:avLst/>
          </a:prstGeom>
          <a:noFill/>
        </p:spPr>
        <p:txBody>
          <a:bodyPr wrap="square" rtlCol="0">
            <a:spAutoFit/>
          </a:bodyPr>
          <a:lstStyle/>
          <a:p>
            <a:pPr>
              <a:lnSpc>
                <a:spcPct val="200000"/>
              </a:lnSpc>
            </a:pPr>
            <a:r>
              <a:rPr lang="en-US" sz="2000" dirty="0">
                <a:latin typeface="Arial" panose="020B0604020202020204" pitchFamily="34" charset="0"/>
                <a:ea typeface="Open Sans Regular" panose="020B0606030504020204" pitchFamily="34" charset="0"/>
                <a:cs typeface="Arial" panose="020B0604020202020204" pitchFamily="34" charset="0"/>
              </a:rPr>
              <a:t>Đề tài sử dụng dữ liệu </a:t>
            </a:r>
            <a:r>
              <a:rPr lang="vi-VN" sz="2000" dirty="0">
                <a:latin typeface="Arial" panose="020B0604020202020204" pitchFamily="34" charset="0"/>
                <a:ea typeface="Open Sans Regular" panose="020B0606030504020204" pitchFamily="34" charset="0"/>
                <a:cs typeface="Arial" panose="020B0604020202020204" pitchFamily="34" charset="0"/>
              </a:rPr>
              <a:t>Life Expectancy Data từ WHO</a:t>
            </a:r>
            <a:r>
              <a:rPr lang="en-US" sz="2000" dirty="0">
                <a:latin typeface="Arial" panose="020B0604020202020204" pitchFamily="34" charset="0"/>
                <a:ea typeface="Open Sans Regular" panose="020B0606030504020204" pitchFamily="34" charset="0"/>
                <a:cs typeface="Arial" panose="020B0604020202020204" pitchFamily="34" charset="0"/>
              </a:rPr>
              <a:t> để dự đoán tuổi thọ trung bình, t</a:t>
            </a:r>
            <a:r>
              <a:rPr lang="vi-VN" sz="2000" dirty="0">
                <a:latin typeface="Arial" panose="020B0604020202020204" pitchFamily="34" charset="0"/>
                <a:ea typeface="Open Sans Regular" panose="020B0606030504020204" pitchFamily="34" charset="0"/>
                <a:cs typeface="Arial" panose="020B0604020202020204" pitchFamily="34" charset="0"/>
              </a:rPr>
              <a:t>hông qua việc triển khai các bước tiền xử lý dữ liệu</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áp dụng các kỹ thuật giảm chiều và xây dựng các mô hình học máy, dự án không chỉ giúp người học nâng cao kỹ năng thực hành mà còn đóng góp vào việc hiểu sâu hơn về các nhân tố quyết định tuổi thọ con người. </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200000"/>
              </a:lnSpc>
            </a:pP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200000"/>
              </a:lnSpc>
            </a:pPr>
            <a:r>
              <a:rPr lang="vi-VN" sz="2000" dirty="0">
                <a:latin typeface="Arial" panose="020B0604020202020204" pitchFamily="34" charset="0"/>
                <a:ea typeface="Open Sans Regular" panose="020B0606030504020204" pitchFamily="34" charset="0"/>
                <a:cs typeface="Arial" panose="020B0604020202020204" pitchFamily="34" charset="0"/>
              </a:rPr>
              <a:t>Chọn đề tài này không chỉ vì tính thực tiễn cao trong lĩnh vực y tế công cộng, mà còn vì tiềm năng ứng dụng trong việc hỗ trợ các nhà hoạch định chính sách đưa ra quyết định dựa trên dữ liệu, từ đó cải thiện chất lượng cuộc sống và nâng cao tuổi thọ của người dân trên toàn thế giới.</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2" name="TextBox 1"/>
          <p:cNvSpPr txBox="1"/>
          <p:nvPr/>
        </p:nvSpPr>
        <p:spPr>
          <a:xfrm>
            <a:off x="11711380" y="6471416"/>
            <a:ext cx="331094" cy="369332"/>
          </a:xfrm>
          <a:prstGeom prst="rect">
            <a:avLst/>
          </a:prstGeom>
          <a:noFill/>
        </p:spPr>
        <p:txBody>
          <a:bodyPr wrap="square" rtlCol="0">
            <a:spAutoFit/>
          </a:bodyPr>
          <a:lstStyle/>
          <a:p>
            <a:r>
              <a:rPr lang="en-US" dirty="0" smtClean="0"/>
              <a:t>1</a:t>
            </a:r>
            <a:endParaRPr lang="en-US" dirty="0"/>
          </a:p>
        </p:txBody>
      </p:sp>
    </p:spTree>
    <p:extLst>
      <p:ext uri="{BB962C8B-B14F-4D97-AF65-F5344CB8AC3E}">
        <p14:creationId xmlns:p14="http://schemas.microsoft.com/office/powerpoint/2010/main" val="8614972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Tổng quan về bộ dữ liệu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5170646"/>
          </a:xfrm>
          <a:prstGeom prst="rect">
            <a:avLst/>
          </a:prstGeom>
          <a:noFill/>
        </p:spPr>
        <p:txBody>
          <a:bodyPr wrap="square" rtlCol="0">
            <a:spAutoFit/>
          </a:bodyPr>
          <a:lstStyle/>
          <a:p>
            <a:pPr>
              <a:lnSpc>
                <a:spcPct val="150000"/>
              </a:lnSpc>
            </a:pPr>
            <a:r>
              <a:rPr lang="vi-VN" sz="2000" dirty="0">
                <a:ea typeface="Open Sans Regular" panose="020B0606030504020204" pitchFamily="34" charset="0"/>
                <a:cs typeface="Open Sans Regular" panose="020B0606030504020204" pitchFamily="34" charset="0"/>
              </a:rPr>
              <a:t>Bộ dữ liệu: Life Expectancy (WHO)</a:t>
            </a:r>
          </a:p>
          <a:p>
            <a:pPr>
              <a:lnSpc>
                <a:spcPct val="150000"/>
              </a:lnSpc>
            </a:pPr>
            <a:r>
              <a:rPr lang="vi-VN" sz="2000" dirty="0">
                <a:ea typeface="Open Sans Regular" panose="020B0606030504020204" pitchFamily="34" charset="0"/>
                <a:cs typeface="Open Sans Regular" panose="020B0606030504020204" pitchFamily="34" charset="0"/>
              </a:rPr>
              <a:t>   • 193 quốc gia</a:t>
            </a:r>
          </a:p>
          <a:p>
            <a:pPr>
              <a:lnSpc>
                <a:spcPct val="150000"/>
              </a:lnSpc>
            </a:pPr>
            <a:r>
              <a:rPr lang="vi-VN" sz="2000" dirty="0">
                <a:ea typeface="Open Sans Regular" panose="020B0606030504020204" pitchFamily="34" charset="0"/>
                <a:cs typeface="Open Sans Regular" panose="020B0606030504020204" pitchFamily="34" charset="0"/>
              </a:rPr>
              <a:t>   • 2000 – 2015</a:t>
            </a:r>
          </a:p>
          <a:p>
            <a:pPr>
              <a:lnSpc>
                <a:spcPct val="150000"/>
              </a:lnSpc>
            </a:pPr>
            <a:r>
              <a:rPr lang="vi-VN" sz="2000" dirty="0">
                <a:ea typeface="Open Sans Regular" panose="020B0606030504020204" pitchFamily="34" charset="0"/>
                <a:cs typeface="Open Sans Regular" panose="020B0606030504020204" pitchFamily="34" charset="0"/>
              </a:rPr>
              <a:t>   • 2.938 quan sát</a:t>
            </a:r>
          </a:p>
          <a:p>
            <a:pPr>
              <a:lnSpc>
                <a:spcPct val="150000"/>
              </a:lnSpc>
            </a:pPr>
            <a:r>
              <a:rPr lang="vi-VN" sz="2000" dirty="0">
                <a:ea typeface="Open Sans Regular" panose="020B0606030504020204" pitchFamily="34" charset="0"/>
                <a:cs typeface="Open Sans Regular" panose="020B0606030504020204" pitchFamily="34" charset="0"/>
              </a:rPr>
              <a:t>   • 22 biến</a:t>
            </a:r>
          </a:p>
          <a:p>
            <a:pPr>
              <a:lnSpc>
                <a:spcPct val="150000"/>
              </a:lnSpc>
            </a:pPr>
            <a:r>
              <a:rPr lang="vi-VN" sz="2000" dirty="0">
                <a:ea typeface="Open Sans Regular" panose="020B0606030504020204" pitchFamily="34" charset="0"/>
                <a:cs typeface="Open Sans Regular" panose="020B0606030504020204" pitchFamily="34" charset="0"/>
              </a:rPr>
              <a:t>Biến mục tiêu: Life Expectancy (tuổi thọ trung bình)</a:t>
            </a:r>
          </a:p>
          <a:p>
            <a:pPr>
              <a:lnSpc>
                <a:spcPct val="150000"/>
              </a:lnSpc>
            </a:pPr>
            <a:r>
              <a:rPr lang="vi-VN" sz="2000" dirty="0">
                <a:ea typeface="Open Sans Regular" panose="020B0606030504020204" pitchFamily="34" charset="0"/>
                <a:cs typeface="Open Sans Regular" panose="020B0606030504020204" pitchFamily="34" charset="0"/>
              </a:rPr>
              <a:t>Một số biến quan trọng:</a:t>
            </a:r>
          </a:p>
          <a:p>
            <a:pPr>
              <a:lnSpc>
                <a:spcPct val="150000"/>
              </a:lnSpc>
            </a:pPr>
            <a:r>
              <a:rPr lang="vi-VN" sz="2000" dirty="0">
                <a:ea typeface="Open Sans Regular" panose="020B0606030504020204" pitchFamily="34" charset="0"/>
                <a:cs typeface="Open Sans Regular" panose="020B0606030504020204" pitchFamily="34" charset="0"/>
              </a:rPr>
              <a:t>   • Adult Mortality      → Tỷ lệ tử vong người lớn</a:t>
            </a:r>
          </a:p>
          <a:p>
            <a:pPr>
              <a:lnSpc>
                <a:spcPct val="150000"/>
              </a:lnSpc>
            </a:pPr>
            <a:r>
              <a:rPr lang="vi-VN" sz="2000" dirty="0">
                <a:ea typeface="Open Sans Regular" panose="020B0606030504020204" pitchFamily="34" charset="0"/>
                <a:cs typeface="Open Sans Regular" panose="020B0606030504020204" pitchFamily="34" charset="0"/>
              </a:rPr>
              <a:t>   • HIV/AIDS              → Tử vong do HIV</a:t>
            </a:r>
          </a:p>
          <a:p>
            <a:pPr>
              <a:lnSpc>
                <a:spcPct val="150000"/>
              </a:lnSpc>
            </a:pPr>
            <a:r>
              <a:rPr lang="vi-VN" sz="2000" dirty="0">
                <a:ea typeface="Open Sans Regular" panose="020B0606030504020204" pitchFamily="34" charset="0"/>
                <a:cs typeface="Open Sans Regular" panose="020B0606030504020204" pitchFamily="34" charset="0"/>
              </a:rPr>
              <a:t>   • GDP, Schooling       → Kinh tế, giáo dục</a:t>
            </a:r>
          </a:p>
          <a:p>
            <a:pPr>
              <a:lnSpc>
                <a:spcPct val="150000"/>
              </a:lnSpc>
            </a:pPr>
            <a:r>
              <a:rPr lang="vi-VN" sz="2000" dirty="0">
                <a:ea typeface="Open Sans Regular" panose="020B0606030504020204" pitchFamily="34" charset="0"/>
                <a:cs typeface="Open Sans Regular" panose="020B0606030504020204" pitchFamily="34" charset="0"/>
              </a:rPr>
              <a:t>   • BMI, Vaccination     → Dinh dưỡng, tiêm chủng</a:t>
            </a:r>
            <a:endParaRPr lang="en-US" sz="2000" dirty="0">
              <a:ea typeface="Open Sans Regular" panose="020B0606030504020204" pitchFamily="34" charset="0"/>
              <a:cs typeface="Open Sans Regular" panose="020B0606030504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8" name="TextBox 7"/>
          <p:cNvSpPr txBox="1"/>
          <p:nvPr/>
        </p:nvSpPr>
        <p:spPr>
          <a:xfrm>
            <a:off x="11711380" y="6471416"/>
            <a:ext cx="331094" cy="369332"/>
          </a:xfrm>
          <a:prstGeom prst="rect">
            <a:avLst/>
          </a:prstGeom>
          <a:noFill/>
        </p:spPr>
        <p:txBody>
          <a:bodyPr wrap="square" rtlCol="0">
            <a:spAutoFit/>
          </a:bodyPr>
          <a:lstStyle/>
          <a:p>
            <a:r>
              <a:rPr lang="en-US" dirty="0" smtClean="0"/>
              <a:t>2</a:t>
            </a:r>
            <a:endParaRPr lang="en-US" dirty="0"/>
          </a:p>
        </p:txBody>
      </p:sp>
    </p:spTree>
    <p:extLst>
      <p:ext uri="{BB962C8B-B14F-4D97-AF65-F5344CB8AC3E}">
        <p14:creationId xmlns:p14="http://schemas.microsoft.com/office/powerpoint/2010/main" val="13686505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Thống kê mô tả biến mục tiêu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2862322"/>
          </a:xfrm>
          <a:prstGeom prst="rect">
            <a:avLst/>
          </a:prstGeom>
          <a:noFill/>
        </p:spPr>
        <p:txBody>
          <a:bodyPr wrap="square" rtlCol="0">
            <a:spAutoFit/>
          </a:bodyPr>
          <a:lstStyle/>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Count</a:t>
            </a:r>
            <a:r>
              <a:rPr lang="en-US" sz="2000" dirty="0">
                <a:latin typeface="Arial" panose="020B0604020202020204" pitchFamily="34" charset="0"/>
                <a:ea typeface="Open Sans Regular" panose="020B0606030504020204" pitchFamily="34" charset="0"/>
                <a:cs typeface="Arial" panose="020B0604020202020204" pitchFamily="34" charset="0"/>
              </a:rPr>
              <a:t> (số quan sát):</a:t>
            </a:r>
            <a:r>
              <a:rPr lang="vi-VN" sz="2000" dirty="0">
                <a:latin typeface="Arial" panose="020B0604020202020204" pitchFamily="34" charset="0"/>
                <a:ea typeface="Open Sans Regular" panose="020B0606030504020204" pitchFamily="34" charset="0"/>
                <a:cs typeface="Arial" panose="020B0604020202020204" pitchFamily="34" charset="0"/>
              </a:rPr>
              <a:t> 2928</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a:t>
            </a:r>
            <a:r>
              <a:rPr lang="en-US" sz="2000" dirty="0">
                <a:latin typeface="Arial" panose="020B0604020202020204" pitchFamily="34" charset="0"/>
                <a:ea typeface="Open Sans Regular" panose="020B0606030504020204" pitchFamily="34" charset="0"/>
                <a:cs typeface="Arial" panose="020B0604020202020204" pitchFamily="34" charset="0"/>
              </a:rPr>
              <a:t>  10 giá trị bị thiếu </a:t>
            </a:r>
          </a:p>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Mean</a:t>
            </a:r>
            <a:r>
              <a:rPr lang="en-US" sz="2000" dirty="0">
                <a:latin typeface="Arial" panose="020B0604020202020204" pitchFamily="34" charset="0"/>
                <a:ea typeface="Open Sans Regular" panose="020B0606030504020204" pitchFamily="34" charset="0"/>
                <a:cs typeface="Arial" panose="020B0604020202020204" pitchFamily="34" charset="0"/>
              </a:rPr>
              <a:t> (giá trị trung bình):</a:t>
            </a:r>
            <a:r>
              <a:rPr lang="vi-VN" sz="2000" dirty="0">
                <a:latin typeface="Arial" panose="020B0604020202020204" pitchFamily="34" charset="0"/>
                <a:ea typeface="Open Sans Regular" panose="020B0606030504020204" pitchFamily="34" charset="0"/>
                <a:cs typeface="Arial" panose="020B0604020202020204" pitchFamily="34" charset="0"/>
              </a:rPr>
              <a:t>  69.22</a:t>
            </a:r>
            <a:r>
              <a:rPr lang="en-US" sz="2000" dirty="0">
                <a:latin typeface="Arial" panose="020B0604020202020204" pitchFamily="34" charset="0"/>
                <a:ea typeface="Open Sans Regular" panose="020B0606030504020204" pitchFamily="34" charset="0"/>
                <a:cs typeface="Arial" panose="020B0604020202020204" pitchFamily="34" charset="0"/>
              </a:rPr>
              <a:t> năm</a:t>
            </a:r>
          </a:p>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Std</a:t>
            </a:r>
            <a:r>
              <a:rPr lang="en-US" sz="2000" dirty="0">
                <a:latin typeface="Arial" panose="020B0604020202020204" pitchFamily="34" charset="0"/>
                <a:ea typeface="Open Sans Regular" panose="020B0606030504020204" pitchFamily="34" charset="0"/>
                <a:cs typeface="Arial" panose="020B0604020202020204" pitchFamily="34" charset="0"/>
              </a:rPr>
              <a:t> (độ lệch chuẩn): </a:t>
            </a:r>
            <a:r>
              <a:rPr lang="vi-VN" sz="2000" dirty="0">
                <a:latin typeface="Arial" panose="020B0604020202020204" pitchFamily="34" charset="0"/>
                <a:ea typeface="Open Sans Regular" panose="020B0606030504020204" pitchFamily="34" charset="0"/>
                <a:cs typeface="Arial" panose="020B0604020202020204" pitchFamily="34" charset="0"/>
              </a:rPr>
              <a:t>9.52</a:t>
            </a:r>
            <a:r>
              <a:rPr lang="en-US" sz="2000" dirty="0">
                <a:latin typeface="Arial" panose="020B0604020202020204" pitchFamily="34" charset="0"/>
                <a:ea typeface="Open Sans Regular" panose="020B0606030504020204" pitchFamily="34" charset="0"/>
                <a:cs typeface="Arial" panose="020B0604020202020204" pitchFamily="34" charset="0"/>
              </a:rPr>
              <a:t> năm</a:t>
            </a:r>
            <a:r>
              <a:rPr lang="vi-VN" sz="2000" dirty="0">
                <a:latin typeface="Arial" panose="020B0604020202020204" pitchFamily="34" charset="0"/>
                <a:ea typeface="Open Sans Regular" panose="020B0606030504020204" pitchFamily="34" charset="0"/>
                <a:cs typeface="Arial" panose="020B0604020202020204" pitchFamily="34" charset="0"/>
              </a:rPr>
              <a:t> </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Min</a:t>
            </a:r>
            <a:r>
              <a:rPr lang="en-US" sz="2000" dirty="0">
                <a:latin typeface="Arial" panose="020B0604020202020204" pitchFamily="34" charset="0"/>
                <a:ea typeface="Open Sans Regular" panose="020B0606030504020204" pitchFamily="34" charset="0"/>
                <a:cs typeface="Arial" panose="020B0604020202020204" pitchFamily="34" charset="0"/>
              </a:rPr>
              <a:t> (giá trị nhỏ nhất):</a:t>
            </a:r>
            <a:r>
              <a:rPr lang="vi-VN" sz="2000" dirty="0">
                <a:latin typeface="Arial" panose="020B0604020202020204" pitchFamily="34" charset="0"/>
                <a:ea typeface="Open Sans Regular" panose="020B0606030504020204" pitchFamily="34" charset="0"/>
                <a:cs typeface="Arial" panose="020B0604020202020204" pitchFamily="34" charset="0"/>
              </a:rPr>
              <a:t> 36.3</a:t>
            </a:r>
            <a:r>
              <a:rPr lang="en-US" sz="2000" dirty="0">
                <a:latin typeface="Arial" panose="020B0604020202020204" pitchFamily="34" charset="0"/>
                <a:ea typeface="Open Sans Regular" panose="020B0606030504020204" pitchFamily="34" charset="0"/>
                <a:cs typeface="Arial" panose="020B0604020202020204" pitchFamily="34" charset="0"/>
              </a:rPr>
              <a:t> năm</a:t>
            </a:r>
          </a:p>
          <a:p>
            <a:pPr>
              <a:lnSpc>
                <a:spcPct val="150000"/>
              </a:lnSpc>
            </a:pPr>
            <a:r>
              <a:rPr lang="en-US" sz="2000" dirty="0">
                <a:latin typeface="Arial" panose="020B0604020202020204" pitchFamily="34" charset="0"/>
                <a:ea typeface="Open Sans Regular" panose="020B0606030504020204" pitchFamily="34" charset="0"/>
                <a:cs typeface="Arial" panose="020B0604020202020204" pitchFamily="34" charset="0"/>
              </a:rPr>
              <a:t>50% (trung vị): 72.1 năm</a:t>
            </a:r>
          </a:p>
          <a:p>
            <a:pPr>
              <a:lnSpc>
                <a:spcPct val="150000"/>
              </a:lnSpc>
            </a:pPr>
            <a:r>
              <a:rPr lang="en-US" sz="2000" dirty="0">
                <a:latin typeface="Arial" panose="020B0604020202020204" pitchFamily="34" charset="0"/>
                <a:ea typeface="Open Sans Regular" panose="020B0606030504020204" pitchFamily="34" charset="0"/>
                <a:cs typeface="Arial" panose="020B0604020202020204" pitchFamily="34" charset="0"/>
              </a:rPr>
              <a:t>M</a:t>
            </a:r>
            <a:r>
              <a:rPr lang="vi-VN" sz="2000" dirty="0">
                <a:latin typeface="Arial" panose="020B0604020202020204" pitchFamily="34" charset="0"/>
                <a:ea typeface="Open Sans Regular" panose="020B0606030504020204" pitchFamily="34" charset="0"/>
                <a:cs typeface="Arial" panose="020B0604020202020204" pitchFamily="34" charset="0"/>
              </a:rPr>
              <a:t>ax </a:t>
            </a:r>
            <a:r>
              <a:rPr lang="en-US" sz="2000" dirty="0">
                <a:latin typeface="Arial" panose="020B0604020202020204" pitchFamily="34" charset="0"/>
                <a:ea typeface="Open Sans Regular" panose="020B0606030504020204" pitchFamily="34" charset="0"/>
                <a:cs typeface="Arial" panose="020B0604020202020204" pitchFamily="34" charset="0"/>
              </a:rPr>
              <a:t>(giá trị lớn nhất): </a:t>
            </a:r>
            <a:r>
              <a:rPr lang="vi-VN" sz="2000" dirty="0">
                <a:latin typeface="Arial" panose="020B0604020202020204" pitchFamily="34" charset="0"/>
                <a:ea typeface="Open Sans Regular" panose="020B0606030504020204" pitchFamily="34" charset="0"/>
                <a:cs typeface="Arial" panose="020B0604020202020204" pitchFamily="34" charset="0"/>
              </a:rPr>
              <a:t>89</a:t>
            </a:r>
            <a:r>
              <a:rPr lang="en-US" sz="2000" dirty="0">
                <a:latin typeface="Arial" panose="020B0604020202020204" pitchFamily="34" charset="0"/>
                <a:ea typeface="Open Sans Regular" panose="020B0606030504020204" pitchFamily="34" charset="0"/>
                <a:cs typeface="Arial" panose="020B0604020202020204" pitchFamily="34" charset="0"/>
              </a:rPr>
              <a:t> năm</a:t>
            </a: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2" name="Picture 1"/>
          <p:cNvPicPr>
            <a:picLocks noChangeAspect="1"/>
          </p:cNvPicPr>
          <p:nvPr/>
        </p:nvPicPr>
        <p:blipFill>
          <a:blip r:embed="rId4"/>
          <a:stretch>
            <a:fillRect/>
          </a:stretch>
        </p:blipFill>
        <p:spPr>
          <a:xfrm>
            <a:off x="5207244" y="1484973"/>
            <a:ext cx="6581775" cy="4800600"/>
          </a:xfrm>
          <a:prstGeom prst="rect">
            <a:avLst/>
          </a:prstGeom>
        </p:spPr>
      </p:pic>
      <p:sp>
        <p:nvSpPr>
          <p:cNvPr id="9" name="TextBox 8"/>
          <p:cNvSpPr txBox="1"/>
          <p:nvPr/>
        </p:nvSpPr>
        <p:spPr>
          <a:xfrm>
            <a:off x="11711380" y="6471416"/>
            <a:ext cx="331094" cy="369332"/>
          </a:xfrm>
          <a:prstGeom prst="rect">
            <a:avLst/>
          </a:prstGeom>
          <a:noFill/>
        </p:spPr>
        <p:txBody>
          <a:bodyPr wrap="square" rtlCol="0">
            <a:spAutoFit/>
          </a:bodyPr>
          <a:lstStyle/>
          <a:p>
            <a:r>
              <a:rPr lang="en-US" dirty="0" smtClean="0"/>
              <a:t>3</a:t>
            </a:r>
            <a:endParaRPr lang="en-US" dirty="0"/>
          </a:p>
        </p:txBody>
      </p:sp>
    </p:spTree>
    <p:extLst>
      <p:ext uri="{BB962C8B-B14F-4D97-AF65-F5344CB8AC3E}">
        <p14:creationId xmlns:p14="http://schemas.microsoft.com/office/powerpoint/2010/main" val="2876086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Xử lý giá trị thiếu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07675" y="1040279"/>
            <a:ext cx="1157665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Tổng: 2.563 giá trị thiếu (3.97%)</a:t>
            </a:r>
            <a:endParaRPr lang="en-US" sz="2000" dirty="0">
              <a:effectLst/>
              <a:latin typeface="Arial" panose="020B0604020202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675" y="1835945"/>
            <a:ext cx="11414841" cy="4211766"/>
          </a:xfrm>
          <a:prstGeom prst="rect">
            <a:avLst/>
          </a:prstGeom>
        </p:spPr>
      </p:pic>
      <p:sp>
        <p:nvSpPr>
          <p:cNvPr id="9" name="TextBox 8"/>
          <p:cNvSpPr txBox="1"/>
          <p:nvPr/>
        </p:nvSpPr>
        <p:spPr>
          <a:xfrm>
            <a:off x="11711380" y="6471416"/>
            <a:ext cx="331094" cy="369332"/>
          </a:xfrm>
          <a:prstGeom prst="rect">
            <a:avLst/>
          </a:prstGeom>
          <a:noFill/>
        </p:spPr>
        <p:txBody>
          <a:bodyPr wrap="square" rtlCol="0">
            <a:spAutoFit/>
          </a:bodyPr>
          <a:lstStyle/>
          <a:p>
            <a:r>
              <a:rPr lang="en-US" dirty="0" smtClean="0"/>
              <a:t>4</a:t>
            </a:r>
            <a:endParaRPr lang="en-US" dirty="0"/>
          </a:p>
        </p:txBody>
      </p:sp>
    </p:spTree>
    <p:extLst>
      <p:ext uri="{BB962C8B-B14F-4D97-AF65-F5344CB8AC3E}">
        <p14:creationId xmlns:p14="http://schemas.microsoft.com/office/powerpoint/2010/main" val="14792648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Xử lý giá trị thiếu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1420325"/>
          </a:xfrm>
          <a:prstGeom prst="rect">
            <a:avLst/>
          </a:prstGeom>
          <a:noFill/>
        </p:spPr>
        <p:txBody>
          <a:bodyPr wrap="square" rtlCol="0">
            <a:spAutoFit/>
          </a:bodyPr>
          <a:lstStyle/>
          <a:p>
            <a:pPr>
              <a:lnSpc>
                <a:spcPct val="150000"/>
              </a:lnSpc>
            </a:pPr>
            <a:r>
              <a:rPr lang="vi-VN" sz="2000" dirty="0">
                <a:ea typeface="Open Sans Regular" panose="020B0606030504020204" pitchFamily="34" charset="0"/>
                <a:cs typeface="Arial" panose="020B0604020202020204" pitchFamily="34" charset="0"/>
              </a:rPr>
              <a:t>Để xử lý giá trị thiếu, nhóm áp dụng phương pháp Mean Imputation (điền bằng giá trị trung bình) sử dụng SimpleImputer từ thư viện scikit-learn. Đây là một phương pháp phổ biến và phù hợp cho dữ liệu số, dựa trên công thức:</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1406106" y="2388481"/>
            <a:ext cx="8680359" cy="3937612"/>
          </a:xfrm>
          <a:prstGeom prst="rect">
            <a:avLst/>
          </a:prstGeom>
        </p:spPr>
      </p:pic>
      <p:sp>
        <p:nvSpPr>
          <p:cNvPr id="9" name="TextBox 8"/>
          <p:cNvSpPr txBox="1"/>
          <p:nvPr/>
        </p:nvSpPr>
        <p:spPr>
          <a:xfrm>
            <a:off x="11711380" y="6471416"/>
            <a:ext cx="331094" cy="369332"/>
          </a:xfrm>
          <a:prstGeom prst="rect">
            <a:avLst/>
          </a:prstGeom>
          <a:noFill/>
        </p:spPr>
        <p:txBody>
          <a:bodyPr wrap="square" rtlCol="0">
            <a:spAutoFit/>
          </a:bodyPr>
          <a:lstStyle/>
          <a:p>
            <a:r>
              <a:rPr lang="en-US" dirty="0" smtClean="0"/>
              <a:t>5</a:t>
            </a:r>
            <a:endParaRPr lang="en-US" dirty="0"/>
          </a:p>
        </p:txBody>
      </p:sp>
    </p:spTree>
    <p:extLst>
      <p:ext uri="{BB962C8B-B14F-4D97-AF65-F5344CB8AC3E}">
        <p14:creationId xmlns:p14="http://schemas.microsoft.com/office/powerpoint/2010/main" val="20092321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Mã hóa biến phân loại</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5170646"/>
          </a:xfrm>
          <a:prstGeom prst="rect">
            <a:avLst/>
          </a:prstGeom>
          <a:noFill/>
        </p:spPr>
        <p:txBody>
          <a:bodyPr wrap="square" rtlCol="0">
            <a:spAutoFit/>
          </a:bodyPr>
          <a:lstStyle/>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Trong bộ dữ liệu có hai biến phân loại (categorical variables): Country và Status.</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Biến Country: 193 giá trị → LOẠI BỎ → Tránh "curse of dimensionality“</a:t>
            </a: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Curse of dimensionality</a:t>
            </a:r>
            <a:r>
              <a:rPr lang="en-US" sz="2000" dirty="0">
                <a:latin typeface="Arial" panose="020B0604020202020204" pitchFamily="34" charset="0"/>
                <a:cs typeface="Arial" panose="020B0604020202020204" pitchFamily="34" charset="0"/>
              </a:rPr>
              <a:t>:</a:t>
            </a:r>
            <a:r>
              <a:rPr lang="vi-VN" sz="2000" dirty="0">
                <a:latin typeface="Arial" panose="020B0604020202020204" pitchFamily="34" charset="0"/>
                <a:cs typeface="Arial" panose="020B0604020202020204" pitchFamily="34" charset="0"/>
              </a:rPr>
              <a:t> Số chiều tăng đột biến, làm tăng độ phức tạp</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tính toán</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Overfitting: Mô hình dễ học thuộc lòng dữ liệu huấn luyện</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Multicollinearity: Các biến dummy có tương quan cao với nhau</a:t>
            </a:r>
            <a:endParaRPr lang="en-US" sz="20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Biến Status: Developed / Developing → One-Hot Encoding với tham số drop_first=True → Status_Developing (0/1)</a:t>
            </a: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Tránh dummy variable trap (bẫy biến giả): Khi có k loại, chỉ cần k − 1 biến dummy </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Tránh multicollinearity hoàn hảo: Nếu giữ cả 2 cột, chúng có tương quan âm hoàn hảo (-1) </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Giảm chiều dữ liệu: Từ 1 cột phân loại thành 1 cột nhị phân thay vì 2 cột</a:t>
            </a:r>
            <a:endParaRPr lang="en-US" sz="2000" dirty="0">
              <a:latin typeface="Arial" panose="020B0604020202020204" pitchFamily="34" charset="0"/>
              <a:cs typeface="Arial" panose="020B0604020202020204" pitchFamily="34" charset="0"/>
            </a:endParaRPr>
          </a:p>
          <a:p>
            <a:pPr>
              <a:lnSpc>
                <a:spcPct val="150000"/>
              </a:lnSpc>
            </a:pP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8" name="TextBox 7"/>
          <p:cNvSpPr txBox="1"/>
          <p:nvPr/>
        </p:nvSpPr>
        <p:spPr>
          <a:xfrm>
            <a:off x="11711380" y="6471416"/>
            <a:ext cx="331094" cy="369332"/>
          </a:xfrm>
          <a:prstGeom prst="rect">
            <a:avLst/>
          </a:prstGeom>
          <a:noFill/>
        </p:spPr>
        <p:txBody>
          <a:bodyPr wrap="square" rtlCol="0">
            <a:spAutoFit/>
          </a:bodyPr>
          <a:lstStyle/>
          <a:p>
            <a:r>
              <a:rPr lang="en-US" dirty="0" smtClean="0"/>
              <a:t>6</a:t>
            </a:r>
            <a:endParaRPr lang="en-US" dirty="0"/>
          </a:p>
        </p:txBody>
      </p:sp>
    </p:spTree>
    <p:extLst>
      <p:ext uri="{BB962C8B-B14F-4D97-AF65-F5344CB8AC3E}">
        <p14:creationId xmlns:p14="http://schemas.microsoft.com/office/powerpoint/2010/main" val="21058576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Chuẩn hóa dữ liệu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2400657"/>
          </a:xfrm>
          <a:prstGeom prst="rect">
            <a:avLst/>
          </a:prstGeom>
          <a:noFill/>
        </p:spPr>
        <p:txBody>
          <a:bodyPr wrap="square" rtlCol="0">
            <a:spAutoFit/>
          </a:bodyPr>
          <a:lstStyle/>
          <a:p>
            <a:pPr>
              <a:lnSpc>
                <a:spcPct val="150000"/>
              </a:lnSpc>
            </a:pPr>
            <a:r>
              <a:rPr lang="vi-VN" sz="2000" b="1" dirty="0">
                <a:latin typeface="Arial" panose="020B0604020202020204" pitchFamily="34" charset="0"/>
                <a:ea typeface="Open Sans Regular" panose="020B0606030504020204" pitchFamily="34" charset="0"/>
                <a:cs typeface="Arial" panose="020B0604020202020204" pitchFamily="34" charset="0"/>
              </a:rPr>
              <a:t>Quy trình thực hiện:</a:t>
            </a:r>
            <a:endParaRPr lang="en-US" sz="2000" b="1"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Chia dữ liệu: Trước khi chuẩn hóa, dữ liệu được chia thành tập huấn luyện (70%) và tập kiểm tra</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(30%) với train_test_split, sử dụng random_state để đảm bảo tính tái lập.</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Fit trên tập huấn luyện: X_train để tránh</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data leakage (rò rỉ thông tin từ tập test).</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Transform cả hai tập: Áp dụng phép biến đổi với cùng tham số đã học cho cả X_train và X_test.</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3246333"/>
            <a:ext cx="11576650" cy="496996"/>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Công thức chuẩn hóa:</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2226" y="3146139"/>
            <a:ext cx="7882762" cy="3373307"/>
          </a:xfrm>
          <a:prstGeom prst="rect">
            <a:avLst/>
          </a:prstGeom>
        </p:spPr>
      </p:pic>
      <p:sp>
        <p:nvSpPr>
          <p:cNvPr id="12" name="TextBox 11"/>
          <p:cNvSpPr txBox="1"/>
          <p:nvPr/>
        </p:nvSpPr>
        <p:spPr>
          <a:xfrm>
            <a:off x="11711380" y="6471416"/>
            <a:ext cx="331094" cy="369332"/>
          </a:xfrm>
          <a:prstGeom prst="rect">
            <a:avLst/>
          </a:prstGeom>
          <a:noFill/>
        </p:spPr>
        <p:txBody>
          <a:bodyPr wrap="square" rtlCol="0">
            <a:spAutoFit/>
          </a:bodyPr>
          <a:lstStyle/>
          <a:p>
            <a:r>
              <a:rPr lang="en-US" dirty="0" smtClean="0"/>
              <a:t>7</a:t>
            </a:r>
            <a:endParaRPr lang="en-US" dirty="0"/>
          </a:p>
        </p:txBody>
      </p:sp>
    </p:spTree>
    <p:extLst>
      <p:ext uri="{BB962C8B-B14F-4D97-AF65-F5344CB8AC3E}">
        <p14:creationId xmlns:p14="http://schemas.microsoft.com/office/powerpoint/2010/main" val="41003624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5" name="TextBox 4"/>
          <p:cNvSpPr txBox="1"/>
          <p:nvPr/>
        </p:nvSpPr>
        <p:spPr>
          <a:xfrm>
            <a:off x="717753" y="3959786"/>
            <a:ext cx="3874779" cy="1569660"/>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Giảm chiều</a:t>
            </a:r>
          </a:p>
          <a:p>
            <a:r>
              <a:rPr lang="en-US" sz="4800" b="1" dirty="0">
                <a:solidFill>
                  <a:schemeClr val="bg1"/>
                </a:solidFill>
                <a:latin typeface="Montserrat ExtraBold" panose="00000900000000000000" pitchFamily="2" charset="0"/>
              </a:rPr>
              <a:t>dữ liệu</a:t>
            </a:r>
          </a:p>
        </p:txBody>
      </p:sp>
    </p:spTree>
    <p:extLst>
      <p:ext uri="{BB962C8B-B14F-4D97-AF65-F5344CB8AC3E}">
        <p14:creationId xmlns:p14="http://schemas.microsoft.com/office/powerpoint/2010/main" val="14015256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7" name="TextBox 6"/>
          <p:cNvSpPr txBox="1"/>
          <p:nvPr/>
        </p:nvSpPr>
        <p:spPr>
          <a:xfrm>
            <a:off x="717753" y="3959786"/>
            <a:ext cx="5908990" cy="1569660"/>
          </a:xfrm>
          <a:prstGeom prst="rect">
            <a:avLst/>
          </a:prstGeom>
          <a:noFill/>
        </p:spPr>
        <p:txBody>
          <a:bodyPr wrap="none" rtlCol="0">
            <a:spAutoFit/>
          </a:bodyPr>
          <a:lstStyle/>
          <a:p>
            <a:r>
              <a:rPr lang="en-US" sz="4800" b="1" dirty="0">
                <a:solidFill>
                  <a:srgbClr val="0092FF"/>
                </a:solidFill>
                <a:latin typeface="Montserrat ExtraBold" panose="00000900000000000000" pitchFamily="2" charset="0"/>
              </a:rPr>
              <a:t>Phân tích thành </a:t>
            </a:r>
          </a:p>
          <a:p>
            <a:r>
              <a:rPr lang="en-US" sz="4800" b="1" dirty="0">
                <a:solidFill>
                  <a:srgbClr val="0092FF"/>
                </a:solidFill>
                <a:latin typeface="Montserrat ExtraBold" panose="00000900000000000000" pitchFamily="2" charset="0"/>
              </a:rPr>
              <a:t>phần chính (PCA)</a:t>
            </a:r>
          </a:p>
        </p:txBody>
      </p:sp>
    </p:spTree>
    <p:extLst>
      <p:ext uri="{BB962C8B-B14F-4D97-AF65-F5344CB8AC3E}">
        <p14:creationId xmlns:p14="http://schemas.microsoft.com/office/powerpoint/2010/main" val="30913528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Mục đích và ý tưởng</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948907"/>
            <a:ext cx="11683042" cy="3785652"/>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Mục đích:</a:t>
            </a:r>
          </a:p>
          <a:p>
            <a:pPr marL="342900" indent="-342900">
              <a:lnSpc>
                <a:spcPct val="150000"/>
              </a:lnSpc>
              <a:buFont typeface="Arial" panose="020B0604020202020204" pitchFamily="34" charset="0"/>
              <a:buChar char="•"/>
            </a:pPr>
            <a:r>
              <a:rPr lang="en-US" sz="2000" dirty="0">
                <a:latin typeface="Arial" panose="020B0604020202020204" pitchFamily="34" charset="0"/>
                <a:ea typeface="Open Sans Regular" panose="020B0606030504020204" pitchFamily="34" charset="0"/>
                <a:cs typeface="Arial" panose="020B0604020202020204" pitchFamily="34" charset="0"/>
              </a:rPr>
              <a:t>Loại </a:t>
            </a:r>
            <a:r>
              <a:rPr lang="vi-VN" sz="2000" dirty="0">
                <a:latin typeface="Arial" panose="020B0604020202020204" pitchFamily="34" charset="0"/>
                <a:ea typeface="Open Sans Regular" panose="020B0606030504020204" pitchFamily="34" charset="0"/>
                <a:cs typeface="Arial" panose="020B0604020202020204" pitchFamily="34" charset="0"/>
              </a:rPr>
              <a:t>bỏ dư thừa và giữ lại các thành phần mang nhiều thông tin nhất</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000" dirty="0">
                <a:latin typeface="Arial" panose="020B0604020202020204" pitchFamily="34" charset="0"/>
                <a:ea typeface="Open Sans Regular" panose="020B0606030504020204" pitchFamily="34" charset="0"/>
                <a:cs typeface="Arial" panose="020B0604020202020204" pitchFamily="34" charset="0"/>
              </a:rPr>
              <a:t>B</a:t>
            </a:r>
            <a:r>
              <a:rPr lang="vi-VN" sz="2000" dirty="0">
                <a:latin typeface="Arial" panose="020B0604020202020204" pitchFamily="34" charset="0"/>
                <a:ea typeface="Open Sans Regular" panose="020B0606030504020204" pitchFamily="34" charset="0"/>
                <a:cs typeface="Arial" panose="020B0604020202020204" pitchFamily="34" charset="0"/>
              </a:rPr>
              <a:t>iến đổi dữ liệu sang không gian mới với các trục tọa</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độ ít tương quan, giúp giảm chi phí tính toán, cải thiện hiệu suất mô hình và hỗ trợ trực quan hóa trong cácbài toán dữ liệu có số chiều lớn.</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Ý tưởng:</a:t>
            </a: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Giảm từ 20 đặc trưng xuống còn 15 thành phần chính mà vẫn giữ 9</a:t>
            </a:r>
            <a:r>
              <a:rPr lang="en-US" sz="2000" dirty="0">
                <a:latin typeface="Arial" panose="020B0604020202020204" pitchFamily="34" charset="0"/>
                <a:ea typeface="Open Sans Regular" panose="020B0606030504020204" pitchFamily="34" charset="0"/>
                <a:cs typeface="Arial" panose="020B0604020202020204" pitchFamily="34" charset="0"/>
              </a:rPr>
              <a:t>5</a:t>
            </a:r>
            <a:r>
              <a:rPr lang="vi-VN" sz="2000" dirty="0">
                <a:latin typeface="Arial" panose="020B0604020202020204" pitchFamily="34" charset="0"/>
                <a:ea typeface="Open Sans Regular" panose="020B0606030504020204" pitchFamily="34" charset="0"/>
                <a:cs typeface="Arial" panose="020B0604020202020204" pitchFamily="34" charset="0"/>
              </a:rPr>
              <a:t>% phương sai.</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Loại bỏ đa cộng tuyến giữa các yếu tố như Schooling và Income composition.</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Trực quan hóa mối quan hệ giữa các chỉ số y tế - xã hội và tuổi thọ.</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sp>
        <p:nvSpPr>
          <p:cNvPr id="12" name="TextBox 11"/>
          <p:cNvSpPr txBox="1"/>
          <p:nvPr/>
        </p:nvSpPr>
        <p:spPr>
          <a:xfrm>
            <a:off x="11711380" y="6471416"/>
            <a:ext cx="331094" cy="369332"/>
          </a:xfrm>
          <a:prstGeom prst="rect">
            <a:avLst/>
          </a:prstGeom>
          <a:noFill/>
        </p:spPr>
        <p:txBody>
          <a:bodyPr wrap="square" rtlCol="0">
            <a:spAutoFit/>
          </a:bodyPr>
          <a:lstStyle/>
          <a:p>
            <a:r>
              <a:rPr lang="en-US" dirty="0" smtClean="0"/>
              <a:t>8</a:t>
            </a:r>
            <a:endParaRPr lang="en-US" dirty="0"/>
          </a:p>
        </p:txBody>
      </p:sp>
    </p:spTree>
    <p:extLst>
      <p:ext uri="{BB962C8B-B14F-4D97-AF65-F5344CB8AC3E}">
        <p14:creationId xmlns:p14="http://schemas.microsoft.com/office/powerpoint/2010/main" val="27651327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7622" y="1007437"/>
            <a:ext cx="6207101" cy="4827745"/>
          </a:xfrm>
          <a:prstGeom prst="rect">
            <a:avLst/>
          </a:prstGeom>
        </p:spPr>
      </p:pic>
      <p:sp>
        <p:nvSpPr>
          <p:cNvPr id="12" name="TextBox 11"/>
          <p:cNvSpPr txBox="1"/>
          <p:nvPr/>
        </p:nvSpPr>
        <p:spPr>
          <a:xfrm>
            <a:off x="1608992" y="5832140"/>
            <a:ext cx="11719951" cy="553998"/>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Phân tán dữ liệu theo 2 thành phần chính đầu tiên (PC1 vs PC2)</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sp>
        <p:nvSpPr>
          <p:cNvPr id="11" name="TextBox 10"/>
          <p:cNvSpPr txBox="1"/>
          <p:nvPr/>
        </p:nvSpPr>
        <p:spPr>
          <a:xfrm>
            <a:off x="11711380" y="6471416"/>
            <a:ext cx="331094" cy="369332"/>
          </a:xfrm>
          <a:prstGeom prst="rect">
            <a:avLst/>
          </a:prstGeom>
          <a:noFill/>
        </p:spPr>
        <p:txBody>
          <a:bodyPr wrap="square" rtlCol="0">
            <a:spAutoFit/>
          </a:bodyPr>
          <a:lstStyle/>
          <a:p>
            <a:r>
              <a:rPr lang="en-US" dirty="0" smtClean="0"/>
              <a:t>9</a:t>
            </a:r>
            <a:endParaRPr lang="en-US" dirty="0"/>
          </a:p>
        </p:txBody>
      </p:sp>
    </p:spTree>
    <p:extLst>
      <p:ext uri="{BB962C8B-B14F-4D97-AF65-F5344CB8AC3E}">
        <p14:creationId xmlns:p14="http://schemas.microsoft.com/office/powerpoint/2010/main" val="4446571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2" name="TextBox 11"/>
          <p:cNvSpPr txBox="1"/>
          <p:nvPr/>
        </p:nvSpPr>
        <p:spPr>
          <a:xfrm>
            <a:off x="1592859" y="5879069"/>
            <a:ext cx="8179269" cy="496996"/>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Biểu đồ phân tán cho 6 cặp thành phần chính đầu tiên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5554" y="832310"/>
            <a:ext cx="8179270" cy="5112044"/>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10</a:t>
            </a:r>
            <a:endParaRPr lang="en-US" dirty="0"/>
          </a:p>
        </p:txBody>
      </p:sp>
    </p:spTree>
    <p:extLst>
      <p:ext uri="{BB962C8B-B14F-4D97-AF65-F5344CB8AC3E}">
        <p14:creationId xmlns:p14="http://schemas.microsoft.com/office/powerpoint/2010/main" val="8856802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2" name="TextBox 11"/>
          <p:cNvSpPr txBox="1"/>
          <p:nvPr/>
        </p:nvSpPr>
        <p:spPr>
          <a:xfrm>
            <a:off x="1018595" y="5887684"/>
            <a:ext cx="9844665" cy="496996"/>
          </a:xfrm>
          <a:prstGeom prst="rect">
            <a:avLst/>
          </a:prstGeom>
          <a:noFill/>
        </p:spPr>
        <p:txBody>
          <a:bodyPr wrap="square" rtlCol="0">
            <a:spAutoFit/>
          </a:bodyPr>
          <a:lstStyle/>
          <a:p>
            <a:pPr algn="ctr">
              <a:lnSpc>
                <a:spcPct val="150000"/>
              </a:lnSpc>
            </a:pPr>
            <a:r>
              <a:rPr lang="vi-VN" sz="2000" b="1" dirty="0">
                <a:ea typeface="Open Sans Regular" panose="020B0606030504020204" pitchFamily="34" charset="0"/>
                <a:cs typeface="Arial" panose="020B0604020202020204" pitchFamily="34" charset="0"/>
              </a:rPr>
              <a:t>Tương quan giữa các thành phần chính (PC1–PC15) và đặc trưng gốc.</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1895" y="889807"/>
            <a:ext cx="10564593" cy="5004281"/>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11</a:t>
            </a:r>
            <a:endParaRPr lang="en-US" dirty="0"/>
          </a:p>
        </p:txBody>
      </p:sp>
    </p:spTree>
    <p:extLst>
      <p:ext uri="{BB962C8B-B14F-4D97-AF65-F5344CB8AC3E}">
        <p14:creationId xmlns:p14="http://schemas.microsoft.com/office/powerpoint/2010/main" val="3257061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7" name="TextBox 6"/>
          <p:cNvSpPr txBox="1"/>
          <p:nvPr/>
        </p:nvSpPr>
        <p:spPr>
          <a:xfrm>
            <a:off x="717753" y="3959786"/>
            <a:ext cx="6773008" cy="1569660"/>
          </a:xfrm>
          <a:prstGeom prst="rect">
            <a:avLst/>
          </a:prstGeom>
          <a:noFill/>
        </p:spPr>
        <p:txBody>
          <a:bodyPr wrap="none" rtlCol="0">
            <a:spAutoFit/>
          </a:bodyPr>
          <a:lstStyle/>
          <a:p>
            <a:r>
              <a:rPr lang="vi-VN" sz="4800" b="1" dirty="0">
                <a:solidFill>
                  <a:srgbClr val="0092FF"/>
                </a:solidFill>
                <a:latin typeface="Montserrat ExtraBold" panose="00000900000000000000" pitchFamily="2" charset="0"/>
              </a:rPr>
              <a:t>Lựa chọn đặc trưng </a:t>
            </a:r>
            <a:endParaRPr lang="en-US" sz="4800" b="1" dirty="0">
              <a:solidFill>
                <a:srgbClr val="0092FF"/>
              </a:solidFill>
              <a:latin typeface="Montserrat ExtraBold" panose="00000900000000000000" pitchFamily="2" charset="0"/>
            </a:endParaRPr>
          </a:p>
          <a:p>
            <a:r>
              <a:rPr lang="vi-VN" sz="4800" b="1" dirty="0">
                <a:solidFill>
                  <a:srgbClr val="0092FF"/>
                </a:solidFill>
                <a:latin typeface="Montserrat ExtraBold" panose="00000900000000000000" pitchFamily="2" charset="0"/>
              </a:rPr>
              <a:t>với SelectKBest</a:t>
            </a:r>
            <a:endParaRPr lang="en-US" sz="4800" b="1" dirty="0">
              <a:solidFill>
                <a:srgbClr val="0092FF"/>
              </a:solidFill>
              <a:latin typeface="Montserrat ExtraBold" panose="00000900000000000000" pitchFamily="2" charset="0"/>
            </a:endParaRPr>
          </a:p>
        </p:txBody>
      </p:sp>
    </p:spTree>
    <p:extLst>
      <p:ext uri="{BB962C8B-B14F-4D97-AF65-F5344CB8AC3E}">
        <p14:creationId xmlns:p14="http://schemas.microsoft.com/office/powerpoint/2010/main" val="40519108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Giới thiệu về SelectKBest</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948907"/>
            <a:ext cx="11683042" cy="5170646"/>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Định nghĩa: </a:t>
            </a:r>
            <a:r>
              <a:rPr lang="vi-VN" sz="2000" dirty="0">
                <a:latin typeface="Arial" panose="020B0604020202020204" pitchFamily="34" charset="0"/>
                <a:ea typeface="Open Sans Regular" panose="020B0606030504020204" pitchFamily="34" charset="0"/>
                <a:cs typeface="Arial" panose="020B0604020202020204" pitchFamily="34" charset="0"/>
              </a:rPr>
              <a:t>SelectKBest là một phương pháp feature selection (lựa chọn đặc trưng) thuộc loại supervised learning, có</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nghĩa là nó sử dụng thông tin từ biến mục tiêu (target) để đánh giá và chọn ra K features quan trọng nhất.</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150000"/>
              </a:lnSpc>
            </a:pPr>
            <a:r>
              <a:rPr lang="vi-VN" sz="2000" b="1" dirty="0">
                <a:latin typeface="Arial" panose="020B0604020202020204" pitchFamily="34" charset="0"/>
                <a:ea typeface="Open Sans Regular" panose="020B0606030504020204" pitchFamily="34" charset="0"/>
                <a:cs typeface="Arial" panose="020B0604020202020204" pitchFamily="34" charset="0"/>
              </a:rPr>
              <a:t>Ưu điểm:</a:t>
            </a:r>
            <a:endParaRPr lang="en-US" sz="2000" b="1"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Giữ nguyên ý nghĩa của các features gốc (dễ diễn giải)</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Giảm số chiều dữ liệu, tránh overfitting</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Loại bỏ các features không có ý nghĩa thống kê</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Tăng tốc độ training model</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150000"/>
              </a:lnSpc>
            </a:pPr>
            <a:r>
              <a:rPr lang="vi-VN" sz="2000" b="1" dirty="0">
                <a:latin typeface="Arial" panose="020B0604020202020204" pitchFamily="34" charset="0"/>
                <a:ea typeface="Open Sans Regular" panose="020B0606030504020204" pitchFamily="34" charset="0"/>
                <a:cs typeface="Arial" panose="020B0604020202020204" pitchFamily="34" charset="0"/>
              </a:rPr>
              <a:t>Nhược điểm:</a:t>
            </a:r>
            <a:endParaRPr lang="en-US" sz="2000" b="1"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Không xử lý multicollinearity (tương quan cao giữa các features)</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Đánh giá từng feature độc lập (không xem xét tương tác giữa các features)</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sp>
        <p:nvSpPr>
          <p:cNvPr id="12" name="TextBox 11"/>
          <p:cNvSpPr txBox="1"/>
          <p:nvPr/>
        </p:nvSpPr>
        <p:spPr>
          <a:xfrm>
            <a:off x="11711380" y="6471416"/>
            <a:ext cx="480620" cy="369332"/>
          </a:xfrm>
          <a:prstGeom prst="rect">
            <a:avLst/>
          </a:prstGeom>
          <a:noFill/>
        </p:spPr>
        <p:txBody>
          <a:bodyPr wrap="square" rtlCol="0">
            <a:spAutoFit/>
          </a:bodyPr>
          <a:lstStyle/>
          <a:p>
            <a:r>
              <a:rPr lang="en-US" dirty="0" smtClean="0"/>
              <a:t>12</a:t>
            </a:r>
            <a:endParaRPr lang="en-US" dirty="0"/>
          </a:p>
        </p:txBody>
      </p:sp>
    </p:spTree>
    <p:extLst>
      <p:ext uri="{BB962C8B-B14F-4D97-AF65-F5344CB8AC3E}">
        <p14:creationId xmlns:p14="http://schemas.microsoft.com/office/powerpoint/2010/main" val="37601590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800" dirty="0" smtClean="0">
                <a:latin typeface="Montserrat ExtraBold" panose="00000900000000000000" pitchFamily="2" charset="0"/>
              </a:rPr>
              <a:t>SelectKBest </a:t>
            </a:r>
            <a:r>
              <a:rPr lang="vi-VN" sz="2800" dirty="0">
                <a:latin typeface="Montserrat ExtraBold" panose="00000900000000000000" pitchFamily="2" charset="0"/>
              </a:rPr>
              <a:t>với f_regression</a:t>
            </a:r>
            <a:r>
              <a:rPr lang="en-US" sz="2800" dirty="0" smtClean="0">
                <a:latin typeface="Montserrat ExtraBold" panose="00000900000000000000" pitchFamily="2" charset="0"/>
              </a:rPr>
              <a:t> </a:t>
            </a:r>
            <a:endParaRPr lang="en-US" sz="2800" dirty="0">
              <a:latin typeface="Montserrat ExtraBold" panose="00000900000000000000" pitchFamily="2" charset="0"/>
            </a:endParaRP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708319"/>
            <a:ext cx="11683042" cy="496996"/>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f_regression là hàm tính toán F-statistic giữa mỗi feature và target trong bài toán regression.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1915065" y="1220404"/>
            <a:ext cx="7541194" cy="5207773"/>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smtClean="0"/>
              <a:t>13</a:t>
            </a:r>
            <a:endParaRPr lang="en-US" dirty="0"/>
          </a:p>
        </p:txBody>
      </p:sp>
    </p:spTree>
    <p:extLst>
      <p:ext uri="{BB962C8B-B14F-4D97-AF65-F5344CB8AC3E}">
        <p14:creationId xmlns:p14="http://schemas.microsoft.com/office/powerpoint/2010/main" val="19385435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800" dirty="0">
                <a:latin typeface="Montserrat ExtraBold" panose="00000900000000000000" pitchFamily="2" charset="0"/>
              </a:rPr>
              <a:t>SelectKBest với f_regression</a:t>
            </a:r>
            <a:r>
              <a:rPr lang="en-US" sz="2800" dirty="0">
                <a:latin typeface="Montserrat ExtraBold" panose="00000900000000000000" pitchFamily="2" charset="0"/>
              </a:rPr>
              <a:t> </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508958" y="1096508"/>
            <a:ext cx="9471804" cy="5450851"/>
          </a:xfrm>
          <a:prstGeom prst="rect">
            <a:avLst/>
          </a:prstGeom>
          <a:noFill/>
        </p:spPr>
        <p:txBody>
          <a:bodyPr wrap="square" rtlCol="0">
            <a:spAutoFit/>
          </a:bodyPr>
          <a:lstStyle/>
          <a:p>
            <a:pPr fontAlgn="base">
              <a:lnSpc>
                <a:spcPct val="150000"/>
              </a:lnSpc>
            </a:pPr>
            <a:r>
              <a:rPr lang="vi-VN" b="1" dirty="0"/>
              <a:t>Ý nghĩa:</a:t>
            </a:r>
            <a:r>
              <a:rPr lang="en-US" dirty="0"/>
              <a:t>​</a:t>
            </a:r>
          </a:p>
          <a:p>
            <a:pPr marL="285750" indent="-285750" fontAlgn="base">
              <a:lnSpc>
                <a:spcPct val="150000"/>
              </a:lnSpc>
              <a:buFont typeface="Arial" panose="020B0604020202020204" pitchFamily="34" charset="0"/>
              <a:buChar char="•"/>
            </a:pPr>
            <a:r>
              <a:rPr lang="vi-VN" b="1" dirty="0" smtClean="0"/>
              <a:t>F-statistic </a:t>
            </a:r>
            <a:r>
              <a:rPr lang="vi-VN" b="1" dirty="0"/>
              <a:t>cao →</a:t>
            </a:r>
            <a:r>
              <a:rPr lang="vi-VN" dirty="0"/>
              <a:t> Feature có mối quan hệ tuyến tính mạnh với target</a:t>
            </a:r>
            <a:r>
              <a:rPr lang="en-US" dirty="0" smtClean="0"/>
              <a:t>​ </a:t>
            </a:r>
            <a:r>
              <a:rPr lang="vi-VN" dirty="0" smtClean="0"/>
              <a:t>(SSR lớn so với SSE → mô hình giải thích tốt biến thiên của target)</a:t>
            </a:r>
            <a:r>
              <a:rPr lang="en-US" dirty="0" smtClean="0"/>
              <a:t>​</a:t>
            </a:r>
          </a:p>
          <a:p>
            <a:pPr marL="285750" indent="-285750" fontAlgn="base">
              <a:lnSpc>
                <a:spcPct val="150000"/>
              </a:lnSpc>
              <a:buFont typeface="Arial" panose="020B0604020202020204" pitchFamily="34" charset="0"/>
              <a:buChar char="•"/>
            </a:pPr>
            <a:r>
              <a:rPr lang="vi-VN" b="1" dirty="0" smtClean="0"/>
              <a:t>F-statistic </a:t>
            </a:r>
            <a:r>
              <a:rPr lang="vi-VN" b="1" dirty="0"/>
              <a:t>thấp →</a:t>
            </a:r>
            <a:r>
              <a:rPr lang="vi-VN" dirty="0"/>
              <a:t> Feature ít ảnh hưởng đến </a:t>
            </a:r>
            <a:r>
              <a:rPr lang="vi-VN" dirty="0" smtClean="0"/>
              <a:t>target</a:t>
            </a:r>
            <a:r>
              <a:rPr lang="en-US" dirty="0"/>
              <a:t> </a:t>
            </a:r>
            <a:r>
              <a:rPr lang="vi-VN" dirty="0" smtClean="0"/>
              <a:t>(SSR nhỏ so với SSE → mô hình giải thích kém biến thiên của target)</a:t>
            </a:r>
            <a:r>
              <a:rPr lang="en-US" dirty="0" smtClean="0"/>
              <a:t>​</a:t>
            </a:r>
          </a:p>
          <a:p>
            <a:pPr fontAlgn="base">
              <a:lnSpc>
                <a:spcPct val="150000"/>
              </a:lnSpc>
            </a:pPr>
            <a:endParaRPr lang="en-US" dirty="0"/>
          </a:p>
          <a:p>
            <a:pPr fontAlgn="base">
              <a:lnSpc>
                <a:spcPct val="150000"/>
              </a:lnSpc>
            </a:pPr>
            <a:r>
              <a:rPr lang="vi-VN" b="1" dirty="0"/>
              <a:t>Cách SelectKBest sử dụng F-statistic:</a:t>
            </a:r>
            <a:r>
              <a:rPr lang="en-US" dirty="0"/>
              <a:t>​</a:t>
            </a:r>
          </a:p>
          <a:p>
            <a:pPr marL="285750" indent="-285750" fontAlgn="base">
              <a:lnSpc>
                <a:spcPct val="150000"/>
              </a:lnSpc>
              <a:buFont typeface="Arial" panose="020B0604020202020204" pitchFamily="34" charset="0"/>
              <a:buChar char="•"/>
            </a:pPr>
            <a:r>
              <a:rPr lang="en-US" dirty="0">
                <a:latin typeface="Arial Body"/>
                <a:cs typeface="Arial" panose="020B0604020202020204" pitchFamily="34" charset="0"/>
              </a:rPr>
              <a:t>T</a:t>
            </a:r>
            <a:r>
              <a:rPr lang="vi-VN" dirty="0" smtClean="0">
                <a:latin typeface="Arial Body"/>
                <a:cs typeface="Arial" panose="020B0604020202020204" pitchFamily="34" charset="0"/>
              </a:rPr>
              <a:t>ính </a:t>
            </a:r>
            <a:r>
              <a:rPr lang="vi-VN" dirty="0">
                <a:latin typeface="Arial Body"/>
                <a:cs typeface="Arial" panose="020B0604020202020204" pitchFamily="34" charset="0"/>
              </a:rPr>
              <a:t>F-statistic cho từng feature riêng lẻ với target</a:t>
            </a:r>
            <a:r>
              <a:rPr lang="en-US" dirty="0">
                <a:latin typeface="Arial Body"/>
                <a:cs typeface="Arial" panose="020B0604020202020204" pitchFamily="34" charset="0"/>
              </a:rPr>
              <a:t>​</a:t>
            </a:r>
          </a:p>
          <a:p>
            <a:pPr marL="285750" indent="-285750" fontAlgn="base">
              <a:lnSpc>
                <a:spcPct val="150000"/>
              </a:lnSpc>
              <a:buFont typeface="Arial" panose="020B0604020202020204" pitchFamily="34" charset="0"/>
              <a:buChar char="•"/>
            </a:pPr>
            <a:r>
              <a:rPr lang="vi-VN" dirty="0" smtClean="0">
                <a:latin typeface="Arial Body"/>
                <a:cs typeface="Arial" panose="020B0604020202020204" pitchFamily="34" charset="0"/>
              </a:rPr>
              <a:t>Xếp </a:t>
            </a:r>
            <a:r>
              <a:rPr lang="vi-VN" dirty="0">
                <a:latin typeface="Arial Body"/>
                <a:cs typeface="Arial" panose="020B0604020202020204" pitchFamily="34" charset="0"/>
              </a:rPr>
              <a:t>hạng các features theo giá trị F-statistic (từ cao đến thấp)</a:t>
            </a:r>
            <a:r>
              <a:rPr lang="en-US" dirty="0">
                <a:latin typeface="Arial Body"/>
                <a:cs typeface="Arial" panose="020B0604020202020204" pitchFamily="34" charset="0"/>
              </a:rPr>
              <a:t>​</a:t>
            </a:r>
          </a:p>
          <a:p>
            <a:pPr marL="285750" indent="-285750" fontAlgn="base">
              <a:lnSpc>
                <a:spcPct val="150000"/>
              </a:lnSpc>
              <a:buFont typeface="Arial" panose="020B0604020202020204" pitchFamily="34" charset="0"/>
              <a:buChar char="•"/>
            </a:pPr>
            <a:r>
              <a:rPr lang="vi-VN" dirty="0" smtClean="0">
                <a:latin typeface="Arial Body"/>
                <a:cs typeface="Arial" panose="020B0604020202020204" pitchFamily="34" charset="0"/>
              </a:rPr>
              <a:t>Chọn </a:t>
            </a:r>
            <a:r>
              <a:rPr lang="vi-VN" dirty="0">
                <a:latin typeface="Arial Body"/>
                <a:cs typeface="Arial" panose="020B0604020202020204" pitchFamily="34" charset="0"/>
              </a:rPr>
              <a:t>k features có F-statistic cao nhất</a:t>
            </a:r>
            <a:r>
              <a:rPr lang="en-US" dirty="0">
                <a:latin typeface="Arial Body"/>
                <a:cs typeface="Arial" panose="020B0604020202020204" pitchFamily="34" charset="0"/>
              </a:rPr>
              <a:t>​</a:t>
            </a:r>
          </a:p>
          <a:p>
            <a:pPr marL="285750" indent="-285750" fontAlgn="base">
              <a:lnSpc>
                <a:spcPct val="150000"/>
              </a:lnSpc>
              <a:buFont typeface="Arial" panose="020B0604020202020204" pitchFamily="34" charset="0"/>
              <a:buChar char="•"/>
            </a:pPr>
            <a:r>
              <a:rPr lang="vi-VN" dirty="0" smtClean="0">
                <a:latin typeface="Arial Body"/>
                <a:cs typeface="Arial" panose="020B0604020202020204" pitchFamily="34" charset="0"/>
              </a:rPr>
              <a:t>Loại </a:t>
            </a:r>
            <a:r>
              <a:rPr lang="vi-VN" dirty="0">
                <a:latin typeface="Arial Body"/>
                <a:cs typeface="Arial" panose="020B0604020202020204" pitchFamily="34" charset="0"/>
              </a:rPr>
              <a:t>bỏ các features có F-statistic thấp (ít ảnh hưởng đến target)</a:t>
            </a:r>
            <a:r>
              <a:rPr lang="en-US" dirty="0">
                <a:latin typeface="Arial Body"/>
                <a:cs typeface="Arial" panose="020B0604020202020204" pitchFamily="34" charset="0"/>
              </a:rPr>
              <a:t>​</a:t>
            </a:r>
          </a:p>
          <a:p>
            <a:pPr fontAlgn="base">
              <a:lnSpc>
                <a:spcPct val="150000"/>
              </a:lnSpc>
            </a:pPr>
            <a:r>
              <a:rPr lang="en-US" dirty="0"/>
              <a:t>​</a:t>
            </a:r>
          </a:p>
          <a:p>
            <a:pPr fontAlgn="base">
              <a:lnSpc>
                <a:spcPct val="150000"/>
              </a:lnSpc>
            </a:pPr>
            <a:endParaRPr lang="en-US" dirty="0"/>
          </a:p>
        </p:txBody>
      </p:sp>
      <p:sp>
        <p:nvSpPr>
          <p:cNvPr id="12" name="TextBox 11"/>
          <p:cNvSpPr txBox="1"/>
          <p:nvPr/>
        </p:nvSpPr>
        <p:spPr>
          <a:xfrm>
            <a:off x="11711380" y="6471416"/>
            <a:ext cx="480620" cy="369332"/>
          </a:xfrm>
          <a:prstGeom prst="rect">
            <a:avLst/>
          </a:prstGeom>
          <a:noFill/>
        </p:spPr>
        <p:txBody>
          <a:bodyPr wrap="square" rtlCol="0">
            <a:spAutoFit/>
          </a:bodyPr>
          <a:lstStyle/>
          <a:p>
            <a:r>
              <a:rPr lang="en-US" dirty="0" smtClean="0"/>
              <a:t>14</a:t>
            </a:r>
            <a:endParaRPr lang="en-US" dirty="0"/>
          </a:p>
        </p:txBody>
      </p:sp>
    </p:spTree>
    <p:extLst>
      <p:ext uri="{BB962C8B-B14F-4D97-AF65-F5344CB8AC3E}">
        <p14:creationId xmlns:p14="http://schemas.microsoft.com/office/powerpoint/2010/main" val="34298028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2293099" y="5829097"/>
            <a:ext cx="6570362" cy="496996"/>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Top 10 feature quan trọng nhất</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2293099" y="820461"/>
            <a:ext cx="6570362" cy="5113519"/>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smtClean="0"/>
              <a:t>15</a:t>
            </a:r>
            <a:endParaRPr lang="en-US" dirty="0"/>
          </a:p>
        </p:txBody>
      </p:sp>
    </p:spTree>
    <p:extLst>
      <p:ext uri="{BB962C8B-B14F-4D97-AF65-F5344CB8AC3E}">
        <p14:creationId xmlns:p14="http://schemas.microsoft.com/office/powerpoint/2010/main" val="41517826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2293099" y="5898108"/>
            <a:ext cx="7239090" cy="553998"/>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Ma trận tương quan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5318" y="890897"/>
            <a:ext cx="7870360" cy="5059525"/>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smtClean="0"/>
              <a:t>16</a:t>
            </a:r>
            <a:endParaRPr lang="en-US" dirty="0"/>
          </a:p>
        </p:txBody>
      </p:sp>
    </p:spTree>
    <p:extLst>
      <p:ext uri="{BB962C8B-B14F-4D97-AF65-F5344CB8AC3E}">
        <p14:creationId xmlns:p14="http://schemas.microsoft.com/office/powerpoint/2010/main" val="930116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2476455" y="5889268"/>
            <a:ext cx="6736556" cy="553998"/>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Top 4 features quan trọng nhất và target </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55685" y="964776"/>
            <a:ext cx="6857326" cy="4865905"/>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smtClean="0"/>
              <a:t>17</a:t>
            </a:r>
            <a:endParaRPr lang="en-US" dirty="0"/>
          </a:p>
        </p:txBody>
      </p:sp>
    </p:spTree>
    <p:extLst>
      <p:ext uri="{BB962C8B-B14F-4D97-AF65-F5344CB8AC3E}">
        <p14:creationId xmlns:p14="http://schemas.microsoft.com/office/powerpoint/2010/main" val="9011236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5" name="TextBox 4"/>
          <p:cNvSpPr txBox="1"/>
          <p:nvPr/>
        </p:nvSpPr>
        <p:spPr>
          <a:xfrm>
            <a:off x="1450998" y="3994292"/>
            <a:ext cx="3017173" cy="1569660"/>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Mô hình </a:t>
            </a:r>
          </a:p>
          <a:p>
            <a:r>
              <a:rPr lang="en-US" sz="4800" b="1" dirty="0">
                <a:solidFill>
                  <a:schemeClr val="bg1"/>
                </a:solidFill>
                <a:latin typeface="Montserrat ExtraBold" panose="00000900000000000000" pitchFamily="2" charset="0"/>
              </a:rPr>
              <a:t>hồi quy</a:t>
            </a:r>
          </a:p>
        </p:txBody>
      </p:sp>
    </p:spTree>
    <p:extLst>
      <p:ext uri="{BB962C8B-B14F-4D97-AF65-F5344CB8AC3E}">
        <p14:creationId xmlns:p14="http://schemas.microsoft.com/office/powerpoint/2010/main" val="18180639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5" name="TextBox 4"/>
          <p:cNvSpPr txBox="1"/>
          <p:nvPr/>
        </p:nvSpPr>
        <p:spPr>
          <a:xfrm>
            <a:off x="1450998" y="3994292"/>
            <a:ext cx="3017173" cy="1569660"/>
          </a:xfrm>
          <a:prstGeom prst="rect">
            <a:avLst/>
          </a:prstGeom>
          <a:noFill/>
        </p:spPr>
        <p:txBody>
          <a:bodyPr wrap="none" rtlCol="0">
            <a:spAutoFit/>
          </a:bodyPr>
          <a:lstStyle/>
          <a:p>
            <a:r>
              <a:rPr lang="en-US" sz="4800" b="1" dirty="0">
                <a:solidFill>
                  <a:srgbClr val="0092FF"/>
                </a:solidFill>
                <a:latin typeface="Montserrat ExtraBold" panose="00000900000000000000" pitchFamily="2" charset="0"/>
              </a:rPr>
              <a:t>Mô hình </a:t>
            </a:r>
          </a:p>
          <a:p>
            <a:r>
              <a:rPr lang="en-US" sz="4800" b="1" dirty="0">
                <a:solidFill>
                  <a:srgbClr val="0092FF"/>
                </a:solidFill>
                <a:latin typeface="Montserrat ExtraBold" panose="00000900000000000000" pitchFamily="2" charset="0"/>
              </a:rPr>
              <a:t>KNN</a:t>
            </a:r>
          </a:p>
        </p:txBody>
      </p:sp>
    </p:spTree>
    <p:extLst>
      <p:ext uri="{BB962C8B-B14F-4D97-AF65-F5344CB8AC3E}">
        <p14:creationId xmlns:p14="http://schemas.microsoft.com/office/powerpoint/2010/main" val="23829363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Mô hình KNN</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876980"/>
            <a:ext cx="11683042" cy="1881990"/>
          </a:xfrm>
          <a:prstGeom prst="rect">
            <a:avLst/>
          </a:prstGeom>
          <a:noFill/>
        </p:spPr>
        <p:txBody>
          <a:bodyPr wrap="square" rtlCol="0">
            <a:spAutoFit/>
          </a:bodyPr>
          <a:lstStyle/>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Thuật toán K-Nearest Neighbors Regression (KNN Regression) là một phương pháp hồi quy phi tham số(non-parametric regression), nghĩa là nó không giả định trước dạng hàm quan hệ giữa đầu vào x và đầu ray. Thay vào đó, dự đoán đầu ra của một điểm mới được thực hiện dựa trên sự tương đồng (về khoảng cách)với các điểm đã biết trong tập dữ liệu huấn luyện.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4739" y="3006081"/>
            <a:ext cx="6112935" cy="3303720"/>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smtClean="0"/>
              <a:t>18</a:t>
            </a:r>
            <a:endParaRPr lang="en-US" dirty="0"/>
          </a:p>
        </p:txBody>
      </p:sp>
    </p:spTree>
    <p:extLst>
      <p:ext uri="{BB962C8B-B14F-4D97-AF65-F5344CB8AC3E}">
        <p14:creationId xmlns:p14="http://schemas.microsoft.com/office/powerpoint/2010/main" val="8753774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Ý tưởng tổng quát</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715993" y="1539466"/>
            <a:ext cx="9494358" cy="3984136"/>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19</a:t>
            </a:r>
            <a:endParaRPr lang="en-US" dirty="0"/>
          </a:p>
        </p:txBody>
      </p:sp>
    </p:spTree>
    <p:extLst>
      <p:ext uri="{BB962C8B-B14F-4D97-AF65-F5344CB8AC3E}">
        <p14:creationId xmlns:p14="http://schemas.microsoft.com/office/powerpoint/2010/main" val="108996212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Tính khoảng cách giữa các điểm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20</a:t>
            </a:r>
            <a:endParaRPr lang="en-US" dirty="0"/>
          </a:p>
        </p:txBody>
      </p:sp>
      <p:pic>
        <p:nvPicPr>
          <p:cNvPr id="5" name="Picture 4"/>
          <p:cNvPicPr>
            <a:picLocks noChangeAspect="1"/>
          </p:cNvPicPr>
          <p:nvPr/>
        </p:nvPicPr>
        <p:blipFill>
          <a:blip r:embed="rId4"/>
          <a:stretch>
            <a:fillRect/>
          </a:stretch>
        </p:blipFill>
        <p:spPr>
          <a:xfrm>
            <a:off x="4227212" y="1977827"/>
            <a:ext cx="2924266" cy="1032883"/>
          </a:xfrm>
          <a:prstGeom prst="rect">
            <a:avLst/>
          </a:prstGeom>
        </p:spPr>
      </p:pic>
      <p:sp>
        <p:nvSpPr>
          <p:cNvPr id="12" name="TextBox 11"/>
          <p:cNvSpPr txBox="1"/>
          <p:nvPr/>
        </p:nvSpPr>
        <p:spPr>
          <a:xfrm>
            <a:off x="405441" y="1230665"/>
            <a:ext cx="11683042" cy="496996"/>
          </a:xfrm>
          <a:prstGeom prst="rect">
            <a:avLst/>
          </a:prstGeom>
          <a:noFill/>
        </p:spPr>
        <p:txBody>
          <a:bodyPr wrap="square" rtlCol="0">
            <a:spAutoFit/>
          </a:bodyPr>
          <a:lstStyle/>
          <a:p>
            <a:pPr>
              <a:lnSpc>
                <a:spcPct val="150000"/>
              </a:lnSpc>
            </a:pPr>
            <a:r>
              <a:rPr lang="en-US" sz="2000" dirty="0" smtClean="0">
                <a:latin typeface="Arial" panose="020B0604020202020204" pitchFamily="34" charset="0"/>
                <a:ea typeface="Open Sans Regular" panose="020B0606030504020204" pitchFamily="34" charset="0"/>
                <a:cs typeface="Arial" panose="020B0604020202020204" pitchFamily="34" charset="0"/>
              </a:rPr>
              <a:t>Dữ liệu có nhiều thuộc tính (d &gt; 1) nên nhóm sử dụng công thức tính khoảng cách Manhattan: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6" name="Picture 5"/>
          <p:cNvPicPr>
            <a:picLocks noChangeAspect="1"/>
          </p:cNvPicPr>
          <p:nvPr/>
        </p:nvPicPr>
        <p:blipFill>
          <a:blip r:embed="rId5"/>
          <a:stretch>
            <a:fillRect/>
          </a:stretch>
        </p:blipFill>
        <p:spPr>
          <a:xfrm>
            <a:off x="2303254" y="3136140"/>
            <a:ext cx="7656212" cy="1567325"/>
          </a:xfrm>
          <a:prstGeom prst="rect">
            <a:avLst/>
          </a:prstGeom>
        </p:spPr>
      </p:pic>
    </p:spTree>
    <p:extLst>
      <p:ext uri="{BB962C8B-B14F-4D97-AF65-F5344CB8AC3E}">
        <p14:creationId xmlns:p14="http://schemas.microsoft.com/office/powerpoint/2010/main" val="36044410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Cách tính dự đoán</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759124" y="1150682"/>
            <a:ext cx="8768751" cy="4422611"/>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21</a:t>
            </a:r>
            <a:endParaRPr lang="en-US" dirty="0"/>
          </a:p>
        </p:txBody>
      </p:sp>
    </p:spTree>
    <p:extLst>
      <p:ext uri="{BB962C8B-B14F-4D97-AF65-F5344CB8AC3E}">
        <p14:creationId xmlns:p14="http://schemas.microsoft.com/office/powerpoint/2010/main" val="33504955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Đánh giá hiệu quả mô hình</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2" name="TextBox 11"/>
          <p:cNvSpPr txBox="1"/>
          <p:nvPr/>
        </p:nvSpPr>
        <p:spPr>
          <a:xfrm>
            <a:off x="405441" y="1624962"/>
            <a:ext cx="11683042" cy="553998"/>
          </a:xfrm>
          <a:prstGeom prst="rect">
            <a:avLst/>
          </a:prstGeom>
          <a:noFill/>
        </p:spPr>
        <p:txBody>
          <a:bodyPr wrap="square" rtlCol="0">
            <a:spAutoFit/>
          </a:bodyPr>
          <a:lstStyle/>
          <a:p>
            <a:pPr>
              <a:lnSpc>
                <a:spcPct val="150000"/>
              </a:lnSpc>
            </a:pPr>
            <a:r>
              <a:rPr lang="vi-VN" sz="2000" dirty="0">
                <a:latin typeface="Arial" panose="020B0604020202020204" pitchFamily="34" charset="0"/>
                <a:cs typeface="Arial" panose="020B0604020202020204" pitchFamily="34" charset="0"/>
              </a:rPr>
              <a:t>MSE </a:t>
            </a:r>
            <a:r>
              <a:rPr lang="en-US" sz="2000" dirty="0">
                <a:latin typeface="Arial" panose="020B0604020202020204" pitchFamily="34" charset="0"/>
                <a:cs typeface="Arial" panose="020B0604020202020204" pitchFamily="34" charset="0"/>
              </a:rPr>
              <a:t>(</a:t>
            </a:r>
            <a:r>
              <a:rPr lang="vi-VN" sz="2000" dirty="0">
                <a:latin typeface="Arial" panose="020B0604020202020204" pitchFamily="34" charset="0"/>
                <a:cs typeface="Arial" panose="020B0604020202020204" pitchFamily="34" charset="0"/>
              </a:rPr>
              <a:t>Mean Squared Error) — </a:t>
            </a:r>
            <a:r>
              <a:rPr lang="en-US" sz="2000" dirty="0" smtClean="0">
                <a:latin typeface="Arial" panose="020B0604020202020204" pitchFamily="34" charset="0"/>
                <a:cs typeface="Arial" panose="020B0604020202020204" pitchFamily="34" charset="0"/>
              </a:rPr>
              <a:t>Trung bình bình phương sai số</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sp>
        <p:nvSpPr>
          <p:cNvPr id="15" name="TextBox 14"/>
          <p:cNvSpPr txBox="1"/>
          <p:nvPr/>
        </p:nvSpPr>
        <p:spPr>
          <a:xfrm>
            <a:off x="405441" y="3392183"/>
            <a:ext cx="11683042" cy="504305"/>
          </a:xfrm>
          <a:prstGeom prst="rect">
            <a:avLst/>
          </a:prstGeom>
          <a:noFill/>
        </p:spPr>
        <p:txBody>
          <a:bodyPr wrap="square" rtlCol="0">
            <a:spAutoFit/>
          </a:bodyPr>
          <a:lstStyle/>
          <a:p>
            <a:pPr>
              <a:lnSpc>
                <a:spcPct val="150000"/>
              </a:lnSpc>
            </a:pPr>
            <a:r>
              <a:rPr lang="en-US" sz="2000" dirty="0">
                <a:latin typeface="Arial" panose="020B0604020202020204" pitchFamily="34" charset="0"/>
                <a:cs typeface="Arial" panose="020B0604020202020204" pitchFamily="34" charset="0"/>
              </a:rPr>
              <a:t>R² (R- Square) – Độ đo tương đối (tỷ đối)</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7" name="Picture 6"/>
          <p:cNvPicPr>
            <a:picLocks noChangeAspect="1"/>
          </p:cNvPicPr>
          <p:nvPr/>
        </p:nvPicPr>
        <p:blipFill>
          <a:blip r:embed="rId4"/>
          <a:stretch>
            <a:fillRect/>
          </a:stretch>
        </p:blipFill>
        <p:spPr>
          <a:xfrm>
            <a:off x="4532194" y="4177836"/>
            <a:ext cx="2558720" cy="988877"/>
          </a:xfrm>
          <a:prstGeom prst="rect">
            <a:avLst/>
          </a:prstGeom>
        </p:spPr>
      </p:pic>
      <p:pic>
        <p:nvPicPr>
          <p:cNvPr id="13" name="Picture 12">
            <a:extLst>
              <a:ext uri="{FF2B5EF4-FFF2-40B4-BE49-F238E27FC236}">
                <a16:creationId xmlns:a16="http://schemas.microsoft.com/office/drawing/2014/main" id="{F71CF506-4B11-DF65-ABD6-D3F52C216DF6}"/>
              </a:ext>
            </a:extLst>
          </p:cNvPr>
          <p:cNvPicPr>
            <a:picLocks noChangeAspect="1"/>
          </p:cNvPicPr>
          <p:nvPr/>
        </p:nvPicPr>
        <p:blipFill>
          <a:blip r:embed="rId5"/>
          <a:stretch>
            <a:fillRect/>
          </a:stretch>
        </p:blipFill>
        <p:spPr>
          <a:xfrm>
            <a:off x="4247260" y="2180546"/>
            <a:ext cx="2948299" cy="1211636"/>
          </a:xfrm>
          <a:prstGeom prst="rect">
            <a:avLst/>
          </a:prstGeom>
        </p:spPr>
      </p:pic>
      <p:sp>
        <p:nvSpPr>
          <p:cNvPr id="14" name="TextBox 13"/>
          <p:cNvSpPr txBox="1"/>
          <p:nvPr/>
        </p:nvSpPr>
        <p:spPr>
          <a:xfrm>
            <a:off x="11711380" y="6471416"/>
            <a:ext cx="480620" cy="369332"/>
          </a:xfrm>
          <a:prstGeom prst="rect">
            <a:avLst/>
          </a:prstGeom>
          <a:noFill/>
        </p:spPr>
        <p:txBody>
          <a:bodyPr wrap="square" rtlCol="0">
            <a:spAutoFit/>
          </a:bodyPr>
          <a:lstStyle/>
          <a:p>
            <a:r>
              <a:rPr lang="en-US" dirty="0" smtClean="0"/>
              <a:t>22</a:t>
            </a:r>
            <a:endParaRPr lang="en-US" dirty="0"/>
          </a:p>
        </p:txBody>
      </p:sp>
    </p:spTree>
    <p:extLst>
      <p:ext uri="{BB962C8B-B14F-4D97-AF65-F5344CB8AC3E}">
        <p14:creationId xmlns:p14="http://schemas.microsoft.com/office/powerpoint/2010/main" val="39551147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3" name="Picture 2"/>
          <p:cNvPicPr>
            <a:picLocks noChangeAspect="1"/>
          </p:cNvPicPr>
          <p:nvPr/>
        </p:nvPicPr>
        <p:blipFill>
          <a:blip r:embed="rId4"/>
          <a:stretch>
            <a:fillRect/>
          </a:stretch>
        </p:blipFill>
        <p:spPr>
          <a:xfrm>
            <a:off x="1439325" y="1312163"/>
            <a:ext cx="9313350" cy="4048754"/>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23</a:t>
            </a:r>
            <a:endParaRPr lang="en-US" dirty="0"/>
          </a:p>
        </p:txBody>
      </p:sp>
    </p:spTree>
    <p:extLst>
      <p:ext uri="{BB962C8B-B14F-4D97-AF65-F5344CB8AC3E}">
        <p14:creationId xmlns:p14="http://schemas.microsoft.com/office/powerpoint/2010/main" val="4465615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Phân tích kết quả</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7419" y="2009954"/>
            <a:ext cx="5699073" cy="3256613"/>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56862" y="2009954"/>
            <a:ext cx="5463045" cy="3277827"/>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24</a:t>
            </a:r>
            <a:endParaRPr lang="en-US" dirty="0"/>
          </a:p>
        </p:txBody>
      </p:sp>
    </p:spTree>
    <p:extLst>
      <p:ext uri="{BB962C8B-B14F-4D97-AF65-F5344CB8AC3E}">
        <p14:creationId xmlns:p14="http://schemas.microsoft.com/office/powerpoint/2010/main" val="25583883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Trực quan hóa phần dư</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3778370" y="820461"/>
            <a:ext cx="4226637" cy="2793879"/>
          </a:xfrm>
          <a:prstGeom prst="rect">
            <a:avLst/>
          </a:prstGeom>
        </p:spPr>
      </p:pic>
      <p:pic>
        <p:nvPicPr>
          <p:cNvPr id="6" name="Picture 5"/>
          <p:cNvPicPr>
            <a:picLocks noChangeAspect="1"/>
          </p:cNvPicPr>
          <p:nvPr/>
        </p:nvPicPr>
        <p:blipFill>
          <a:blip r:embed="rId5"/>
          <a:stretch>
            <a:fillRect/>
          </a:stretch>
        </p:blipFill>
        <p:spPr>
          <a:xfrm>
            <a:off x="241322" y="3411637"/>
            <a:ext cx="4382435" cy="2896864"/>
          </a:xfrm>
          <a:prstGeom prst="rect">
            <a:avLst/>
          </a:prstGeom>
        </p:spPr>
      </p:pic>
      <p:pic>
        <p:nvPicPr>
          <p:cNvPr id="12" name="Picture 11"/>
          <p:cNvPicPr>
            <a:picLocks noChangeAspect="1"/>
          </p:cNvPicPr>
          <p:nvPr/>
        </p:nvPicPr>
        <p:blipFill>
          <a:blip r:embed="rId6"/>
          <a:stretch>
            <a:fillRect/>
          </a:stretch>
        </p:blipFill>
        <p:spPr>
          <a:xfrm>
            <a:off x="7440063" y="3411637"/>
            <a:ext cx="4281442" cy="2830106"/>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25</a:t>
            </a:r>
            <a:endParaRPr lang="en-US" dirty="0"/>
          </a:p>
        </p:txBody>
      </p:sp>
    </p:spTree>
    <p:extLst>
      <p:ext uri="{BB962C8B-B14F-4D97-AF65-F5344CB8AC3E}">
        <p14:creationId xmlns:p14="http://schemas.microsoft.com/office/powerpoint/2010/main" val="27764325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5" name="TextBox 4"/>
          <p:cNvSpPr txBox="1"/>
          <p:nvPr/>
        </p:nvSpPr>
        <p:spPr>
          <a:xfrm>
            <a:off x="1450998" y="3994292"/>
            <a:ext cx="6072496" cy="1569660"/>
          </a:xfrm>
          <a:prstGeom prst="rect">
            <a:avLst/>
          </a:prstGeom>
          <a:noFill/>
        </p:spPr>
        <p:txBody>
          <a:bodyPr wrap="none" rtlCol="0">
            <a:spAutoFit/>
          </a:bodyPr>
          <a:lstStyle/>
          <a:p>
            <a:r>
              <a:rPr lang="en-US" sz="4800" b="1" dirty="0">
                <a:solidFill>
                  <a:srgbClr val="0092FF"/>
                </a:solidFill>
                <a:latin typeface="Montserrat ExtraBold" panose="00000900000000000000" pitchFamily="2" charset="0"/>
              </a:rPr>
              <a:t>Mô hình </a:t>
            </a:r>
          </a:p>
          <a:p>
            <a:r>
              <a:rPr lang="en-US" sz="4800" b="1" dirty="0">
                <a:solidFill>
                  <a:srgbClr val="0092FF"/>
                </a:solidFill>
                <a:latin typeface="Montserrat ExtraBold" panose="00000900000000000000" pitchFamily="2" charset="0"/>
              </a:rPr>
              <a:t>Linear Regression</a:t>
            </a:r>
          </a:p>
        </p:txBody>
      </p:sp>
    </p:spTree>
    <p:extLst>
      <p:ext uri="{BB962C8B-B14F-4D97-AF65-F5344CB8AC3E}">
        <p14:creationId xmlns:p14="http://schemas.microsoft.com/office/powerpoint/2010/main" val="9307330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Mô hình Linear Regression</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876980"/>
            <a:ext cx="11683042" cy="1477328"/>
          </a:xfrm>
          <a:prstGeom prst="rect">
            <a:avLst/>
          </a:prstGeom>
          <a:noFill/>
        </p:spPr>
        <p:txBody>
          <a:bodyPr wrap="square" rtlCol="0">
            <a:spAutoFit/>
          </a:bodyPr>
          <a:lstStyle/>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Thuật toán Linear Regression (Hồi quy tuyến tính) mô hình hóa mối quan hệ giữa biến đầu ra y (</a:t>
            </a:r>
            <a:r>
              <a:rPr lang="vi-VN" sz="2000" dirty="0" smtClean="0">
                <a:latin typeface="Arial" panose="020B0604020202020204" pitchFamily="34" charset="0"/>
                <a:ea typeface="Open Sans Regular" panose="020B0606030504020204" pitchFamily="34" charset="0"/>
                <a:cs typeface="Arial" panose="020B0604020202020204" pitchFamily="34" charset="0"/>
              </a:rPr>
              <a:t>trong</a:t>
            </a:r>
            <a:r>
              <a:rPr lang="en-US" sz="2000" smtClean="0">
                <a:latin typeface="Arial" panose="020B0604020202020204" pitchFamily="34" charset="0"/>
                <a:ea typeface="Open Sans Regular" panose="020B0606030504020204" pitchFamily="34" charset="0"/>
                <a:cs typeface="Arial" panose="020B0604020202020204" pitchFamily="34" charset="0"/>
              </a:rPr>
              <a:t> </a:t>
            </a:r>
            <a:r>
              <a:rPr lang="vi-VN" sz="2000" smtClean="0">
                <a:latin typeface="Arial" panose="020B0604020202020204" pitchFamily="34" charset="0"/>
                <a:ea typeface="Open Sans Regular" panose="020B0606030504020204" pitchFamily="34" charset="0"/>
                <a:cs typeface="Arial" panose="020B0604020202020204" pitchFamily="34" charset="0"/>
              </a:rPr>
              <a:t>bài </a:t>
            </a:r>
            <a:r>
              <a:rPr lang="vi-VN" sz="2000" dirty="0">
                <a:latin typeface="Arial" panose="020B0604020202020204" pitchFamily="34" charset="0"/>
                <a:ea typeface="Open Sans Regular" panose="020B0606030504020204" pitchFamily="34" charset="0"/>
                <a:cs typeface="Arial" panose="020B0604020202020204" pitchFamily="34" charset="0"/>
              </a:rPr>
              <a:t>toán này là tuổi thọ trung bình) và các biến đầu vào x1, x2, . . . , xn (các yếu tố y tế - xã hội như GDP,BMI, tỷ lệ tiêm chủng, v.v.) theo dạng tuyến tính:</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5" name="Picture 4"/>
          <p:cNvPicPr>
            <a:picLocks noChangeAspect="1"/>
          </p:cNvPicPr>
          <p:nvPr/>
        </p:nvPicPr>
        <p:blipFill>
          <a:blip r:embed="rId4"/>
          <a:stretch>
            <a:fillRect/>
          </a:stretch>
        </p:blipFill>
        <p:spPr>
          <a:xfrm>
            <a:off x="1371600" y="2335267"/>
            <a:ext cx="9068339" cy="3952865"/>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smtClean="0"/>
              <a:t>26</a:t>
            </a:r>
            <a:endParaRPr lang="en-US" dirty="0"/>
          </a:p>
        </p:txBody>
      </p:sp>
    </p:spTree>
    <p:extLst>
      <p:ext uri="{BB962C8B-B14F-4D97-AF65-F5344CB8AC3E}">
        <p14:creationId xmlns:p14="http://schemas.microsoft.com/office/powerpoint/2010/main" val="28995514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Hàm mất mát (Loss function)</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3" name="Picture 2"/>
          <p:cNvPicPr>
            <a:picLocks noChangeAspect="1"/>
          </p:cNvPicPr>
          <p:nvPr/>
        </p:nvPicPr>
        <p:blipFill>
          <a:blip r:embed="rId4"/>
          <a:stretch>
            <a:fillRect/>
          </a:stretch>
        </p:blipFill>
        <p:spPr>
          <a:xfrm>
            <a:off x="416124" y="1770526"/>
            <a:ext cx="11359752" cy="3140554"/>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27</a:t>
            </a:r>
            <a:endParaRPr lang="en-US" dirty="0"/>
          </a:p>
        </p:txBody>
      </p:sp>
    </p:spTree>
    <p:extLst>
      <p:ext uri="{BB962C8B-B14F-4D97-AF65-F5344CB8AC3E}">
        <p14:creationId xmlns:p14="http://schemas.microsoft.com/office/powerpoint/2010/main" val="15358654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Huấn luyện mô hình</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717099" y="1048548"/>
            <a:ext cx="9526797" cy="4786635"/>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28</a:t>
            </a:r>
            <a:endParaRPr lang="en-US" dirty="0"/>
          </a:p>
        </p:txBody>
      </p:sp>
    </p:spTree>
    <p:extLst>
      <p:ext uri="{BB962C8B-B14F-4D97-AF65-F5344CB8AC3E}">
        <p14:creationId xmlns:p14="http://schemas.microsoft.com/office/powerpoint/2010/main" val="1905548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1121434" y="1253190"/>
            <a:ext cx="9495347" cy="4791231"/>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29</a:t>
            </a:r>
            <a:endParaRPr lang="en-US" dirty="0"/>
          </a:p>
        </p:txBody>
      </p:sp>
    </p:spTree>
    <p:extLst>
      <p:ext uri="{BB962C8B-B14F-4D97-AF65-F5344CB8AC3E}">
        <p14:creationId xmlns:p14="http://schemas.microsoft.com/office/powerpoint/2010/main" val="172628570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Phân tích kết quả</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528" y="1922466"/>
            <a:ext cx="6073466" cy="347055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6603" y="2037728"/>
            <a:ext cx="5342946" cy="3205768"/>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30</a:t>
            </a:r>
            <a:endParaRPr lang="en-US" dirty="0"/>
          </a:p>
        </p:txBody>
      </p:sp>
    </p:spTree>
    <p:extLst>
      <p:ext uri="{BB962C8B-B14F-4D97-AF65-F5344CB8AC3E}">
        <p14:creationId xmlns:p14="http://schemas.microsoft.com/office/powerpoint/2010/main" val="2437076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Trực quan hóa phần dư</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3762593" y="820461"/>
            <a:ext cx="4248056" cy="2808037"/>
          </a:xfrm>
          <a:prstGeom prst="rect">
            <a:avLst/>
          </a:prstGeom>
        </p:spPr>
      </p:pic>
      <p:pic>
        <p:nvPicPr>
          <p:cNvPr id="6" name="Picture 5"/>
          <p:cNvPicPr>
            <a:picLocks noChangeAspect="1"/>
          </p:cNvPicPr>
          <p:nvPr/>
        </p:nvPicPr>
        <p:blipFill>
          <a:blip r:embed="rId5"/>
          <a:stretch>
            <a:fillRect/>
          </a:stretch>
        </p:blipFill>
        <p:spPr>
          <a:xfrm>
            <a:off x="7487422" y="3433333"/>
            <a:ext cx="4478989" cy="2960688"/>
          </a:xfrm>
          <a:prstGeom prst="rect">
            <a:avLst/>
          </a:prstGeom>
        </p:spPr>
      </p:pic>
      <p:pic>
        <p:nvPicPr>
          <p:cNvPr id="12" name="Picture 11"/>
          <p:cNvPicPr>
            <a:picLocks noChangeAspect="1"/>
          </p:cNvPicPr>
          <p:nvPr/>
        </p:nvPicPr>
        <p:blipFill>
          <a:blip r:embed="rId6"/>
          <a:stretch>
            <a:fillRect/>
          </a:stretch>
        </p:blipFill>
        <p:spPr>
          <a:xfrm>
            <a:off x="291692" y="3532800"/>
            <a:ext cx="4254013" cy="2811974"/>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smtClean="0"/>
              <a:t>31</a:t>
            </a:r>
            <a:endParaRPr lang="en-US" dirty="0"/>
          </a:p>
        </p:txBody>
      </p:sp>
    </p:spTree>
    <p:extLst>
      <p:ext uri="{BB962C8B-B14F-4D97-AF65-F5344CB8AC3E}">
        <p14:creationId xmlns:p14="http://schemas.microsoft.com/office/powerpoint/2010/main" val="35216947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313592"/>
            <a:ext cx="12192000" cy="1815882"/>
          </a:xfrm>
          <a:prstGeom prst="rect">
            <a:avLst/>
          </a:prstGeom>
          <a:noFill/>
        </p:spPr>
        <p:txBody>
          <a:bodyPr wrap="square" rtlCol="0">
            <a:spAutoFit/>
          </a:bodyPr>
          <a:lstStyle/>
          <a:p>
            <a:pPr algn="ctr">
              <a:lnSpc>
                <a:spcPct val="200000"/>
              </a:lnSpc>
            </a:pPr>
            <a:r>
              <a:rPr lang="en-US" sz="2800" b="1" dirty="0" smtClean="0">
                <a:solidFill>
                  <a:srgbClr val="008DF4"/>
                </a:solidFill>
                <a:latin typeface="Montserrat ExtraBold" panose="00000900000000000000" pitchFamily="2" charset="0"/>
              </a:rPr>
              <a:t>CẢM ƠN MỌI NGƯỜI ĐÃ THEO DÕI</a:t>
            </a:r>
            <a:br>
              <a:rPr lang="en-US" sz="2800" b="1" dirty="0" smtClean="0">
                <a:solidFill>
                  <a:srgbClr val="008DF4"/>
                </a:solidFill>
                <a:latin typeface="Montserrat ExtraBold" panose="00000900000000000000" pitchFamily="2" charset="0"/>
              </a:rPr>
            </a:br>
            <a:r>
              <a:rPr lang="en-US" sz="2800" b="1" dirty="0" smtClean="0">
                <a:solidFill>
                  <a:srgbClr val="008DF4"/>
                </a:solidFill>
                <a:latin typeface="Montserrat ExtraBold" panose="00000900000000000000" pitchFamily="2" charset="0"/>
              </a:rPr>
              <a:t>HỎI &amp; ĐÁP</a:t>
            </a:r>
            <a:endParaRPr lang="en-US" sz="2800" b="1" dirty="0">
              <a:solidFill>
                <a:srgbClr val="008DF4"/>
              </a:solidFill>
              <a:latin typeface="Montserrat ExtraBold" panose="00000900000000000000" pitchFamily="2" charset="0"/>
            </a:endParaRPr>
          </a:p>
        </p:txBody>
      </p:sp>
    </p:spTree>
    <p:extLst>
      <p:ext uri="{BB962C8B-B14F-4D97-AF65-F5344CB8AC3E}">
        <p14:creationId xmlns:p14="http://schemas.microsoft.com/office/powerpoint/2010/main" val="42085505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1709</TotalTime>
  <Words>1353</Words>
  <Application>Microsoft Office PowerPoint</Application>
  <PresentationFormat>Widescreen</PresentationFormat>
  <Paragraphs>158</Paragraphs>
  <Slides>40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 Body</vt:lpstr>
      <vt:lpstr>Arial</vt:lpstr>
      <vt:lpstr>Calibri</vt:lpstr>
      <vt:lpstr>Calibri Light</vt:lpstr>
      <vt:lpstr>Courier New</vt:lpstr>
      <vt:lpstr>Montserrat ExtraBold</vt:lpstr>
      <vt:lpstr>Open Sans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Laptop88</dc:creator>
  <cp:lastModifiedBy>Laptop88</cp:lastModifiedBy>
  <cp:revision>56</cp:revision>
  <dcterms:created xsi:type="dcterms:W3CDTF">2025-11-10T16:54:03Z</dcterms:created>
  <dcterms:modified xsi:type="dcterms:W3CDTF">2026-01-10T16:11:53Z</dcterms:modified>
</cp:coreProperties>
</file>